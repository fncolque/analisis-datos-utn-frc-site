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6ef2cb7844a90" /><Relationship Type="http://schemas.openxmlformats.org/officeDocument/2006/relationships/extended-properties" Target="/docProps/app.xml" Id="R8989072d4db64714" /><Relationship Type="http://schemas.openxmlformats.org/officeDocument/2006/relationships/officeDocument" Target="/ppt/presentation.xml" Id="R97c99f3ec09e4ed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fa8d0072468496b"/>
  </p:sldMasterIdLst>
  <p:sldIdLst>
    <p:sldId xmlns:r="http://schemas.openxmlformats.org/officeDocument/2006/relationships" id="256" r:id="R2737444e9da14d72"/>
    <p:sldId xmlns:r="http://schemas.openxmlformats.org/officeDocument/2006/relationships" id="257" r:id="Ra5920e01b8eb4e79"/>
    <p:sldId xmlns:r="http://schemas.openxmlformats.org/officeDocument/2006/relationships" id="258" r:id="R859954a7796d4a8b"/>
    <p:sldId xmlns:r="http://schemas.openxmlformats.org/officeDocument/2006/relationships" id="259" r:id="Ra12630a150e24d9d"/>
    <p:sldId xmlns:r="http://schemas.openxmlformats.org/officeDocument/2006/relationships" id="260" r:id="R875c2edc105f432d"/>
    <p:sldId xmlns:r="http://schemas.openxmlformats.org/officeDocument/2006/relationships" id="261" r:id="R666a81c576264bba"/>
    <p:sldId xmlns:r="http://schemas.openxmlformats.org/officeDocument/2006/relationships" id="262" r:id="R3a2b0b1b2a244ea5"/>
    <p:sldId xmlns:r="http://schemas.openxmlformats.org/officeDocument/2006/relationships" id="263" r:id="Rf4c1914ade734018"/>
    <p:sldId xmlns:r="http://schemas.openxmlformats.org/officeDocument/2006/relationships" id="264" r:id="R79c9cc7de40a407d"/>
    <p:sldId xmlns:r="http://schemas.openxmlformats.org/officeDocument/2006/relationships" id="265" r:id="R379aa9c596d346bd"/>
    <p:sldId xmlns:r="http://schemas.openxmlformats.org/officeDocument/2006/relationships" id="266" r:id="R5d1327d1926e439b"/>
    <p:sldId xmlns:r="http://schemas.openxmlformats.org/officeDocument/2006/relationships" id="267" r:id="R72bf59cdb5e04269"/>
    <p:sldId xmlns:r="http://schemas.openxmlformats.org/officeDocument/2006/relationships" id="268" r:id="R8aa5a347557b468d"/>
    <p:sldId xmlns:r="http://schemas.openxmlformats.org/officeDocument/2006/relationships" id="269" r:id="R1268b2e79c29423c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5af94c0751614339"/>
    </p:embeddedFont>
    <p:embeddedFont>
      <p:font typeface="Telegraf Bold"/>
      <p:regular xmlns:r="http://schemas.openxmlformats.org/officeDocument/2006/relationships" r:id="R4b10884e612d4dfe"/>
    </p:embeddedFont>
    <p:embeddedFont>
      <p:font typeface="Telegraf Heavy"/>
      <p:regular xmlns:r="http://schemas.openxmlformats.org/officeDocument/2006/relationships" r:id="Rc86ffeacfbb846a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6707d4c5c40c8" /><Relationship Type="http://schemas.openxmlformats.org/officeDocument/2006/relationships/slideMaster" Target="/ppt/slideMasters/slideMaster1.xml" Id="R7fa8d0072468496b" /><Relationship Type="http://schemas.openxmlformats.org/officeDocument/2006/relationships/presProps" Target="/ppt/presProps.xml" Id="R583908da3b8c425b" /><Relationship Type="http://schemas.openxmlformats.org/officeDocument/2006/relationships/viewProps" Target="/ppt/viewProps.xml" Id="Rac0ab14b10394844" /><Relationship Type="http://schemas.openxmlformats.org/officeDocument/2006/relationships/tableStyles" Target="/ppt/tableStyles.xml" Id="R7d5d7d6ce80c4f81" /><Relationship Type="http://schemas.openxmlformats.org/officeDocument/2006/relationships/font" Target="/ppt/fonts/font.dat" Id="R5af94c0751614339" /><Relationship Type="http://schemas.openxmlformats.org/officeDocument/2006/relationships/font" Target="/ppt/fonts/font2.dat" Id="R4b10884e612d4dfe" /><Relationship Type="http://schemas.openxmlformats.org/officeDocument/2006/relationships/font" Target="/ppt/fonts/font3.dat" Id="Rc86ffeacfbb846ac" /><Relationship Type="http://schemas.openxmlformats.org/officeDocument/2006/relationships/slide" Target="/ppt/slides/slide1.xml" Id="R2737444e9da14d72" /><Relationship Type="http://schemas.openxmlformats.org/officeDocument/2006/relationships/slide" Target="/ppt/slides/slide2.xml" Id="Ra5920e01b8eb4e79" /><Relationship Type="http://schemas.openxmlformats.org/officeDocument/2006/relationships/slide" Target="/ppt/slides/slide3.xml" Id="R859954a7796d4a8b" /><Relationship Type="http://schemas.openxmlformats.org/officeDocument/2006/relationships/slide" Target="/ppt/slides/slide4.xml" Id="Ra12630a150e24d9d" /><Relationship Type="http://schemas.openxmlformats.org/officeDocument/2006/relationships/slide" Target="/ppt/slides/slide5.xml" Id="R875c2edc105f432d" /><Relationship Type="http://schemas.openxmlformats.org/officeDocument/2006/relationships/slide" Target="/ppt/slides/slide6.xml" Id="R666a81c576264bba" /><Relationship Type="http://schemas.openxmlformats.org/officeDocument/2006/relationships/slide" Target="/ppt/slides/slide7.xml" Id="R3a2b0b1b2a244ea5" /><Relationship Type="http://schemas.openxmlformats.org/officeDocument/2006/relationships/slide" Target="/ppt/slides/slide8.xml" Id="Rf4c1914ade734018" /><Relationship Type="http://schemas.openxmlformats.org/officeDocument/2006/relationships/slide" Target="/ppt/slides/slide9.xml" Id="R79c9cc7de40a407d" /><Relationship Type="http://schemas.openxmlformats.org/officeDocument/2006/relationships/slide" Target="/ppt/slides/slide10.xml" Id="R379aa9c596d346bd" /><Relationship Type="http://schemas.openxmlformats.org/officeDocument/2006/relationships/slide" Target="/ppt/slides/slide11.xml" Id="R5d1327d1926e439b" /><Relationship Type="http://schemas.openxmlformats.org/officeDocument/2006/relationships/slide" Target="/ppt/slides/slide12.xml" Id="R72bf59cdb5e04269" /><Relationship Type="http://schemas.openxmlformats.org/officeDocument/2006/relationships/slide" Target="/ppt/slides/slide13.xml" Id="R8aa5a347557b468d" /><Relationship Type="http://schemas.openxmlformats.org/officeDocument/2006/relationships/slide" Target="/ppt/slides/slide14.xml" Id="R1268b2e79c29423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e1a570ae042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33bf85dc74b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bd8da28964e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15fa4240846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4b786f93f4d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7263c827748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0869f1f8a46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63b61ba4c44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8a6db8f444e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093076e224f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35d91cab7462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a2ea2c78a46ae" /><Relationship Type="http://schemas.openxmlformats.org/officeDocument/2006/relationships/slideLayout" Target="/ppt/slideLayouts/slideLayout1.xml" Id="R3104e1d6f6ab49b3" /><Relationship Type="http://schemas.openxmlformats.org/officeDocument/2006/relationships/slideLayout" Target="/ppt/slideLayouts/slideLayout2.xml" Id="Re8ed28affce54932" /><Relationship Type="http://schemas.openxmlformats.org/officeDocument/2006/relationships/slideLayout" Target="/ppt/slideLayouts/slideLayout3.xml" Id="R7c70d013de3e4386" /><Relationship Type="http://schemas.openxmlformats.org/officeDocument/2006/relationships/slideLayout" Target="/ppt/slideLayouts/slideLayout4.xml" Id="R953361855dc240e0" /><Relationship Type="http://schemas.openxmlformats.org/officeDocument/2006/relationships/slideLayout" Target="/ppt/slideLayouts/slideLayout5.xml" Id="Rb7d27546c71642d7" /><Relationship Type="http://schemas.openxmlformats.org/officeDocument/2006/relationships/slideLayout" Target="/ppt/slideLayouts/slideLayout6.xml" Id="R03508677cb8d4664" /><Relationship Type="http://schemas.openxmlformats.org/officeDocument/2006/relationships/slideLayout" Target="/ppt/slideLayouts/slideLayout7.xml" Id="R97d42923443c41b3" /><Relationship Type="http://schemas.openxmlformats.org/officeDocument/2006/relationships/slideLayout" Target="/ppt/slideLayouts/slideLayout8.xml" Id="R8037fc661c834c6b" /><Relationship Type="http://schemas.openxmlformats.org/officeDocument/2006/relationships/slideLayout" Target="/ppt/slideLayouts/slideLayout9.xml" Id="R4428a0138dc14494" /><Relationship Type="http://schemas.openxmlformats.org/officeDocument/2006/relationships/slideLayout" Target="/ppt/slideLayouts/slideLayout10.xml" Id="Rb8d9193b7c6e4ffc" /><Relationship Type="http://schemas.openxmlformats.org/officeDocument/2006/relationships/slideLayout" Target="/ppt/slideLayouts/slideLayout11.xml" Id="Rd7c35b5b87194d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4e1d6f6ab49b3"/>
    <p:sldLayoutId xmlns:r="http://schemas.openxmlformats.org/officeDocument/2006/relationships" id="2147483650" r:id="Re8ed28affce54932"/>
    <p:sldLayoutId xmlns:r="http://schemas.openxmlformats.org/officeDocument/2006/relationships" id="2147483651" r:id="R7c70d013de3e4386"/>
    <p:sldLayoutId xmlns:r="http://schemas.openxmlformats.org/officeDocument/2006/relationships" id="2147483652" r:id="R953361855dc240e0"/>
    <p:sldLayoutId xmlns:r="http://schemas.openxmlformats.org/officeDocument/2006/relationships" id="2147483653" r:id="Rb7d27546c71642d7"/>
    <p:sldLayoutId xmlns:r="http://schemas.openxmlformats.org/officeDocument/2006/relationships" id="2147483654" r:id="R03508677cb8d4664"/>
    <p:sldLayoutId xmlns:r="http://schemas.openxmlformats.org/officeDocument/2006/relationships" id="2147483655" r:id="R97d42923443c41b3"/>
    <p:sldLayoutId xmlns:r="http://schemas.openxmlformats.org/officeDocument/2006/relationships" id="2147483656" r:id="R8037fc661c834c6b"/>
    <p:sldLayoutId xmlns:r="http://schemas.openxmlformats.org/officeDocument/2006/relationships" id="2147483657" r:id="R4428a0138dc14494"/>
    <p:sldLayoutId xmlns:r="http://schemas.openxmlformats.org/officeDocument/2006/relationships" id="2147483658" r:id="Rb8d9193b7c6e4ffc"/>
    <p:sldLayoutId xmlns:r="http://schemas.openxmlformats.org/officeDocument/2006/relationships" id="2147483659" r:id="Rd7c35b5b87194d1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b8dbdca3e40c9" /><Relationship Type="http://schemas.openxmlformats.org/officeDocument/2006/relationships/image" Target="/ppt/media/image.jpeg" Id="Rfb747dac91584159" /><Relationship Type="http://schemas.openxmlformats.org/officeDocument/2006/relationships/image" Target="/ppt/media/image.svg" Id="R9897151e89f24a3d" /><Relationship Type="http://schemas.openxmlformats.org/officeDocument/2006/relationships/image" Target="/ppt/media/image2.jpeg" Id="R50bddc7cc59241ee" /><Relationship Type="http://schemas.openxmlformats.org/officeDocument/2006/relationships/image" Target="/ppt/media/image2.svg" Id="R9469dd73a7ee4ef1" /><Relationship Type="http://schemas.openxmlformats.org/officeDocument/2006/relationships/image" Target="/ppt/media/image.png" Id="R0c092b092c4a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4a7ab6de6f4ef5" /><Relationship Type="http://schemas.openxmlformats.org/officeDocument/2006/relationships/image" Target="/ppt/media/image2.png" Id="R0d09403f9c4e4432" /><Relationship Type="http://schemas.openxmlformats.org/officeDocument/2006/relationships/image" Target="/ppt/media/image2.jpeg" Id="Rb3c1d44f8c684e3e" /><Relationship Type="http://schemas.openxmlformats.org/officeDocument/2006/relationships/image" Target="/ppt/media/image3.jpeg" Id="R6b214b30098c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8c14c442ba4bbb" /><Relationship Type="http://schemas.openxmlformats.org/officeDocument/2006/relationships/image" Target="/ppt/media/image2.png" Id="R78091140dd26464f" /><Relationship Type="http://schemas.openxmlformats.org/officeDocument/2006/relationships/image" Target="/ppt/media/image4.jpeg" Id="R47fe92d0375f45d5" /><Relationship Type="http://schemas.openxmlformats.org/officeDocument/2006/relationships/image" Target="/ppt/media/image5.jpeg" Id="Rfe8023aa55cd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9d42956ef743b2" /><Relationship Type="http://schemas.openxmlformats.org/officeDocument/2006/relationships/image" Target="/ppt/media/image2.png" Id="R3fa2fec480f74b81" /><Relationship Type="http://schemas.openxmlformats.org/officeDocument/2006/relationships/image" Target="/ppt/media/image6.jpeg" Id="R44c21488e92e4d6f" /><Relationship Type="http://schemas.openxmlformats.org/officeDocument/2006/relationships/image" Target="/ppt/media/image7.jpeg" Id="Ra2fa6e82dd16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d9553659146ad" /><Relationship Type="http://schemas.openxmlformats.org/officeDocument/2006/relationships/image" Target="/ppt/media/image2.png" Id="R2cda1cb243ec4e78" /><Relationship Type="http://schemas.openxmlformats.org/officeDocument/2006/relationships/image" Target="/ppt/media/image8.jpeg" Id="R9b7e4c66ea0b4e7f" /><Relationship Type="http://schemas.openxmlformats.org/officeDocument/2006/relationships/image" Target="/ppt/media/image3.jpeg" Id="R864b6682572d4f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8f39f775d3468f" /><Relationship Type="http://schemas.openxmlformats.org/officeDocument/2006/relationships/image" Target="/ppt/media/image2.png" Id="R1f9b01383697467f" /><Relationship Type="http://schemas.openxmlformats.org/officeDocument/2006/relationships/image" Target="/ppt/media/image2.jpeg" Id="Re79bfea1efa246ab" /><Relationship Type="http://schemas.openxmlformats.org/officeDocument/2006/relationships/image" Target="/ppt/media/image9.jpeg" Id="Rc0b73d9ce78b4f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05e97e852945ca" /><Relationship Type="http://schemas.openxmlformats.org/officeDocument/2006/relationships/image" Target="/ppt/media/image2.png" Id="R79be325c0e084083" /><Relationship Type="http://schemas.openxmlformats.org/officeDocument/2006/relationships/image" Target="/ppt/media/image7.jpeg" Id="R2fe90ace8d4a406e" /><Relationship Type="http://schemas.openxmlformats.org/officeDocument/2006/relationships/image" Target="/ppt/media/image10.jpeg" Id="R79eb156be49a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84d88ba28d45cf" /><Relationship Type="http://schemas.openxmlformats.org/officeDocument/2006/relationships/image" Target="/ppt/media/image11.jpeg" Id="R8524896e1daf4e72" /><Relationship Type="http://schemas.openxmlformats.org/officeDocument/2006/relationships/image" Target="/ppt/media/image3.svg" Id="Rd15bda75ac374262" /><Relationship Type="http://schemas.openxmlformats.org/officeDocument/2006/relationships/image" Target="/ppt/media/image3.jpeg" Id="Rb2d1523d13c947c9" /><Relationship Type="http://schemas.openxmlformats.org/officeDocument/2006/relationships/image" Target="/ppt/media/image.png" Id="R22a741bcf3be47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42149ce4dc4c08" /><Relationship Type="http://schemas.openxmlformats.org/officeDocument/2006/relationships/image" Target="/ppt/media/image4.svg" Id="R75eb35685f9a4230" /><Relationship Type="http://schemas.openxmlformats.org/officeDocument/2006/relationships/image" Target="/ppt/media/image4.jpeg" Id="Rab494a7fffec4aa0" /><Relationship Type="http://schemas.openxmlformats.org/officeDocument/2006/relationships/image" Target="/ppt/media/image5.svg" Id="R27bfb0bcbe124d58" /><Relationship Type="http://schemas.openxmlformats.org/officeDocument/2006/relationships/image" Target="/ppt/media/image5.jpeg" Id="Rbbecb998f7cd42c9" /><Relationship Type="http://schemas.openxmlformats.org/officeDocument/2006/relationships/image" Target="/ppt/media/image6.svg" Id="Ra1391ad5d4014d08" /><Relationship Type="http://schemas.openxmlformats.org/officeDocument/2006/relationships/image" Target="/ppt/media/image6.jpeg" Id="Rd34453eabd4d400d" /><Relationship Type="http://schemas.openxmlformats.org/officeDocument/2006/relationships/image" Target="/ppt/media/image7.svg" Id="Rc4f80ddc19ad4398" /><Relationship Type="http://schemas.openxmlformats.org/officeDocument/2006/relationships/image" Target="/ppt/media/image7.jpeg" Id="Rd6b48e95147945e0" /><Relationship Type="http://schemas.openxmlformats.org/officeDocument/2006/relationships/image" Target="/ppt/media/image8.svg" Id="R966a9e6c103b407a" /><Relationship Type="http://schemas.openxmlformats.org/officeDocument/2006/relationships/image" Target="/ppt/media/image8.jpeg" Id="Rb8c3e775f62c423e" /><Relationship Type="http://schemas.openxmlformats.org/officeDocument/2006/relationships/image" Target="/ppt/media/image.png" Id="Rad7a5cbbf6294406" /><Relationship Type="http://schemas.openxmlformats.org/officeDocument/2006/relationships/image" Target="/ppt/media/image12.jpeg" Id="Rf79bb2a4f42c45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56383dcd824ffb" /><Relationship Type="http://schemas.openxmlformats.org/officeDocument/2006/relationships/image" Target="/ppt/media/image11.jpeg" Id="R23e6de0c093d4d95" /><Relationship Type="http://schemas.openxmlformats.org/officeDocument/2006/relationships/image" Target="/ppt/media/image3.jpeg" Id="R43edad20eff54c6e" /><Relationship Type="http://schemas.openxmlformats.org/officeDocument/2006/relationships/image" Target="/ppt/media/image3.svg" Id="Re58da14e3b774230" /><Relationship Type="http://schemas.openxmlformats.org/officeDocument/2006/relationships/image" Target="/ppt/media/image.png" Id="R147d97d47f5e4d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b700a292aa40d5" /><Relationship Type="http://schemas.openxmlformats.org/officeDocument/2006/relationships/image" Target="/ppt/media/image2.png" Id="R340ede821d6d4c4c" /><Relationship Type="http://schemas.openxmlformats.org/officeDocument/2006/relationships/image" Target="/ppt/media/image13.jpeg" Id="Rb2117bbd09f94e7f" /><Relationship Type="http://schemas.openxmlformats.org/officeDocument/2006/relationships/image" Target="/ppt/media/image14.jpeg" Id="R395de76f3c464b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3f6236fac14d4c" /><Relationship Type="http://schemas.openxmlformats.org/officeDocument/2006/relationships/image" Target="/ppt/media/image2.png" Id="R35d1476f8ea64687" /><Relationship Type="http://schemas.openxmlformats.org/officeDocument/2006/relationships/image" Target="/ppt/media/image4.jpeg" Id="Rc3ad94193b9a4764" /><Relationship Type="http://schemas.openxmlformats.org/officeDocument/2006/relationships/image" Target="/ppt/media/image15.jpeg" Id="Rfb58d5565ec84b05" /><Relationship Type="http://schemas.openxmlformats.org/officeDocument/2006/relationships/image" Target="/ppt/media/image3.png" Id="R38854dc774c64fee" /><Relationship Type="http://schemas.openxmlformats.org/officeDocument/2006/relationships/image" Target="/ppt/media/image4.png" Id="R5fc202be99e748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48742641c84689" /><Relationship Type="http://schemas.openxmlformats.org/officeDocument/2006/relationships/image" Target="/ppt/media/image2.png" Id="R059386f6be0a4681" /><Relationship Type="http://schemas.openxmlformats.org/officeDocument/2006/relationships/image" Target="/ppt/media/image16.jpeg" Id="R65c108a486224eb2" /><Relationship Type="http://schemas.openxmlformats.org/officeDocument/2006/relationships/image" Target="/ppt/media/image5.jpeg" Id="R6dfa427e1bad4a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65d3896166480b" /><Relationship Type="http://schemas.openxmlformats.org/officeDocument/2006/relationships/image" Target="/ppt/media/image2.jpeg" Id="Rca931df2f9064eeb" /><Relationship Type="http://schemas.openxmlformats.org/officeDocument/2006/relationships/image" Target="/ppt/media/image.jpeg" Id="R4d1986c17dad49a1" /><Relationship Type="http://schemas.openxmlformats.org/officeDocument/2006/relationships/image" Target="/ppt/media/image.svg" Id="R033b454062d442f7" /><Relationship Type="http://schemas.openxmlformats.org/officeDocument/2006/relationships/image" Target="/ppt/media/image2.svg" Id="R970bf91ae0e44be2" /><Relationship Type="http://schemas.openxmlformats.org/officeDocument/2006/relationships/image" Target="/ppt/media/image.png" Id="Rd52c227ae997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47dac91584159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781872"/>
            <a:ext cx="6590355" cy="9885533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83" y="8164149"/>
            <a:ext cx="13036517" cy="3069421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83" y="7201576"/>
            <a:ext cx="13036517" cy="40319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50" y="9116091"/>
            <a:ext cx="677555" cy="70938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50" y="9010727"/>
            <a:ext cx="677555" cy="814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9826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9826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348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348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0870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0870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40" y="7859647"/>
            <a:ext cx="5404398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40" y="7774006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4" y="7859647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4" y="7774006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" y="3901090"/>
            <a:ext cx="2028482" cy="456337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" y="3836918"/>
            <a:ext cx="2028482" cy="5205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510" y="4911542"/>
            <a:ext cx="760230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314" y="9116091"/>
            <a:ext cx="677555" cy="70938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314" y="9010727"/>
            <a:ext cx="677555" cy="814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80" y="9214397"/>
            <a:ext cx="461495" cy="512772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747dac91584159">
              <a:extLst>
                <a:ext uri="{96DAC541-7B7A-43D3-8B79-37D633B846F1}">
                  <asvg:svgBlip xmlns:asvg="http://schemas.microsoft.com/office/drawing/2016/SVG/main" r:embed="R9897151e89f24a3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950" y="9240175"/>
            <a:ext cx="420283" cy="461216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bddc7cc59241ee">
              <a:extLst>
                <a:ext uri="{96DAC541-7B7A-43D3-8B79-37D633B846F1}">
                  <asvg:svgBlip xmlns:asvg="http://schemas.microsoft.com/office/drawing/2016/SVG/main" r:embed="R9469dd73a7ee4ef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568" y="612998"/>
            <a:ext cx="438320" cy="514913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092b092c4a41d5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915" y="9143409"/>
            <a:ext cx="2943037" cy="807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Docente</a:t>
            </a: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: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Facundo Nicolás Colque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94" y="9143409"/>
            <a:ext cx="2558373" cy="443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Cursado: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12 agosto · 20:00–22:00</a:t>
            </a:r>
            <a:endParaRPr sz="160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95" y="7995694"/>
            <a:ext cx="2164926" cy="335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CLASE 01</a:t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152" y="7995694"/>
            <a:ext cx="4070323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UNIDAD 1 · PRESENCIAL</a:t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568" y="2879678"/>
            <a:ext cx="8671041" cy="2031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Decisiones,</a:t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datos e IA</a:t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510" y="5399442"/>
            <a:ext cx="8421157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¿Qué tiene que ocurrir para que un dato cambie una decisión?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756" y="743772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09403f9c4e443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Cada dato necesita contexto para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orientar una decisión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APERTURA · TENSIÓN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Registro contextualizado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Definición, unidad, fecha y origen.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Métrica conectada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Un indicador se vincula con una acción.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Respuesta verificada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La ejecución y los controles sostienen el resultado.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Responsable identificado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La autoridad para actuar queda explícita.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Entrega orientada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Cada visual responde a una pregunta.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1d44f8c684e3e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14b30098c411b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091140dd26464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Una decisión conecta audiencia,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alternativa y acción</a:t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CONCEPTO · DECISIÓN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Audiencia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Quién necesita decidir y puede actuar.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Objeto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Sobre qué proceso, cliente o recurso.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Alternativas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665470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Qué opciones reales se comparan.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Restricciones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Costo, capacidad, tiempo, servicio y riesgo.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Acción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Qué cambia cuando la evidencia alcanza.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e92d0375f45d5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023aa55cd4374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ec480f74b8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5030161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17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Del registro al aprendizaje hay un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pipeline</a:t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MODELO MENTAL · PIPELINE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Registrar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Capturar un hecho con fecha y origen.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Contextualizar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Definir unidad, grano y significado.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Construir evidencia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Combinar datos y controles relevantes.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Decidir y actuar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Elegir una alternativa bajo restricciones.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Aprender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Comparar lo esperado con lo observado.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21488e92e4d6f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a6e82dd164623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da1cb243ec4e78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El valor aparece cuando la organización puede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actuar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VENTAJA · CICLO DIFÍCIL DE IMITAR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Capturar señales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Antes o con mayor calidad.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Combinar contexto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Datos y conocimiento del proceso.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Decidir antes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Menor demora o incertidumbre.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Actuar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Incorporar la decisión a la operación.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Aprender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Observar el resultado y mejorar.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e4c66ea0b4e7f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b6682572d4fae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9b01383697467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8" y="2020766"/>
            <a:ext cx="7245376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Los datos también cuestan y crean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riesgo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BALANCE · COSTO Y CONTROL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Captura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Formularios, sensores y sistemas requieren diseño.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Integración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Cruzar fuentes demanda tiempo y mantenimiento.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Calidad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Errores y definiciones débiles generan deuda.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Seguridad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Permisos, privacidad y exposición legal.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Operación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Cada dato almacenado requiere una política.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bfea1efa246ab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73d9ce78b4f06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be325c0e084083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Un KPI necesita una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definición operativa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HERRAMIENTA · FICHA DE KPI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Propósito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Qué objetivo y decisión ayuda a sostener.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Fórmula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Numerador, denominador, unidad y signo.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Grano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A qué nivel se calcula e interpreta.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Fecha y filtros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Qué período, eventos y exclusiones usa.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Dueño y acción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Quién responde y qué puede cambiar.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90ace8d4a406e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b156be49a41ac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50588" y="-1797545"/>
            <a:ext cx="8769643" cy="1315446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24896e1daf4e72"/>
            <a:stretch>
              <a:fillRect l="-25000" t="0" r="-2500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38" y="2422157"/>
            <a:ext cx="13968249" cy="8704206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38" y="1459584"/>
            <a:ext cx="13968249" cy="96667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58" y="7598195"/>
            <a:ext cx="1170159" cy="122513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58" y="7416227"/>
            <a:ext cx="1170159" cy="140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47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47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69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69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91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91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845" y="7804367"/>
            <a:ext cx="812787" cy="812787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d1523d13c947c9">
              <a:extLst>
                <a:ext uri="{96DAC541-7B7A-43D3-8B79-37D633B846F1}">
                  <asvg:svgBlip xmlns:asvg="http://schemas.microsoft.com/office/drawing/2016/SVG/main" r:embed="Rd15bda75ac37426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60" y="3291366"/>
            <a:ext cx="8085131" cy="2293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</a:t>
            </a:r>
            <a:r>
              <a: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métrica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puede dañar el sistema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557" y="2614715"/>
            <a:ext cx="2481850" cy="129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↑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320" y="3097572"/>
            <a:ext cx="4973256" cy="456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ventas sin margen</a:t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4365597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Trade-off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276" y="4433688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Mejorar una dimensión cuesta otra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542713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4141236" cy="335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ADVERTENCIA · TRADE-OFFS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58" y="642526"/>
            <a:ext cx="438320" cy="514913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a741bcf3be4723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245" y="6546199"/>
            <a:ext cx="2481850" cy="129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↓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295" y="7029056"/>
            <a:ext cx="4792281" cy="456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stock sin servicio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4925026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Atención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276" y="4993117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La métrica diseña conducta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5484456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Incentivo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276" y="5552547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Puede desplazar costos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1" y="6043885"/>
            <a:ext cx="1681521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Sistema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275" y="6111975"/>
            <a:ext cx="3972207" cy="282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Lo omitido también cambia</a:t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737" y="3913390"/>
            <a:ext cx="0" cy="276522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4374144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01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4933573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02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5493003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03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6052432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628" y="1831020"/>
            <a:ext cx="3028376" cy="3129739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628" y="1614029"/>
            <a:ext cx="3028376" cy="3346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488" y="5299355"/>
            <a:ext cx="3028376" cy="3129739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488" y="5082364"/>
            <a:ext cx="3028376" cy="3346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628" y="5299355"/>
            <a:ext cx="3028376" cy="3129739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628" y="5082364"/>
            <a:ext cx="3028376" cy="3346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768" y="1831020"/>
            <a:ext cx="3028376" cy="3129739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768" y="1614029"/>
            <a:ext cx="3028376" cy="3346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68135" y="5347840"/>
            <a:ext cx="3270347" cy="3081254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solidFill xmlns:a="http://schemas.openxmlformats.org/drawingml/2006/main">
            <a:srgbClr val="7F7B7C">
              <a:alpha val="19608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68135" y="5126551"/>
            <a:ext cx="3270347" cy="33025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094" y="1831020"/>
            <a:ext cx="2485663" cy="3129739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solidFill xmlns:a="http://schemas.openxmlformats.org/drawingml/2006/main">
            <a:srgbClr val="7F7B7C">
              <a:alpha val="19608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094" y="1609731"/>
            <a:ext cx="2485663" cy="3351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2309" y="8242103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2309" y="8213692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2831" y="8242103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2831" y="8213692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3354" y="8242103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3354" y="8213692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402416"/>
            <a:ext cx="16230571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431" y="2164162"/>
            <a:ext cx="955428" cy="714183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494a7fffec4aa0">
              <a:extLst>
                <a:ext uri="{96DAC541-7B7A-43D3-8B79-37D633B846F1}">
                  <asvg:svgBlip xmlns:asvg="http://schemas.microsoft.com/office/drawing/2016/SVG/main" r:embed="R75eb35685f9a423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241" y="2061728"/>
            <a:ext cx="885221" cy="816616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becb998f7cd42c9">
              <a:extLst>
                <a:ext uri="{96DAC541-7B7A-43D3-8B79-37D633B846F1}">
                  <asvg:svgBlip xmlns:asvg="http://schemas.microsoft.com/office/drawing/2016/SVG/main" r:embed="R27bfb0bcbe124d5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768" y="5279086"/>
            <a:ext cx="3028376" cy="3129739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768" y="5062095"/>
            <a:ext cx="3028376" cy="3346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79" y="5575427"/>
            <a:ext cx="763912" cy="772604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4453eabd4d400d">
              <a:extLst>
                <a:ext uri="{96DAC541-7B7A-43D3-8B79-37D633B846F1}">
                  <asvg:svgBlip xmlns:asvg="http://schemas.microsoft.com/office/drawing/2016/SVG/main" r:embed="Ra1391ad5d4014d0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416" y="5599494"/>
            <a:ext cx="768668" cy="724470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b48e95147945e0">
              <a:extLst>
                <a:ext uri="{96DAC541-7B7A-43D3-8B79-37D633B846F1}">
                  <asvg:svgBlip xmlns:asvg="http://schemas.microsoft.com/office/drawing/2016/SVG/main" r:embed="Rc4f80ddc19ad439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439" y="5549892"/>
            <a:ext cx="723802" cy="823673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c3e775f62c423e">
              <a:extLst>
                <a:ext uri="{96DAC541-7B7A-43D3-8B79-37D633B846F1}">
                  <asvg:svgBlip xmlns:asvg="http://schemas.microsoft.com/office/drawing/2016/SVG/main" r:embed="R966a9e6c103b407a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49" y="2096526"/>
            <a:ext cx="7425464" cy="2689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 </a:t>
            </a: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IA</a:t>
            </a: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 ya interviene</a:t>
            </a:r>
          </a:p>
          <a:p xmlns:a="http://schemas.openxmlformats.org/drawingml/2006/main">
            <a:pPr algn="l">
              <a:lnSpc>
                <a:spcPts val="8000"/>
              </a:lnSpc>
              <a:buNone/>
            </a:pPr>
            <a:r>
              <a:rPr sz="8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en todo el análisis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56" y="2954545"/>
            <a:ext cx="1972246" cy="394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>Explorar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416" y="6449765"/>
            <a:ext cx="1972246" cy="394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>Programar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696" y="2954545"/>
            <a:ext cx="1972246" cy="394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>Consultar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56" y="6449765"/>
            <a:ext cx="1972246" cy="394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>Explicar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56" y="3452866"/>
            <a:ext cx="2390093" cy="727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Entender tablas.</a:t>
            </a:r>
          </a:p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Formular mejores preguntas.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416" y="6948086"/>
            <a:ext cx="2390093" cy="727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Borradores de Python.</a:t>
            </a:r>
          </a:p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Leer antes de ejecutar.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696" y="3452866"/>
            <a:ext cx="2390093" cy="966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Proponer SQL.</a:t>
            </a:r>
          </a:p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Contrastar con los datos.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56" y="6948086"/>
            <a:ext cx="2390093" cy="4897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Narrativas y visuales.</a:t>
            </a:r>
          </a:p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Revisar el contexto.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696" y="6429496"/>
            <a:ext cx="1972246" cy="394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>Verificar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696" y="6927817"/>
            <a:ext cx="2266074" cy="727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Calidad y trazabilidad.</a:t>
            </a:r>
          </a:p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Responsabilidad humana.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58" y="642526"/>
            <a:ext cx="438320" cy="514913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7a5cbbf6294406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201263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Análisis</a:t>
            </a: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 de Datos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214911"/>
            <a:ext cx="3423527" cy="335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IA CON CONTROL</a:t>
            </a:r>
          </a:p>
        </p:txBody>
      </p:sp>
      <p:pic>
        <p:nvPicPr>
          <p:cNvPr id="109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bb2a4f42c4569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7184" y="5302377"/>
            <a:ext cx="3022337" cy="3123700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50588" y="-1797545"/>
            <a:ext cx="8769643" cy="1315446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e6de0c093d4d95"/>
            <a:stretch>
              <a:fillRect l="-25000" t="0" r="-2500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38" y="2422157"/>
            <a:ext cx="13968249" cy="8704206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38" y="1459584"/>
            <a:ext cx="13968249" cy="96667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58" y="7598195"/>
            <a:ext cx="1170159" cy="122513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58" y="7416227"/>
            <a:ext cx="1170159" cy="140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47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47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69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69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91" y="6678618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91" y="6650207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845" y="7804367"/>
            <a:ext cx="812787" cy="812787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edad20eff54c6e">
              <a:extLst>
                <a:ext uri="{96DAC541-7B7A-43D3-8B79-37D633B846F1}">
                  <asvg:svgBlip xmlns:asvg="http://schemas.microsoft.com/office/drawing/2016/SVG/main" r:embed="Re58da14e3b77423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60" y="3291366"/>
            <a:ext cx="8085131" cy="2293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Toda respuesta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necesita </a:t>
            </a:r>
            <a:r>
              <a:rPr sz="57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verificación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812" y="2614715"/>
            <a:ext cx="2481850" cy="129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≈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099" y="3097572"/>
            <a:ext cx="4506531" cy="456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respuesta plausible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812" y="7773429"/>
            <a:ext cx="3305131" cy="376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Regla: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812" y="8262422"/>
            <a:ext cx="2934382" cy="623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ejecutar + reconciliar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4038050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Caso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886" y="4106141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¿Coincide la pregunta?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IA · VERIFICACIÓN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58" y="642526"/>
            <a:ext cx="438320" cy="514913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7d97d47f5e4df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812" y="6164060"/>
            <a:ext cx="2481850" cy="129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✓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224" y="6646917"/>
            <a:ext cx="5792406" cy="456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Evidencia controlada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4597479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Grano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886" y="4665570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¿Respeta la fila?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5156909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Cálculo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886" y="5225000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¿Se ejecutó?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52" y="5716338"/>
            <a:ext cx="1384942" cy="411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Control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886" y="5784429"/>
            <a:ext cx="3708478" cy="31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¿Reconcilia?</a:t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737" y="3913390"/>
            <a:ext cx="0" cy="246022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4046597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01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4606026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02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5165456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03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737" y="5724885"/>
            <a:ext cx="670593" cy="37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>04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499" y="7773429"/>
            <a:ext cx="3475657" cy="376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499" y="8262422"/>
            <a:ext cx="2934382" cy="623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0ede821d6d4c4c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8" y="2020766"/>
            <a:ext cx="7245376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Faro Sur enfrenta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tres tensiones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 conectadas</a:t>
            </a:r>
            <a:endParaRPr sz="4350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CASO TRANSVERSAL · FARO SUR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Ventas crecen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El margen avanza a menor ritmo.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Promesas incumplidas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Pedidos tardíos o incompletos.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Faltantes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Demanda que encuentra baja disponibilidad.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Inventario inmóvil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Capital acumulado fuera de la demanda.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Una empresa, un sistema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La respuesta conecta procesos.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17bbd09f94e7f"/>
          <a:srcRect xmlns:a="http://schemas.openxmlformats.org/drawingml/2006/main" l="0" t="7737" r="0" b="7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de76f3c464b80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d1476f8ea64687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Una fila define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qué preguntas</a:t>
            </a: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 son válidas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DATOS · GRANO Y LÍMITES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Línea de pedido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Cada fila representa un producto vendido.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El pedido se repite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Un pedido puede contener varios productos.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Clave de la fila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Pedido y producto identifican el registro.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Preguntas habilitadas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Ventas, margen y entregas por línea.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Preguntas pendientes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Stock, capacidad y cobranza requieren otras fuentes.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d94193b9a4764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0" cy="0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8d5565ec84b05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0" cy="0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54dc774c64fe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202be99e748a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3024905"/>
            <a:ext cx="1671847" cy="480689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032" y="2957309"/>
            <a:ext cx="1671847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88755"/>
            <a:ext cx="1328849" cy="480689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05" y="6921159"/>
            <a:ext cx="132884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803431"/>
            <a:ext cx="480689" cy="480689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184" y="5735835"/>
            <a:ext cx="480689" cy="5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691634"/>
            <a:ext cx="3822189" cy="3147230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719" y="1470345"/>
            <a:ext cx="3822189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274863"/>
            <a:ext cx="6164932" cy="3147230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solidFill xmlns:a="http://schemas.openxmlformats.org/drawingml/2006/main">
            <a:srgbClr val="DCE6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299" y="5053574"/>
            <a:ext cx="6164932" cy="336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12" y="3479031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8233547"/>
            <a:ext cx="569933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53003"/>
            <a:ext cx="437860" cy="514913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9386f6be0a468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57" y="2020766"/>
            <a:ext cx="8101155" cy="126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La decisión guía la </a:t>
            </a: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elección de herramientas</a:t>
            </a:r>
            <a:endParaRPr sz="4350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846" y="773300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9078864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21" y="8993223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9078864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86" y="8993223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77" y="9173967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33" y="9173967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ACTIVIDAD · CANVAS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3679214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Elegir una tensión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088997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Ventas, margen, entregas o inventario.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3584582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56167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Nombrar la audiencia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497145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Quién necesita decidir y puede actuar.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446703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44412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Formular la decisión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585390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Alternativas, horizonte y restricciones.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534949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326580"/>
            <a:ext cx="3264489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Definir un KPI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6736363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Nombre, fórmula, grano y comportamiento.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6231948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209035"/>
            <a:ext cx="4380663" cy="472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Declarar límites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103" y="7618818"/>
            <a:ext cx="3264489" cy="35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Una columna útil, una faltante y una hipótesis.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82" y="7114403"/>
            <a:ext cx="1592454" cy="919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pic>
        <p:nvPicPr>
          <p:cNvPr id="9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108a486224eb2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956" y="1691634"/>
            <a:ext cx="5594517" cy="3146603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pic>
        <p:nvPicPr>
          <p:cNvPr id="9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a427e1bad4a3d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5650" y="5277902"/>
            <a:ext cx="3039228" cy="3141157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31df2f9064eeb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781872"/>
            <a:ext cx="6590355" cy="9885533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83" y="8164149"/>
            <a:ext cx="13036517" cy="3069421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83" y="7201576"/>
            <a:ext cx="13036517" cy="40319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50" y="9116091"/>
            <a:ext cx="677555" cy="70938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50" y="9010727"/>
            <a:ext cx="677555" cy="814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9826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9826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348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348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0870" y="9375142"/>
            <a:ext cx="182699" cy="191282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0870" y="9346731"/>
            <a:ext cx="182699" cy="219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40" y="7859647"/>
            <a:ext cx="4842055" cy="609004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40" y="7774006"/>
            <a:ext cx="48420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4" y="7859647"/>
            <a:ext cx="2639955" cy="609004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4" y="7774006"/>
            <a:ext cx="2639955" cy="694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" y="3901090"/>
            <a:ext cx="2028482" cy="456337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" y="3836918"/>
            <a:ext cx="2028482" cy="5205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510" y="4911542"/>
            <a:ext cx="760230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3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314" y="9116091"/>
            <a:ext cx="677555" cy="70938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solidFill xmlns:a="http://schemas.openxmlformats.org/drawingml/2006/main">
            <a:srgbClr val="FFFF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314" y="9010727"/>
            <a:ext cx="677555" cy="814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80" y="9214397"/>
            <a:ext cx="461495" cy="512772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1986c17dad49a1">
              <a:extLst>
                <a:ext uri="{96DAC541-7B7A-43D3-8B79-37D633B846F1}">
                  <asvg:svgBlip xmlns:asvg="http://schemas.microsoft.com/office/drawing/2016/SVG/main" r:embed="R033b454062d442f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950" y="9240175"/>
            <a:ext cx="420283" cy="461216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931df2f9064eeb">
              <a:extLst>
                <a:ext uri="{96DAC541-7B7A-43D3-8B79-37D633B846F1}">
                  <asvg:svgBlip xmlns:asvg="http://schemas.microsoft.com/office/drawing/2016/SVG/main" r:embed="R970bf91ae0e44be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568" y="612998"/>
            <a:ext cx="438320" cy="514913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2c227ae9974a2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914" y="9124073"/>
            <a:ext cx="4299385" cy="807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Próximo paso: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registrar intereses y equipo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95" y="9124073"/>
            <a:ext cx="3204326" cy="571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Salida: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canvas defendible</a:t>
            </a:r>
            <a:endParaRPr sz="200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007" y="743772"/>
            <a:ext cx="2160293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Ingeniería Industrial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95" y="7954750"/>
            <a:ext cx="2164926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152" y="7954750"/>
            <a:ext cx="3423527" cy="3521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>CIERRE · RESPONSABILIDAD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568" y="1883247"/>
            <a:ext cx="8671041" cy="30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La evidencia termina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en </a:t>
            </a:r>
            <a:r>
              <a:rPr sz="57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responsabilidad humana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510" y="5399442"/>
            <a:ext cx="8421157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Definir, verificar, declarar límites y explicar consecuencias.</a:t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La IA acelera; el criterio profesional responde.</a:t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756" y="743772"/>
            <a:ext cx="356858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>Universidad Tecnológica Nacional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2026-08-09T22:48:43.3800000Z</dcterms:created>
  <dcterms:modified xsi:type="dcterms:W3CDTF">2026-08-09T22:48:43.3800000Z</dcterms:modified>
</coreProperties>
</file>