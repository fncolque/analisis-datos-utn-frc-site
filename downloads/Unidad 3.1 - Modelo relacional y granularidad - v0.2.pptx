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b24f7b6a6d4d8d" /><Relationship Type="http://schemas.openxmlformats.org/officeDocument/2006/relationships/extended-properties" Target="/docProps/app.xml" Id="R770ca11104354d58" /><Relationship Type="http://schemas.openxmlformats.org/officeDocument/2006/relationships/officeDocument" Target="/ppt/presentation.xml" Id="R66c54477e16e4c2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fb6800b883b4c11"/>
  </p:sldMasterIdLst>
  <p:sldIdLst>
    <p:sldId xmlns:r="http://schemas.openxmlformats.org/officeDocument/2006/relationships" id="256" r:id="Reec597a649794c49"/>
    <p:sldId xmlns:r="http://schemas.openxmlformats.org/officeDocument/2006/relationships" id="257" r:id="R1b39bc1a74d54dfc"/>
    <p:sldId xmlns:r="http://schemas.openxmlformats.org/officeDocument/2006/relationships" id="258" r:id="R177ef1e3cf9a409c"/>
    <p:sldId xmlns:r="http://schemas.openxmlformats.org/officeDocument/2006/relationships" id="259" r:id="R698a4be2b1da41f3"/>
    <p:sldId xmlns:r="http://schemas.openxmlformats.org/officeDocument/2006/relationships" id="260" r:id="R5855376e8c624cf8"/>
    <p:sldId xmlns:r="http://schemas.openxmlformats.org/officeDocument/2006/relationships" id="261" r:id="Rcbee43315a624d24"/>
    <p:sldId xmlns:r="http://schemas.openxmlformats.org/officeDocument/2006/relationships" id="262" r:id="R59048da174fa421a"/>
    <p:sldId xmlns:r="http://schemas.openxmlformats.org/officeDocument/2006/relationships" id="263" r:id="Reac6a78aa39548ac"/>
    <p:sldId xmlns:r="http://schemas.openxmlformats.org/officeDocument/2006/relationships" id="264" r:id="R9b180623d58f4e87"/>
    <p:sldId xmlns:r="http://schemas.openxmlformats.org/officeDocument/2006/relationships" id="265" r:id="Ree09403ca5fc4e77"/>
    <p:sldId xmlns:r="http://schemas.openxmlformats.org/officeDocument/2006/relationships" id="266" r:id="Rc57d7c20177b4852"/>
    <p:sldId xmlns:r="http://schemas.openxmlformats.org/officeDocument/2006/relationships" id="267" r:id="R2dfbb34208b54eeb"/>
    <p:sldId xmlns:r="http://schemas.openxmlformats.org/officeDocument/2006/relationships" id="268" r:id="R0d9b0303c8f64f6f"/>
    <p:sldId xmlns:r="http://schemas.openxmlformats.org/officeDocument/2006/relationships" id="269" r:id="R1addcf2b257f49a2"/>
  </p:sldIdLst>
  <p:sldSz cx="18288000" cy="10287000"/>
  <p:notesSz cx="6858000" cy="9144000"/>
  <p:embeddedFontLst>
    <p:embeddedFont>
      <p:font typeface="Telegraf"/>
      <p:regular xmlns:r="http://schemas.openxmlformats.org/officeDocument/2006/relationships" r:id="Rcc6d885e34a94d13"/>
    </p:embeddedFont>
    <p:embeddedFont>
      <p:font typeface="Telegraf Bold"/>
      <p:regular xmlns:r="http://schemas.openxmlformats.org/officeDocument/2006/relationships" r:id="R07734dfbfc144de8"/>
    </p:embeddedFont>
    <p:embeddedFont>
      <p:font typeface="Telegraf Heavy"/>
      <p:regular xmlns:r="http://schemas.openxmlformats.org/officeDocument/2006/relationships" r:id="Ra20071b0d57649d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7fc1ec1224ce6" /><Relationship Type="http://schemas.openxmlformats.org/officeDocument/2006/relationships/slideMaster" Target="/ppt/slideMasters/slideMaster1.xml" Id="R4fb6800b883b4c11" /><Relationship Type="http://schemas.openxmlformats.org/officeDocument/2006/relationships/presProps" Target="/ppt/presProps.xml" Id="R7e9cae74fb3740a6" /><Relationship Type="http://schemas.openxmlformats.org/officeDocument/2006/relationships/viewProps" Target="/ppt/viewProps.xml" Id="Rbf36665966f949c2" /><Relationship Type="http://schemas.openxmlformats.org/officeDocument/2006/relationships/tableStyles" Target="/ppt/tableStyles.xml" Id="Rdd6250ac929b4614" /><Relationship Type="http://schemas.openxmlformats.org/officeDocument/2006/relationships/font" Target="/ppt/fonts/font.dat" Id="Rcc6d885e34a94d13" /><Relationship Type="http://schemas.openxmlformats.org/officeDocument/2006/relationships/font" Target="/ppt/fonts/font2.dat" Id="R07734dfbfc144de8" /><Relationship Type="http://schemas.openxmlformats.org/officeDocument/2006/relationships/font" Target="/ppt/fonts/font3.dat" Id="Ra20071b0d57649dc" /><Relationship Type="http://schemas.openxmlformats.org/officeDocument/2006/relationships/slide" Target="/ppt/slides/slide1.xml" Id="Reec597a649794c49" /><Relationship Type="http://schemas.openxmlformats.org/officeDocument/2006/relationships/slide" Target="/ppt/slides/slide2.xml" Id="R1b39bc1a74d54dfc" /><Relationship Type="http://schemas.openxmlformats.org/officeDocument/2006/relationships/slide" Target="/ppt/slides/slide3.xml" Id="R177ef1e3cf9a409c" /><Relationship Type="http://schemas.openxmlformats.org/officeDocument/2006/relationships/slide" Target="/ppt/slides/slide4.xml" Id="R698a4be2b1da41f3" /><Relationship Type="http://schemas.openxmlformats.org/officeDocument/2006/relationships/slide" Target="/ppt/slides/slide5.xml" Id="R5855376e8c624cf8" /><Relationship Type="http://schemas.openxmlformats.org/officeDocument/2006/relationships/slide" Target="/ppt/slides/slide6.xml" Id="Rcbee43315a624d24" /><Relationship Type="http://schemas.openxmlformats.org/officeDocument/2006/relationships/slide" Target="/ppt/slides/slide7.xml" Id="R59048da174fa421a" /><Relationship Type="http://schemas.openxmlformats.org/officeDocument/2006/relationships/slide" Target="/ppt/slides/slide8.xml" Id="Reac6a78aa39548ac" /><Relationship Type="http://schemas.openxmlformats.org/officeDocument/2006/relationships/slide" Target="/ppt/slides/slide9.xml" Id="R9b180623d58f4e87" /><Relationship Type="http://schemas.openxmlformats.org/officeDocument/2006/relationships/slide" Target="/ppt/slides/slide10.xml" Id="Ree09403ca5fc4e77" /><Relationship Type="http://schemas.openxmlformats.org/officeDocument/2006/relationships/slide" Target="/ppt/slides/slide11.xml" Id="Rc57d7c20177b4852" /><Relationship Type="http://schemas.openxmlformats.org/officeDocument/2006/relationships/slide" Target="/ppt/slides/slide12.xml" Id="R2dfbb34208b54eeb" /><Relationship Type="http://schemas.openxmlformats.org/officeDocument/2006/relationships/slide" Target="/ppt/slides/slide13.xml" Id="R0d9b0303c8f64f6f" /><Relationship Type="http://schemas.openxmlformats.org/officeDocument/2006/relationships/slide" Target="/ppt/slides/slide14.xml" Id="R1addcf2b257f49a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38b8c931e49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91c3f047448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b0e755b3c41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08203c6154d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40b4f9f3347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77abf19554f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bbe27349e44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596f6e7ba4c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5d26c08a2419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69e6eb07e415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cc6ce671e4df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769558-CD25-4C89-B43C-D6A75F2ED4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D8718D-D06D-42CD-9F46-22D3F3563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E5D6E4-C9CF-43C3-B173-226482B9B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C4C9D4-15D9-4FA4-840E-0AD6975B26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AD1BB-53F6-4232-BE35-F91450C84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89827C-94A1-46D4-A4B1-38CC1349E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21E007-0DF8-4206-9D1E-60547E2E2B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16AF2D-51C1-4E6F-AB14-2F07D2721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A85A2D-52FE-45BE-931F-F42C371867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8BFF7C-452E-4211-A427-86FAEA496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4D279-DBCC-421F-B326-8A467D5F2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E8EF9B-5FF1-47D0-B9EC-550E23597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4BA64C-C54B-4628-819E-EDED0459F3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F1897A-B408-417E-9609-13703590A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667D90-9D32-42D3-B832-374EE2B3C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F5BAFC-54E5-4531-BE01-950C32A96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75AF3-C4F7-4FD0-8C67-2A54B03814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E46A57-9117-4CF4-AEF3-E402494B80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F5636-AD81-4E55-B599-B966FC5603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F293DC-770F-4EC1-8C85-321B3865A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0D3CD38-784C-43A0-A02B-8AD16E318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173C6C-B8A4-431A-B1A0-2916B19A4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D5A41D-8436-4C53-A43E-8A56FB103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2449A5-3149-49B2-9687-7A9CDFDE4B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B6061B-2C0D-43E5-BF3C-05DFEE430D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720B4FF-0B58-4E83-A827-23BCD1B800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A2B273-F5C7-44E5-8190-0F6B1200F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71971A-278A-4665-A641-F850E2CD31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606B6DE-F4D1-4D9C-9CAE-A64D87568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B58863-E8F8-4D83-9DA9-5084484C2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CC181AB-1BB4-493C-BEF4-961CED214B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E2FEFC-EFDF-4726-B574-3805840DB1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C0AF4B9-A159-421C-B585-9B2BED282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D28FB3E-6D21-4122-92ED-8B1906115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E633666-791C-493E-82E4-5E604448B4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96BDCF-7DBF-4234-B895-2F9299D5B9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C6FF2F-64DC-4348-9495-9A7EA2530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420FE7-DFE3-458D-8F9A-2F4781343A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3DBBBD-5FE3-4671-B2B0-6000CCF7D7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B84822-3065-4776-8AD5-8A288DB9C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DB512A7-E414-4733-A553-2A4657A76C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76EE4A-3E42-4962-9C8E-B577D8E31A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057BAB-10B0-43C8-A4F5-73563DF4F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B72343-8F89-4AC2-86EF-EA637CAF74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7A4223-F595-4F72-A36C-ED5918472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35067-5341-4033-84F3-B8E164C4C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B3718F-0AE3-41A9-A405-44509F98E8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934B46-77C1-4F74-800A-08776E777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2F7064-5872-43A5-A0A7-FCF61F8D9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6540E-C9DA-4747-B04F-1A0D80C68C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2DD6F1-B912-4885-9EE1-A86B739BE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620850-28BF-48EB-B48D-BCCEFF2ECF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DE6B40-205E-4CCF-9852-3424097333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686560F-2DBE-4CB1-9FAF-2961DE173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479E08-504B-4525-86AA-526662E5A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EFC91E-115A-4697-9E1F-65EC0E8355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099CED-A861-45CE-84C4-2A1468EBD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03CF38-09EF-422C-A289-60F40EB08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8136d1d2c4e6e" /><Relationship Type="http://schemas.openxmlformats.org/officeDocument/2006/relationships/slideLayout" Target="/ppt/slideLayouts/slideLayout1.xml" Id="R471eb1acbe534468" /><Relationship Type="http://schemas.openxmlformats.org/officeDocument/2006/relationships/slideLayout" Target="/ppt/slideLayouts/slideLayout2.xml" Id="R19288947d7db43f4" /><Relationship Type="http://schemas.openxmlformats.org/officeDocument/2006/relationships/slideLayout" Target="/ppt/slideLayouts/slideLayout3.xml" Id="R9e7c442bb03842e3" /><Relationship Type="http://schemas.openxmlformats.org/officeDocument/2006/relationships/slideLayout" Target="/ppt/slideLayouts/slideLayout4.xml" Id="Rcb18831408bd4967" /><Relationship Type="http://schemas.openxmlformats.org/officeDocument/2006/relationships/slideLayout" Target="/ppt/slideLayouts/slideLayout5.xml" Id="R0815c45249d34209" /><Relationship Type="http://schemas.openxmlformats.org/officeDocument/2006/relationships/slideLayout" Target="/ppt/slideLayouts/slideLayout6.xml" Id="R58c8dd8cebfc4759" /><Relationship Type="http://schemas.openxmlformats.org/officeDocument/2006/relationships/slideLayout" Target="/ppt/slideLayouts/slideLayout7.xml" Id="Rd2974b341e6c4376" /><Relationship Type="http://schemas.openxmlformats.org/officeDocument/2006/relationships/slideLayout" Target="/ppt/slideLayouts/slideLayout8.xml" Id="R5fa11346830b40ca" /><Relationship Type="http://schemas.openxmlformats.org/officeDocument/2006/relationships/slideLayout" Target="/ppt/slideLayouts/slideLayout9.xml" Id="R370ceabfd2b04636" /><Relationship Type="http://schemas.openxmlformats.org/officeDocument/2006/relationships/slideLayout" Target="/ppt/slideLayouts/slideLayout10.xml" Id="R1d9a1078789c45e9" /><Relationship Type="http://schemas.openxmlformats.org/officeDocument/2006/relationships/slideLayout" Target="/ppt/slideLayouts/slideLayout11.xml" Id="Rbb0564ed8bb044d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A34E8C-B695-4E58-A35F-F1068576E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A03D92-C314-4265-A6B6-A5F86EB32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B30FD8-E987-4F43-A3D3-5D5030174E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0E75E3-BE45-4C2C-9D3F-CEE39E5283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95CB1-0E80-4CBC-912D-F1C6689A98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1eb1acbe534468"/>
    <p:sldLayoutId xmlns:r="http://schemas.openxmlformats.org/officeDocument/2006/relationships" id="2147483650" r:id="R19288947d7db43f4"/>
    <p:sldLayoutId xmlns:r="http://schemas.openxmlformats.org/officeDocument/2006/relationships" id="2147483651" r:id="R9e7c442bb03842e3"/>
    <p:sldLayoutId xmlns:r="http://schemas.openxmlformats.org/officeDocument/2006/relationships" id="2147483652" r:id="Rcb18831408bd4967"/>
    <p:sldLayoutId xmlns:r="http://schemas.openxmlformats.org/officeDocument/2006/relationships" id="2147483653" r:id="R0815c45249d34209"/>
    <p:sldLayoutId xmlns:r="http://schemas.openxmlformats.org/officeDocument/2006/relationships" id="2147483654" r:id="R58c8dd8cebfc4759"/>
    <p:sldLayoutId xmlns:r="http://schemas.openxmlformats.org/officeDocument/2006/relationships" id="2147483655" r:id="Rd2974b341e6c4376"/>
    <p:sldLayoutId xmlns:r="http://schemas.openxmlformats.org/officeDocument/2006/relationships" id="2147483656" r:id="R5fa11346830b40ca"/>
    <p:sldLayoutId xmlns:r="http://schemas.openxmlformats.org/officeDocument/2006/relationships" id="2147483657" r:id="R370ceabfd2b04636"/>
    <p:sldLayoutId xmlns:r="http://schemas.openxmlformats.org/officeDocument/2006/relationships" id="2147483658" r:id="R1d9a1078789c45e9"/>
    <p:sldLayoutId xmlns:r="http://schemas.openxmlformats.org/officeDocument/2006/relationships" id="2147483659" r:id="Rbb0564ed8bb044de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b8bbd9915b4903" /><Relationship Type="http://schemas.openxmlformats.org/officeDocument/2006/relationships/image" Target="/ppt/media/image.jpeg" Id="R087f9e88b6e94c28" /><Relationship Type="http://schemas.openxmlformats.org/officeDocument/2006/relationships/image" Target="/ppt/media/image.png" Id="R2bbc927b51ce4a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5a2f73060f444c" /><Relationship Type="http://schemas.openxmlformats.org/officeDocument/2006/relationships/image" Target="/ppt/media/image2.jpeg" Id="Re563e3bd672b425f" /><Relationship Type="http://schemas.openxmlformats.org/officeDocument/2006/relationships/image" Target="/ppt/media/image3.jpeg" Id="R902f72fe97704bc7" /><Relationship Type="http://schemas.openxmlformats.org/officeDocument/2006/relationships/image" Target="/ppt/media/image2.png" Id="R6c41eda3775d40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30c1fce6d44e31" /><Relationship Type="http://schemas.openxmlformats.org/officeDocument/2006/relationships/image" Target="/ppt/media/image2.jpeg" Id="R163b9d8ecff44133" /><Relationship Type="http://schemas.openxmlformats.org/officeDocument/2006/relationships/image" Target="/ppt/media/image4.jpeg" Id="Rfbdbfebce9eb48f6" /><Relationship Type="http://schemas.openxmlformats.org/officeDocument/2006/relationships/image" Target="/ppt/media/image3.png" Id="Rf4b903fae7f0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2c312c65b04dcb" /><Relationship Type="http://schemas.openxmlformats.org/officeDocument/2006/relationships/image" Target="/ppt/media/image5.jpeg" Id="R9973eec26ed64e71" /><Relationship Type="http://schemas.openxmlformats.org/officeDocument/2006/relationships/image" Target="/ppt/media/image6.jpeg" Id="R866632f5e5424e26" /><Relationship Type="http://schemas.openxmlformats.org/officeDocument/2006/relationships/image" Target="/ppt/media/image4.png" Id="R618799818c8b47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1756ea4f7f4d58" /><Relationship Type="http://schemas.openxmlformats.org/officeDocument/2006/relationships/image" Target="/ppt/media/image5.png" Id="Re339c96b827b40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8848bb2b6244b4" /><Relationship Type="http://schemas.openxmlformats.org/officeDocument/2006/relationships/image" Target="/ppt/media/image6.jpeg" Id="Rb85c26970e574784" /><Relationship Type="http://schemas.openxmlformats.org/officeDocument/2006/relationships/image" Target="/ppt/media/image7.jpeg" Id="R6cd640b5a29048d7" /><Relationship Type="http://schemas.openxmlformats.org/officeDocument/2006/relationships/image" Target="/ppt/media/image6.png" Id="R12b2329f1c9744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667b8443af41b1" /><Relationship Type="http://schemas.openxmlformats.org/officeDocument/2006/relationships/image" Target="/ppt/media/image8.jpeg" Id="R3585dbfcc75a4d00" /><Relationship Type="http://schemas.openxmlformats.org/officeDocument/2006/relationships/image" Target="/ppt/media/image9.jpeg" Id="R4772af59b6b24808" /><Relationship Type="http://schemas.openxmlformats.org/officeDocument/2006/relationships/image" Target="/ppt/media/image7.png" Id="Re5610187eaff4c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7eea26bd54425e" /><Relationship Type="http://schemas.openxmlformats.org/officeDocument/2006/relationships/image" Target="/ppt/media/image8.png" Id="R8261886d4c5a41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31f1fd033a42d1" /><Relationship Type="http://schemas.openxmlformats.org/officeDocument/2006/relationships/image" Target="/ppt/media/image10.jpeg" Id="R6814da8ece9146e8" /><Relationship Type="http://schemas.openxmlformats.org/officeDocument/2006/relationships/image" Target="/ppt/media/image3.jpeg" Id="R9b5d5cdc66734c06" /><Relationship Type="http://schemas.openxmlformats.org/officeDocument/2006/relationships/image" Target="/ppt/media/image9.png" Id="Rd71f087c6a834a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14940cf2ed4213" /><Relationship Type="http://schemas.openxmlformats.org/officeDocument/2006/relationships/image" Target="/ppt/media/image2.jpeg" Id="Rb67156ff84e84805" /><Relationship Type="http://schemas.openxmlformats.org/officeDocument/2006/relationships/image" Target="/ppt/media/image4.jpeg" Id="R8db8f191701546b0" /><Relationship Type="http://schemas.openxmlformats.org/officeDocument/2006/relationships/image" Target="/ppt/media/image10.png" Id="R8a8a638445f442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4e837945d14873" /><Relationship Type="http://schemas.openxmlformats.org/officeDocument/2006/relationships/image" Target="/ppt/media/image11.jpeg" Id="R0d626aa6c5c04a06" /><Relationship Type="http://schemas.openxmlformats.org/officeDocument/2006/relationships/image" Target="/ppt/media/image11.png" Id="Rb9a4618d35f443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ccd218e4644ecc" /><Relationship Type="http://schemas.openxmlformats.org/officeDocument/2006/relationships/image" Target="/ppt/media/image12.png" Id="R8575154ce0804b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7094a72f1f40c8" /><Relationship Type="http://schemas.openxmlformats.org/officeDocument/2006/relationships/image" Target="/ppt/media/image6.jpeg" Id="R631ed613474b48db" /><Relationship Type="http://schemas.openxmlformats.org/officeDocument/2006/relationships/image" Target="/ppt/media/image7.jpeg" Id="Ra46157823bba4da8" /><Relationship Type="http://schemas.openxmlformats.org/officeDocument/2006/relationships/image" Target="/ppt/media/image13.png" Id="R886c96bbfb6349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44ce990f4a4c38" /><Relationship Type="http://schemas.openxmlformats.org/officeDocument/2006/relationships/image" Target="/ppt/media/image8.jpeg" Id="Re3847253733c4ea8" /><Relationship Type="http://schemas.openxmlformats.org/officeDocument/2006/relationships/image" Target="/ppt/media/image12.jpeg" Id="R88fe58b4d58341ca" /><Relationship Type="http://schemas.openxmlformats.org/officeDocument/2006/relationships/image" Target="/ppt/media/image14.png" Id="R717822e42a3041a4" /><Relationship Type="http://schemas.openxmlformats.org/officeDocument/2006/relationships/image" Target="/ppt/media/image15.png" Id="Rb65b15f255f441cd" /><Relationship Type="http://schemas.openxmlformats.org/officeDocument/2006/relationships/image" Target="/ppt/media/image16.png" Id="R0987ec342dab4e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10BE260F-E616-43C9-94A7-24B05697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61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f9e88b6e94c28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1886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151616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40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72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7200">
              <a:solidFill>
                <a:schemeClr val="tx1">
                  <a:lumMod val="65000"/>
                  <a:lumOff val="35000"/>
                </a:schemeClr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1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4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82C6DEB3-3930-4791-AC2B-69B32CC8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F35"/>
          </a:solidFill>
          <a:ln xmlns:a="http://schemas.openxmlformats.org/drawingml/2006/main" w="11430">
            <a:solidFill>
              <a:srgbClr val="0B1F35"/>
            </a:solidFill>
            <a:prstDash val="solid"/>
          </a:ln>
        </p:spPr>
      </p:sp>
      <p:sp>
        <p:nvSpPr>
          <p:cNvPr id="45" name="cover-data-line-0">
            <a:extLst xmlns:a="http://schemas.openxmlformats.org/drawingml/2006/main">
              <a:ext uri="{FF2B5EF4-FFF2-40B4-BE49-F238E27FC236}">
                <a16:creationId xmlns:a16="http://schemas.microsoft.com/office/drawing/2014/main" id="{7CC3CCEE-4441-49DD-80FF-0DE71282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1050" y="1009650"/>
            <a:ext cx="26479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46" name="cover-data-line-1">
            <a:extLst xmlns:a="http://schemas.openxmlformats.org/drawingml/2006/main">
              <a:ext uri="{FF2B5EF4-FFF2-40B4-BE49-F238E27FC236}">
                <a16:creationId xmlns:a16="http://schemas.microsoft.com/office/drawing/2014/main" id="{899D0B0B-2A1B-4040-9F19-2BD2F5B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1009650"/>
            <a:ext cx="22479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47" name="cover-data-line-2">
            <a:extLst xmlns:a="http://schemas.openxmlformats.org/drawingml/2006/main">
              <a:ext uri="{FF2B5EF4-FFF2-40B4-BE49-F238E27FC236}">
                <a16:creationId xmlns:a16="http://schemas.microsoft.com/office/drawing/2014/main" id="{868010B7-FB6F-4951-BA59-4E748F8C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76450" y="1009650"/>
            <a:ext cx="18478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48" name="cover-data-line-3">
            <a:extLst xmlns:a="http://schemas.openxmlformats.org/drawingml/2006/main">
              <a:ext uri="{FF2B5EF4-FFF2-40B4-BE49-F238E27FC236}">
                <a16:creationId xmlns:a16="http://schemas.microsoft.com/office/drawing/2014/main" id="{8CD9307A-F814-4571-9B53-0EF55D4A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24150" y="1009650"/>
            <a:ext cx="14478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49" name="cover-data-line-4">
            <a:extLst xmlns:a="http://schemas.openxmlformats.org/drawingml/2006/main">
              <a:ext uri="{FF2B5EF4-FFF2-40B4-BE49-F238E27FC236}">
                <a16:creationId xmlns:a16="http://schemas.microsoft.com/office/drawing/2014/main" id="{AE709AEF-91F2-4AE9-AD49-9801E52D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1009650"/>
            <a:ext cx="10477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50" name="cover-data-line-5">
            <a:extLst xmlns:a="http://schemas.openxmlformats.org/drawingml/2006/main">
              <a:ext uri="{FF2B5EF4-FFF2-40B4-BE49-F238E27FC236}">
                <a16:creationId xmlns:a16="http://schemas.microsoft.com/office/drawing/2014/main" id="{9BCAB3B5-5409-4B0A-8B88-58A4711A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1009650"/>
            <a:ext cx="6477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51" name="cover-data-line-6">
            <a:extLst xmlns:a="http://schemas.openxmlformats.org/drawingml/2006/main">
              <a:ext uri="{FF2B5EF4-FFF2-40B4-BE49-F238E27FC236}">
                <a16:creationId xmlns:a16="http://schemas.microsoft.com/office/drawing/2014/main" id="{B38457C8-16CA-41B1-A15C-E3FF36C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1009650"/>
            <a:ext cx="2476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c927b51ce4a7e"/>
          <a:stretch xmlns:a="http://schemas.openxmlformats.org/drawingml/2006/main"/>
        </p:blipFill>
        <p:spPr>
          <a:xfrm xmlns:a="http://schemas.openxmlformats.org/drawingml/2006/main">
            <a:off x="6667500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3B10574C-FEDF-4503-A579-100D7152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723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90B29C4-178A-43E7-951A-28AA6492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 relacional</a:t>
            </a:r>
          </a:p>
          <a:p xmlns:a="http://schemas.openxmlformats.org/drawingml/2006/main">
            <a:pPr algn="l">
              <a:defRPr sz="52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5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 </a:t>
            </a:r>
            <a:r>
              <a:rPr sz="52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granularidad</a:t>
            </a:r>
          </a:p>
        </p:txBody>
      </p:sp>
      <p:sp>
        <p:nvSpPr>
          <p:cNvPr id="55" name="cover-rule">
            <a:extLst xmlns:a="http://schemas.openxmlformats.org/drawingml/2006/main">
              <a:ext uri="{FF2B5EF4-FFF2-40B4-BE49-F238E27FC236}">
                <a16:creationId xmlns:a16="http://schemas.microsoft.com/office/drawing/2014/main" id="{DECC4CA3-21BF-4809-AD88-18725ADC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52578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6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5743CE7A-87DA-440C-9610-F040AD6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904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5E5E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E5E5E5"/>
                </a:solidFill>
                <a:latin typeface="Aptos"/>
                <a:ea typeface="Aptos"/>
                <a:cs typeface="Aptos"/>
              </a:rPr>
              <a:t>¿Cómo representar el negocio sin distorsionar sus métricas?</a:t>
            </a:r>
          </a:p>
        </p:txBody>
      </p:sp>
      <p:sp>
        <p:nvSpPr>
          <p:cNvPr id="57" name="cover-unit">
            <a:extLst xmlns:a="http://schemas.openxmlformats.org/drawingml/2006/main">
              <a:ext uri="{FF2B5EF4-FFF2-40B4-BE49-F238E27FC236}">
                <a16:creationId xmlns:a16="http://schemas.microsoft.com/office/drawing/2014/main" id="{B21F4C23-B689-48AE-86EA-0E9773EA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01000"/>
            <a:ext cx="2571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58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0DF1013D-AB56-4238-BCB3-E2AEFDB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01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UNIDAD 3</a:t>
            </a:r>
          </a:p>
        </p:txBody>
      </p:sp>
      <p:sp>
        <p:nvSpPr>
          <p:cNvPr id="59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D6D84DBD-2B16-4252-912B-A2E6B2D1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096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0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0D0D0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E2E3EBB6-F474-4DC5-B2EE-C1320692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3e3bd672b425f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BDC9EBA6-EC61-4006-9818-20877EB8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f72fe97704bc7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7CCB2D60-81B1-4E62-BB15-E4348FB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1eda3775d408a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0FBF3C3-FEBE-4236-A243-E5BD70EB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9B9F646-B49D-4CA5-BDCB-A4089837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 modelo conserva una versión explícita del negocio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AB2D8B77-2367-4D1E-A90C-FB953559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C03ED3F-5AC9-44D2-B4A3-F7291A5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MODELO · REPRESENTACIÓN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5E46083-F8B8-4503-80F4-EE2E7FF8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E1E99DCC-A845-4ED5-A1F3-E69EDB60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1409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tabla decide qué entidad observa, qué atributos registra, qué historia conserva y qué hechos quedan fuera.</a:t>
            </a:r>
          </a:p>
        </p:txBody>
      </p:sp>
      <p:sp>
        <p:nvSpPr>
          <p:cNvPr id="65" name="statement-callout">
            <a:extLst xmlns:a="http://schemas.openxmlformats.org/drawingml/2006/main">
              <a:ext uri="{FF2B5EF4-FFF2-40B4-BE49-F238E27FC236}">
                <a16:creationId xmlns:a16="http://schemas.microsoft.com/office/drawing/2014/main" id="{D62C97A2-D3C1-4790-BDA4-936AC38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10477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4F81BD"/>
            </a:solidFill>
            <a:prstDash val="solid"/>
          </a:ln>
        </p:spPr>
      </p:sp>
      <p:sp>
        <p:nvSpPr>
          <p:cNvPr id="66" name="statement-callout-text">
            <a:extLst xmlns:a="http://schemas.openxmlformats.org/drawingml/2006/main">
              <a:ext uri="{FF2B5EF4-FFF2-40B4-BE49-F238E27FC236}">
                <a16:creationId xmlns:a16="http://schemas.microsoft.com/office/drawing/2014/main" id="{3DBBE5CC-2432-4FF9-8E46-BAF65BC7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Toda métrica hereda esas decisiones.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54734E14-6065-430E-95EE-ED751E8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b9d8ecff44133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06B1487C-5AB3-44F1-9637-E328302D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6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bfebce9eb48f6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EF132407-AF06-4AC4-A6B8-3E706303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903fae7f049c7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BC1CD4B-7693-4CFF-89CA-18EB8E2B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4D30B95-6570-48B7-A530-60C46BD7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 tabla plana repite hechos y multiplica contradicciones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6946A3A-622B-4608-A8F2-198B43D1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EFCD1C3-5790-43F0-AED6-21CDA34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TABLA PLANA · EJEMPLO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0E89BD58-7C5F-4454-AA3B-D0CCEACD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4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62400"/>
                <a:gridCol w="3962400"/>
                <a:gridCol w="3962400"/>
                <a:gridCol w="3962400"/>
              </a:tblGrid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pedido_id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cliente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producto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cantidad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P100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Andina 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Bomba 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P100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Andina SA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Válvula Y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P101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Andina 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Bomba 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matrix-callout">
            <a:extLst xmlns:a="http://schemas.openxmlformats.org/drawingml/2006/main">
              <a:ext uri="{FF2B5EF4-FFF2-40B4-BE49-F238E27FC236}">
                <a16:creationId xmlns:a16="http://schemas.microsoft.com/office/drawing/2014/main" id="{083B1396-0788-4798-B992-D5CE5F04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01000"/>
            <a:ext cx="1504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Cliente y pedido se copian en varias filas; una actualización puede dejar versiones distintas.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DD9989D1-A726-49BA-B95E-9E068750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3eec26ed64e71"/>
          <a:srcRect xmlns:a="http://schemas.openxmlformats.org/drawingml/2006/main" l="0" t="28908" r="0" b="28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67AD4DB4-F4EB-4EAE-8AAE-C412C44B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632f5e5424e26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004E4AD5-8B15-48C7-A8AB-29E47A6F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799818c8b478e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307323B-2AE2-4A8C-BF79-7CB8C378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6FE21932-16A2-4323-ADF6-AFE82152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Las entidades reúnen atributos que cambian juntos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4B9AD6D6-6E23-4180-AB5B-D03D7413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DEF44F9-ACC4-4B75-BE07-8348B4E4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MODELO · ENTIDADES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8D91745-8947-4423-AEC0-87D57CA2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F34A6134-5108-40EE-A277-A4B959DA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5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A7D57ABE-AA5C-40A4-82CC-9FDA5BBA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33956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66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99BB656F-F113-4EAE-985F-39C9A18D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339566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segmento · región</a:t>
            </a:r>
          </a:p>
        </p:txBody>
      </p:sp>
      <p:sp>
        <p:nvSpPr>
          <p:cNvPr id="67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152AF5A6-3414-4262-965B-9D0190BE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8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1F1F8C2B-8718-42FB-8F6E-40D5606D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48075"/>
            <a:ext cx="33956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Pedido</a:t>
            </a:r>
          </a:p>
        </p:txBody>
      </p:sp>
      <p:sp>
        <p:nvSpPr>
          <p:cNvPr id="69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62DAFD6D-0FFC-48C0-9DE0-686973E1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14825"/>
            <a:ext cx="339566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fecha · canal · cliente</a:t>
            </a:r>
          </a:p>
        </p:txBody>
      </p:sp>
      <p:sp>
        <p:nvSpPr>
          <p:cNvPr id="70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A856FD05-9F42-4C64-8C3D-06EE461F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0BC0FF11-BA64-4157-A30A-B1B802B7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48075"/>
            <a:ext cx="33956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Línea</a:t>
            </a:r>
          </a:p>
        </p:txBody>
      </p:sp>
      <p:sp>
        <p:nvSpPr>
          <p:cNvPr id="72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89A72873-3595-4AA2-8268-58F6154A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14825"/>
            <a:ext cx="339566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cantidad · precio · descuento</a:t>
            </a:r>
          </a:p>
        </p:txBody>
      </p:sp>
      <p:sp>
        <p:nvSpPr>
          <p:cNvPr id="73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34512069-5781-4B48-8BF0-60ED6E64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2682BDC1-2E40-41BB-AFCE-599888DB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48075"/>
            <a:ext cx="33956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Producto</a:t>
            </a:r>
          </a:p>
        </p:txBody>
      </p:sp>
      <p:sp>
        <p:nvSpPr>
          <p:cNvPr id="75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51CC2CF2-8769-468E-BBF1-EBBA4A7F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14825"/>
            <a:ext cx="339566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familia · costo</a:t>
            </a:r>
          </a:p>
        </p:txBody>
      </p:sp>
      <p:sp>
        <p:nvSpPr>
          <p:cNvPr id="76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1870EF81-EDDB-4C72-B10D-84EF16C6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Las relaciones recuperan la historia completa sin repetir todos los atributos.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34B05179-3324-4B3A-A169-9EEC73A5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9c96b827b4023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887A843-331E-4695-AD0A-5A75A310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21F7E8E-7547-43B8-B9B5-14A71756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grano define qué significa una fila</a:t>
            </a:r>
          </a:p>
        </p:txBody>
      </p:sp>
      <p:sp>
        <p:nvSpPr>
          <p:cNvPr id="59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FEF96A9-C71A-4C77-84BF-97B6B791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0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AB42C52-2B35-4F20-A89E-E907422D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MODELO · GRANO</a:t>
            </a:r>
          </a:p>
        </p:txBody>
      </p:sp>
      <p:sp>
        <p:nvSpPr>
          <p:cNvPr id="61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0F881A8B-F6D4-40EC-95F5-BB5CE044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2" name="compare-box-0">
            <a:extLst xmlns:a="http://schemas.openxmlformats.org/drawingml/2006/main">
              <a:ext uri="{FF2B5EF4-FFF2-40B4-BE49-F238E27FC236}">
                <a16:creationId xmlns:a16="http://schemas.microsoft.com/office/drawing/2014/main" id="{3921849A-56CC-4E12-9FD7-E11D213D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3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14974D7A-D3CC-400F-AB0A-3E4969DD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Pedido</a:t>
            </a:r>
          </a:p>
        </p:txBody>
      </p:sp>
      <p:sp>
        <p:nvSpPr>
          <p:cNvPr id="64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0AA4DF14-80C8-435E-B102-2B7E8A59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5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4734838A-BB6D-4750-B81A-7F201753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Una fila por transacción comercial.</a:t>
            </a:r>
          </a:p>
        </p:txBody>
      </p:sp>
      <p:sp>
        <p:nvSpPr>
          <p:cNvPr id="66" name="compare-box-1">
            <a:extLst xmlns:a="http://schemas.openxmlformats.org/drawingml/2006/main">
              <a:ext uri="{FF2B5EF4-FFF2-40B4-BE49-F238E27FC236}">
                <a16:creationId xmlns:a16="http://schemas.microsoft.com/office/drawing/2014/main" id="{3C2CFB00-0B5F-455B-A9E0-447E9C24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7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9A8798B9-2148-445D-9113-C739716A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Línea</a:t>
            </a:r>
          </a:p>
        </p:txBody>
      </p:sp>
      <p:sp>
        <p:nvSpPr>
          <p:cNvPr id="68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8C4875FC-AEB5-43CD-861D-BD3C2D80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69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7A920C69-95C9-4317-9368-7E804F5E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Una fila por producto dentro del pedido.</a:t>
            </a:r>
          </a:p>
        </p:txBody>
      </p:sp>
      <p:sp>
        <p:nvSpPr>
          <p:cNvPr id="70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50224D04-382F-4819-B7F4-7BDB6A2E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11811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1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29C60F06-ADE2-4853-8683-D81EB74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286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 venta de línea puede sumarse; el total del pedido se repite si baja al detalle.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32F4811D-42CC-4DD5-86B1-8C219D1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3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c26970e574784"/>
          <a:srcRect xmlns:a="http://schemas.openxmlformats.org/drawingml/2006/main" l="0" t="7817" r="0" b="7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7DA86595-D29D-4D0D-BD43-F31D0BF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640b5a29048d7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624413A7-E4F9-44A2-9703-BC96EC0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2329f1c974487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4CDB51F-4185-4B40-ADA8-514669E0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B3226A8-77CC-409B-8F58-BEEAFD0D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clave identifica un registro dentro de su grano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5AFCEA9-AFDE-4965-95E2-D5D8CA55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7BF11A6-8EBD-41F1-81DC-8BB3A418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MODELO · CLAVES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01C7507-2575-4AFB-A214-7ADE34FE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3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912"/>
                <a:gridCol w="6339840"/>
                <a:gridCol w="6022848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Primaria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Identifica la fila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order_id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Natural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Existe en el negocio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order_number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Sustituta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Mantiene identidad técnica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customer_id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Compuesta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Combina dimensiones del grano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producto + ubicación + fecha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49B42577-5052-46C6-B75A-DF0F9676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1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5dbfcc75a4d00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019CA6D5-9F3F-41DE-9CAF-3614BFBC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3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2af59b6b24808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0F8AE997-CB8F-4F3A-9A0E-6B9C1783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10187eaff4ce8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2CA55D6-2947-483A-B097-5A4CBE6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155DB3C-7BD5-41F4-96A2-E44BF3D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Las claves foráneas expresan relaciones verificables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43B27A9-EFB1-4D66-8603-BC10E3E5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681B53FC-ABA5-43AF-8AC6-31F6433D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MODELO · INTEGRIDAD REFERENCIAL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FF2682D-2426-437D-B348-58188A06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rel-customer-order">
            <a:extLst xmlns:a="http://schemas.openxmlformats.org/drawingml/2006/main">
              <a:ext uri="{FF2B5EF4-FFF2-40B4-BE49-F238E27FC236}">
                <a16:creationId xmlns:a16="http://schemas.microsoft.com/office/drawing/2014/main" id="{CC985D6B-3603-48A2-9536-1B8AAC4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81500" y="44767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65" name="rel-order-line">
            <a:extLst xmlns:a="http://schemas.openxmlformats.org/drawingml/2006/main">
              <a:ext uri="{FF2B5EF4-FFF2-40B4-BE49-F238E27FC236}">
                <a16:creationId xmlns:a16="http://schemas.microsoft.com/office/drawing/2014/main" id="{C05943A7-4186-4B1E-BC74-0A2B0B74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20250" y="423862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66" name="rel-product-line">
            <a:extLst xmlns:a="http://schemas.openxmlformats.org/drawingml/2006/main">
              <a:ext uri="{FF2B5EF4-FFF2-40B4-BE49-F238E27FC236}">
                <a16:creationId xmlns:a16="http://schemas.microsoft.com/office/drawing/2014/main" id="{93835AC6-9460-4E1F-9726-18FE14F8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20250" y="5429250"/>
            <a:ext cx="200025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67" name="rel-customer-key">
            <a:extLst xmlns:a="http://schemas.openxmlformats.org/drawingml/2006/main">
              <a:ext uri="{FF2B5EF4-FFF2-40B4-BE49-F238E27FC236}">
                <a16:creationId xmlns:a16="http://schemas.microsoft.com/office/drawing/2014/main" id="{CE8948C0-4017-4B66-A06C-5775494E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customer_id</a:t>
            </a:r>
          </a:p>
        </p:txBody>
      </p:sp>
      <p:sp>
        <p:nvSpPr>
          <p:cNvPr id="68" name="rel-order-key">
            <a:extLst xmlns:a="http://schemas.openxmlformats.org/drawingml/2006/main">
              <a:ext uri="{FF2B5EF4-FFF2-40B4-BE49-F238E27FC236}">
                <a16:creationId xmlns:a16="http://schemas.microsoft.com/office/drawing/2014/main" id="{D15DB626-3E9C-4380-83C7-10FFB2B2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38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order_id</a:t>
            </a:r>
          </a:p>
        </p:txBody>
      </p:sp>
      <p:sp>
        <p:nvSpPr>
          <p:cNvPr id="69" name="rel-product-key">
            <a:extLst xmlns:a="http://schemas.openxmlformats.org/drawingml/2006/main">
              <a:ext uri="{FF2B5EF4-FFF2-40B4-BE49-F238E27FC236}">
                <a16:creationId xmlns:a16="http://schemas.microsoft.com/office/drawing/2014/main" id="{6A891127-6780-4126-A8C5-855369C2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096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product_id</a:t>
            </a:r>
          </a:p>
        </p:txBody>
      </p:sp>
      <p:sp>
        <p:nvSpPr>
          <p:cNvPr id="70" name="rel-cardinality-box-customer-order">
            <a:extLst xmlns:a="http://schemas.openxmlformats.org/drawingml/2006/main">
              <a:ext uri="{FF2B5EF4-FFF2-40B4-BE49-F238E27FC236}">
                <a16:creationId xmlns:a16="http://schemas.microsoft.com/office/drawing/2014/main" id="{4491C211-7F3F-4F5D-BF94-6A38C1D0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3390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1" name="rel-cardinality-customer-order">
            <a:extLst xmlns:a="http://schemas.openxmlformats.org/drawingml/2006/main">
              <a:ext uri="{FF2B5EF4-FFF2-40B4-BE49-F238E27FC236}">
                <a16:creationId xmlns:a16="http://schemas.microsoft.com/office/drawing/2014/main" id="{D3B3B264-A3D3-4A8F-8497-CC1F1292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339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72" name="rel-cardinality-box-order-line">
            <a:extLst xmlns:a="http://schemas.openxmlformats.org/drawingml/2006/main">
              <a:ext uri="{FF2B5EF4-FFF2-40B4-BE49-F238E27FC236}">
                <a16:creationId xmlns:a16="http://schemas.microsoft.com/office/drawing/2014/main" id="{0F206E2D-E5BB-43BA-883D-0C9E0478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95775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3" name="rel-cardinality-order-line">
            <a:extLst xmlns:a="http://schemas.openxmlformats.org/drawingml/2006/main">
              <a:ext uri="{FF2B5EF4-FFF2-40B4-BE49-F238E27FC236}">
                <a16:creationId xmlns:a16="http://schemas.microsoft.com/office/drawing/2014/main" id="{74BB03D5-A3D6-4C8E-B9A6-BC1B5C79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957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74" name="rel-cardinality-box-product-line">
            <a:extLst xmlns:a="http://schemas.openxmlformats.org/drawingml/2006/main">
              <a:ext uri="{FF2B5EF4-FFF2-40B4-BE49-F238E27FC236}">
                <a16:creationId xmlns:a16="http://schemas.microsoft.com/office/drawing/2014/main" id="{4B185975-2DBA-494F-A589-23D577B4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74370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5" name="rel-cardinality-product-line">
            <a:extLst xmlns:a="http://schemas.openxmlformats.org/drawingml/2006/main">
              <a:ext uri="{FF2B5EF4-FFF2-40B4-BE49-F238E27FC236}">
                <a16:creationId xmlns:a16="http://schemas.microsoft.com/office/drawing/2014/main" id="{2109934C-910D-44AE-8BD8-6FA98FAA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7437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: n</a:t>
            </a:r>
          </a:p>
        </p:txBody>
      </p:sp>
      <p:sp>
        <p:nvSpPr>
          <p:cNvPr id="76" name="rel-box-customers">
            <a:extLst xmlns:a="http://schemas.openxmlformats.org/drawingml/2006/main">
              <a:ext uri="{FF2B5EF4-FFF2-40B4-BE49-F238E27FC236}">
                <a16:creationId xmlns:a16="http://schemas.microsoft.com/office/drawing/2014/main" id="{68BF5C5B-2B96-4C24-8EF8-AAF5791A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33375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F81BD"/>
            </a:solidFill>
            <a:prstDash val="solid"/>
          </a:ln>
        </p:spPr>
      </p:sp>
      <p:sp>
        <p:nvSpPr>
          <p:cNvPr id="77" name="rel-head-customers">
            <a:extLst xmlns:a="http://schemas.openxmlformats.org/drawingml/2006/main">
              <a:ext uri="{FF2B5EF4-FFF2-40B4-BE49-F238E27FC236}">
                <a16:creationId xmlns:a16="http://schemas.microsoft.com/office/drawing/2014/main" id="{A5892185-464C-4809-B5D0-D0C26B42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78" name="rel-rule-customers">
            <a:extLst xmlns:a="http://schemas.openxmlformats.org/drawingml/2006/main">
              <a:ext uri="{FF2B5EF4-FFF2-40B4-BE49-F238E27FC236}">
                <a16:creationId xmlns:a16="http://schemas.microsoft.com/office/drawing/2014/main" id="{10AA0A63-F8D4-4269-99AA-8619E8A5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4248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1"/>
            </a:solidFill>
            <a:prstDash val="solid"/>
          </a:ln>
        </p:spPr>
      </p:sp>
      <p:sp>
        <p:nvSpPr>
          <p:cNvPr id="79" name="rel-rows-customers">
            <a:extLst xmlns:a="http://schemas.openxmlformats.org/drawingml/2006/main">
              <a:ext uri="{FF2B5EF4-FFF2-40B4-BE49-F238E27FC236}">
                <a16:creationId xmlns:a16="http://schemas.microsoft.com/office/drawing/2014/main" id="{6C0A5A0D-00EE-4EB7-90C3-1DAFB52E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2914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PK  customer_id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segmento · región</a:t>
            </a:r>
          </a:p>
        </p:txBody>
      </p:sp>
      <p:sp>
        <p:nvSpPr>
          <p:cNvPr id="80" name="rel-box-orders">
            <a:extLst xmlns:a="http://schemas.openxmlformats.org/drawingml/2006/main">
              <a:ext uri="{FF2B5EF4-FFF2-40B4-BE49-F238E27FC236}">
                <a16:creationId xmlns:a16="http://schemas.microsoft.com/office/drawing/2014/main" id="{77248054-B331-4D9D-A32B-8463F15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371475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F81BD"/>
            </a:solidFill>
            <a:prstDash val="solid"/>
          </a:ln>
        </p:spPr>
      </p:sp>
      <p:sp>
        <p:nvSpPr>
          <p:cNvPr id="81" name="rel-head-orders">
            <a:extLst xmlns:a="http://schemas.openxmlformats.org/drawingml/2006/main">
              <a:ext uri="{FF2B5EF4-FFF2-40B4-BE49-F238E27FC236}">
                <a16:creationId xmlns:a16="http://schemas.microsoft.com/office/drawing/2014/main" id="{B7A58EBC-BB4E-436B-869C-266CC6A8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sales_orders</a:t>
            </a:r>
          </a:p>
        </p:txBody>
      </p:sp>
      <p:sp>
        <p:nvSpPr>
          <p:cNvPr id="82" name="rel-rule-orders">
            <a:extLst xmlns:a="http://schemas.openxmlformats.org/drawingml/2006/main">
              <a:ext uri="{FF2B5EF4-FFF2-40B4-BE49-F238E27FC236}">
                <a16:creationId xmlns:a16="http://schemas.microsoft.com/office/drawing/2014/main" id="{45FFC022-20A7-44A9-871E-A113F272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0576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1"/>
            </a:solidFill>
            <a:prstDash val="solid"/>
          </a:ln>
        </p:spPr>
      </p:sp>
      <p:sp>
        <p:nvSpPr>
          <p:cNvPr id="83" name="rel-rows-orders">
            <a:extLst xmlns:a="http://schemas.openxmlformats.org/drawingml/2006/main">
              <a:ext uri="{FF2B5EF4-FFF2-40B4-BE49-F238E27FC236}">
                <a16:creationId xmlns:a16="http://schemas.microsoft.com/office/drawing/2014/main" id="{9220465F-BF4B-4974-B365-B38D69B6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3295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PK  order_id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FK  customer_id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fecha · canal</a:t>
            </a:r>
          </a:p>
        </p:txBody>
      </p:sp>
      <p:sp>
        <p:nvSpPr>
          <p:cNvPr id="84" name="rel-box-lines">
            <a:extLst xmlns:a="http://schemas.openxmlformats.org/drawingml/2006/main">
              <a:ext uri="{FF2B5EF4-FFF2-40B4-BE49-F238E27FC236}">
                <a16:creationId xmlns:a16="http://schemas.microsoft.com/office/drawing/2014/main" id="{5806747E-3191-4DC0-99BB-E82CDEBD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47625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4F81BD"/>
            </a:solidFill>
            <a:prstDash val="solid"/>
          </a:ln>
        </p:spPr>
      </p:sp>
      <p:sp>
        <p:nvSpPr>
          <p:cNvPr id="85" name="rel-head-lines">
            <a:extLst xmlns:a="http://schemas.openxmlformats.org/drawingml/2006/main">
              <a:ext uri="{FF2B5EF4-FFF2-40B4-BE49-F238E27FC236}">
                <a16:creationId xmlns:a16="http://schemas.microsoft.com/office/drawing/2014/main" id="{26C5B48F-6D3E-4BBF-87E3-4F5CC404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3147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sales_order_lines</a:t>
            </a:r>
          </a:p>
        </p:txBody>
      </p:sp>
      <p:sp>
        <p:nvSpPr>
          <p:cNvPr id="86" name="rel-rule-lines">
            <a:extLst xmlns:a="http://schemas.openxmlformats.org/drawingml/2006/main">
              <a:ext uri="{FF2B5EF4-FFF2-40B4-BE49-F238E27FC236}">
                <a16:creationId xmlns:a16="http://schemas.microsoft.com/office/drawing/2014/main" id="{CAA98EF4-5C43-435C-A560-DFED1023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11000" y="38671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1"/>
            </a:solidFill>
            <a:prstDash val="solid"/>
          </a:ln>
        </p:spPr>
      </p:sp>
      <p:sp>
        <p:nvSpPr>
          <p:cNvPr id="87" name="rel-rows-lines">
            <a:extLst xmlns:a="http://schemas.openxmlformats.org/drawingml/2006/main">
              <a:ext uri="{FF2B5EF4-FFF2-40B4-BE49-F238E27FC236}">
                <a16:creationId xmlns:a16="http://schemas.microsoft.com/office/drawing/2014/main" id="{68F72FF2-C1C2-4E0D-8949-2439B699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000500"/>
            <a:ext cx="43434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PK  order_line_id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FK  order_id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FK  product_id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cantidad · precio</a:t>
            </a:r>
          </a:p>
        </p:txBody>
      </p:sp>
      <p:sp>
        <p:nvSpPr>
          <p:cNvPr id="88" name="rel-box-products">
            <a:extLst xmlns:a="http://schemas.openxmlformats.org/drawingml/2006/main">
              <a:ext uri="{FF2B5EF4-FFF2-40B4-BE49-F238E27FC236}">
                <a16:creationId xmlns:a16="http://schemas.microsoft.com/office/drawing/2014/main" id="{B00111F8-0905-409C-9508-959DCC1A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86500"/>
            <a:ext cx="371475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F81BD"/>
            </a:solidFill>
            <a:prstDash val="solid"/>
          </a:ln>
        </p:spPr>
      </p:sp>
      <p:sp>
        <p:nvSpPr>
          <p:cNvPr id="89" name="rel-head-products">
            <a:extLst xmlns:a="http://schemas.openxmlformats.org/drawingml/2006/main">
              <a:ext uri="{FF2B5EF4-FFF2-40B4-BE49-F238E27FC236}">
                <a16:creationId xmlns:a16="http://schemas.microsoft.com/office/drawing/2014/main" id="{BB99C656-C857-4C4A-AB7C-663AE86F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579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90" name="rel-rule-products">
            <a:extLst xmlns:a="http://schemas.openxmlformats.org/drawingml/2006/main">
              <a:ext uri="{FF2B5EF4-FFF2-40B4-BE49-F238E27FC236}">
                <a16:creationId xmlns:a16="http://schemas.microsoft.com/office/drawing/2014/main" id="{6DF09628-67A8-4692-AE99-ED2870C9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70104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4D1"/>
            </a:solidFill>
            <a:prstDash val="solid"/>
          </a:ln>
        </p:spPr>
      </p:sp>
      <p:sp>
        <p:nvSpPr>
          <p:cNvPr id="91" name="rel-rows-products">
            <a:extLst xmlns:a="http://schemas.openxmlformats.org/drawingml/2006/main">
              <a:ext uri="{FF2B5EF4-FFF2-40B4-BE49-F238E27FC236}">
                <a16:creationId xmlns:a16="http://schemas.microsoft.com/office/drawing/2014/main" id="{74FE9847-47C6-4219-A0EE-47C25866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143750"/>
            <a:ext cx="3295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PK  product_id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familia · costo</a:t>
            </a:r>
          </a:p>
        </p:txBody>
      </p:sp>
      <p:sp>
        <p:nvSpPr>
          <p:cNvPr id="92" name="rel-callout">
            <a:extLst xmlns:a="http://schemas.openxmlformats.org/drawingml/2006/main">
              <a:ext uri="{FF2B5EF4-FFF2-40B4-BE49-F238E27FC236}">
                <a16:creationId xmlns:a16="http://schemas.microsoft.com/office/drawing/2014/main" id="{A8BEA493-F903-42CB-BC16-9B8AA55D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334375"/>
            <a:ext cx="1533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La tabla dependiente conserva la clave de la entidad que referencia. Cada vínculo se valida en forma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F9248F-9376-4788-ADAD-0D780A7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9B5A1B1-7A28-495A-A632-03F6F6C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E60621AD-D025-43C4-9806-5D6C20C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897EC55-B0A7-4D70-8CB3-ADCCF0F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D7362344-D29F-41BB-B91F-D22CB454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1886d4c5a4109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9B49C853-32BC-4EBE-BE54-590073BD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B1ABD3A-2ADE-4066-B391-2E998E7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cardinalidad se lee en ambos sentidos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DEA4319-ECE2-46DB-95CC-EBB1597F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D3CFF2F2-EB43-4A97-9B92-4A448437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MODELO · CARDINALIDAD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8C47CE2-48B7-46F6-95AE-D3D501C1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mpare-box-0">
            <a:extLst xmlns:a="http://schemas.openxmlformats.org/drawingml/2006/main">
              <a:ext uri="{FF2B5EF4-FFF2-40B4-BE49-F238E27FC236}">
                <a16:creationId xmlns:a16="http://schemas.microsoft.com/office/drawing/2014/main" id="{F99AF8ED-3321-44DA-9FD5-6AC21196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5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3289AA71-9FFE-4D3F-9F63-7E5A055F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Cliente → pedido</a:t>
            </a:r>
          </a:p>
        </p:txBody>
      </p:sp>
      <p:sp>
        <p:nvSpPr>
          <p:cNvPr id="66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37A24D1C-4A77-494B-BE8A-363C1655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1:n</a:t>
            </a:r>
          </a:p>
        </p:txBody>
      </p:sp>
      <p:sp>
        <p:nvSpPr>
          <p:cNvPr id="6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9E3AA3C8-4402-4E6E-99BB-4A29F856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 cliente puede originar varios pedidos.</a:t>
            </a:r>
          </a:p>
        </p:txBody>
      </p:sp>
      <p:sp>
        <p:nvSpPr>
          <p:cNvPr id="68" name="compare-box-1">
            <a:extLst xmlns:a="http://schemas.openxmlformats.org/drawingml/2006/main">
              <a:ext uri="{FF2B5EF4-FFF2-40B4-BE49-F238E27FC236}">
                <a16:creationId xmlns:a16="http://schemas.microsoft.com/office/drawing/2014/main" id="{9280534D-AF9A-443D-A84A-CB5CF37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9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293ABBD0-05B6-4F4B-A51A-7E338A0E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Pedido → cliente</a:t>
            </a:r>
          </a:p>
        </p:txBody>
      </p:sp>
      <p:sp>
        <p:nvSpPr>
          <p:cNvPr id="70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936A2553-8A4C-4F63-9A94-67576D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n:1</a:t>
            </a:r>
          </a:p>
        </p:txBody>
      </p:sp>
      <p:sp>
        <p:nvSpPr>
          <p:cNvPr id="71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2755C6A9-6B96-4833-B593-DD0FAB17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Cada pedido referencia un cliente.</a:t>
            </a:r>
          </a:p>
        </p:txBody>
      </p:sp>
      <p:sp>
        <p:nvSpPr>
          <p:cNvPr id="72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31E665A3-F894-48DE-A4D1-A80A103E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11811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3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944084BF-345F-47E4-9778-06D42D61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286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 misma relación cambia de lectura según el punto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7FC6FCD6-5867-4B2A-9334-D6AE70C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4da8ece9146e8"/>
          <a:srcRect xmlns:a="http://schemas.openxmlformats.org/drawingml/2006/main" l="0" t="7551" r="0" b="7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A33ADAF0-604E-46FF-8D53-5B1D27FE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d5cdc66734c06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965E43B2-71C0-41D5-8F99-D1B2E93B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f087c6a834a80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41BA088-F388-46C1-BE00-A916B26A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28D992B-34E0-42C8-83CC-E31BA1F6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tabla puente resuelve una relación muchos a muchos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B07EF1EC-70E5-4274-AE04-FC74E60A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E1F3A24-51CE-4B8F-80D2-6FAE1550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MODELO · TABLA ASOCIATIVA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C52F11A5-C604-40F0-A1EE-DC35AF20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A31928CA-BAF8-4F9D-A767-4E5EF05B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5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7D75535B-D8DE-4F1B-B6E8-767A5A7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33956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Pedido</a:t>
            </a:r>
          </a:p>
        </p:txBody>
      </p:sp>
      <p:sp>
        <p:nvSpPr>
          <p:cNvPr id="66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23202A45-1699-491C-A7C3-3A7DCBB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339566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P100</a:t>
            </a:r>
          </a:p>
        </p:txBody>
      </p:sp>
      <p:sp>
        <p:nvSpPr>
          <p:cNvPr id="67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DD6AA8FE-F911-4B97-8B6F-49B50021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8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1140F78A-5D58-4D42-85B3-84092C61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48075"/>
            <a:ext cx="33956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Línea</a:t>
            </a:r>
          </a:p>
        </p:txBody>
      </p:sp>
      <p:sp>
        <p:nvSpPr>
          <p:cNvPr id="69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1F4D67CF-EB69-4EB3-A795-8B0CB1D8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14825"/>
            <a:ext cx="339566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P100 · PR10 · 2</a:t>
            </a:r>
          </a:p>
        </p:txBody>
      </p:sp>
      <p:sp>
        <p:nvSpPr>
          <p:cNvPr id="70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13C37CE8-8D6B-4013-915A-8BF02D68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773A3346-76B5-4E53-B896-A896FBB7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48075"/>
            <a:ext cx="33956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Línea</a:t>
            </a:r>
          </a:p>
        </p:txBody>
      </p:sp>
      <p:sp>
        <p:nvSpPr>
          <p:cNvPr id="72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3AA7C19A-48AD-4B44-820D-ED2AD9C3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14825"/>
            <a:ext cx="339566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P100 · PR20 · 5</a:t>
            </a:r>
          </a:p>
        </p:txBody>
      </p:sp>
      <p:sp>
        <p:nvSpPr>
          <p:cNvPr id="73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10F4BBFF-C287-409B-9C90-7BD441DA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681167B9-12C8-4DBD-B1B8-2AC043E8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48075"/>
            <a:ext cx="3395663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Producto</a:t>
            </a:r>
          </a:p>
        </p:txBody>
      </p:sp>
      <p:sp>
        <p:nvSpPr>
          <p:cNvPr id="75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FC70AD31-F6F0-47F4-83E1-3AC8366D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14825"/>
            <a:ext cx="3395663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PR10 / PR20</a:t>
            </a:r>
          </a:p>
        </p:txBody>
      </p:sp>
      <p:sp>
        <p:nvSpPr>
          <p:cNvPr id="76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09BF2D86-90A5-4C98-AB86-FAEE1F92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La línea registra el evento de asociación y sus propios atributos.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AE710AB2-E018-49E4-97E6-79B7018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7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156ff84e84805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1B034651-6E85-4645-884F-9C07B430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9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8f191701546b0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B0D96823-1D2C-47CE-BD1B-9B7B9EF9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a638445f44278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4B0D9564-73A6-4389-9DF0-74232074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BD36ABF-C5CA-4E6E-9B72-37FCBD3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Normalizar concentra cada cambio en un lugar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B9049F1A-F5AF-495A-A212-E5CE3C4C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D373F905-3FAB-40E0-BEF7-8419B9C1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MODELO · NORMALIZACIÓN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3474048-945A-4E31-86A9-0E78C724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D54EBCA-203E-403F-8339-29E6C317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41470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65" name="flow-step-0">
            <a:extLst xmlns:a="http://schemas.openxmlformats.org/drawingml/2006/main">
              <a:ext uri="{FF2B5EF4-FFF2-40B4-BE49-F238E27FC236}">
                <a16:creationId xmlns:a16="http://schemas.microsoft.com/office/drawing/2014/main" id="{57D78589-C7CC-4964-AD4C-FF9F22C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90322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7C16EF79-BACE-4C31-B00C-E5325E9B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012DCB1B-FA0E-4951-8BF9-55E48EDD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25222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Tabla plana</a:t>
            </a:r>
          </a:p>
        </p:txBody>
      </p:sp>
      <p:sp>
        <p:nvSpPr>
          <p:cNvPr id="6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B132E892-A85A-41E9-9FF8-41EBA3ED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05400"/>
            <a:ext cx="25603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Cliente repetido</a:t>
            </a:r>
          </a:p>
        </p:txBody>
      </p:sp>
      <p:sp>
        <p:nvSpPr>
          <p:cNvPr id="6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285BD1CD-539F-4A7B-980A-E1E9A3E8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68540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8E30E47F-E97A-4D98-80D8-FC427291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905250"/>
            <a:ext cx="290322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A6F1A725-CA7E-4129-99E1-4A4D11C2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2" name="flow-head-1">
            <a:extLst xmlns:a="http://schemas.openxmlformats.org/drawingml/2006/main">
              <a:ext uri="{FF2B5EF4-FFF2-40B4-BE49-F238E27FC236}">
                <a16:creationId xmlns:a16="http://schemas.microsoft.com/office/drawing/2014/main" id="{365909AE-FFA3-4574-87DD-F2F7EE0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495800"/>
            <a:ext cx="25222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73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687825C-17A3-459A-9FA9-A1ED68BB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5105400"/>
            <a:ext cx="25603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Datos del cliente</a:t>
            </a:r>
          </a:p>
        </p:txBody>
      </p:sp>
      <p:sp>
        <p:nvSpPr>
          <p:cNvPr id="7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7143768-8692-4B01-B6FA-3022552F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95610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5" name="flow-step-2">
            <a:extLst xmlns:a="http://schemas.openxmlformats.org/drawingml/2006/main">
              <a:ext uri="{FF2B5EF4-FFF2-40B4-BE49-F238E27FC236}">
                <a16:creationId xmlns:a16="http://schemas.microsoft.com/office/drawing/2014/main" id="{3F4F5427-3A66-4C4F-9B0F-87493BDB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905250"/>
            <a:ext cx="290322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1A7091C9-4C8F-45B4-A208-A6EBF93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79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7" name="flow-head-2">
            <a:extLst xmlns:a="http://schemas.openxmlformats.org/drawingml/2006/main">
              <a:ext uri="{FF2B5EF4-FFF2-40B4-BE49-F238E27FC236}">
                <a16:creationId xmlns:a16="http://schemas.microsoft.com/office/drawing/2014/main" id="{93F72DB9-CFCF-4D05-B1C8-AC96C0C4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495800"/>
            <a:ext cx="25222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sales_orders</a:t>
            </a:r>
          </a:p>
        </p:txBody>
      </p:sp>
      <p:sp>
        <p:nvSpPr>
          <p:cNvPr id="78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63E974E-A90D-43E2-82F9-0B17599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105400"/>
            <a:ext cx="25603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Cabecera del pedido</a:t>
            </a:r>
          </a:p>
        </p:txBody>
      </p:sp>
      <p:sp>
        <p:nvSpPr>
          <p:cNvPr id="7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24967901-15B5-4149-9EED-64FB619B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22680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0" name="flow-step-3">
            <a:extLst xmlns:a="http://schemas.openxmlformats.org/drawingml/2006/main">
              <a:ext uri="{FF2B5EF4-FFF2-40B4-BE49-F238E27FC236}">
                <a16:creationId xmlns:a16="http://schemas.microsoft.com/office/drawing/2014/main" id="{39A5DD31-480C-422D-8214-3EEEE886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905250"/>
            <a:ext cx="290322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05F6250E-BC53-4E7E-88A8-7285F062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86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2" name="flow-head-3">
            <a:extLst xmlns:a="http://schemas.openxmlformats.org/drawingml/2006/main">
              <a:ext uri="{FF2B5EF4-FFF2-40B4-BE49-F238E27FC236}">
                <a16:creationId xmlns:a16="http://schemas.microsoft.com/office/drawing/2014/main" id="{FDC69E7B-E164-4D3E-B158-9B8D4F35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495800"/>
            <a:ext cx="25222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sales_order_lines</a:t>
            </a:r>
          </a:p>
        </p:txBody>
      </p:sp>
      <p:sp>
        <p:nvSpPr>
          <p:cNvPr id="8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A457E1F4-46E3-48E6-BB83-D19C0CB2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5105400"/>
            <a:ext cx="25603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Detalle vendido</a:t>
            </a:r>
          </a:p>
        </p:txBody>
      </p:sp>
      <p:sp>
        <p:nvSpPr>
          <p:cNvPr id="84" name="flow-step-4">
            <a:extLst xmlns:a="http://schemas.openxmlformats.org/drawingml/2006/main">
              <a:ext uri="{FF2B5EF4-FFF2-40B4-BE49-F238E27FC236}">
                <a16:creationId xmlns:a16="http://schemas.microsoft.com/office/drawing/2014/main" id="{7D04F5A0-D7A9-444D-92B9-64681605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905250"/>
            <a:ext cx="290322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6114043F-3302-46D3-861D-4B5AB6CF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93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6" name="flow-head-4">
            <a:extLst xmlns:a="http://schemas.openxmlformats.org/drawingml/2006/main">
              <a:ext uri="{FF2B5EF4-FFF2-40B4-BE49-F238E27FC236}">
                <a16:creationId xmlns:a16="http://schemas.microsoft.com/office/drawing/2014/main" id="{09A958C6-8724-4D20-941F-1109434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495800"/>
            <a:ext cx="25222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87" name="flow-body-4">
            <a:extLst xmlns:a="http://schemas.openxmlformats.org/drawingml/2006/main">
              <a:ext uri="{FF2B5EF4-FFF2-40B4-BE49-F238E27FC236}">
                <a16:creationId xmlns:a16="http://schemas.microsoft.com/office/drawing/2014/main" id="{8763CE13-75A8-4173-9F6A-A42E694C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5105400"/>
            <a:ext cx="25603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Catálogo</a:t>
            </a:r>
          </a:p>
        </p:txBody>
      </p:sp>
      <p:sp>
        <p:nvSpPr>
          <p:cNvPr id="88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E1E56F08-F9B1-4F19-AEEC-FB787404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000875"/>
            <a:ext cx="1314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El nivel de normalización debe sostener integridad sin ocultar el uso analítico.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5CA34F5-4DBC-4F95-82BA-CD36497E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4AB0F1E-2565-420A-9D37-747BEC60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AFD192D-FA6D-43E2-BE58-D783E96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5422DC-EF62-410D-8B5D-B064BF30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3F2F301-87AC-411C-8834-188D891B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331BBC-5581-48F2-9421-BCEEE0C7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FB136C3-F667-4D85-9BCE-E2A5946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7E7AD1-74E9-4925-AE0A-E2F6D53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975F3A3-20E8-42E8-B898-B9A43C2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44596" h="795761">
                <a:moveTo>
                  <a:pt x="120733" y="0"/>
                </a:moveTo>
                <a:lnTo>
                  <a:pt x="723863" y="0"/>
                </a:lnTo>
                <a:cubicBezTo>
                  <a:pt x="790542" y="0"/>
                  <a:pt x="844596" y="54054"/>
                  <a:pt x="844596" y="120733"/>
                </a:cubicBezTo>
                <a:lnTo>
                  <a:pt x="844596" y="675028"/>
                </a:lnTo>
                <a:cubicBezTo>
                  <a:pt x="844596" y="707049"/>
                  <a:pt x="831876" y="737758"/>
                  <a:pt x="809234" y="760399"/>
                </a:cubicBezTo>
                <a:cubicBezTo>
                  <a:pt x="786592" y="783041"/>
                  <a:pt x="755884" y="795761"/>
                  <a:pt x="723863" y="795761"/>
                </a:cubicBezTo>
                <a:lnTo>
                  <a:pt x="120733" y="795761"/>
                </a:lnTo>
                <a:cubicBezTo>
                  <a:pt x="88712" y="795761"/>
                  <a:pt x="58004" y="783041"/>
                  <a:pt x="35362" y="760399"/>
                </a:cubicBezTo>
                <a:cubicBezTo>
                  <a:pt x="12720" y="737758"/>
                  <a:pt x="0" y="707049"/>
                  <a:pt x="0" y="675028"/>
                </a:cubicBezTo>
                <a:lnTo>
                  <a:pt x="0" y="120733"/>
                </a:lnTo>
                <a:cubicBezTo>
                  <a:pt x="0" y="88712"/>
                  <a:pt x="12720" y="58004"/>
                  <a:pt x="35362" y="35362"/>
                </a:cubicBezTo>
                <a:cubicBezTo>
                  <a:pt x="58004" y="12720"/>
                  <a:pt x="88712" y="0"/>
                  <a:pt x="12073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97B226-79C3-44C4-A621-B4A9D2F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355FE4C-4790-45BF-9D9F-40FA4FA6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41945" h="808283">
                <a:moveTo>
                  <a:pt x="158846" y="0"/>
                </a:moveTo>
                <a:lnTo>
                  <a:pt x="483098" y="0"/>
                </a:lnTo>
                <a:cubicBezTo>
                  <a:pt x="570827" y="0"/>
                  <a:pt x="641945" y="71118"/>
                  <a:pt x="641945" y="158846"/>
                </a:cubicBezTo>
                <a:lnTo>
                  <a:pt x="641945" y="649437"/>
                </a:lnTo>
                <a:cubicBezTo>
                  <a:pt x="641945" y="691565"/>
                  <a:pt x="625209" y="731968"/>
                  <a:pt x="595420" y="761758"/>
                </a:cubicBezTo>
                <a:cubicBezTo>
                  <a:pt x="565630" y="791547"/>
                  <a:pt x="525227" y="808283"/>
                  <a:pt x="483098" y="808283"/>
                </a:cubicBezTo>
                <a:lnTo>
                  <a:pt x="158846" y="808283"/>
                </a:lnTo>
                <a:cubicBezTo>
                  <a:pt x="71118" y="808283"/>
                  <a:pt x="0" y="737165"/>
                  <a:pt x="0" y="649437"/>
                </a:cubicBezTo>
                <a:lnTo>
                  <a:pt x="0" y="158846"/>
                </a:lnTo>
                <a:cubicBezTo>
                  <a:pt x="0" y="116717"/>
                  <a:pt x="16736" y="76314"/>
                  <a:pt x="46525" y="46525"/>
                </a:cubicBezTo>
                <a:cubicBezTo>
                  <a:pt x="76314" y="16736"/>
                  <a:pt x="116717" y="0"/>
                  <a:pt x="1588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D36B6EB-24D9-4538-8DD1-BF086BBF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E587079-3B56-4EE5-B5E0-37FC9E8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91F065C-5747-499F-A9AE-D87EF1A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2BD61B6-36E2-4D26-9490-B2886A48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BACF5B-CE61-4E6E-9E12-B3DB68C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9A89D72-A050-4FA1-B176-EB9B884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7563615-4656-4A13-A7F8-7D6F974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82C19130-9608-43E0-8A2E-F4092E6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3C28233-1725-44E6-B5D7-329E69F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55428" h="714183">
                <a:moveTo>
                  <a:pt x="0" y="0"/>
                </a:moveTo>
                <a:lnTo>
                  <a:pt x="955428" y="0"/>
                </a:lnTo>
                <a:lnTo>
                  <a:pt x="955428" y="714183"/>
                </a:lnTo>
                <a:lnTo>
                  <a:pt x="0" y="7141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FF148B4-8F7B-4477-BACE-0EADA2CF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85221" h="816616">
                <a:moveTo>
                  <a:pt x="0" y="0"/>
                </a:moveTo>
                <a:lnTo>
                  <a:pt x="885221" y="0"/>
                </a:lnTo>
                <a:lnTo>
                  <a:pt x="885221" y="816617"/>
                </a:lnTo>
                <a:lnTo>
                  <a:pt x="0" y="8166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89EAB80-2129-4CA0-AF83-827CDFF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9D4D8900-E18C-4ADE-A944-48B149A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AAECBF9-3013-4570-B093-A066D5F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3912" h="772604">
                <a:moveTo>
                  <a:pt x="0" y="0"/>
                </a:moveTo>
                <a:lnTo>
                  <a:pt x="763912" y="0"/>
                </a:lnTo>
                <a:lnTo>
                  <a:pt x="763912" y="772604"/>
                </a:lnTo>
                <a:lnTo>
                  <a:pt x="0" y="7726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A08805D-932F-4647-B6D8-09FFBA0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8668" h="724470">
                <a:moveTo>
                  <a:pt x="0" y="0"/>
                </a:moveTo>
                <a:lnTo>
                  <a:pt x="768668" y="0"/>
                </a:lnTo>
                <a:lnTo>
                  <a:pt x="768668" y="724470"/>
                </a:lnTo>
                <a:lnTo>
                  <a:pt x="0" y="7244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0A81109E-2AFE-4860-827B-63CAE0B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23802" h="823673">
                <a:moveTo>
                  <a:pt x="0" y="0"/>
                </a:moveTo>
                <a:lnTo>
                  <a:pt x="723802" y="0"/>
                </a:lnTo>
                <a:lnTo>
                  <a:pt x="723802" y="823673"/>
                </a:lnTo>
                <a:lnTo>
                  <a:pt x="0" y="8236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BE351C9-C9CC-4817-B011-17E4E3C4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300"/>
              </a:lnSpc>
              <a:buNone/>
              <a:defRPr>
                <a:solidFill>
                  <a:srgbClr val="FFFF33"/>
                </a:solidFill>
              </a:defRPr>
            </a:pPr>
            <a:r>
              <a:rPr sz="43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B5F0A71-346D-42E8-BBA6-5936B4B6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BA30B48-2377-412E-9BB6-C6E5479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3A5649AF-9B41-4038-8713-71A9458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DF62990D-6B5A-43AB-B034-5C40FD3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F80110-0A51-4AD7-A975-50AE7CE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32B85D2-1392-4CE5-B88B-3DCF851A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D7EDECD-8E58-4C11-8F9C-C78DD6B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F27DD5D-8663-4B48-A3CE-7DB580B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A22412A-A7CA-4AE5-BCB2-383D3C2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65311EE-4C12-4337-B1D8-33699F7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744AD71-D274-46CC-968C-D88A2351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359B128-FC21-45FE-8BBA-5362ABE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87995F44-8E0D-46EA-AD8B-B675712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17ABC8A-7ACE-41E4-9DD2-DF8E835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038733CB-BF01-489F-98D1-3187B31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D5876EF-C5CF-42AF-8D75-1114D9D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B8DAE403-0B56-4549-A38F-19114A83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B215BA60-70AB-41C5-970B-97A5BE9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D65A21E-AAA6-43AB-B0EB-A5F764E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62" name="Imagen 108">
            <a:extLst xmlns:a="http://schemas.openxmlformats.org/drawingml/2006/main">
              <a:ext uri="{FF2B5EF4-FFF2-40B4-BE49-F238E27FC236}">
                <a16:creationId xmlns:a16="http://schemas.microsoft.com/office/drawing/2014/main" id="{5D965876-4C88-4861-821E-6B7680A2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0" name="Imagen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26aa6c5c04a06"/>
          <a:srcRect xmlns:a="http://schemas.openxmlformats.org/drawingml/2006/main" l="17708" t="0" r="17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9455"/>
            </a:avLst>
          </a:prstGeom>
        </p:spPr>
      </p:pic>
      <p:sp>
        <p:nvSpPr>
          <p:cNvPr id="63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A3787223-6C2E-4797-AABD-6B446160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4618d35f44344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896F108E-E38F-4183-A723-21320EF1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613530C8-EFC1-4BD9-A598-2565B50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esquema estrella organiza el consumo alrededor del hecho</a:t>
            </a:r>
          </a:p>
        </p:txBody>
      </p:sp>
      <p:sp>
        <p:nvSpPr>
          <p:cNvPr id="67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052AAB1-AF20-4E22-B0E0-57A5B71F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8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CD2D2692-6432-4900-865B-ACEE7EAD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CONSUMO · MODELO DIMENSIONAL</a:t>
            </a:r>
          </a:p>
        </p:txBody>
      </p:sp>
      <p:sp>
        <p:nvSpPr>
          <p:cNvPr id="69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D35B44E-9264-48E9-A242-CC435DC2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70" name="star-line-date">
            <a:extLst xmlns:a="http://schemas.openxmlformats.org/drawingml/2006/main">
              <a:ext uri="{FF2B5EF4-FFF2-40B4-BE49-F238E27FC236}">
                <a16:creationId xmlns:a16="http://schemas.microsoft.com/office/drawing/2014/main" id="{94A86549-19D6-4CA0-87CB-11FAE87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57750" y="4143375"/>
            <a:ext cx="21431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71" name="star-line-customer">
            <a:extLst xmlns:a="http://schemas.openxmlformats.org/drawingml/2006/main">
              <a:ext uri="{FF2B5EF4-FFF2-40B4-BE49-F238E27FC236}">
                <a16:creationId xmlns:a16="http://schemas.microsoft.com/office/drawing/2014/main" id="{8B5C4A1F-F28F-4CFD-8E62-70B6ED43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57750" y="5953125"/>
            <a:ext cx="214312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72" name="star-line-product">
            <a:extLst xmlns:a="http://schemas.openxmlformats.org/drawingml/2006/main">
              <a:ext uri="{FF2B5EF4-FFF2-40B4-BE49-F238E27FC236}">
                <a16:creationId xmlns:a16="http://schemas.microsoft.com/office/drawing/2014/main" id="{97235BF4-4316-4721-8A5C-9CD4D8EF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382375" y="4143375"/>
            <a:ext cx="20478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73" name="star-line-channel">
            <a:extLst xmlns:a="http://schemas.openxmlformats.org/drawingml/2006/main">
              <a:ext uri="{FF2B5EF4-FFF2-40B4-BE49-F238E27FC236}">
                <a16:creationId xmlns:a16="http://schemas.microsoft.com/office/drawing/2014/main" id="{6167D6DB-C09B-4A4D-9264-37339EEA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82375" y="5953125"/>
            <a:ext cx="204787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74" name="star-box-date">
            <a:extLst xmlns:a="http://schemas.openxmlformats.org/drawingml/2006/main">
              <a:ext uri="{FF2B5EF4-FFF2-40B4-BE49-F238E27FC236}">
                <a16:creationId xmlns:a16="http://schemas.microsoft.com/office/drawing/2014/main" id="{7C16C463-ACFB-40D4-BECC-530B3348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3429000" cy="1524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A5A5A"/>
            </a:solidFill>
            <a:prstDash val="solid"/>
          </a:ln>
        </p:spPr>
      </p:sp>
      <p:sp>
        <p:nvSpPr>
          <p:cNvPr id="75" name="star-head-date">
            <a:extLst xmlns:a="http://schemas.openxmlformats.org/drawingml/2006/main">
              <a:ext uri="{FF2B5EF4-FFF2-40B4-BE49-F238E27FC236}">
                <a16:creationId xmlns:a16="http://schemas.microsoft.com/office/drawing/2014/main" id="{7BD44052-E637-419A-BF20-68C596FA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99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dim_fecha</a:t>
            </a:r>
          </a:p>
        </p:txBody>
      </p:sp>
      <p:sp>
        <p:nvSpPr>
          <p:cNvPr id="76" name="star-body-date">
            <a:extLst xmlns:a="http://schemas.openxmlformats.org/drawingml/2006/main">
              <a:ext uri="{FF2B5EF4-FFF2-40B4-BE49-F238E27FC236}">
                <a16:creationId xmlns:a16="http://schemas.microsoft.com/office/drawing/2014/main" id="{44075466-3262-4EE1-B2DC-BA6A3ADE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81475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día · mes · año</a:t>
            </a:r>
          </a:p>
        </p:txBody>
      </p:sp>
      <p:sp>
        <p:nvSpPr>
          <p:cNvPr id="77" name="star-box-customer">
            <a:extLst xmlns:a="http://schemas.openxmlformats.org/drawingml/2006/main">
              <a:ext uri="{FF2B5EF4-FFF2-40B4-BE49-F238E27FC236}">
                <a16:creationId xmlns:a16="http://schemas.microsoft.com/office/drawing/2014/main" id="{B048C721-1F00-4E7F-A722-DB6E74B6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91250"/>
            <a:ext cx="3429000" cy="1524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A5A5A"/>
            </a:solidFill>
            <a:prstDash val="solid"/>
          </a:ln>
        </p:spPr>
      </p:sp>
      <p:sp>
        <p:nvSpPr>
          <p:cNvPr id="78" name="star-head-customer">
            <a:extLst xmlns:a="http://schemas.openxmlformats.org/drawingml/2006/main">
              <a:ext uri="{FF2B5EF4-FFF2-40B4-BE49-F238E27FC236}">
                <a16:creationId xmlns:a16="http://schemas.microsoft.com/office/drawing/2014/main" id="{00E70F30-D584-426C-ACF1-932C3854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4198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dim_cliente</a:t>
            </a:r>
          </a:p>
        </p:txBody>
      </p:sp>
      <p:sp>
        <p:nvSpPr>
          <p:cNvPr id="79" name="star-body-customer">
            <a:extLst xmlns:a="http://schemas.openxmlformats.org/drawingml/2006/main">
              <a:ext uri="{FF2B5EF4-FFF2-40B4-BE49-F238E27FC236}">
                <a16:creationId xmlns:a16="http://schemas.microsoft.com/office/drawing/2014/main" id="{155F7E72-A2D2-400E-9DA9-1B0903E0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991350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segmento · región</a:t>
            </a:r>
          </a:p>
        </p:txBody>
      </p:sp>
      <p:sp>
        <p:nvSpPr>
          <p:cNvPr id="80" name="star-box-product">
            <a:extLst xmlns:a="http://schemas.openxmlformats.org/drawingml/2006/main">
              <a:ext uri="{FF2B5EF4-FFF2-40B4-BE49-F238E27FC236}">
                <a16:creationId xmlns:a16="http://schemas.microsoft.com/office/drawing/2014/main" id="{ED5CD681-A47A-4BF3-868D-3EAFD9DF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381375"/>
            <a:ext cx="3429000" cy="1524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A5A5A"/>
            </a:solidFill>
            <a:prstDash val="solid"/>
          </a:ln>
        </p:spPr>
      </p:sp>
      <p:sp>
        <p:nvSpPr>
          <p:cNvPr id="81" name="star-head-product">
            <a:extLst xmlns:a="http://schemas.openxmlformats.org/drawingml/2006/main">
              <a:ext uri="{FF2B5EF4-FFF2-40B4-BE49-F238E27FC236}">
                <a16:creationId xmlns:a16="http://schemas.microsoft.com/office/drawing/2014/main" id="{38A08E7C-FA3B-4564-9989-1D17BB91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6099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dim_producto</a:t>
            </a:r>
          </a:p>
        </p:txBody>
      </p:sp>
      <p:sp>
        <p:nvSpPr>
          <p:cNvPr id="82" name="star-body-product">
            <a:extLst xmlns:a="http://schemas.openxmlformats.org/drawingml/2006/main">
              <a:ext uri="{FF2B5EF4-FFF2-40B4-BE49-F238E27FC236}">
                <a16:creationId xmlns:a16="http://schemas.microsoft.com/office/drawing/2014/main" id="{86EF4B6F-F8D7-4FF2-8104-09AFB290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181475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familia · descripción</a:t>
            </a:r>
          </a:p>
        </p:txBody>
      </p:sp>
      <p:sp>
        <p:nvSpPr>
          <p:cNvPr id="83" name="star-box-channel">
            <a:extLst xmlns:a="http://schemas.openxmlformats.org/drawingml/2006/main">
              <a:ext uri="{FF2B5EF4-FFF2-40B4-BE49-F238E27FC236}">
                <a16:creationId xmlns:a16="http://schemas.microsoft.com/office/drawing/2014/main" id="{2F2983BA-119E-4DFD-B8AA-69FC8FA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191250"/>
            <a:ext cx="3429000" cy="1524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A5A5A"/>
            </a:solidFill>
            <a:prstDash val="solid"/>
          </a:ln>
        </p:spPr>
      </p:sp>
      <p:sp>
        <p:nvSpPr>
          <p:cNvPr id="84" name="star-head-channel">
            <a:extLst xmlns:a="http://schemas.openxmlformats.org/drawingml/2006/main">
              <a:ext uri="{FF2B5EF4-FFF2-40B4-BE49-F238E27FC236}">
                <a16:creationId xmlns:a16="http://schemas.microsoft.com/office/drawing/2014/main" id="{63FDA9C6-BF58-4511-90FE-7BDA30C8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4198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dim_canal</a:t>
            </a:r>
          </a:p>
        </p:txBody>
      </p:sp>
      <p:sp>
        <p:nvSpPr>
          <p:cNvPr id="85" name="star-body-channel">
            <a:extLst xmlns:a="http://schemas.openxmlformats.org/drawingml/2006/main">
              <a:ext uri="{FF2B5EF4-FFF2-40B4-BE49-F238E27FC236}">
                <a16:creationId xmlns:a16="http://schemas.microsoft.com/office/drawing/2014/main" id="{8EC86E3A-0F53-4F81-A00A-F4C9045A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991350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canal · tipo de venta</a:t>
            </a:r>
          </a:p>
        </p:txBody>
      </p:sp>
      <p:sp>
        <p:nvSpPr>
          <p:cNvPr id="86" name="star-fact-box">
            <a:extLst xmlns:a="http://schemas.openxmlformats.org/drawingml/2006/main">
              <a:ext uri="{FF2B5EF4-FFF2-40B4-BE49-F238E27FC236}">
                <a16:creationId xmlns:a16="http://schemas.microsoft.com/office/drawing/2014/main" id="{31E09D03-8A4C-4D79-AFF7-6B186BF5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438150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87" name="star-fact-head">
            <a:extLst xmlns:a="http://schemas.openxmlformats.org/drawingml/2006/main">
              <a:ext uri="{FF2B5EF4-FFF2-40B4-BE49-F238E27FC236}">
                <a16:creationId xmlns:a16="http://schemas.microsoft.com/office/drawing/2014/main" id="{754BF022-7B69-43A3-800D-254DB4B2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fact_ventas</a:t>
            </a:r>
          </a:p>
        </p:txBody>
      </p:sp>
      <p:sp>
        <p:nvSpPr>
          <p:cNvPr id="88" name="star-fact-grain-label">
            <a:extLst xmlns:a="http://schemas.openxmlformats.org/drawingml/2006/main">
              <a:ext uri="{FF2B5EF4-FFF2-40B4-BE49-F238E27FC236}">
                <a16:creationId xmlns:a16="http://schemas.microsoft.com/office/drawing/2014/main" id="{2765614E-19BC-47D0-8A70-3AEBC3DF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101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GRANO</a:t>
            </a:r>
          </a:p>
        </p:txBody>
      </p:sp>
      <p:sp>
        <p:nvSpPr>
          <p:cNvPr id="89" name="star-fact-grain">
            <a:extLst xmlns:a="http://schemas.openxmlformats.org/drawingml/2006/main">
              <a:ext uri="{FF2B5EF4-FFF2-40B4-BE49-F238E27FC236}">
                <a16:creationId xmlns:a16="http://schemas.microsoft.com/office/drawing/2014/main" id="{D46707E0-641D-4FF2-8CE2-4E1CBAC9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911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línea vendida</a:t>
            </a:r>
          </a:p>
        </p:txBody>
      </p:sp>
      <p:sp>
        <p:nvSpPr>
          <p:cNvPr id="90" name="star-fact-rule">
            <a:extLst xmlns:a="http://schemas.openxmlformats.org/drawingml/2006/main">
              <a:ext uri="{FF2B5EF4-FFF2-40B4-BE49-F238E27FC236}">
                <a16:creationId xmlns:a16="http://schemas.microsoft.com/office/drawing/2014/main" id="{CE15F3A2-093A-48D5-BE2B-FA099A7F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72375" y="58578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497D"/>
            </a:solidFill>
            <a:prstDash val="solid"/>
          </a:ln>
        </p:spPr>
      </p:sp>
      <p:sp>
        <p:nvSpPr>
          <p:cNvPr id="91" name="star-fact-measures">
            <a:extLst xmlns:a="http://schemas.openxmlformats.org/drawingml/2006/main">
              <a:ext uri="{FF2B5EF4-FFF2-40B4-BE49-F238E27FC236}">
                <a16:creationId xmlns:a16="http://schemas.microsoft.com/office/drawing/2014/main" id="{3F013BDD-513F-4D5B-B547-A9853E2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436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cantidad · venta neta · margen</a:t>
            </a:r>
          </a:p>
        </p:txBody>
      </p:sp>
      <p:sp>
        <p:nvSpPr>
          <p:cNvPr id="92" name="star-callout">
            <a:extLst xmlns:a="http://schemas.openxmlformats.org/drawingml/2006/main">
              <a:ext uri="{FF2B5EF4-FFF2-40B4-BE49-F238E27FC236}">
                <a16:creationId xmlns:a16="http://schemas.microsoft.com/office/drawing/2014/main" id="{1131DB47-FB41-4C23-8865-496200D2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962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Las dimensiones aportan contexto; la tabla de hechos conserva el grano y las medidas.</a:t>
            </a:r>
          </a:p>
        </p:txBody>
      </p:sp>
    </p:spTree>
    <p:extLst>
      <p:ext uri="{BB962C8B-B14F-4D97-AF65-F5344CB8AC3E}">
        <p14:creationId xmlns:p14="http://schemas.microsoft.com/office/powerpoint/2010/main" val="958216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E57D1B7B-2B3A-45D2-9BB9-71C06728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5154ce0804bdf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0995A9CF-62C5-44CE-84D4-96F52AA9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B2FE914-1DAC-474B-B420-34CD3D3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Operacional y estrella conservan propósitos distintos</a:t>
            </a:r>
          </a:p>
        </p:txBody>
      </p:sp>
      <p:sp>
        <p:nvSpPr>
          <p:cNvPr id="59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BDD676D3-1733-4E38-878F-6C7812CA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0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214277E-E5A3-4D65-9FFB-312901A4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MODELOS · FUENTE Y CONSUMO</a:t>
            </a:r>
          </a:p>
        </p:txBody>
      </p:sp>
      <p:sp>
        <p:nvSpPr>
          <p:cNvPr id="61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8B9CCA23-DB2F-42D3-9149-21BB58F7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2" name="compare-box-0">
            <a:extLst xmlns:a="http://schemas.openxmlformats.org/drawingml/2006/main">
              <a:ext uri="{FF2B5EF4-FFF2-40B4-BE49-F238E27FC236}">
                <a16:creationId xmlns:a16="http://schemas.microsoft.com/office/drawing/2014/main" id="{A189337C-8C6E-4706-8728-B9C3DA2D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3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045232E4-AD96-4329-9AA3-3A0F56C7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Operacional</a:t>
            </a:r>
          </a:p>
        </p:txBody>
      </p:sp>
      <p:sp>
        <p:nvSpPr>
          <p:cNvPr id="64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D3AE5438-2802-4948-8A38-8C4BD20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OLTP</a:t>
            </a:r>
          </a:p>
        </p:txBody>
      </p:sp>
      <p:sp>
        <p:nvSpPr>
          <p:cNvPr id="65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2ABBD458-D32F-4A51-9393-8F19C905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Actualiza pedidos y protege integridad.</a:t>
            </a:r>
          </a:p>
        </p:txBody>
      </p:sp>
      <p:sp>
        <p:nvSpPr>
          <p:cNvPr id="66" name="compare-box-1">
            <a:extLst xmlns:a="http://schemas.openxmlformats.org/drawingml/2006/main">
              <a:ext uri="{FF2B5EF4-FFF2-40B4-BE49-F238E27FC236}">
                <a16:creationId xmlns:a16="http://schemas.microsoft.com/office/drawing/2014/main" id="{106F4188-0B24-4B6A-AAD8-C4885EF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7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692630F6-0E37-45C1-98F9-B0923F60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Estrella</a:t>
            </a:r>
          </a:p>
        </p:txBody>
      </p:sp>
      <p:sp>
        <p:nvSpPr>
          <p:cNvPr id="68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A0EADC5E-0F8A-42DB-B4CC-B2B3A323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BI</a:t>
            </a:r>
          </a:p>
        </p:txBody>
      </p:sp>
      <p:sp>
        <p:nvSpPr>
          <p:cNvPr id="69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98A8F956-B023-45D0-9C62-677E4195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Agrega ventas por fecha, cliente o producto.</a:t>
            </a:r>
          </a:p>
        </p:txBody>
      </p:sp>
      <p:sp>
        <p:nvSpPr>
          <p:cNvPr id="70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006EF333-9530-4551-A592-2EACE761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11811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1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9F88DFAD-4BDD-45ED-90ED-CA285C3C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286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 transformación conecta ambos modelos y documenta el cambio de grano.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7EBA46BF-05B5-46E4-83EB-026AF652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3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ed613474b48db"/>
          <a:srcRect xmlns:a="http://schemas.openxmlformats.org/drawingml/2006/main" l="0" t="7817" r="0" b="7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66990CE8-07DB-48BF-93EB-5149974A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157823bba4da8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A54EAFC4-B044-491C-AB29-E8C8712F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c96bbfb634910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1A670DC-7A8A-4E21-B5F6-962FE482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0CABE995-7878-482F-8456-C3D06770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NULL representa una ausencia con significado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2E28DBF-5649-4E60-9ACC-7023557A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39B0CC8-B0BC-48C9-AC5F-4A3344D7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MODELO · VALORES FALTANTES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2264B6B-BF46-4D84-AA56-5B030619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3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596384"/>
                <a:gridCol w="5705856"/>
                <a:gridCol w="5547360"/>
              </a:tblGrid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Situación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Interpretación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Tratamiento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fecha_entrega =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Entrega pendiente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Mantener y medir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region = NULL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Dato desconocido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Corregir o clasificar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descuento =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Valor observado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Conservar como cero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295CAC96-9583-4B59-A7DA-BF436A9F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7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47253733c4ea8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4699A31F-12B8-41BD-8A11-89B17B35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9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e58b4d58341ca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B216AC-CEA5-428D-AD3A-853B9F5B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822e42a3041a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D3D3E1-FB2A-4DC1-8BA8-B6597596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b15f255f441c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9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EE53EF97-23F0-4203-998C-D683CD16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7ec342dab4e2a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B0DAB71-07E5-4F50-B48B-13D9B7CC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2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7D183CF5-B5BE-4308-8B16-33E71D3B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Faro Sur se organiza en cuatro entidades</a:t>
            </a:r>
          </a:p>
        </p:txBody>
      </p:sp>
      <p:sp>
        <p:nvSpPr>
          <p:cNvPr id="63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669FCCE-C4CC-431E-B6C7-A7678F9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4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D017E5E-92F2-49D8-838D-E6A5BA06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CASO · MODELO RELACIONAL</a:t>
            </a:r>
          </a:p>
        </p:txBody>
      </p:sp>
      <p:sp>
        <p:nvSpPr>
          <p:cNvPr id="65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BE604D62-5126-46CA-AB1B-310BEA5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6" name="case-box-0">
            <a:extLst xmlns:a="http://schemas.openxmlformats.org/drawingml/2006/main">
              <a:ext uri="{FF2B5EF4-FFF2-40B4-BE49-F238E27FC236}">
                <a16:creationId xmlns:a16="http://schemas.microsoft.com/office/drawing/2014/main" id="{7A5A94FF-85EA-4CAB-BEAE-F89E433F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376237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7" name="case-head-0">
            <a:extLst xmlns:a="http://schemas.openxmlformats.org/drawingml/2006/main">
              <a:ext uri="{FF2B5EF4-FFF2-40B4-BE49-F238E27FC236}">
                <a16:creationId xmlns:a16="http://schemas.microsoft.com/office/drawing/2014/main" id="{E5A4337F-72B0-40E8-A412-E1F64ED6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343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customers · 120</a:t>
            </a:r>
          </a:p>
        </p:txBody>
      </p:sp>
      <p:sp>
        <p:nvSpPr>
          <p:cNvPr id="68" name="case-body-0">
            <a:extLst xmlns:a="http://schemas.openxmlformats.org/drawingml/2006/main">
              <a:ext uri="{FF2B5EF4-FFF2-40B4-BE49-F238E27FC236}">
                <a16:creationId xmlns:a16="http://schemas.microsoft.com/office/drawing/2014/main" id="{67F5EF6A-1C38-4ADA-9ACB-F8B483C5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3343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fila por cliente</a:t>
            </a:r>
          </a:p>
        </p:txBody>
      </p:sp>
      <p:sp>
        <p:nvSpPr>
          <p:cNvPr id="69" name="case-box-1">
            <a:extLst xmlns:a="http://schemas.openxmlformats.org/drawingml/2006/main">
              <a:ext uri="{FF2B5EF4-FFF2-40B4-BE49-F238E27FC236}">
                <a16:creationId xmlns:a16="http://schemas.microsoft.com/office/drawing/2014/main" id="{B1DDE366-9952-4E52-8AF3-36CC0FA3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14750"/>
            <a:ext cx="376237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0" name="case-head-1">
            <a:extLst xmlns:a="http://schemas.openxmlformats.org/drawingml/2006/main">
              <a:ext uri="{FF2B5EF4-FFF2-40B4-BE49-F238E27FC236}">
                <a16:creationId xmlns:a16="http://schemas.microsoft.com/office/drawing/2014/main" id="{D8A97F73-8A0D-42C9-AE7B-D7DFE3F3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000500"/>
            <a:ext cx="3343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products · 30</a:t>
            </a:r>
          </a:p>
        </p:txBody>
      </p:sp>
      <p:sp>
        <p:nvSpPr>
          <p:cNvPr id="71" name="case-body-1">
            <a:extLst xmlns:a="http://schemas.openxmlformats.org/drawingml/2006/main">
              <a:ext uri="{FF2B5EF4-FFF2-40B4-BE49-F238E27FC236}">
                <a16:creationId xmlns:a16="http://schemas.microsoft.com/office/drawing/2014/main" id="{DE715E55-F30B-497E-9034-86751DCB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95875"/>
            <a:ext cx="3343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fila por producto</a:t>
            </a:r>
          </a:p>
        </p:txBody>
      </p:sp>
      <p:sp>
        <p:nvSpPr>
          <p:cNvPr id="72" name="case-box-2">
            <a:extLst xmlns:a="http://schemas.openxmlformats.org/drawingml/2006/main">
              <a:ext uri="{FF2B5EF4-FFF2-40B4-BE49-F238E27FC236}">
                <a16:creationId xmlns:a16="http://schemas.microsoft.com/office/drawing/2014/main" id="{B9EA0956-A21A-46CE-8220-3C1DB7A2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14750"/>
            <a:ext cx="376237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3" name="case-head-2">
            <a:extLst xmlns:a="http://schemas.openxmlformats.org/drawingml/2006/main">
              <a:ext uri="{FF2B5EF4-FFF2-40B4-BE49-F238E27FC236}">
                <a16:creationId xmlns:a16="http://schemas.microsoft.com/office/drawing/2014/main" id="{8982BA19-FBBE-4E88-80EE-A9F573E1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0"/>
            <a:ext cx="3343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sales_orders · 3.574</a:t>
            </a:r>
          </a:p>
        </p:txBody>
      </p:sp>
      <p:sp>
        <p:nvSpPr>
          <p:cNvPr id="74" name="case-body-2">
            <a:extLst xmlns:a="http://schemas.openxmlformats.org/drawingml/2006/main">
              <a:ext uri="{FF2B5EF4-FFF2-40B4-BE49-F238E27FC236}">
                <a16:creationId xmlns:a16="http://schemas.microsoft.com/office/drawing/2014/main" id="{E2C0CA7C-4983-4955-8087-3445ADD9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95875"/>
            <a:ext cx="3343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fila por pedido</a:t>
            </a:r>
          </a:p>
        </p:txBody>
      </p:sp>
      <p:sp>
        <p:nvSpPr>
          <p:cNvPr id="75" name="case-box-3">
            <a:extLst xmlns:a="http://schemas.openxmlformats.org/drawingml/2006/main">
              <a:ext uri="{FF2B5EF4-FFF2-40B4-BE49-F238E27FC236}">
                <a16:creationId xmlns:a16="http://schemas.microsoft.com/office/drawing/2014/main" id="{7DA84894-ABA9-4E6E-A258-745F928C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3714750"/>
            <a:ext cx="376237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6" name="case-head-3">
            <a:extLst xmlns:a="http://schemas.openxmlformats.org/drawingml/2006/main">
              <a:ext uri="{FF2B5EF4-FFF2-40B4-BE49-F238E27FC236}">
                <a16:creationId xmlns:a16="http://schemas.microsoft.com/office/drawing/2014/main" id="{665075F3-672A-490B-8068-F3F9DDAD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4000500"/>
            <a:ext cx="3343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sales_order_lines · 7.500</a:t>
            </a:r>
          </a:p>
        </p:txBody>
      </p:sp>
      <p:sp>
        <p:nvSpPr>
          <p:cNvPr id="77" name="case-body-3">
            <a:extLst xmlns:a="http://schemas.openxmlformats.org/drawingml/2006/main">
              <a:ext uri="{FF2B5EF4-FFF2-40B4-BE49-F238E27FC236}">
                <a16:creationId xmlns:a16="http://schemas.microsoft.com/office/drawing/2014/main" id="{1CCEEC6F-AEBA-42EF-A099-0D8DBD57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5095875"/>
            <a:ext cx="3343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fila por línea</a:t>
            </a:r>
          </a:p>
        </p:txBody>
      </p:sp>
      <p:sp>
        <p:nvSpPr>
          <p:cNvPr id="78" name="case-footer">
            <a:extLst xmlns:a="http://schemas.openxmlformats.org/drawingml/2006/main">
              <a:ext uri="{FF2B5EF4-FFF2-40B4-BE49-F238E27FC236}">
                <a16:creationId xmlns:a16="http://schemas.microsoft.com/office/drawing/2014/main" id="{808C050B-69AC-4B3E-A12F-FBB2DF94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Controles: unicidad, claves foráneas y grano declarado.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2026-08-12T01:46:23.9750000Z</dcterms:created>
  <dcterms:modified xsi:type="dcterms:W3CDTF">2026-08-12T01:46:23.9750000Z</dcterms:modified>
</coreProperties>
</file>