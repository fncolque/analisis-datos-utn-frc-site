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336a26d3c24985" /><Relationship Type="http://schemas.openxmlformats.org/officeDocument/2006/relationships/extended-properties" Target="/docProps/app.xml" Id="R4ce0acc5b9ec4ad2" /><Relationship Type="http://schemas.openxmlformats.org/officeDocument/2006/relationships/officeDocument" Target="/ppt/presentation.xml" Id="Rae58f4fabdea48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17ac02344d4bb1"/>
  </p:sldMasterIdLst>
  <p:notesMasterIdLst>
    <p:notesMasterId xmlns:r="http://schemas.openxmlformats.org/officeDocument/2006/relationships" r:id="Ra747498491554c02"/>
  </p:notesMasterIdLst>
  <p:sldIdLst>
    <p:sldId xmlns:r="http://schemas.openxmlformats.org/officeDocument/2006/relationships" id="256" r:id="Rea459ee97702487b"/>
    <p:sldId xmlns:r="http://schemas.openxmlformats.org/officeDocument/2006/relationships" id="257" r:id="Re485dc20d3734f53"/>
    <p:sldId xmlns:r="http://schemas.openxmlformats.org/officeDocument/2006/relationships" id="258" r:id="R1eecbecfef114d43"/>
    <p:sldId xmlns:r="http://schemas.openxmlformats.org/officeDocument/2006/relationships" id="259" r:id="R490c40ec079c4702"/>
    <p:sldId xmlns:r="http://schemas.openxmlformats.org/officeDocument/2006/relationships" id="260" r:id="R4437f778a32347f8"/>
    <p:sldId xmlns:r="http://schemas.openxmlformats.org/officeDocument/2006/relationships" id="261" r:id="Rbb52896cce5b4708"/>
    <p:sldId xmlns:r="http://schemas.openxmlformats.org/officeDocument/2006/relationships" id="262" r:id="R622abec4a29b4521"/>
    <p:sldId xmlns:r="http://schemas.openxmlformats.org/officeDocument/2006/relationships" id="263" r:id="Rfa0ace843d724273"/>
    <p:sldId xmlns:r="http://schemas.openxmlformats.org/officeDocument/2006/relationships" id="264" r:id="R53559182f9e24620"/>
    <p:sldId xmlns:r="http://schemas.openxmlformats.org/officeDocument/2006/relationships" id="265" r:id="R7b564e0e6c714658"/>
    <p:sldId xmlns:r="http://schemas.openxmlformats.org/officeDocument/2006/relationships" id="266" r:id="R7a9f705d69234b13"/>
    <p:sldId xmlns:r="http://schemas.openxmlformats.org/officeDocument/2006/relationships" id="267" r:id="R93cc82b2e3034b3b"/>
    <p:sldId xmlns:r="http://schemas.openxmlformats.org/officeDocument/2006/relationships" id="268" r:id="Redcaef3195e14bda"/>
    <p:sldId xmlns:r="http://schemas.openxmlformats.org/officeDocument/2006/relationships" id="269" r:id="R369b4287419d4b85"/>
    <p:sldId xmlns:r="http://schemas.openxmlformats.org/officeDocument/2006/relationships" id="270" r:id="Rbf7cce2d7e904374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84de9f63c647e4" /><Relationship Type="http://schemas.openxmlformats.org/officeDocument/2006/relationships/slideMaster" Target="/ppt/slideMasters/slideMaster1.xml" Id="Ra317ac02344d4bb1" /><Relationship Type="http://schemas.openxmlformats.org/officeDocument/2006/relationships/notesMaster" Target="/ppt/notesMasters/notesMaster1.xml" Id="Ra747498491554c02" /><Relationship Type="http://schemas.openxmlformats.org/officeDocument/2006/relationships/presProps" Target="/ppt/presProps.xml" Id="Re75389de770b4e77" /><Relationship Type="http://schemas.openxmlformats.org/officeDocument/2006/relationships/tableStyles" Target="/ppt/tableStyles.xml" Id="R53fc1c1e4b5c4842" /><Relationship Type="http://schemas.openxmlformats.org/officeDocument/2006/relationships/slide" Target="/ppt/slides/slide1.xml" Id="Rea459ee97702487b" /><Relationship Type="http://schemas.openxmlformats.org/officeDocument/2006/relationships/slide" Target="/ppt/slides/slide2.xml" Id="Re485dc20d3734f53" /><Relationship Type="http://schemas.openxmlformats.org/officeDocument/2006/relationships/slide" Target="/ppt/slides/slide3.xml" Id="R1eecbecfef114d43" /><Relationship Type="http://schemas.openxmlformats.org/officeDocument/2006/relationships/slide" Target="/ppt/slides/slide4.xml" Id="R490c40ec079c4702" /><Relationship Type="http://schemas.openxmlformats.org/officeDocument/2006/relationships/slide" Target="/ppt/slides/slide5.xml" Id="R4437f778a32347f8" /><Relationship Type="http://schemas.openxmlformats.org/officeDocument/2006/relationships/slide" Target="/ppt/slides/slide6.xml" Id="Rbb52896cce5b4708" /><Relationship Type="http://schemas.openxmlformats.org/officeDocument/2006/relationships/slide" Target="/ppt/slides/slide7.xml" Id="R622abec4a29b4521" /><Relationship Type="http://schemas.openxmlformats.org/officeDocument/2006/relationships/slide" Target="/ppt/slides/slide8.xml" Id="Rfa0ace843d724273" /><Relationship Type="http://schemas.openxmlformats.org/officeDocument/2006/relationships/slide" Target="/ppt/slides/slide9.xml" Id="R53559182f9e24620" /><Relationship Type="http://schemas.openxmlformats.org/officeDocument/2006/relationships/slide" Target="/ppt/slides/slide10.xml" Id="R7b564e0e6c714658" /><Relationship Type="http://schemas.openxmlformats.org/officeDocument/2006/relationships/slide" Target="/ppt/slides/slide11.xml" Id="R7a9f705d69234b13" /><Relationship Type="http://schemas.openxmlformats.org/officeDocument/2006/relationships/slide" Target="/ppt/slides/slide12.xml" Id="R93cc82b2e3034b3b" /><Relationship Type="http://schemas.openxmlformats.org/officeDocument/2006/relationships/slide" Target="/ppt/slides/slide13.xml" Id="Redcaef3195e14bda" /><Relationship Type="http://schemas.openxmlformats.org/officeDocument/2006/relationships/slide" Target="/ppt/slides/slide14.xml" Id="R369b4287419d4b85" /><Relationship Type="http://schemas.openxmlformats.org/officeDocument/2006/relationships/slide" Target="/ppt/slides/slide15.xml" Id="Rbf7cce2d7e9043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a06398e41441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fca51e27df423f" /><Relationship Type="http://schemas.openxmlformats.org/officeDocument/2006/relationships/notesMaster" Target="/ppt/notesMasters/notesMaster1.xml" Id="R2a17daeb298048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906d50e56844c3" /><Relationship Type="http://schemas.openxmlformats.org/officeDocument/2006/relationships/notesMaster" Target="/ppt/notesMasters/notesMaster1.xml" Id="R81db2979615b45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4e60ad83194a32" /><Relationship Type="http://schemas.openxmlformats.org/officeDocument/2006/relationships/notesMaster" Target="/ppt/notesMasters/notesMaster1.xml" Id="Rda4b29a9d4db48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a934b348424702" /><Relationship Type="http://schemas.openxmlformats.org/officeDocument/2006/relationships/notesMaster" Target="/ppt/notesMasters/notesMaster1.xml" Id="R9b76252864ce4f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6f396d2a264669" /><Relationship Type="http://schemas.openxmlformats.org/officeDocument/2006/relationships/notesMaster" Target="/ppt/notesMasters/notesMaster1.xml" Id="R013cf6f56e5744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68c7c1103243fa" /><Relationship Type="http://schemas.openxmlformats.org/officeDocument/2006/relationships/notesMaster" Target="/ppt/notesMasters/notesMaster1.xml" Id="Radde4d5eac3242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6a7c883d614468" /><Relationship Type="http://schemas.openxmlformats.org/officeDocument/2006/relationships/notesMaster" Target="/ppt/notesMasters/notesMaster1.xml" Id="Rf94292fed89145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8fd8d0766a4fb3" /><Relationship Type="http://schemas.openxmlformats.org/officeDocument/2006/relationships/notesMaster" Target="/ppt/notesMasters/notesMaster1.xml" Id="R6a4be4f8f18146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c32dc63a0b436f" /><Relationship Type="http://schemas.openxmlformats.org/officeDocument/2006/relationships/notesMaster" Target="/ppt/notesMasters/notesMaster1.xml" Id="R3bcc3332f89e4b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3bdee75cc24731" /><Relationship Type="http://schemas.openxmlformats.org/officeDocument/2006/relationships/notesMaster" Target="/ppt/notesMasters/notesMaster1.xml" Id="R2f09d1fd99b048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dcd166278d43d3" /><Relationship Type="http://schemas.openxmlformats.org/officeDocument/2006/relationships/notesMaster" Target="/ppt/notesMasters/notesMaster1.xml" Id="Rb11f390a9f4b4d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1abf5e08c6403b" /><Relationship Type="http://schemas.openxmlformats.org/officeDocument/2006/relationships/notesMaster" Target="/ppt/notesMasters/notesMaster1.xml" Id="R18b9a829196340a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a569637cdab489d" /><Relationship Type="http://schemas.openxmlformats.org/officeDocument/2006/relationships/notesMaster" Target="/ppt/notesMasters/notesMaster1.xml" Id="R2dcc75ed2872468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09736f46d848d6" /><Relationship Type="http://schemas.openxmlformats.org/officeDocument/2006/relationships/notesMaster" Target="/ppt/notesMasters/notesMaster1.xml" Id="Rb68a425a7a7d414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36a6ea96d14cc5" /><Relationship Type="http://schemas.openxmlformats.org/officeDocument/2006/relationships/notesMaster" Target="/ppt/notesMasters/notesMaster1.xml" Id="R3dfde092ee2c4d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770ddadd6543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c131cb88ee4b13" /><Relationship Type="http://schemas.openxmlformats.org/officeDocument/2006/relationships/slideLayout" Target="/ppt/slideLayouts/slideLayout1.xml" Id="Re88f9f0b27b146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8f9f0b27b146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1cfe02590441b" /><Relationship Type="http://schemas.openxmlformats.org/officeDocument/2006/relationships/image" Target="/ppt/media/image.jpeg" Id="R4fe9156a3afb4a21" /><Relationship Type="http://schemas.openxmlformats.org/officeDocument/2006/relationships/image" Target="/ppt/media/image.png" Id="R447e8e19a8284d51" /><Relationship Type="http://schemas.openxmlformats.org/officeDocument/2006/relationships/notesSlide" Target="/ppt/notesSlides/notesSlide1.xml" Id="R788413fa380548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c89664109402d" /><Relationship Type="http://schemas.openxmlformats.org/officeDocument/2006/relationships/image" Target="/ppt/media/image2.png" Id="Rc45a69ad5d1242de" /><Relationship Type="http://schemas.openxmlformats.org/officeDocument/2006/relationships/notesSlide" Target="/ppt/notesSlides/notesSlide2.xml" Id="Rf58440294e8443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8ec58b42744f8" /><Relationship Type="http://schemas.openxmlformats.org/officeDocument/2006/relationships/image" Target="/ppt/media/image3.png" Id="R7cb3e9e9c2774d86" /><Relationship Type="http://schemas.openxmlformats.org/officeDocument/2006/relationships/notesSlide" Target="/ppt/notesSlides/notesSlide3.xml" Id="R6d62b1cffdeb4e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6d1137ce04b21" /><Relationship Type="http://schemas.openxmlformats.org/officeDocument/2006/relationships/image" Target="/ppt/media/image4.png" Id="Re0bbad5785a0480f" /><Relationship Type="http://schemas.openxmlformats.org/officeDocument/2006/relationships/notesSlide" Target="/ppt/notesSlides/notesSlide4.xml" Id="R3588399120134b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15712453a4617" /><Relationship Type="http://schemas.openxmlformats.org/officeDocument/2006/relationships/image" Target="/ppt/media/image5.png" Id="R34c2e507e3d64848" /><Relationship Type="http://schemas.openxmlformats.org/officeDocument/2006/relationships/notesSlide" Target="/ppt/notesSlides/notesSlide5.xml" Id="R42621f8183bd43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2bc3997ce43dd" /><Relationship Type="http://schemas.openxmlformats.org/officeDocument/2006/relationships/image" Target="/ppt/media/image6.png" Id="R1bb2ce6931244d58" /><Relationship Type="http://schemas.openxmlformats.org/officeDocument/2006/relationships/notesSlide" Target="/ppt/notesSlides/notesSlide6.xml" Id="R70b7e5e3ccf646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5c45da05d4d30" /><Relationship Type="http://schemas.openxmlformats.org/officeDocument/2006/relationships/image" Target="/ppt/media/image7.png" Id="R570f5078a90a433a" /><Relationship Type="http://schemas.openxmlformats.org/officeDocument/2006/relationships/notesSlide" Target="/ppt/notesSlides/notesSlide7.xml" Id="R141520895dc64c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1e1b1761e4a27" /><Relationship Type="http://schemas.openxmlformats.org/officeDocument/2006/relationships/image" Target="/ppt/media/image8.png" Id="Rea37a0bc38564f97" /><Relationship Type="http://schemas.openxmlformats.org/officeDocument/2006/relationships/notesSlide" Target="/ppt/notesSlides/notesSlide8.xml" Id="R6c382a52a1a442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8f84678d14479" /><Relationship Type="http://schemas.openxmlformats.org/officeDocument/2006/relationships/image" Target="/ppt/media/image9.png" Id="R766e7c6575794c86" /><Relationship Type="http://schemas.openxmlformats.org/officeDocument/2006/relationships/notesSlide" Target="/ppt/notesSlides/notesSlide9.xml" Id="R2f69189c522643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76e2aa7034cc6" /><Relationship Type="http://schemas.openxmlformats.org/officeDocument/2006/relationships/image" Target="/ppt/media/image10.png" Id="R0a7b1edc6f754682" /><Relationship Type="http://schemas.openxmlformats.org/officeDocument/2006/relationships/notesSlide" Target="/ppt/notesSlides/notesSlide10.xml" Id="R027f6f84ea2a4b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d603105d8451b" /><Relationship Type="http://schemas.openxmlformats.org/officeDocument/2006/relationships/image" Target="/ppt/media/image5.png" Id="Rc89f384099d94eea" /><Relationship Type="http://schemas.openxmlformats.org/officeDocument/2006/relationships/notesSlide" Target="/ppt/notesSlides/notesSlide11.xml" Id="Rdfc92d37b0ec4f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195fbedf54d70" /><Relationship Type="http://schemas.openxmlformats.org/officeDocument/2006/relationships/image" Target="/ppt/media/image2.jpeg" Id="R6e13432cba0e4347" /><Relationship Type="http://schemas.openxmlformats.org/officeDocument/2006/relationships/image" Target="/ppt/media/image11.png" Id="Rdac216426f204ec0" /><Relationship Type="http://schemas.openxmlformats.org/officeDocument/2006/relationships/notesSlide" Target="/ppt/notesSlides/notesSlide12.xml" Id="R881094176a904a6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e8cf5f72d473b" /><Relationship Type="http://schemas.openxmlformats.org/officeDocument/2006/relationships/image" Target="/ppt/media/image12.png" Id="Rea30c92582aa445e" /><Relationship Type="http://schemas.openxmlformats.org/officeDocument/2006/relationships/notesSlide" Target="/ppt/notesSlides/notesSlide13.xml" Id="R526b65c87ce847b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0209e2f3e4dd6" /><Relationship Type="http://schemas.openxmlformats.org/officeDocument/2006/relationships/image" Target="/ppt/media/image13.png" Id="Rc30ce130dbe747c8" /><Relationship Type="http://schemas.openxmlformats.org/officeDocument/2006/relationships/notesSlide" Target="/ppt/notesSlides/notesSlide14.xml" Id="R686a7c1e0077417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b58c50d8d449a" /><Relationship Type="http://schemas.openxmlformats.org/officeDocument/2006/relationships/image" Target="/ppt/media/image3.jpeg" Id="R3f00544cdb034730" /><Relationship Type="http://schemas.openxmlformats.org/officeDocument/2006/relationships/image" Target="/ppt/media/image14.png" Id="R89b12ac73f1342f5" /><Relationship Type="http://schemas.openxmlformats.org/officeDocument/2006/relationships/notesSlide" Target="/ppt/notesSlides/notesSlide15.xml" Id="R15233e0159274a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cove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9156a3afb4a21"/>
          <a:srcRect xmlns:a="http://schemas.openxmlformats.org/drawingml/2006/main" l="29926" t="0" r="299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9125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cover-photo-rule">
            <a:extLst xmlns:a="http://schemas.openxmlformats.org/drawingml/2006/main">
              <a:ext uri="{FF2B5EF4-FFF2-40B4-BE49-F238E27FC236}">
                <a16:creationId xmlns:a16="http://schemas.microsoft.com/office/drawing/2014/main" id="{053350AE-D3CB-437D-B18A-C6F8C810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0"/>
            <a:ext cx="171450" cy="1028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3" name="cover-photo-tab">
            <a:extLst xmlns:a="http://schemas.openxmlformats.org/drawingml/2006/main">
              <a:ext uri="{FF2B5EF4-FFF2-40B4-BE49-F238E27FC236}">
                <a16:creationId xmlns:a16="http://schemas.microsoft.com/office/drawing/2014/main" id="{DE00BF98-F715-47DC-816D-2BCBA17E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210550"/>
            <a:ext cx="1809750" cy="247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4" name="cover-rail">
            <a:extLst xmlns:a="http://schemas.openxmlformats.org/drawingml/2006/main">
              <a:ext uri="{FF2B5EF4-FFF2-40B4-BE49-F238E27FC236}">
                <a16:creationId xmlns:a16="http://schemas.microsoft.com/office/drawing/2014/main" id="{E8424EAB-09F1-4399-868E-7C9D988E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0"/>
            <a:ext cx="333375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e8e19a8284d51"/>
          <a:stretch xmlns:a="http://schemas.openxmlformats.org/drawingml/2006/main"/>
        </p:blipFill>
        <p:spPr>
          <a:xfrm xmlns:a="http://schemas.openxmlformats.org/drawingml/2006/main">
            <a:off x="7000875" y="62648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" name="cover-brand">
            <a:extLst xmlns:a="http://schemas.openxmlformats.org/drawingml/2006/main">
              <a:ext uri="{FF2B5EF4-FFF2-40B4-BE49-F238E27FC236}">
                <a16:creationId xmlns:a16="http://schemas.microsoft.com/office/drawing/2014/main" id="{FE3BDFDE-54A2-42C1-B371-A28F4455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6667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7" name="cover-program">
            <a:extLst xmlns:a="http://schemas.openxmlformats.org/drawingml/2006/main">
              <a:ext uri="{FF2B5EF4-FFF2-40B4-BE49-F238E27FC236}">
                <a16:creationId xmlns:a16="http://schemas.microsoft.com/office/drawing/2014/main" id="{4D47DF6F-ED28-4C72-9123-14C3E363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9715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 · 2026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A666C65-B17F-484A-A548-B601594B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57450"/>
            <a:ext cx="971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54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JSON, contratos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54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y </a:t>
            </a:r>
            <a:r>
              <a:rPr sz="54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ETL/ELT</a:t>
            </a:r>
          </a:p>
        </p:txBody>
      </p:sp>
      <p:sp>
        <p:nvSpPr>
          <p:cNvPr id="9" name="cover-rule">
            <a:extLst xmlns:a="http://schemas.openxmlformats.org/drawingml/2006/main">
              <a:ext uri="{FF2B5EF4-FFF2-40B4-BE49-F238E27FC236}">
                <a16:creationId xmlns:a16="http://schemas.microsoft.com/office/drawing/2014/main" id="{7F72F753-2383-4C57-995A-1B1E61DA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00875" y="5667375"/>
            <a:ext cx="881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33"/>
            </a:solidFill>
            <a:prstDash val="solid"/>
          </a:ln>
        </p:spPr>
      </p:sp>
      <p:sp>
        <p:nvSpPr>
          <p:cNvPr id="10" name="cover-question-label">
            <a:extLst xmlns:a="http://schemas.openxmlformats.org/drawingml/2006/main">
              <a:ext uri="{FF2B5EF4-FFF2-40B4-BE49-F238E27FC236}">
                <a16:creationId xmlns:a16="http://schemas.microsoft.com/office/drawing/2014/main" id="{93796E07-362E-4D0E-9523-80A531AF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04837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PREGUNTA DE APERTURA</a:t>
            </a:r>
          </a:p>
        </p:txBody>
      </p:sp>
      <p:sp>
        <p:nvSpPr>
          <p:cNvPr id="11" name="cover-question">
            <a:extLst xmlns:a="http://schemas.openxmlformats.org/drawingml/2006/main">
              <a:ext uri="{FF2B5EF4-FFF2-40B4-BE49-F238E27FC236}">
                <a16:creationId xmlns:a16="http://schemas.microsoft.com/office/drawing/2014/main" id="{55D221F8-CD49-4D4E-B426-5716B838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496050"/>
            <a:ext cx="885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E5E5E5"/>
                </a:solidFill>
                <a:latin typeface="Telegraf"/>
                <a:ea typeface="Telegraf"/>
                <a:cs typeface="Telegraf"/>
              </a:defRPr>
            </a:pPr>
            <a:r>
              <a:rPr sz="2025" b="0">
                <a:solidFill>
                  <a:srgbClr val="E5E5E5"/>
                </a:solidFill>
                <a:latin typeface="Telegraf"/>
                <a:ea typeface="Telegraf"/>
                <a:cs typeface="Telegraf"/>
              </a:rPr>
              <a:t>¿Cómo convertir una fuente cambiante en datos reproducibles?</a:t>
            </a:r>
          </a:p>
        </p:txBody>
      </p:sp>
      <p:sp>
        <p:nvSpPr>
          <p:cNvPr id="12" name="cover-unit">
            <a:extLst xmlns:a="http://schemas.openxmlformats.org/drawingml/2006/main">
              <a:ext uri="{FF2B5EF4-FFF2-40B4-BE49-F238E27FC236}">
                <a16:creationId xmlns:a16="http://schemas.microsoft.com/office/drawing/2014/main" id="{530B20B2-3DC1-4D5D-9646-58DCC3DA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324850"/>
            <a:ext cx="26670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3" name="cover-unit-text">
            <a:extLst xmlns:a="http://schemas.openxmlformats.org/drawingml/2006/main">
              <a:ext uri="{FF2B5EF4-FFF2-40B4-BE49-F238E27FC236}">
                <a16:creationId xmlns:a16="http://schemas.microsoft.com/office/drawing/2014/main" id="{53EE5FAD-CAC0-421A-BA30-3D8E62D0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3248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3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UNIDAD 4</a:t>
            </a:r>
          </a:p>
        </p:txBody>
      </p:sp>
      <p:sp>
        <p:nvSpPr>
          <p:cNvPr id="14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6381E0D4-7D98-4389-A2C5-D1B4050A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448675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0D0D0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D0D0D0"/>
                </a:solidFill>
                <a:latin typeface="Telegraf"/>
                <a:ea typeface="Telegraf"/>
                <a:cs typeface="Telegraf"/>
              </a:rPr>
              <a:t>Análisis de Datos</a:t>
            </a:r>
          </a:p>
        </p:txBody>
      </p:sp>
    </p:spTree>
    <p:extLst>
      <p:ext uri="{BB962C8B-B14F-4D97-AF65-F5344CB8AC3E}">
        <p14:creationId xmlns:p14="http://schemas.microsoft.com/office/powerpoint/2010/main" val="13318133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885452ED-8166-435D-B6CF-4BD6FF91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A6489CE3-4F6E-4D30-9A60-EFAF53F8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C667F49A-D6CC-42CD-9513-8E8E1C14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5a69ad5d1242de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FABB94DE-1C52-4D0D-8E7C-E0543EB6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9946EB0E-97DC-48A7-BF65-15F418A1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5DF08069-3F60-407C-864B-4A8F0C3D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D064F706-292F-4195-AB64-543D2159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Cada formato organiza un intercambio distinto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F2619E8E-3F46-4B26-ABD9-BF575CAB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509015CB-980E-4D16-A5E3-D15F3FEC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60DA808C-753F-4DD4-9C41-1A0DAC3F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6B325D80-99C3-47AD-B5E9-72548F78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6C604081-8585-4260-9224-804DCE80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199CAFE1-2A95-418A-9C0E-6F301D22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72083FF8-9395-4ABD-933F-A061E3F4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FORMATOS · ELECCIÓN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4D26723D-3703-4671-BDC4-44D9E471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matrix-surface">
            <a:extLst xmlns:a="http://schemas.openxmlformats.org/drawingml/2006/main">
              <a:ext uri="{FF2B5EF4-FFF2-40B4-BE49-F238E27FC236}">
                <a16:creationId xmlns:a16="http://schemas.microsoft.com/office/drawing/2014/main" id="{7AAC5F8A-6D0A-4CCB-85E9-25D8A059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0" cy="3352800"/>
          </a:xfrm>
          <a:prstGeom xmlns:a="http://schemas.openxmlformats.org/drawingml/2006/main" prst="roundRect">
            <a:avLst>
              <a:gd name="adj" fmla="val 51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30670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35936"/>
                <a:gridCol w="4279392"/>
                <a:gridCol w="4596384"/>
                <a:gridCol w="4437888"/>
              </a:tblGrid>
              <a:tr h="7667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Formato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Estructura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Uso frecuente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Control inicial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CSV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filas y columnas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exportaciones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delimitador y tipos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JSON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objetos y listas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APIs y eventos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ruta y esquema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Parquet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columnas tipadas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analítica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metadatos y lectura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74185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574CD66D-3376-4569-B1A6-6021C287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22CD1024-DE39-4684-92C3-08160672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5DCFBD69-E7EA-49B8-9D4A-68680EF2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3e9e9c2774d86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564B5172-C9F5-4564-9C99-7EDA5FD0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BF9C3005-E318-44D0-9657-C757C985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241DCA4F-3C13-4621-B7D3-2C4A0A14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F27A2A75-67C9-4608-B45E-CBA42852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El </a:t>
            </a: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grano</a:t>
            </a: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 puede vivir dentro de una lista anidada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58A77E76-F290-4562-A7A7-3E1508EC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0B9EA4EF-B423-4C83-BC42-B0A8C932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7D5BB434-1A4E-4627-B204-C4D993EB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7EC028D0-B058-4DFB-BBF3-F98ACCC2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9ECFAABD-E982-416C-A0B6-A6738DFD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E2D8E895-3D5A-4317-8F77-648BEAB8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8A2E9EA2-032A-4404-A8CF-21EF1B6B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JSON · LECTURA ESTRUCTURAL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E78969DA-454F-482D-AAD4-9AF98B29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code-panel">
            <a:extLst xmlns:a="http://schemas.openxmlformats.org/drawingml/2006/main">
              <a:ext uri="{FF2B5EF4-FFF2-40B4-BE49-F238E27FC236}">
                <a16:creationId xmlns:a16="http://schemas.microsoft.com/office/drawing/2014/main" id="{668C8972-F0D1-4F6A-9AED-A87645DE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7524750" cy="4762500"/>
          </a:xfrm>
          <a:prstGeom xmlns:a="http://schemas.openxmlformats.org/drawingml/2006/main" prst="roundRect">
            <a:avLst>
              <a:gd name="adj" fmla="val 3600"/>
            </a:avLst>
          </a:prstGeom>
          <a:solidFill xmlns:a="http://schemas.openxmlformats.org/drawingml/2006/main">
            <a:srgbClr val="0E2438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8" name="code-text">
            <a:extLst xmlns:a="http://schemas.openxmlformats.org/drawingml/2006/main">
              <a:ext uri="{FF2B5EF4-FFF2-40B4-BE49-F238E27FC236}">
                <a16:creationId xmlns:a16="http://schemas.microsoft.com/office/drawing/2014/main" id="{DD219764-B5C8-4248-A3AB-D1765D6E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71875"/>
            <a:ext cx="69532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"order_id": "O-1042",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"status": "shipped",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"events": [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  {"type": "picked", "at": "09:14"},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  {"type": "dispatched", "at": "14:52"}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]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graphicFrame>
        <p:nvGraphicFramePr>
          <p:cNvPr id="43" name=""/>
          <p:cNvGraphicFramePr/>
          <p:nvPr/>
        </p:nvGraphicFramePr>
        <p:xfrm>
          <a:off xmlns:a="http://schemas.openxmlformats.org/drawingml/2006/main" x="9239250" y="3333750"/>
          <a:ext xmlns:a="http://schemas.openxmlformats.org/drawingml/2006/main" cx="78105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905250"/>
              </a:tblGrid>
              <a:tr h="77390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Ruta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Valor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order_id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O-1042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events[0].type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picked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events[1].at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14:52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sult-panel">
            <a:extLst xmlns:a="http://schemas.openxmlformats.org/drawingml/2006/main">
              <a:ext uri="{FF2B5EF4-FFF2-40B4-BE49-F238E27FC236}">
                <a16:creationId xmlns:a16="http://schemas.microsoft.com/office/drawing/2014/main" id="{42D065E8-50C0-4364-9DA9-6C7A3ACC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62300"/>
            <a:ext cx="8153400" cy="3438525"/>
          </a:xfrm>
          <a:prstGeom xmlns:a="http://schemas.openxmlformats.org/drawingml/2006/main" prst="roundRect">
            <a:avLst>
              <a:gd name="adj" fmla="val 49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1" name="code-note">
            <a:extLst xmlns:a="http://schemas.openxmlformats.org/drawingml/2006/main">
              <a:ext uri="{FF2B5EF4-FFF2-40B4-BE49-F238E27FC236}">
                <a16:creationId xmlns:a16="http://schemas.microsoft.com/office/drawing/2014/main" id="{3875CF1F-21B9-4A87-B1A5-FD583C24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33425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Una fila analítica puede representar un pedido o un evento. La decisión de grano ocurre antes de aplanar.</a:t>
            </a:r>
          </a:p>
        </p:txBody>
      </p:sp>
    </p:spTree>
    <p:extLst>
      <p:ext uri="{BB962C8B-B14F-4D97-AF65-F5344CB8AC3E}">
        <p14:creationId xmlns:p14="http://schemas.microsoft.com/office/powerpoint/2010/main" val="13013764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4C1E017B-829A-4968-BEA1-F6BD8FC3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91B4A844-9E46-4DC0-AE2B-D1A15FFC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1A9D0544-6364-4B4E-AF97-53F97EAC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bad5785a0480f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8370086E-3C01-4372-ADED-188C24F2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764DD7DD-E0AB-4AF8-8287-56668FE0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3747BF03-A240-4916-A20B-AFE242E2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95E6499F-FFFB-4B75-88D3-762F7F41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 </a:t>
            </a: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contrato</a:t>
            </a: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 vuelve verificable la expectativa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7058AE5B-590D-4572-A9F7-2F98312B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BE3CBC63-2F96-4A29-A2DC-7A89DB8E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9BFD5F7F-3F09-493A-829B-1E046BC9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92C89876-CD32-4B71-987D-B0164476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A6F7C801-1FC9-4CFB-9F0D-FE1B5488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A0507C13-A4BB-4F60-803B-EE660B2D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CA24D992-61B0-4718-88C4-69418374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CONTRATO · CAMPOS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C65A198E-475C-4614-A3C6-74D13BFA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matrix-surface">
            <a:extLst xmlns:a="http://schemas.openxmlformats.org/drawingml/2006/main">
              <a:ext uri="{FF2B5EF4-FFF2-40B4-BE49-F238E27FC236}">
                <a16:creationId xmlns:a16="http://schemas.microsoft.com/office/drawing/2014/main" id="{FB141B00-292D-47F2-96E7-6E75CF2D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0" cy="4838700"/>
          </a:xfrm>
          <a:prstGeom xmlns:a="http://schemas.openxmlformats.org/drawingml/2006/main" prst="roundRect">
            <a:avLst>
              <a:gd name="adj" fmla="val 35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4552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45408"/>
                <a:gridCol w="5705856"/>
                <a:gridCol w="6498336"/>
              </a:tblGrid>
              <a:tr h="7588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Componente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Ejemplo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Pregunta de control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Identificador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event_id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¿es único?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Tipo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timestamp UTC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¿se puede convertir?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Obligatoriedad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order_id requerido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¿qué ocurre si falta?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Dominio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picked | dispatched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¿qué valores admite?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Versión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schema_version = 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¿qué cambio introduce?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70358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86FC841D-7F4B-4E30-8A5C-C0A6655D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18E9071D-C3A5-44C9-8636-A2D67113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8F1A81A3-2F80-48E3-9F38-BAA71368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2e507e3d64848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AA70B2BA-921D-426F-B028-14FFD4E5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B9AA88BD-44B0-4681-A16C-1D398DAA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C6D07A31-CB47-46CE-B61F-75BE0ABF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5CE1F9F1-5E5A-44EF-8EF6-BA96C37A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 snapshot fija la </a:t>
            </a: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evidencia</a:t>
            </a: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 de una extracción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2C3FD8E5-2D99-420D-BAA9-4527889E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139E3F1A-AB1F-46B7-A531-0D1ED75C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52991531-ECDC-400B-91FF-FF9E861F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09BA1520-884D-453B-8EF0-01ABCB75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666F2977-BA40-4B7D-A440-DBF2C596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AF497731-897E-413D-912F-C08758C1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5403D829-ABA1-46EE-BE42-82CDC949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API · REPRODUCIBILIDAD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5E7BD9C3-DD4A-498C-BE3D-ABE9085A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D05FC461-459C-4BC9-BE1B-C03A00C4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2242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18" name="flow-step-0">
            <a:extLst xmlns:a="http://schemas.openxmlformats.org/drawingml/2006/main">
              <a:ext uri="{FF2B5EF4-FFF2-40B4-BE49-F238E27FC236}">
                <a16:creationId xmlns:a16="http://schemas.microsoft.com/office/drawing/2014/main" id="{6A0C2A16-97CD-4966-B4F4-2F10B4DB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9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0D594CEC-4393-4428-BDFF-39B2383C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20" name="flow-card-rule-0">
            <a:extLst xmlns:a="http://schemas.openxmlformats.org/drawingml/2006/main">
              <a:ext uri="{FF2B5EF4-FFF2-40B4-BE49-F238E27FC236}">
                <a16:creationId xmlns:a16="http://schemas.microsoft.com/office/drawing/2014/main" id="{229323DB-15DC-4F3E-9C3C-899700C5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21" name="flow-head-0">
            <a:extLst xmlns:a="http://schemas.openxmlformats.org/drawingml/2006/main">
              <a:ext uri="{FF2B5EF4-FFF2-40B4-BE49-F238E27FC236}">
                <a16:creationId xmlns:a16="http://schemas.microsoft.com/office/drawing/2014/main" id="{1DF09E9F-1D4B-49EC-87D9-0712C520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Solicitar</a:t>
            </a:r>
          </a:p>
        </p:txBody>
      </p:sp>
      <p:sp>
        <p:nvSpPr>
          <p:cNvPr id="22" name="flow-body-0">
            <a:extLst xmlns:a="http://schemas.openxmlformats.org/drawingml/2006/main">
              <a:ext uri="{FF2B5EF4-FFF2-40B4-BE49-F238E27FC236}">
                <a16:creationId xmlns:a16="http://schemas.microsoft.com/office/drawing/2014/main" id="{37EAE28E-A955-45CF-8787-BC28EC58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endpoint + parámetros</a:t>
            </a:r>
          </a:p>
        </p:txBody>
      </p:sp>
      <p:sp>
        <p:nvSpPr>
          <p:cNvPr id="23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B3893878-3D4B-41E6-BD89-B860E0B0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4949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24" name="flow-step-1">
            <a:extLst xmlns:a="http://schemas.openxmlformats.org/drawingml/2006/main">
              <a:ext uri="{FF2B5EF4-FFF2-40B4-BE49-F238E27FC236}">
                <a16:creationId xmlns:a16="http://schemas.microsoft.com/office/drawing/2014/main" id="{12584491-6DAB-4C81-A690-847077A4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32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5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9C9E8395-BD69-4F74-8555-D74840D4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77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6" name="flow-card-rule-1">
            <a:extLst xmlns:a="http://schemas.openxmlformats.org/drawingml/2006/main">
              <a:ext uri="{FF2B5EF4-FFF2-40B4-BE49-F238E27FC236}">
                <a16:creationId xmlns:a16="http://schemas.microsoft.com/office/drawing/2014/main" id="{65DBF460-2B9E-45BD-91E1-9632209C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5582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27" name="flow-head-1">
            <a:extLst xmlns:a="http://schemas.openxmlformats.org/drawingml/2006/main">
              <a:ext uri="{FF2B5EF4-FFF2-40B4-BE49-F238E27FC236}">
                <a16:creationId xmlns:a16="http://schemas.microsoft.com/office/drawing/2014/main" id="{B3102F54-203A-47C5-B184-72990258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Recibir</a:t>
            </a:r>
          </a:p>
        </p:txBody>
      </p:sp>
      <p:sp>
        <p:nvSpPr>
          <p:cNvPr id="28" name="flow-body-1">
            <a:extLst xmlns:a="http://schemas.openxmlformats.org/drawingml/2006/main">
              <a:ext uri="{FF2B5EF4-FFF2-40B4-BE49-F238E27FC236}">
                <a16:creationId xmlns:a16="http://schemas.microsoft.com/office/drawing/2014/main" id="{CC88C54C-DC93-454E-BCA4-3F6BFBB3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respuesta y código</a:t>
            </a:r>
          </a:p>
        </p:txBody>
      </p:sp>
      <p:sp>
        <p:nvSpPr>
          <p:cNvPr id="29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E20FD95B-54F2-4786-8215-8EC3AF22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7656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30" name="flow-step-2">
            <a:extLst xmlns:a="http://schemas.openxmlformats.org/drawingml/2006/main">
              <a:ext uri="{FF2B5EF4-FFF2-40B4-BE49-F238E27FC236}">
                <a16:creationId xmlns:a16="http://schemas.microsoft.com/office/drawing/2014/main" id="{FE384C67-D158-489C-9B1C-0C2F6ED6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39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1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A2D07F2F-C2C1-4BF3-BD20-2891B16E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32" name="flow-card-rule-2">
            <a:extLst xmlns:a="http://schemas.openxmlformats.org/drawingml/2006/main">
              <a:ext uri="{FF2B5EF4-FFF2-40B4-BE49-F238E27FC236}">
                <a16:creationId xmlns:a16="http://schemas.microsoft.com/office/drawing/2014/main" id="{170E8A53-CCF3-4757-B57B-A093EAC6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8289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33" name="flow-head-2">
            <a:extLst xmlns:a="http://schemas.openxmlformats.org/drawingml/2006/main">
              <a:ext uri="{FF2B5EF4-FFF2-40B4-BE49-F238E27FC236}">
                <a16:creationId xmlns:a16="http://schemas.microsoft.com/office/drawing/2014/main" id="{FCF63DEA-C2CB-4A85-9A7C-D85B915A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89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Registrar</a:t>
            </a:r>
          </a:p>
        </p:txBody>
      </p:sp>
      <p:sp>
        <p:nvSpPr>
          <p:cNvPr id="34" name="flow-body-2">
            <a:extLst xmlns:a="http://schemas.openxmlformats.org/drawingml/2006/main">
              <a:ext uri="{FF2B5EF4-FFF2-40B4-BE49-F238E27FC236}">
                <a16:creationId xmlns:a16="http://schemas.microsoft.com/office/drawing/2014/main" id="{899D32BC-8D28-485C-9883-F0CD265D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89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timestamp y versión</a:t>
            </a:r>
          </a:p>
        </p:txBody>
      </p:sp>
      <p:sp>
        <p:nvSpPr>
          <p:cNvPr id="35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7767AF2F-8458-497D-B7BD-A52D280C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0363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36" name="flow-step-3">
            <a:extLst xmlns:a="http://schemas.openxmlformats.org/drawingml/2006/main">
              <a:ext uri="{FF2B5EF4-FFF2-40B4-BE49-F238E27FC236}">
                <a16:creationId xmlns:a16="http://schemas.microsoft.com/office/drawing/2014/main" id="{01A6C5E0-1C8D-49F4-BCFE-EAB25726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46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7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F9D8CFFC-AF3E-40B1-8455-AA6346BB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91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8" name="flow-card-rule-3">
            <a:extLst xmlns:a="http://schemas.openxmlformats.org/drawingml/2006/main">
              <a:ext uri="{FF2B5EF4-FFF2-40B4-BE49-F238E27FC236}">
                <a16:creationId xmlns:a16="http://schemas.microsoft.com/office/drawing/2014/main" id="{57B43B83-DDA8-4555-AF20-02CB8A2E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0996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39" name="flow-head-3">
            <a:extLst xmlns:a="http://schemas.openxmlformats.org/drawingml/2006/main">
              <a:ext uri="{FF2B5EF4-FFF2-40B4-BE49-F238E27FC236}">
                <a16:creationId xmlns:a16="http://schemas.microsoft.com/office/drawing/2014/main" id="{4E605A26-0920-4B23-B326-1B17B4D3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Conservar</a:t>
            </a:r>
          </a:p>
        </p:txBody>
      </p:sp>
      <p:sp>
        <p:nvSpPr>
          <p:cNvPr id="4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DA10C890-5709-4266-9C94-378DCD47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archivo inmutable</a:t>
            </a:r>
          </a:p>
        </p:txBody>
      </p:sp>
      <p:sp>
        <p:nvSpPr>
          <p:cNvPr id="41" name="flow-step-4">
            <a:extLst xmlns:a="http://schemas.openxmlformats.org/drawingml/2006/main">
              <a:ext uri="{FF2B5EF4-FFF2-40B4-BE49-F238E27FC236}">
                <a16:creationId xmlns:a16="http://schemas.microsoft.com/office/drawing/2014/main" id="{F98AECBD-4E32-4809-80EF-D50B6458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653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42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FF2B5BFB-1346-4122-8392-19EFB501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98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43" name="flow-card-rule-4">
            <a:extLst xmlns:a="http://schemas.openxmlformats.org/drawingml/2006/main">
              <a:ext uri="{FF2B5EF4-FFF2-40B4-BE49-F238E27FC236}">
                <a16:creationId xmlns:a16="http://schemas.microsoft.com/office/drawing/2014/main" id="{E2CBA057-1ADF-4209-A4C0-5A49F4A2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3703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44" name="flow-head-4">
            <a:extLst xmlns:a="http://schemas.openxmlformats.org/drawingml/2006/main">
              <a:ext uri="{FF2B5EF4-FFF2-40B4-BE49-F238E27FC236}">
                <a16:creationId xmlns:a16="http://schemas.microsoft.com/office/drawing/2014/main" id="{2846A7D4-A20F-4370-97BE-AB9A2153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03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Contar</a:t>
            </a:r>
          </a:p>
        </p:txBody>
      </p:sp>
      <p:sp>
        <p:nvSpPr>
          <p:cNvPr id="45" name="flow-body-4">
            <a:extLst xmlns:a="http://schemas.openxmlformats.org/drawingml/2006/main">
              <a:ext uri="{FF2B5EF4-FFF2-40B4-BE49-F238E27FC236}">
                <a16:creationId xmlns:a16="http://schemas.microsoft.com/office/drawing/2014/main" id="{30C27856-EB7C-4EC3-8D9A-A7CF49D4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03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registros y errores</a:t>
            </a:r>
          </a:p>
        </p:txBody>
      </p:sp>
      <p:sp>
        <p:nvSpPr>
          <p:cNvPr id="46" name="flow-callout-panel">
            <a:extLst xmlns:a="http://schemas.openxmlformats.org/drawingml/2006/main">
              <a:ext uri="{FF2B5EF4-FFF2-40B4-BE49-F238E27FC236}">
                <a16:creationId xmlns:a16="http://schemas.microsoft.com/office/drawing/2014/main" id="{62A6E8A2-6AE0-49CE-B3EB-B3D3A7A3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124700"/>
            <a:ext cx="120015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47" name="flow-callout">
            <a:extLst xmlns:a="http://schemas.openxmlformats.org/drawingml/2006/main">
              <a:ext uri="{FF2B5EF4-FFF2-40B4-BE49-F238E27FC236}">
                <a16:creationId xmlns:a16="http://schemas.microsoft.com/office/drawing/2014/main" id="{E80D249E-A813-4733-90B7-F3F3A897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2390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72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El mismo análisis puede reconstruirse desde el snapshot conservado.</a:t>
            </a:r>
          </a:p>
        </p:txBody>
      </p:sp>
    </p:spTree>
    <p:extLst>
      <p:ext uri="{BB962C8B-B14F-4D97-AF65-F5344CB8AC3E}">
        <p14:creationId xmlns:p14="http://schemas.microsoft.com/office/powerpoint/2010/main" val="14359229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visual-dark-rail">
            <a:extLst xmlns:a="http://schemas.openxmlformats.org/drawingml/2006/main">
              <a:ext uri="{FF2B5EF4-FFF2-40B4-BE49-F238E27FC236}">
                <a16:creationId xmlns:a16="http://schemas.microsoft.com/office/drawing/2014/main" id="{3ED6AF3E-4BEB-47F1-B09E-58961B47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30480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sp>
        <p:nvSpPr>
          <p:cNvPr id="2" name="visual-dark-rail-2">
            <a:extLst xmlns:a="http://schemas.openxmlformats.org/drawingml/2006/main">
              <a:ext uri="{FF2B5EF4-FFF2-40B4-BE49-F238E27FC236}">
                <a16:creationId xmlns:a16="http://schemas.microsoft.com/office/drawing/2014/main" id="{D6EF6704-115F-4260-AA82-93828429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0"/>
            <a:ext cx="17145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A61"/>
          </a:solidFill>
          <a:ln xmlns:a="http://schemas.openxmlformats.org/drawingml/2006/main" w="0">
            <a:noFill/>
          </a:ln>
        </p:spPr>
      </p:sp>
      <p:sp>
        <p:nvSpPr>
          <p:cNvPr id="3" name="visual-dark-tab">
            <a:extLst xmlns:a="http://schemas.openxmlformats.org/drawingml/2006/main">
              <a:ext uri="{FF2B5EF4-FFF2-40B4-BE49-F238E27FC236}">
                <a16:creationId xmlns:a16="http://schemas.microsoft.com/office/drawing/2014/main" id="{DA1E1E26-C5E9-4744-A9AD-4041DB40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33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b2ce6931244d58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A17A7C60-D47E-4356-A82D-908AF70D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2F75A8EE-DAEE-4C7E-A5D7-D23C9B78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A8F90DAE-9308-41E5-A63B-39E8DA5F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7A8C82BD-93DC-487B-81ED-A24E3837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ETL y ELT ubican la transformación en lugares distintos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9D166FC5-ACED-48C9-88FF-1499AF45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6FB2D3A1-36E6-4BD8-AE07-CF7C1FA4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A5A5A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608594C5-34BB-4759-977F-40393B5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B82D212F-694E-4D73-8627-73769800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A8CCECC2-8644-4C63-87CF-287FE001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44801303-5A41-4FE6-9822-C704B9D5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F6DE80F5-9C7C-4C58-BE49-E81CB6A5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PIPELINE · ORDEN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111B1D07-4EB1-4872-9EBF-3903EEDC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D1D1D1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D1D1D1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compare-stage">
            <a:extLst xmlns:a="http://schemas.openxmlformats.org/drawingml/2006/main">
              <a:ext uri="{FF2B5EF4-FFF2-40B4-BE49-F238E27FC236}">
                <a16:creationId xmlns:a16="http://schemas.microsoft.com/office/drawing/2014/main" id="{5430D4E3-99AA-4423-A565-5A9D7DFC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15849600" cy="352425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11430">
            <a:solidFill>
              <a:srgbClr val="4F4F4F"/>
            </a:solidFill>
            <a:prstDash val="solid"/>
          </a:ln>
        </p:spPr>
      </p:sp>
      <p:sp>
        <p:nvSpPr>
          <p:cNvPr id="18" name="compare-divider">
            <a:extLst xmlns:a="http://schemas.openxmlformats.org/drawingml/2006/main">
              <a:ext uri="{FF2B5EF4-FFF2-40B4-BE49-F238E27FC236}">
                <a16:creationId xmlns:a16="http://schemas.microsoft.com/office/drawing/2014/main" id="{3CB1D5DB-07FB-4E23-84E9-960799F9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0" y="369570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19" name="compare-metric-0">
            <a:extLst xmlns:a="http://schemas.openxmlformats.org/drawingml/2006/main">
              <a:ext uri="{FF2B5EF4-FFF2-40B4-BE49-F238E27FC236}">
                <a16:creationId xmlns:a16="http://schemas.microsoft.com/office/drawing/2014/main" id="{D1C67793-AC46-4993-951E-2BD874C0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695700"/>
            <a:ext cx="2333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T→L</a:t>
            </a:r>
          </a:p>
        </p:txBody>
      </p:sp>
      <p:sp>
        <p:nvSpPr>
          <p:cNvPr id="20" name="compare-head-0">
            <a:extLst xmlns:a="http://schemas.openxmlformats.org/drawingml/2006/main">
              <a:ext uri="{FF2B5EF4-FFF2-40B4-BE49-F238E27FC236}">
                <a16:creationId xmlns:a16="http://schemas.microsoft.com/office/drawing/2014/main" id="{E11D428C-B26D-490F-AC4C-A7F8ED5C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576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ETL</a:t>
            </a:r>
          </a:p>
        </p:txBody>
      </p:sp>
      <p:sp>
        <p:nvSpPr>
          <p:cNvPr id="21" name="compare-rule-0">
            <a:extLst xmlns:a="http://schemas.openxmlformats.org/drawingml/2006/main">
              <a:ext uri="{FF2B5EF4-FFF2-40B4-BE49-F238E27FC236}">
                <a16:creationId xmlns:a16="http://schemas.microsoft.com/office/drawing/2014/main" id="{F1B82CCD-FB9A-4EF0-A450-90D58589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33550" y="4953000"/>
            <a:ext cx="6410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  <a:prstDash val="solid"/>
          </a:ln>
        </p:spPr>
      </p:sp>
      <p:sp>
        <p:nvSpPr>
          <p:cNvPr id="22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DC6BA2EC-9458-4EDA-9626-33FC5611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191125"/>
            <a:ext cx="6429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8D8D8"/>
                </a:solidFill>
                <a:latin typeface="Telegraf"/>
                <a:ea typeface="Telegraf"/>
                <a:cs typeface="Telegraf"/>
              </a:defRPr>
            </a:pPr>
            <a:r>
              <a:rPr sz="1800" b="0">
                <a:solidFill>
                  <a:srgbClr val="D8D8D8"/>
                </a:solidFill>
                <a:latin typeface="Telegraf"/>
                <a:ea typeface="Telegraf"/>
                <a:cs typeface="Telegraf"/>
              </a:rPr>
              <a:t>La regla se ejecuta antes de cargar al destino analítico.</a:t>
            </a:r>
          </a:p>
        </p:txBody>
      </p:sp>
      <p:sp>
        <p:nvSpPr>
          <p:cNvPr id="23" name="compare-metric-1">
            <a:extLst xmlns:a="http://schemas.openxmlformats.org/drawingml/2006/main">
              <a:ext uri="{FF2B5EF4-FFF2-40B4-BE49-F238E27FC236}">
                <a16:creationId xmlns:a16="http://schemas.microsoft.com/office/drawing/2014/main" id="{D97B1E15-3BE9-4943-A128-54795024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695700"/>
            <a:ext cx="2333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L→T</a:t>
            </a:r>
          </a:p>
        </p:txBody>
      </p:sp>
      <p:sp>
        <p:nvSpPr>
          <p:cNvPr id="24" name="compare-head-1">
            <a:extLst xmlns:a="http://schemas.openxmlformats.org/drawingml/2006/main">
              <a:ext uri="{FF2B5EF4-FFF2-40B4-BE49-F238E27FC236}">
                <a16:creationId xmlns:a16="http://schemas.microsoft.com/office/drawing/2014/main" id="{01C36837-3261-44BC-BB5A-08DFD48A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8576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ELT</a:t>
            </a:r>
          </a:p>
        </p:txBody>
      </p:sp>
      <p:sp>
        <p:nvSpPr>
          <p:cNvPr id="25" name="compare-rule-1">
            <a:extLst xmlns:a="http://schemas.openxmlformats.org/drawingml/2006/main">
              <a:ext uri="{FF2B5EF4-FFF2-40B4-BE49-F238E27FC236}">
                <a16:creationId xmlns:a16="http://schemas.microsoft.com/office/drawing/2014/main" id="{42199771-6812-4A68-9C51-15E812A0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82175" y="4953000"/>
            <a:ext cx="6410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  <a:prstDash val="solid"/>
          </a:ln>
        </p:spPr>
      </p:sp>
      <p:sp>
        <p:nvSpPr>
          <p:cNvPr id="26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7D619B60-CE10-49C2-8FB7-54D74DFB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191125"/>
            <a:ext cx="6429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8D8D8"/>
                </a:solidFill>
                <a:latin typeface="Telegraf"/>
                <a:ea typeface="Telegraf"/>
                <a:cs typeface="Telegraf"/>
              </a:defRPr>
            </a:pPr>
            <a:r>
              <a:rPr sz="1800" b="0">
                <a:solidFill>
                  <a:srgbClr val="D8D8D8"/>
                </a:solidFill>
                <a:latin typeface="Telegraf"/>
                <a:ea typeface="Telegraf"/>
                <a:cs typeface="Telegraf"/>
              </a:rPr>
              <a:t>La fuente se conserva y la regla se ejecuta dentro de la plataforma.</a:t>
            </a:r>
          </a:p>
        </p:txBody>
      </p:sp>
      <p:sp>
        <p:nvSpPr>
          <p:cNvPr id="27" name="compare-bridge">
            <a:extLst xmlns:a="http://schemas.openxmlformats.org/drawingml/2006/main">
              <a:ext uri="{FF2B5EF4-FFF2-40B4-BE49-F238E27FC236}">
                <a16:creationId xmlns:a16="http://schemas.microsoft.com/office/drawing/2014/main" id="{8A2A577C-A969-4003-9BF0-69D455D9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7353300"/>
            <a:ext cx="12287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28" name="compare-bridge-text">
            <a:extLst xmlns:a="http://schemas.openxmlformats.org/drawingml/2006/main">
              <a:ext uri="{FF2B5EF4-FFF2-40B4-BE49-F238E27FC236}">
                <a16:creationId xmlns:a16="http://schemas.microsoft.com/office/drawing/2014/main" id="{5A26A5DA-0974-4110-9AC9-09DC763D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505700"/>
            <a:ext cx="1133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La elección depende de privacidad, costo de cómputo, escala y capacidades del destino.</a:t>
            </a:r>
          </a:p>
        </p:txBody>
      </p:sp>
    </p:spTree>
    <p:extLst>
      <p:ext uri="{BB962C8B-B14F-4D97-AF65-F5344CB8AC3E}">
        <p14:creationId xmlns:p14="http://schemas.microsoft.com/office/powerpoint/2010/main" val="17737120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visual-dark-rail">
            <a:extLst xmlns:a="http://schemas.openxmlformats.org/drawingml/2006/main">
              <a:ext uri="{FF2B5EF4-FFF2-40B4-BE49-F238E27FC236}">
                <a16:creationId xmlns:a16="http://schemas.microsoft.com/office/drawing/2014/main" id="{574DF532-016F-4CEB-AEC9-35DF4DD1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30480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sp>
        <p:nvSpPr>
          <p:cNvPr id="2" name="visual-dark-rail-2">
            <a:extLst xmlns:a="http://schemas.openxmlformats.org/drawingml/2006/main">
              <a:ext uri="{FF2B5EF4-FFF2-40B4-BE49-F238E27FC236}">
                <a16:creationId xmlns:a16="http://schemas.microsoft.com/office/drawing/2014/main" id="{C51D92E7-1C59-4435-92C7-659D767E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0"/>
            <a:ext cx="17145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A61"/>
          </a:solidFill>
          <a:ln xmlns:a="http://schemas.openxmlformats.org/drawingml/2006/main" w="0">
            <a:noFill/>
          </a:ln>
        </p:spPr>
      </p:sp>
      <p:sp>
        <p:nvSpPr>
          <p:cNvPr id="3" name="visual-dark-tab">
            <a:extLst xmlns:a="http://schemas.openxmlformats.org/drawingml/2006/main">
              <a:ext uri="{FF2B5EF4-FFF2-40B4-BE49-F238E27FC236}">
                <a16:creationId xmlns:a16="http://schemas.microsoft.com/office/drawing/2014/main" id="{EE3FC0F0-B510-4693-BFF0-23CB6D58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33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0f5078a90a433a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7BBECDAE-0D5C-4A12-B4E3-300A1665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CF480275-E705-4615-8229-FF870324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23B54C24-8012-4EDC-BBAD-0851045E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DD3AB0E2-7CEB-41E5-A1F4-B9BB9DE1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Las capas separan </a:t>
            </a:r>
            <a:r>
              <a:rPr sz="36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evidencia</a:t>
            </a: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, normalización y uso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EC4A60EA-2824-48FF-8664-80F556D6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5633AA01-3DE6-4BCF-98C2-5C0258BD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A5A5A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F00EE3A5-DD37-432B-8382-DD4593F3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D3633172-E256-4596-9AC5-0A7E0F56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37303211-653E-4360-9ADD-EC453FCA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C4F23292-3C01-444E-BB52-DDB1211F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A6A23038-5DBE-48CA-BAD1-981F370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CAPAS · RESPONSABILIDAD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62217429-DB40-4AA2-802B-7E11C88E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D1D1D1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D1D1D1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8ADE0D1F-3248-4883-B511-AE45889D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7380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18" name="flow-step-0">
            <a:extLst xmlns:a="http://schemas.openxmlformats.org/drawingml/2006/main">
              <a:ext uri="{FF2B5EF4-FFF2-40B4-BE49-F238E27FC236}">
                <a16:creationId xmlns:a16="http://schemas.microsoft.com/office/drawing/2014/main" id="{031F6A5B-B270-47EA-8987-2E070A50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505460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19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CF57DB7D-C418-4E9A-A90F-41FE14AA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10000"/>
            <a:ext cx="471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20" name="flow-card-rule-0">
            <a:extLst xmlns:a="http://schemas.openxmlformats.org/drawingml/2006/main">
              <a:ext uri="{FF2B5EF4-FFF2-40B4-BE49-F238E27FC236}">
                <a16:creationId xmlns:a16="http://schemas.microsoft.com/office/drawing/2014/main" id="{C750B428-5285-4843-8911-8B97020B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4495800"/>
            <a:ext cx="467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6666"/>
            </a:solidFill>
            <a:prstDash val="solid"/>
          </a:ln>
        </p:spPr>
      </p:sp>
      <p:sp>
        <p:nvSpPr>
          <p:cNvPr id="21" name="flow-head-0">
            <a:extLst xmlns:a="http://schemas.openxmlformats.org/drawingml/2006/main">
              <a:ext uri="{FF2B5EF4-FFF2-40B4-BE49-F238E27FC236}">
                <a16:creationId xmlns:a16="http://schemas.microsoft.com/office/drawing/2014/main" id="{D2A6EDEF-D8CC-414A-948D-E2BF5610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467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Raw</a:t>
            </a:r>
          </a:p>
        </p:txBody>
      </p:sp>
      <p:sp>
        <p:nvSpPr>
          <p:cNvPr id="22" name="flow-body-0">
            <a:extLst xmlns:a="http://schemas.openxmlformats.org/drawingml/2006/main">
              <a:ext uri="{FF2B5EF4-FFF2-40B4-BE49-F238E27FC236}">
                <a16:creationId xmlns:a16="http://schemas.microsoft.com/office/drawing/2014/main" id="{5C6ABA83-77AB-45E0-90D9-FF4E4ACD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467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respuesta conservada</a:t>
            </a:r>
          </a:p>
        </p:txBody>
      </p:sp>
      <p:sp>
        <p:nvSpPr>
          <p:cNvPr id="23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CB314BF8-0F58-4D36-9A79-9FE2E82F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65225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24" name="flow-step-1">
            <a:extLst xmlns:a="http://schemas.openxmlformats.org/drawingml/2006/main">
              <a:ext uri="{FF2B5EF4-FFF2-40B4-BE49-F238E27FC236}">
                <a16:creationId xmlns:a16="http://schemas.microsoft.com/office/drawing/2014/main" id="{B9CA1734-CF4A-4147-9E3C-61EE531E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700" y="3714750"/>
            <a:ext cx="505460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25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AE07BF91-D6B9-4FDE-A5C9-45D125BE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8150" y="3810000"/>
            <a:ext cx="471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6" name="flow-card-rule-1">
            <a:extLst xmlns:a="http://schemas.openxmlformats.org/drawingml/2006/main">
              <a:ext uri="{FF2B5EF4-FFF2-40B4-BE49-F238E27FC236}">
                <a16:creationId xmlns:a16="http://schemas.microsoft.com/office/drawing/2014/main" id="{36472E3D-3ACF-4AF3-9AB7-4D399984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07200" y="4495800"/>
            <a:ext cx="467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6666"/>
            </a:solidFill>
            <a:prstDash val="solid"/>
          </a:ln>
        </p:spPr>
      </p:sp>
      <p:sp>
        <p:nvSpPr>
          <p:cNvPr id="27" name="flow-head-1">
            <a:extLst xmlns:a="http://schemas.openxmlformats.org/drawingml/2006/main">
              <a:ext uri="{FF2B5EF4-FFF2-40B4-BE49-F238E27FC236}">
                <a16:creationId xmlns:a16="http://schemas.microsoft.com/office/drawing/2014/main" id="{A500DE59-0F47-459D-8C4A-CBAFD181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200" y="4610100"/>
            <a:ext cx="467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Staging</a:t>
            </a:r>
          </a:p>
        </p:txBody>
      </p:sp>
      <p:sp>
        <p:nvSpPr>
          <p:cNvPr id="28" name="flow-body-1">
            <a:extLst xmlns:a="http://schemas.openxmlformats.org/drawingml/2006/main">
              <a:ext uri="{FF2B5EF4-FFF2-40B4-BE49-F238E27FC236}">
                <a16:creationId xmlns:a16="http://schemas.microsoft.com/office/drawing/2014/main" id="{74214FC0-64F8-48D9-AC8C-01808D2B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200" y="5267325"/>
            <a:ext cx="467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tipos y claves</a:t>
            </a:r>
          </a:p>
        </p:txBody>
      </p:sp>
      <p:sp>
        <p:nvSpPr>
          <p:cNvPr id="29" name="flow-step-2">
            <a:extLst xmlns:a="http://schemas.openxmlformats.org/drawingml/2006/main">
              <a:ext uri="{FF2B5EF4-FFF2-40B4-BE49-F238E27FC236}">
                <a16:creationId xmlns:a16="http://schemas.microsoft.com/office/drawing/2014/main" id="{BEA1F755-151D-4392-9086-1E947D8B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5150" y="3714750"/>
            <a:ext cx="505460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30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7FACA27E-8B10-4304-BF68-193FA3DF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600" y="3810000"/>
            <a:ext cx="471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31" name="flow-card-rule-2">
            <a:extLst xmlns:a="http://schemas.openxmlformats.org/drawingml/2006/main">
              <a:ext uri="{FF2B5EF4-FFF2-40B4-BE49-F238E27FC236}">
                <a16:creationId xmlns:a16="http://schemas.microsoft.com/office/drawing/2014/main" id="{6A838467-8F16-48B4-9156-4F59A8FD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85650" y="4495800"/>
            <a:ext cx="467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2" name="flow-head-2">
            <a:extLst xmlns:a="http://schemas.openxmlformats.org/drawingml/2006/main">
              <a:ext uri="{FF2B5EF4-FFF2-40B4-BE49-F238E27FC236}">
                <a16:creationId xmlns:a16="http://schemas.microsoft.com/office/drawing/2014/main" id="{E51E3F0E-0CEF-403A-B22D-F61672A4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5650" y="4610100"/>
            <a:ext cx="467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Mart</a:t>
            </a:r>
          </a:p>
        </p:txBody>
      </p:sp>
      <p:sp>
        <p:nvSpPr>
          <p:cNvPr id="33" name="flow-body-2">
            <a:extLst xmlns:a="http://schemas.openxmlformats.org/drawingml/2006/main">
              <a:ext uri="{FF2B5EF4-FFF2-40B4-BE49-F238E27FC236}">
                <a16:creationId xmlns:a16="http://schemas.microsoft.com/office/drawing/2014/main" id="{678649A4-E876-4FB7-9E11-9FD9BDF5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5650" y="5267325"/>
            <a:ext cx="467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métrica y grano de consumo</a:t>
            </a:r>
          </a:p>
        </p:txBody>
      </p:sp>
      <p:sp>
        <p:nvSpPr>
          <p:cNvPr id="34" name="flow-callout-panel">
            <a:extLst xmlns:a="http://schemas.openxmlformats.org/drawingml/2006/main">
              <a:ext uri="{FF2B5EF4-FFF2-40B4-BE49-F238E27FC236}">
                <a16:creationId xmlns:a16="http://schemas.microsoft.com/office/drawing/2014/main" id="{765BCFD4-541D-4A35-AF63-27544E35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124700"/>
            <a:ext cx="120015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35" name="flow-callout">
            <a:extLst xmlns:a="http://schemas.openxmlformats.org/drawingml/2006/main">
              <a:ext uri="{FF2B5EF4-FFF2-40B4-BE49-F238E27FC236}">
                <a16:creationId xmlns:a16="http://schemas.microsoft.com/office/drawing/2014/main" id="{A52AE18A-D79B-46D8-8439-6C3A8D6F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2390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FFFF33"/>
                </a:solidFill>
                <a:latin typeface="Telegraf"/>
                <a:ea typeface="Telegraf"/>
                <a:cs typeface="Telegraf"/>
              </a:defRPr>
            </a:pPr>
            <a:r>
              <a:rPr sz="1725" b="0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>Cada frontera registra filas de entrada, filas de salida y reglas aplicadas.</a:t>
            </a:r>
          </a:p>
        </p:txBody>
      </p:sp>
    </p:spTree>
    <p:extLst>
      <p:ext uri="{BB962C8B-B14F-4D97-AF65-F5344CB8AC3E}">
        <p14:creationId xmlns:p14="http://schemas.microsoft.com/office/powerpoint/2010/main" val="4961426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129155DE-AD89-4731-9479-C79DD33A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A7D5390C-6E30-46B0-9635-4A6F2F48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608657C1-3B9B-4A5C-A8ED-1110C175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7a0bc38564f97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6E1CE383-0D24-4270-B6E4-7B01EA44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49098FD7-5325-40C9-B6E0-8F19E5AC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C8BBD54D-7C7D-4733-934B-383CC038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876EF3F8-2B00-4496-B895-504F5F6A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Staging traduce el </a:t>
            </a: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contrato</a:t>
            </a: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 a reglas ejecutables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F6C99A86-D302-4F47-B621-A0BE5F8B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68FBA585-EA44-4C1A-9CDF-C159BEC0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1978D94D-1581-42CD-B082-E01E18AB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7748B72C-533C-49ED-A54A-F564E156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E2072A1B-0629-4659-9860-21AB2EC8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036A32C8-A106-4963-9F4D-87DCF889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AEC6F876-F5CF-469B-B142-2709CBB3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TRANSFORMACIÓN · EJEMPLO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217A43F3-1DFB-4EC6-8160-76187731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0E954E3D-E239-44FF-A93A-70F695CB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8" name="worked-number-0">
            <a:extLst xmlns:a="http://schemas.openxmlformats.org/drawingml/2006/main">
              <a:ext uri="{FF2B5EF4-FFF2-40B4-BE49-F238E27FC236}">
                <a16:creationId xmlns:a16="http://schemas.microsoft.com/office/drawing/2014/main" id="{9BD88136-83F2-469B-A823-979B717B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19" name="worked-rule-0">
            <a:extLst xmlns:a="http://schemas.openxmlformats.org/drawingml/2006/main">
              <a:ext uri="{FF2B5EF4-FFF2-40B4-BE49-F238E27FC236}">
                <a16:creationId xmlns:a16="http://schemas.microsoft.com/office/drawing/2014/main" id="{FAAC5A37-37D1-493A-9A25-B7F1B889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20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9A0A4CBB-4385-4B71-95BA-C993B0E5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Parsear</a:t>
            </a:r>
          </a:p>
        </p:txBody>
      </p:sp>
      <p:sp>
        <p:nvSpPr>
          <p:cNvPr id="21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6AF2DEE0-186F-4FC7-9B42-2E07288D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event_time → timestamp</a:t>
            </a:r>
          </a:p>
        </p:txBody>
      </p:sp>
      <p:sp>
        <p:nvSpPr>
          <p:cNvPr id="22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8458AC33-8367-476C-9086-D17AC255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3" name="worked-number-1">
            <a:extLst xmlns:a="http://schemas.openxmlformats.org/drawingml/2006/main">
              <a:ext uri="{FF2B5EF4-FFF2-40B4-BE49-F238E27FC236}">
                <a16:creationId xmlns:a16="http://schemas.microsoft.com/office/drawing/2014/main" id="{15300D33-D60F-4C61-B727-1B9778AE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4" name="worked-rule-1">
            <a:extLst xmlns:a="http://schemas.openxmlformats.org/drawingml/2006/main">
              <a:ext uri="{FF2B5EF4-FFF2-40B4-BE49-F238E27FC236}">
                <a16:creationId xmlns:a16="http://schemas.microsoft.com/office/drawing/2014/main" id="{948075E9-3C69-49F9-8C78-70A7F42D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7545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25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2F716B20-3A90-494C-B389-D1A7BBD4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Normalizar</a:t>
            </a:r>
          </a:p>
        </p:txBody>
      </p:sp>
      <p:sp>
        <p:nvSpPr>
          <p:cNvPr id="26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537F8778-B479-407B-A140-6631C9AC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status → minúsculas</a:t>
            </a:r>
          </a:p>
        </p:txBody>
      </p:sp>
      <p:sp>
        <p:nvSpPr>
          <p:cNvPr id="27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C5B1ED67-92B5-43B7-A525-1ECDE65D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70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8" name="worked-number-2">
            <a:extLst xmlns:a="http://schemas.openxmlformats.org/drawingml/2006/main">
              <a:ext uri="{FF2B5EF4-FFF2-40B4-BE49-F238E27FC236}">
                <a16:creationId xmlns:a16="http://schemas.microsoft.com/office/drawing/2014/main" id="{59CD2BE8-6746-4524-9072-91FF2D3E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29" name="worked-rule-2">
            <a:extLst xmlns:a="http://schemas.openxmlformats.org/drawingml/2006/main">
              <a:ext uri="{FF2B5EF4-FFF2-40B4-BE49-F238E27FC236}">
                <a16:creationId xmlns:a16="http://schemas.microsoft.com/office/drawing/2014/main" id="{3F908BBB-92AB-426E-83F3-8FC2AFE3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4120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30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E51DB009-20F3-4782-A3D1-A722FCD6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Validar</a:t>
            </a:r>
          </a:p>
        </p:txBody>
      </p:sp>
      <p:sp>
        <p:nvSpPr>
          <p:cNvPr id="31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C29F403F-5B46-4B6C-A476-74AD5104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order_id requerido</a:t>
            </a:r>
          </a:p>
        </p:txBody>
      </p:sp>
      <p:sp>
        <p:nvSpPr>
          <p:cNvPr id="32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584189FA-443C-4ED1-A368-4335CC6A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3" name="worked-number-3">
            <a:extLst xmlns:a="http://schemas.openxmlformats.org/drawingml/2006/main">
              <a:ext uri="{FF2B5EF4-FFF2-40B4-BE49-F238E27FC236}">
                <a16:creationId xmlns:a16="http://schemas.microsoft.com/office/drawing/2014/main" id="{3E068903-4BC2-43D1-A9E5-B37B2B42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05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4" name="worked-rule-3">
            <a:extLst xmlns:a="http://schemas.openxmlformats.org/drawingml/2006/main">
              <a:ext uri="{FF2B5EF4-FFF2-40B4-BE49-F238E27FC236}">
                <a16:creationId xmlns:a16="http://schemas.microsoft.com/office/drawing/2014/main" id="{66BD324E-DC6E-4665-969E-BD62C527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6534150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35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CEA6ADBB-AB83-477F-9A2A-24177CB4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648450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Deduplicar</a:t>
            </a:r>
          </a:p>
        </p:txBody>
      </p:sp>
      <p:sp>
        <p:nvSpPr>
          <p:cNvPr id="36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6C93AB91-3014-4309-A2FC-A10C6A33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296150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event_id conserva una fila</a:t>
            </a:r>
          </a:p>
        </p:txBody>
      </p:sp>
      <p:sp>
        <p:nvSpPr>
          <p:cNvPr id="37" name="worked-box-4">
            <a:extLst xmlns:a="http://schemas.openxmlformats.org/drawingml/2006/main">
              <a:ext uri="{FF2B5EF4-FFF2-40B4-BE49-F238E27FC236}">
                <a16:creationId xmlns:a16="http://schemas.microsoft.com/office/drawing/2014/main" id="{69F61905-318C-47A4-BFEE-FFA9B460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5772150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8" name="worked-number-4">
            <a:extLst xmlns:a="http://schemas.openxmlformats.org/drawingml/2006/main">
              <a:ext uri="{FF2B5EF4-FFF2-40B4-BE49-F238E27FC236}">
                <a16:creationId xmlns:a16="http://schemas.microsoft.com/office/drawing/2014/main" id="{4BD5EE56-E842-4619-AA98-F4502A08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905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39" name="worked-rule-4">
            <a:extLst xmlns:a="http://schemas.openxmlformats.org/drawingml/2006/main">
              <a:ext uri="{FF2B5EF4-FFF2-40B4-BE49-F238E27FC236}">
                <a16:creationId xmlns:a16="http://schemas.microsoft.com/office/drawing/2014/main" id="{10FFD5C3-B3EC-4387-9B47-C9CEBEDD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75450" y="6534150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40" name="worked-head-4">
            <a:extLst xmlns:a="http://schemas.openxmlformats.org/drawingml/2006/main">
              <a:ext uri="{FF2B5EF4-FFF2-40B4-BE49-F238E27FC236}">
                <a16:creationId xmlns:a16="http://schemas.microsoft.com/office/drawing/2014/main" id="{0EC47591-5A64-4F26-A269-E72B61FD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6648450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Derivar</a:t>
            </a:r>
          </a:p>
        </p:txBody>
      </p:sp>
      <p:sp>
        <p:nvSpPr>
          <p:cNvPr id="41" name="worked-body-4">
            <a:extLst xmlns:a="http://schemas.openxmlformats.org/drawingml/2006/main">
              <a:ext uri="{FF2B5EF4-FFF2-40B4-BE49-F238E27FC236}">
                <a16:creationId xmlns:a16="http://schemas.microsoft.com/office/drawing/2014/main" id="{16D04667-C38B-4642-BBC3-B3613027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7296150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lead_time_hours</a:t>
            </a:r>
          </a:p>
        </p:txBody>
      </p:sp>
      <p:sp>
        <p:nvSpPr>
          <p:cNvPr id="42" name="worked-caption">
            <a:extLst xmlns:a="http://schemas.openxmlformats.org/drawingml/2006/main">
              <a:ext uri="{FF2B5EF4-FFF2-40B4-BE49-F238E27FC236}">
                <a16:creationId xmlns:a16="http://schemas.microsoft.com/office/drawing/2014/main" id="{B0DC2765-BF55-47C0-A1A2-8AA31A50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096250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650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La regla conserva nombre, versión y evidencia de ejecución.</a:t>
            </a:r>
          </a:p>
        </p:txBody>
      </p:sp>
    </p:spTree>
    <p:extLst>
      <p:ext uri="{BB962C8B-B14F-4D97-AF65-F5344CB8AC3E}">
        <p14:creationId xmlns:p14="http://schemas.microsoft.com/office/powerpoint/2010/main" val="1672506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9E5D3BD6-02DE-44DB-812C-1031CC08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7696ABE0-5C09-4813-9176-12DBE9A6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F32DDD8B-38EE-4A58-9AF3-E7A88F31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e7c6575794c86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EFBC1B32-BF4A-4CD4-9F44-64550F5E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AD651171-9591-47F1-B48E-1F84CCA9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8A42036C-2D93-413F-ABEC-0B22E9B5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1F3D3171-311B-4069-8AE9-444D5358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Los cont</a:t>
            </a: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roles</a:t>
            </a: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 acompañan el movimiento de datos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78062BD4-0E18-4246-8885-064D70B5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9C617236-4541-4647-9F9D-7A4F130E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A4534235-FF76-41BF-A0F6-3F51DB78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A81173E6-0EB2-4D14-8ABB-85D175D2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9C5DD1F6-3D87-4C02-A509-DE97E54C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0ED64C4F-B1D4-4AE5-8C92-2AB4EB9D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B7A62F68-C925-4ED9-9D1A-1918F0FB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CONTROL · RECONCILIACIÓN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0E4069D9-F8F4-47CB-A88B-2D70E9E4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matrix-surface">
            <a:extLst xmlns:a="http://schemas.openxmlformats.org/drawingml/2006/main">
              <a:ext uri="{FF2B5EF4-FFF2-40B4-BE49-F238E27FC236}">
                <a16:creationId xmlns:a16="http://schemas.microsoft.com/office/drawing/2014/main" id="{91B14999-5646-466D-9467-572A293D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graphicFrame>
        <p:nvGraphicFramePr>
          <p:cNvPr id="40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803904"/>
                <a:gridCol w="3962400"/>
                <a:gridCol w="3962400"/>
                <a:gridCol w="4120896"/>
              </a:tblGrid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Raw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Staging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Mart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Filas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1.248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1.241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1.238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Rechazos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7 inválidas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3 sin pedido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Duplicados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Versión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API v2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job 18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mart 6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19" name="matrix-callout">
            <a:extLst xmlns:a="http://schemas.openxmlformats.org/drawingml/2006/main">
              <a:ext uri="{FF2B5EF4-FFF2-40B4-BE49-F238E27FC236}">
                <a16:creationId xmlns:a16="http://schemas.microsoft.com/office/drawing/2014/main" id="{5D31F4FF-C5DC-4559-90CF-7D9D0D2A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001000"/>
            <a:ext cx="1504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72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Las diferencias aceptadas quedan explicadas y cuantificadas.</a:t>
            </a:r>
          </a:p>
        </p:txBody>
      </p:sp>
    </p:spTree>
    <p:extLst>
      <p:ext uri="{BB962C8B-B14F-4D97-AF65-F5344CB8AC3E}">
        <p14:creationId xmlns:p14="http://schemas.microsoft.com/office/powerpoint/2010/main" val="208947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visual-dark-rail">
            <a:extLst xmlns:a="http://schemas.openxmlformats.org/drawingml/2006/main">
              <a:ext uri="{FF2B5EF4-FFF2-40B4-BE49-F238E27FC236}">
                <a16:creationId xmlns:a16="http://schemas.microsoft.com/office/drawing/2014/main" id="{2ED9B42B-DC7C-42C3-9AB0-291D854A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30480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sp>
        <p:nvSpPr>
          <p:cNvPr id="2" name="visual-dark-rail-2">
            <a:extLst xmlns:a="http://schemas.openxmlformats.org/drawingml/2006/main">
              <a:ext uri="{FF2B5EF4-FFF2-40B4-BE49-F238E27FC236}">
                <a16:creationId xmlns:a16="http://schemas.microsoft.com/office/drawing/2014/main" id="{F6F917AC-6AE9-4A73-BE63-F3240E80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0"/>
            <a:ext cx="17145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A61"/>
          </a:solidFill>
          <a:ln xmlns:a="http://schemas.openxmlformats.org/drawingml/2006/main" w="0">
            <a:noFill/>
          </a:ln>
        </p:spPr>
      </p:sp>
      <p:sp>
        <p:nvSpPr>
          <p:cNvPr id="3" name="visual-dark-tab">
            <a:extLst xmlns:a="http://schemas.openxmlformats.org/drawingml/2006/main">
              <a:ext uri="{FF2B5EF4-FFF2-40B4-BE49-F238E27FC236}">
                <a16:creationId xmlns:a16="http://schemas.microsoft.com/office/drawing/2014/main" id="{FCEFEC6B-7B75-4A54-AB14-020C763C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33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b1edc6f754682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4172F2B4-0382-46C5-82B0-FB98E8C4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00BAA93A-77C8-48A6-B0EE-A3030D4D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5B60E315-04E7-45FF-AE91-53CD0D2F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A37BFAD5-5EB0-4F5E-9EFA-CFF4F097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La idempotencia permite repetir una carga con el mismo resultado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BB825B8E-3E66-4698-9B6E-70E85D5E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2CCA8AF1-04AC-4360-B979-203C0E76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A5A5A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E0ED250A-B182-4717-BFC1-B87C0777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57226B32-AEC5-4D1E-B0E4-6FEDFA33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27017E51-A31D-4225-88C2-53450A62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4AFB02B0-A452-47A6-8F03-F3605A59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D96C3C6D-7E2F-4874-88E8-27EBC08A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OPERACIÓN · REEJECUCIÓN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CC178EBB-FFDA-436F-870C-40DD0A42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D1D1D1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D1D1D1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statement-body">
            <a:extLst xmlns:a="http://schemas.openxmlformats.org/drawingml/2006/main">
              <a:ext uri="{FF2B5EF4-FFF2-40B4-BE49-F238E27FC236}">
                <a16:creationId xmlns:a16="http://schemas.microsoft.com/office/drawing/2014/main" id="{0278624C-4950-4BB2-933A-D6CFFF44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38550"/>
            <a:ext cx="1447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75" b="0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3075" b="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>Una clave estable, una política de actualización y un período definido evitan duplicaciones cuando el proceso se ejecuta otra vez.</a:t>
            </a:r>
          </a:p>
        </p:txBody>
      </p:sp>
      <p:sp>
        <p:nvSpPr>
          <p:cNvPr id="18" name="statement-callout">
            <a:extLst xmlns:a="http://schemas.openxmlformats.org/drawingml/2006/main">
              <a:ext uri="{FF2B5EF4-FFF2-40B4-BE49-F238E27FC236}">
                <a16:creationId xmlns:a16="http://schemas.microsoft.com/office/drawing/2014/main" id="{18EDAB4B-F873-4237-8370-833B7A5E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191250"/>
            <a:ext cx="104775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19" name="statement-callout-text">
            <a:extLst xmlns:a="http://schemas.openxmlformats.org/drawingml/2006/main">
              <a:ext uri="{FF2B5EF4-FFF2-40B4-BE49-F238E27FC236}">
                <a16:creationId xmlns:a16="http://schemas.microsoft.com/office/drawing/2014/main" id="{D39735C1-02AE-46BA-94A6-8117175F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34125"/>
            <a:ext cx="971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FFFF33"/>
                </a:solidFill>
                <a:latin typeface="Telegraf"/>
                <a:ea typeface="Telegraf"/>
                <a:cs typeface="Telegraf"/>
              </a:defRPr>
            </a:pPr>
            <a:r>
              <a:rPr sz="2025" b="0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>Prueba: ejecutar dos veces el mismo snapshot y comparar claves, filas y totales.</a:t>
            </a:r>
          </a:p>
        </p:txBody>
      </p:sp>
    </p:spTree>
    <p:extLst>
      <p:ext uri="{BB962C8B-B14F-4D97-AF65-F5344CB8AC3E}">
        <p14:creationId xmlns:p14="http://schemas.microsoft.com/office/powerpoint/2010/main" val="1145390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86FC841D-7F4B-4E30-8A5C-C0A6655D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18E9071D-C3A5-44C9-8636-A2D67113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8F1A81A3-2F80-48E3-9F38-BAA71368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9f384099d94eea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AA70B2BA-921D-426F-B028-14FFD4E5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B9AA88BD-44B0-4681-A16C-1D398DAA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C6D07A31-CB47-46CE-B61F-75BE0ABF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5CE1F9F1-5E5A-44EF-8EF6-BA96C37A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Los archivos recurrentes siguen el mismo </a:t>
            </a: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contrato</a:t>
            </a: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 por lote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2C3FD8E5-2D99-420D-BAA9-4527889E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139E3F1A-AB1F-46B7-A531-0D1ED75C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52991531-ECDC-400B-91FF-FF9E861F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09BA1520-884D-453B-8EF0-01ABCB75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666F2977-BA40-4B7D-A440-DBF2C596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AF497731-897E-413D-912F-C08758C1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5403D829-ABA1-46EE-BE42-82CDC949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CASO LABORAL · POWER QUERY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5E7BD9C3-DD4A-498C-BE3D-ABE9085A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D05FC461-459C-4BC9-BE1B-C03A00C4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2242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18" name="flow-step-0">
            <a:extLst xmlns:a="http://schemas.openxmlformats.org/drawingml/2006/main">
              <a:ext uri="{FF2B5EF4-FFF2-40B4-BE49-F238E27FC236}">
                <a16:creationId xmlns:a16="http://schemas.microsoft.com/office/drawing/2014/main" id="{6A0C2A16-97CD-4966-B4F4-2F10B4DB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9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0D594CEC-4393-4428-BDFF-39B2383C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20" name="flow-card-rule-0">
            <a:extLst xmlns:a="http://schemas.openxmlformats.org/drawingml/2006/main">
              <a:ext uri="{FF2B5EF4-FFF2-40B4-BE49-F238E27FC236}">
                <a16:creationId xmlns:a16="http://schemas.microsoft.com/office/drawing/2014/main" id="{229323DB-15DC-4F3E-9C3C-899700C5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21" name="flow-head-0">
            <a:extLst xmlns:a="http://schemas.openxmlformats.org/drawingml/2006/main">
              <a:ext uri="{FF2B5EF4-FFF2-40B4-BE49-F238E27FC236}">
                <a16:creationId xmlns:a16="http://schemas.microsoft.com/office/drawing/2014/main" id="{1DF09E9F-1D4B-49EC-87D9-0712C520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Recibir</a:t>
            </a:r>
          </a:p>
        </p:txBody>
      </p:sp>
      <p:sp>
        <p:nvSpPr>
          <p:cNvPr id="22" name="flow-body-0">
            <a:extLst xmlns:a="http://schemas.openxmlformats.org/drawingml/2006/main">
              <a:ext uri="{FF2B5EF4-FFF2-40B4-BE49-F238E27FC236}">
                <a16:creationId xmlns:a16="http://schemas.microsoft.com/office/drawing/2014/main" id="{37EAE28E-A955-45CF-8787-BC28EC58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adjunto y fecha</a:t>
            </a:r>
          </a:p>
        </p:txBody>
      </p:sp>
      <p:sp>
        <p:nvSpPr>
          <p:cNvPr id="23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B3893878-3D4B-41E6-BD89-B860E0B0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4949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24" name="flow-step-1">
            <a:extLst xmlns:a="http://schemas.openxmlformats.org/drawingml/2006/main">
              <a:ext uri="{FF2B5EF4-FFF2-40B4-BE49-F238E27FC236}">
                <a16:creationId xmlns:a16="http://schemas.microsoft.com/office/drawing/2014/main" id="{12584491-6DAB-4C81-A690-847077A4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32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5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9C9E8395-BD69-4F74-8555-D74840D4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77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6" name="flow-card-rule-1">
            <a:extLst xmlns:a="http://schemas.openxmlformats.org/drawingml/2006/main">
              <a:ext uri="{FF2B5EF4-FFF2-40B4-BE49-F238E27FC236}">
                <a16:creationId xmlns:a16="http://schemas.microsoft.com/office/drawing/2014/main" id="{65DBF460-2B9E-45BD-91E1-9632209C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5582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27" name="flow-head-1">
            <a:extLst xmlns:a="http://schemas.openxmlformats.org/drawingml/2006/main">
              <a:ext uri="{FF2B5EF4-FFF2-40B4-BE49-F238E27FC236}">
                <a16:creationId xmlns:a16="http://schemas.microsoft.com/office/drawing/2014/main" id="{B3102F54-203A-47C5-B184-72990258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Tipar</a:t>
            </a:r>
          </a:p>
        </p:txBody>
      </p:sp>
      <p:sp>
        <p:nvSpPr>
          <p:cNvPr id="28" name="flow-body-1">
            <a:extLst xmlns:a="http://schemas.openxmlformats.org/drawingml/2006/main">
              <a:ext uri="{FF2B5EF4-FFF2-40B4-BE49-F238E27FC236}">
                <a16:creationId xmlns:a16="http://schemas.microsoft.com/office/drawing/2014/main" id="{CC88C54C-DC93-454E-BCA4-3F6BFBB3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columnas y tipos</a:t>
            </a:r>
          </a:p>
        </p:txBody>
      </p:sp>
      <p:sp>
        <p:nvSpPr>
          <p:cNvPr id="29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E20FD95B-54F2-4786-8215-8EC3AF22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7656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30" name="flow-step-2">
            <a:extLst xmlns:a="http://schemas.openxmlformats.org/drawingml/2006/main">
              <a:ext uri="{FF2B5EF4-FFF2-40B4-BE49-F238E27FC236}">
                <a16:creationId xmlns:a16="http://schemas.microsoft.com/office/drawing/2014/main" id="{FE384C67-D158-489C-9B1C-0C2F6ED6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39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1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A2D07F2F-C2C1-4BF3-BD20-2891B16E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32" name="flow-card-rule-2">
            <a:extLst xmlns:a="http://schemas.openxmlformats.org/drawingml/2006/main">
              <a:ext uri="{FF2B5EF4-FFF2-40B4-BE49-F238E27FC236}">
                <a16:creationId xmlns:a16="http://schemas.microsoft.com/office/drawing/2014/main" id="{170E8A53-CCF3-4757-B57B-A093EAC6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8289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33" name="flow-head-2">
            <a:extLst xmlns:a="http://schemas.openxmlformats.org/drawingml/2006/main">
              <a:ext uri="{FF2B5EF4-FFF2-40B4-BE49-F238E27FC236}">
                <a16:creationId xmlns:a16="http://schemas.microsoft.com/office/drawing/2014/main" id="{FCF63DEA-C2CB-4A85-9A7C-D85B915A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89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Validar</a:t>
            </a:r>
          </a:p>
        </p:txBody>
      </p:sp>
      <p:sp>
        <p:nvSpPr>
          <p:cNvPr id="34" name="flow-body-2">
            <a:extLst xmlns:a="http://schemas.openxmlformats.org/drawingml/2006/main">
              <a:ext uri="{FF2B5EF4-FFF2-40B4-BE49-F238E27FC236}">
                <a16:creationId xmlns:a16="http://schemas.microsoft.com/office/drawing/2014/main" id="{899D32BC-8D28-485C-9883-F0CD265D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89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esquema y reglas</a:t>
            </a:r>
          </a:p>
        </p:txBody>
      </p:sp>
      <p:sp>
        <p:nvSpPr>
          <p:cNvPr id="35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7767AF2F-8458-497D-B7BD-A52D280C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0363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36" name="flow-step-3">
            <a:extLst xmlns:a="http://schemas.openxmlformats.org/drawingml/2006/main">
              <a:ext uri="{FF2B5EF4-FFF2-40B4-BE49-F238E27FC236}">
                <a16:creationId xmlns:a16="http://schemas.microsoft.com/office/drawing/2014/main" id="{01A6C5E0-1C8D-49F4-BCFE-EAB25726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46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7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F9D8CFFC-AF3E-40B1-8455-AA6346BB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91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8" name="flow-card-rule-3">
            <a:extLst xmlns:a="http://schemas.openxmlformats.org/drawingml/2006/main">
              <a:ext uri="{FF2B5EF4-FFF2-40B4-BE49-F238E27FC236}">
                <a16:creationId xmlns:a16="http://schemas.microsoft.com/office/drawing/2014/main" id="{57B43B83-DDA8-4555-AF20-02CB8A2E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0996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39" name="flow-head-3">
            <a:extLst xmlns:a="http://schemas.openxmlformats.org/drawingml/2006/main">
              <a:ext uri="{FF2B5EF4-FFF2-40B4-BE49-F238E27FC236}">
                <a16:creationId xmlns:a16="http://schemas.microsoft.com/office/drawing/2014/main" id="{4E605A26-0920-4B23-B326-1B17B4D3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Anexar</a:t>
            </a:r>
          </a:p>
        </p:txBody>
      </p:sp>
      <p:sp>
        <p:nvSpPr>
          <p:cNvPr id="4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DA10C890-5709-4266-9C94-378DCD47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unir y deduplicar</a:t>
            </a:r>
          </a:p>
        </p:txBody>
      </p:sp>
      <p:sp>
        <p:nvSpPr>
          <p:cNvPr id="41" name="flow-step-4">
            <a:extLst xmlns:a="http://schemas.openxmlformats.org/drawingml/2006/main">
              <a:ext uri="{FF2B5EF4-FFF2-40B4-BE49-F238E27FC236}">
                <a16:creationId xmlns:a16="http://schemas.microsoft.com/office/drawing/2014/main" id="{F98AECBD-4E32-4809-80EF-D50B6458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653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42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FF2B5BFB-1346-4122-8392-19EFB501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98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43" name="flow-card-rule-4">
            <a:extLst xmlns:a="http://schemas.openxmlformats.org/drawingml/2006/main">
              <a:ext uri="{FF2B5EF4-FFF2-40B4-BE49-F238E27FC236}">
                <a16:creationId xmlns:a16="http://schemas.microsoft.com/office/drawing/2014/main" id="{E2CBA057-1ADF-4209-A4C0-5A49F4A2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3703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44" name="flow-head-4">
            <a:extLst xmlns:a="http://schemas.openxmlformats.org/drawingml/2006/main">
              <a:ext uri="{FF2B5EF4-FFF2-40B4-BE49-F238E27FC236}">
                <a16:creationId xmlns:a16="http://schemas.microsoft.com/office/drawing/2014/main" id="{2846A7D4-A20F-4370-97BE-AB9A2153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03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Publicar</a:t>
            </a:r>
          </a:p>
        </p:txBody>
      </p:sp>
      <p:sp>
        <p:nvSpPr>
          <p:cNvPr id="45" name="flow-body-4">
            <a:extLst xmlns:a="http://schemas.openxmlformats.org/drawingml/2006/main">
              <a:ext uri="{FF2B5EF4-FFF2-40B4-BE49-F238E27FC236}">
                <a16:creationId xmlns:a16="http://schemas.microsoft.com/office/drawing/2014/main" id="{30C27856-EB7C-4EC3-8D9A-A7CF49D4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03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curados y rechazos</a:t>
            </a:r>
          </a:p>
        </p:txBody>
      </p:sp>
      <p:sp>
        <p:nvSpPr>
          <p:cNvPr id="46" name="flow-callout-panel">
            <a:extLst xmlns:a="http://schemas.openxmlformats.org/drawingml/2006/main">
              <a:ext uri="{FF2B5EF4-FFF2-40B4-BE49-F238E27FC236}">
                <a16:creationId xmlns:a16="http://schemas.microsoft.com/office/drawing/2014/main" id="{62A6E8A2-6AE0-49CE-B3EB-B3D3A7A3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124700"/>
            <a:ext cx="120015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47" name="flow-callout">
            <a:extLst xmlns:a="http://schemas.openxmlformats.org/drawingml/2006/main">
              <a:ext uri="{FF2B5EF4-FFF2-40B4-BE49-F238E27FC236}">
                <a16:creationId xmlns:a16="http://schemas.microsoft.com/office/drawing/2014/main" id="{E80D249E-A813-4733-90B7-F3F3A897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2390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72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Power Query procesa la carpeta y deja controles de archivos, filas e importe.</a:t>
            </a:r>
          </a:p>
        </p:txBody>
      </p:sp>
    </p:spTree>
    <p:extLst>
      <p:ext uri="{BB962C8B-B14F-4D97-AF65-F5344CB8AC3E}">
        <p14:creationId xmlns:p14="http://schemas.microsoft.com/office/powerpoint/2010/main" val="14359229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E8D35C3D-D35F-444B-B765-9D021339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68E1B423-0357-4C45-B752-0A244C46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2C7DB1BE-A42F-4D86-BDFA-01C56AF5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4" name="visual-feature-frame">
            <a:extLst xmlns:a="http://schemas.openxmlformats.org/drawingml/2006/main">
              <a:ext uri="{FF2B5EF4-FFF2-40B4-BE49-F238E27FC236}">
                <a16:creationId xmlns:a16="http://schemas.microsoft.com/office/drawing/2014/main" id="{A6A320D6-2BA3-4053-A71E-DAFB0921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428625"/>
            <a:ext cx="25336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pic>
        <p:nvPicPr>
          <p:cNvPr id="42" name="visual-featur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13432cba0e4347"/>
          <a:srcRect xmlns:a="http://schemas.openxmlformats.org/drawingml/2006/main" l="0" t="33841" r="0" b="338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06700" y="523875"/>
            <a:ext cx="2343150" cy="1009650"/>
          </a:xfrm>
          <a:prstGeom xmlns:a="http://schemas.openxmlformats.org/drawingml/2006/main" prst="rect">
            <a:avLst/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216426f204ec0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7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A937F015-77BA-4395-9EDB-50858FED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8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3061420A-78DE-4AAE-809B-1881ACE7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9" name="visual-year">
            <a:extLst xmlns:a="http://schemas.openxmlformats.org/drawingml/2006/main">
              <a:ext uri="{FF2B5EF4-FFF2-40B4-BE49-F238E27FC236}">
                <a16:creationId xmlns:a16="http://schemas.microsoft.com/office/drawing/2014/main" id="{9FCC2954-FF1E-420F-99FC-87D7D801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1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1302D25D-33BF-4F2D-97D0-D81095E6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Faro Sur</a:t>
            </a: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 convierte eventos logísticos en una historia consultable</a:t>
            </a:r>
          </a:p>
        </p:txBody>
      </p:sp>
      <p:sp>
        <p:nvSpPr>
          <p:cNvPr id="11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910B0B64-9454-4A9B-A868-CD3DDE90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2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691DC9AA-82BB-48EE-B92F-29F25C35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3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B77B9573-CB0E-44F8-BBA2-DE51AD48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4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CA76B56C-E734-421D-9DE8-E429DCDE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5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49F42B64-E90B-4106-AC26-72B4EEC8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6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3845A70E-27AA-40F4-9E63-E845953E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7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0E92EF6D-A723-4A9A-B651-4AC26E4D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PRÁCTICA · PAQUETE C</a:t>
            </a:r>
          </a:p>
        </p:txBody>
      </p:sp>
      <p:sp>
        <p:nvSpPr>
          <p:cNvPr id="18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8C85EFB3-DCAA-4A2D-8798-02F9B754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9" name="case-box-0">
            <a:extLst xmlns:a="http://schemas.openxmlformats.org/drawingml/2006/main">
              <a:ext uri="{FF2B5EF4-FFF2-40B4-BE49-F238E27FC236}">
                <a16:creationId xmlns:a16="http://schemas.microsoft.com/office/drawing/2014/main" id="{44082319-56E8-4CAA-A52A-96AF269A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19500"/>
            <a:ext cx="510540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0" name="case-index-0">
            <a:extLst xmlns:a="http://schemas.openxmlformats.org/drawingml/2006/main">
              <a:ext uri="{FF2B5EF4-FFF2-40B4-BE49-F238E27FC236}">
                <a16:creationId xmlns:a16="http://schemas.microsoft.com/office/drawing/2014/main" id="{38BDCFD7-F7A6-44A3-9CCB-28E05E8C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9095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21" name="case-rule-0">
            <a:extLst xmlns:a="http://schemas.openxmlformats.org/drawingml/2006/main">
              <a:ext uri="{FF2B5EF4-FFF2-40B4-BE49-F238E27FC236}">
                <a16:creationId xmlns:a16="http://schemas.microsoft.com/office/drawing/2014/main" id="{A92912D4-372B-4C18-9177-85B07F8D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47800" y="4524375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22" name="case-head-0">
            <a:extLst xmlns:a="http://schemas.openxmlformats.org/drawingml/2006/main">
              <a:ext uri="{FF2B5EF4-FFF2-40B4-BE49-F238E27FC236}">
                <a16:creationId xmlns:a16="http://schemas.microsoft.com/office/drawing/2014/main" id="{493DBBB5-0246-4A2A-A394-9E230C5C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05350"/>
            <a:ext cx="464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Fuente</a:t>
            </a:r>
          </a:p>
        </p:txBody>
      </p:sp>
      <p:sp>
        <p:nvSpPr>
          <p:cNvPr id="23" name="case-body-0">
            <a:extLst xmlns:a="http://schemas.openxmlformats.org/drawingml/2006/main">
              <a:ext uri="{FF2B5EF4-FFF2-40B4-BE49-F238E27FC236}">
                <a16:creationId xmlns:a16="http://schemas.microsoft.com/office/drawing/2014/main" id="{714B079F-D7CC-4332-9814-396C4439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24500"/>
            <a:ext cx="4648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tracking_events.json</a:t>
            </a:r>
          </a:p>
        </p:txBody>
      </p:sp>
      <p:sp>
        <p:nvSpPr>
          <p:cNvPr id="24" name="case-box-1">
            <a:extLst xmlns:a="http://schemas.openxmlformats.org/drawingml/2006/main">
              <a:ext uri="{FF2B5EF4-FFF2-40B4-BE49-F238E27FC236}">
                <a16:creationId xmlns:a16="http://schemas.microsoft.com/office/drawing/2014/main" id="{28ADC017-848A-4B67-8D46-5FB9417D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19500"/>
            <a:ext cx="510540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5" name="case-index-1">
            <a:extLst xmlns:a="http://schemas.openxmlformats.org/drawingml/2006/main">
              <a:ext uri="{FF2B5EF4-FFF2-40B4-BE49-F238E27FC236}">
                <a16:creationId xmlns:a16="http://schemas.microsoft.com/office/drawing/2014/main" id="{CFD76578-F67B-4305-A511-A19893BE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9095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6" name="case-rule-1">
            <a:extLst xmlns:a="http://schemas.openxmlformats.org/drawingml/2006/main">
              <a:ext uri="{FF2B5EF4-FFF2-40B4-BE49-F238E27FC236}">
                <a16:creationId xmlns:a16="http://schemas.microsoft.com/office/drawing/2014/main" id="{E1977698-B527-4866-BE94-6013BE74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19900" y="4524375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27" name="case-head-1">
            <a:extLst xmlns:a="http://schemas.openxmlformats.org/drawingml/2006/main">
              <a:ext uri="{FF2B5EF4-FFF2-40B4-BE49-F238E27FC236}">
                <a16:creationId xmlns:a16="http://schemas.microsoft.com/office/drawing/2014/main" id="{9A5DB250-A4B9-486A-9281-DA1BEEA6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05350"/>
            <a:ext cx="464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Staging</a:t>
            </a:r>
          </a:p>
        </p:txBody>
      </p:sp>
      <p:sp>
        <p:nvSpPr>
          <p:cNvPr id="28" name="case-body-1">
            <a:extLst xmlns:a="http://schemas.openxmlformats.org/drawingml/2006/main">
              <a:ext uri="{FF2B5EF4-FFF2-40B4-BE49-F238E27FC236}">
                <a16:creationId xmlns:a16="http://schemas.microsoft.com/office/drawing/2014/main" id="{6E279BD0-F39C-480A-AF3D-B1C14D05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524500"/>
            <a:ext cx="4648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eventos tipados y deduplicados</a:t>
            </a:r>
          </a:p>
        </p:txBody>
      </p:sp>
      <p:sp>
        <p:nvSpPr>
          <p:cNvPr id="29" name="case-box-2">
            <a:extLst xmlns:a="http://schemas.openxmlformats.org/drawingml/2006/main">
              <a:ext uri="{FF2B5EF4-FFF2-40B4-BE49-F238E27FC236}">
                <a16:creationId xmlns:a16="http://schemas.microsoft.com/office/drawing/2014/main" id="{84876865-5744-433A-B74C-4A716B3D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3619500"/>
            <a:ext cx="510540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0" name="case-index-2">
            <a:extLst xmlns:a="http://schemas.openxmlformats.org/drawingml/2006/main">
              <a:ext uri="{FF2B5EF4-FFF2-40B4-BE49-F238E27FC236}">
                <a16:creationId xmlns:a16="http://schemas.microsoft.com/office/drawing/2014/main" id="{4BDA1139-C5B4-42DF-8915-5B8EE45A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79095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0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31" name="case-rule-2">
            <a:extLst xmlns:a="http://schemas.openxmlformats.org/drawingml/2006/main">
              <a:ext uri="{FF2B5EF4-FFF2-40B4-BE49-F238E27FC236}">
                <a16:creationId xmlns:a16="http://schemas.microsoft.com/office/drawing/2014/main" id="{911E00E3-E170-438C-A259-D2B0BD8B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0" y="4524375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2" name="case-head-2">
            <a:extLst xmlns:a="http://schemas.openxmlformats.org/drawingml/2006/main">
              <a:ext uri="{FF2B5EF4-FFF2-40B4-BE49-F238E27FC236}">
                <a16:creationId xmlns:a16="http://schemas.microsoft.com/office/drawing/2014/main" id="{433E1C43-0838-403A-BC58-2A36DAB3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705350"/>
            <a:ext cx="464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0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Mart</a:t>
            </a:r>
          </a:p>
        </p:txBody>
      </p:sp>
      <p:sp>
        <p:nvSpPr>
          <p:cNvPr id="33" name="case-body-2">
            <a:extLst xmlns:a="http://schemas.openxmlformats.org/drawingml/2006/main">
              <a:ext uri="{FF2B5EF4-FFF2-40B4-BE49-F238E27FC236}">
                <a16:creationId xmlns:a16="http://schemas.microsoft.com/office/drawing/2014/main" id="{D920CCDD-F674-4BB7-9DCD-9062BC5A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524500"/>
            <a:ext cx="4648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estado y demora por pedido</a:t>
            </a:r>
          </a:p>
        </p:txBody>
      </p:sp>
      <p:sp>
        <p:nvSpPr>
          <p:cNvPr id="34" name="case-footer">
            <a:extLst xmlns:a="http://schemas.openxmlformats.org/drawingml/2006/main">
              <a:ext uri="{FF2B5EF4-FFF2-40B4-BE49-F238E27FC236}">
                <a16:creationId xmlns:a16="http://schemas.microsoft.com/office/drawing/2014/main" id="{E5FD9DF0-A4C7-4BE8-92EF-16F861C8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239000"/>
            <a:ext cx="1352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87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La práctica conserva el JSON original, el diccionario y los controles de cada capa.</a:t>
            </a:r>
          </a:p>
        </p:txBody>
      </p:sp>
    </p:spTree>
    <p:extLst>
      <p:ext uri="{BB962C8B-B14F-4D97-AF65-F5344CB8AC3E}">
        <p14:creationId xmlns:p14="http://schemas.microsoft.com/office/powerpoint/2010/main" val="19338587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3F0EF08C-5E53-444A-B5C8-C34B9A55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1F6159C8-4009-4FD1-B560-1E7CE78A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06FFA87D-E00F-4BBB-B3B1-DF791597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0c92582aa445e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5DA53149-F9EA-4750-8DE6-0589F8F7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581DED8F-C89F-4978-8DB1-74DEB238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68240601-3A80-4C0E-83A9-0A89AE1C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41B50901-E620-4231-BE47-01A2E011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Una carga corta puede conservar </a:t>
            </a: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trazabilidad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C68C9C8E-8F21-4C15-BF74-9EA3ABA0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8AF89631-CA9D-41F0-BE36-AF56E88C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5C26DF70-C5BC-4051-AC4A-985712DD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E1A580D1-1FE2-46EE-B70F-795586F3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9CC02A05-E590-4F0B-BA8F-24458F77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A97983D9-70E0-40D8-B1EB-B83F6B4A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BA984812-351C-4B1B-AF0E-D0AB155C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PYTHON · PATRÓN DE TRABAJO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A372F1D5-DB51-403A-ACFD-FF7BE962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code-panel">
            <a:extLst xmlns:a="http://schemas.openxmlformats.org/drawingml/2006/main">
              <a:ext uri="{FF2B5EF4-FFF2-40B4-BE49-F238E27FC236}">
                <a16:creationId xmlns:a16="http://schemas.microsoft.com/office/drawing/2014/main" id="{B02880D8-BFB7-4A20-A155-E2DFA949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7524750" cy="4762500"/>
          </a:xfrm>
          <a:prstGeom xmlns:a="http://schemas.openxmlformats.org/drawingml/2006/main" prst="roundRect">
            <a:avLst>
              <a:gd name="adj" fmla="val 3600"/>
            </a:avLst>
          </a:prstGeom>
          <a:solidFill xmlns:a="http://schemas.openxmlformats.org/drawingml/2006/main">
            <a:srgbClr val="0E2438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8" name="code-text">
            <a:extLst xmlns:a="http://schemas.openxmlformats.org/drawingml/2006/main">
              <a:ext uri="{FF2B5EF4-FFF2-40B4-BE49-F238E27FC236}">
                <a16:creationId xmlns:a16="http://schemas.microsoft.com/office/drawing/2014/main" id="{EFA157A2-9DF1-46EA-9F82-1ECFB80C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71875"/>
            <a:ext cx="69532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raw = pd.read_json("tracking_events.json")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stg = raw.explode("events").drop_duplicates("event_id")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stg["event_time"] = pd.to_datetime(stg["event_time"], utc=True)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assert stg["event_id"].is_unique</a:t>
            </a:r>
          </a:p>
        </p:txBody>
      </p:sp>
      <p:graphicFrame>
        <p:nvGraphicFramePr>
          <p:cNvPr id="43" name=""/>
          <p:cNvGraphicFramePr/>
          <p:nvPr/>
        </p:nvGraphicFramePr>
        <p:xfrm>
          <a:off xmlns:a="http://schemas.openxmlformats.org/drawingml/2006/main" x="9239250" y="3333750"/>
          <a:ext xmlns:a="http://schemas.openxmlformats.org/drawingml/2006/main" cx="78105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905250"/>
              </a:tblGrid>
              <a:tr h="77390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Resultado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event_id únicos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OK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timestamps válidos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1.241 / 1.241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rechazos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sult-panel">
            <a:extLst xmlns:a="http://schemas.openxmlformats.org/drawingml/2006/main">
              <a:ext uri="{FF2B5EF4-FFF2-40B4-BE49-F238E27FC236}">
                <a16:creationId xmlns:a16="http://schemas.microsoft.com/office/drawing/2014/main" id="{328CEEB6-EF09-469D-A47A-F38D23BC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62300"/>
            <a:ext cx="8153400" cy="3438525"/>
          </a:xfrm>
          <a:prstGeom xmlns:a="http://schemas.openxmlformats.org/drawingml/2006/main" prst="roundRect">
            <a:avLst>
              <a:gd name="adj" fmla="val 49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1" name="code-note">
            <a:extLst xmlns:a="http://schemas.openxmlformats.org/drawingml/2006/main">
              <a:ext uri="{FF2B5EF4-FFF2-40B4-BE49-F238E27FC236}">
                <a16:creationId xmlns:a16="http://schemas.microsoft.com/office/drawing/2014/main" id="{E48A908D-52CA-4DAF-9F99-D2E37465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33425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El assert convierte una expectativa en una condición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2861669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74EC564A-C229-470B-ACF2-8FB3D138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4A0D72F5-CD64-42DA-B26A-FC442FE1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46C6CAA7-B8B0-4C96-B6F6-5EF5F0F4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0ce130dbe747c8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E13B1D96-7D17-492A-BE13-04221836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7E8B4C18-E0AF-4C74-B948-650E41DF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7A96D4C8-ADEB-45DC-AB02-DAF34841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44572D5F-07F5-493E-9BB0-33C2D312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El proyecto documenta una fuente y su recorrido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D6358116-C241-49F5-BB83-7075C41D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5A986562-37C4-4D92-833A-8F242DDC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D0D3FB45-2065-4F94-8F2E-2E025F6C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157393DF-10EF-4E1E-AB73-B5E734F4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AAD023E3-FFE5-4F49-A567-BD4A5B51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86CE3266-372D-40C8-8EEB-E3E4ED23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205AD96F-867C-43FC-8B35-C78968F8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PROYECTO · INCREMENTO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22C20E39-5681-447E-8B4A-57ACE428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769F5549-927C-4F1F-BA88-2ED6FD75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8" name="worked-number-0">
            <a:extLst xmlns:a="http://schemas.openxmlformats.org/drawingml/2006/main">
              <a:ext uri="{FF2B5EF4-FFF2-40B4-BE49-F238E27FC236}">
                <a16:creationId xmlns:a16="http://schemas.microsoft.com/office/drawing/2014/main" id="{57B4C5E7-C9E5-4299-80FA-2C5E25F6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19" name="worked-rule-0">
            <a:extLst xmlns:a="http://schemas.openxmlformats.org/drawingml/2006/main">
              <a:ext uri="{FF2B5EF4-FFF2-40B4-BE49-F238E27FC236}">
                <a16:creationId xmlns:a16="http://schemas.microsoft.com/office/drawing/2014/main" id="{6C803AEA-ABEA-4887-ABDE-D5FA2FA4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20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BEEB8FB6-5B33-479E-8C28-19511C41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Origen</a:t>
            </a:r>
          </a:p>
        </p:txBody>
      </p:sp>
      <p:sp>
        <p:nvSpPr>
          <p:cNvPr id="21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33B47029-28DC-45E7-8125-1AD6DD66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propietario y acceso</a:t>
            </a:r>
          </a:p>
        </p:txBody>
      </p:sp>
      <p:sp>
        <p:nvSpPr>
          <p:cNvPr id="22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AB21380C-7688-4EE6-81D7-20545559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3" name="worked-number-1">
            <a:extLst xmlns:a="http://schemas.openxmlformats.org/drawingml/2006/main">
              <a:ext uri="{FF2B5EF4-FFF2-40B4-BE49-F238E27FC236}">
                <a16:creationId xmlns:a16="http://schemas.microsoft.com/office/drawing/2014/main" id="{DFFA8830-E194-4C9B-9CA3-696FB569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4" name="worked-rule-1">
            <a:extLst xmlns:a="http://schemas.openxmlformats.org/drawingml/2006/main">
              <a:ext uri="{FF2B5EF4-FFF2-40B4-BE49-F238E27FC236}">
                <a16:creationId xmlns:a16="http://schemas.microsoft.com/office/drawing/2014/main" id="{847823D4-563A-4E08-8CA1-2CB2F820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7545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25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689DDBDB-DAF6-42B9-848E-CE4784D0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Contrato</a:t>
            </a:r>
          </a:p>
        </p:txBody>
      </p:sp>
      <p:sp>
        <p:nvSpPr>
          <p:cNvPr id="26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2DB997EC-870F-48F0-9B23-316F02C1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campos y versiones</a:t>
            </a:r>
          </a:p>
        </p:txBody>
      </p:sp>
      <p:sp>
        <p:nvSpPr>
          <p:cNvPr id="27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29CD35E8-FB94-4D7C-AC8B-47AABBF1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70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8" name="worked-number-2">
            <a:extLst xmlns:a="http://schemas.openxmlformats.org/drawingml/2006/main">
              <a:ext uri="{FF2B5EF4-FFF2-40B4-BE49-F238E27FC236}">
                <a16:creationId xmlns:a16="http://schemas.microsoft.com/office/drawing/2014/main" id="{A380AEDC-25F0-4710-A468-A62A6EB1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29" name="worked-rule-2">
            <a:extLst xmlns:a="http://schemas.openxmlformats.org/drawingml/2006/main">
              <a:ext uri="{FF2B5EF4-FFF2-40B4-BE49-F238E27FC236}">
                <a16:creationId xmlns:a16="http://schemas.microsoft.com/office/drawing/2014/main" id="{5EF9B09C-DA97-4AB0-9368-4A7E479F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4120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30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7353B0B1-CAC3-4CA4-B7EB-77ED92B6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Capas</a:t>
            </a:r>
          </a:p>
        </p:txBody>
      </p:sp>
      <p:sp>
        <p:nvSpPr>
          <p:cNvPr id="31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F365005E-0222-478E-AEA3-D0317C4F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raw, staging y mart</a:t>
            </a:r>
          </a:p>
        </p:txBody>
      </p:sp>
      <p:sp>
        <p:nvSpPr>
          <p:cNvPr id="32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D3662561-25FC-43BE-BFD3-DE8ADD68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3" name="worked-number-3">
            <a:extLst xmlns:a="http://schemas.openxmlformats.org/drawingml/2006/main">
              <a:ext uri="{FF2B5EF4-FFF2-40B4-BE49-F238E27FC236}">
                <a16:creationId xmlns:a16="http://schemas.microsoft.com/office/drawing/2014/main" id="{21522D92-4CAF-4CFB-9824-6EB9F88F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05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4" name="worked-rule-3">
            <a:extLst xmlns:a="http://schemas.openxmlformats.org/drawingml/2006/main">
              <a:ext uri="{FF2B5EF4-FFF2-40B4-BE49-F238E27FC236}">
                <a16:creationId xmlns:a16="http://schemas.microsoft.com/office/drawing/2014/main" id="{B065F481-C65A-483B-B755-0662216B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6534150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35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19ED5596-800B-4F54-8A9E-D8F2C339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648450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Controles</a:t>
            </a:r>
          </a:p>
        </p:txBody>
      </p:sp>
      <p:sp>
        <p:nvSpPr>
          <p:cNvPr id="36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3D158C0E-A68A-4A0D-8D5A-18FE54CD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296150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conteos y reglas</a:t>
            </a:r>
          </a:p>
        </p:txBody>
      </p:sp>
      <p:sp>
        <p:nvSpPr>
          <p:cNvPr id="37" name="worked-box-4">
            <a:extLst xmlns:a="http://schemas.openxmlformats.org/drawingml/2006/main">
              <a:ext uri="{FF2B5EF4-FFF2-40B4-BE49-F238E27FC236}">
                <a16:creationId xmlns:a16="http://schemas.microsoft.com/office/drawing/2014/main" id="{1AFB8366-B04C-4F2C-B86A-F72CAC5B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5772150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8" name="worked-number-4">
            <a:extLst xmlns:a="http://schemas.openxmlformats.org/drawingml/2006/main">
              <a:ext uri="{FF2B5EF4-FFF2-40B4-BE49-F238E27FC236}">
                <a16:creationId xmlns:a16="http://schemas.microsoft.com/office/drawing/2014/main" id="{7C802A3D-EE2B-492A-B349-FC07BFBA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905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39" name="worked-rule-4">
            <a:extLst xmlns:a="http://schemas.openxmlformats.org/drawingml/2006/main">
              <a:ext uri="{FF2B5EF4-FFF2-40B4-BE49-F238E27FC236}">
                <a16:creationId xmlns:a16="http://schemas.microsoft.com/office/drawing/2014/main" id="{52BFB5BC-B460-4066-9754-A15D14E7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75450" y="6534150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40" name="worked-head-4">
            <a:extLst xmlns:a="http://schemas.openxmlformats.org/drawingml/2006/main">
              <a:ext uri="{FF2B5EF4-FFF2-40B4-BE49-F238E27FC236}">
                <a16:creationId xmlns:a16="http://schemas.microsoft.com/office/drawing/2014/main" id="{B874DCC9-5DC1-4B1C-ACFA-F03EBAB5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6648450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Trade-off</a:t>
            </a:r>
          </a:p>
        </p:txBody>
      </p:sp>
      <p:sp>
        <p:nvSpPr>
          <p:cNvPr id="41" name="worked-body-4">
            <a:extLst xmlns:a="http://schemas.openxmlformats.org/drawingml/2006/main">
              <a:ext uri="{FF2B5EF4-FFF2-40B4-BE49-F238E27FC236}">
                <a16:creationId xmlns:a16="http://schemas.microsoft.com/office/drawing/2014/main" id="{30194713-EB40-405B-B850-2266DE2C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7296150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elección y revisión</a:t>
            </a:r>
          </a:p>
        </p:txBody>
      </p:sp>
      <p:sp>
        <p:nvSpPr>
          <p:cNvPr id="42" name="worked-caption">
            <a:extLst xmlns:a="http://schemas.openxmlformats.org/drawingml/2006/main">
              <a:ext uri="{FF2B5EF4-FFF2-40B4-BE49-F238E27FC236}">
                <a16:creationId xmlns:a16="http://schemas.microsoft.com/office/drawing/2014/main" id="{E3A1C085-2A22-4095-9011-90CF8DD7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096250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650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Evidencia mínima: snapshot, transformación ejecutable y reconciliación.</a:t>
            </a:r>
          </a:p>
        </p:txBody>
      </p:sp>
    </p:spTree>
    <p:extLst>
      <p:ext uri="{BB962C8B-B14F-4D97-AF65-F5344CB8AC3E}">
        <p14:creationId xmlns:p14="http://schemas.microsoft.com/office/powerpoint/2010/main" val="14323370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clos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0544cdb034730"/>
          <a:srcRect xmlns:a="http://schemas.openxmlformats.org/drawingml/2006/main" l="9877" t="0" r="98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9125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close-photo-rule">
            <a:extLst xmlns:a="http://schemas.openxmlformats.org/drawingml/2006/main">
              <a:ext uri="{FF2B5EF4-FFF2-40B4-BE49-F238E27FC236}">
                <a16:creationId xmlns:a16="http://schemas.microsoft.com/office/drawing/2014/main" id="{F993F22D-0CD9-442A-B761-CE1139EC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0"/>
            <a:ext cx="171450" cy="1028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3" name="close-photo-tab">
            <a:extLst xmlns:a="http://schemas.openxmlformats.org/drawingml/2006/main">
              <a:ext uri="{FF2B5EF4-FFF2-40B4-BE49-F238E27FC236}">
                <a16:creationId xmlns:a16="http://schemas.microsoft.com/office/drawing/2014/main" id="{F8EB57A5-3C24-4516-9B81-2E6AB06E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952625" cy="228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4" name="close-rail">
            <a:extLst xmlns:a="http://schemas.openxmlformats.org/drawingml/2006/main">
              <a:ext uri="{FF2B5EF4-FFF2-40B4-BE49-F238E27FC236}">
                <a16:creationId xmlns:a16="http://schemas.microsoft.com/office/drawing/2014/main" id="{0A729F19-19BB-4C33-9A4F-3E8C6B7D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0"/>
            <a:ext cx="295275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b12ac73f1342f5"/>
          <a:stretch xmlns:a="http://schemas.openxmlformats.org/drawingml/2006/main"/>
        </p:blipFill>
        <p:spPr>
          <a:xfrm xmlns:a="http://schemas.openxmlformats.org/drawingml/2006/main">
            <a:off x="7000875" y="6074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" name="close-label">
            <a:extLst xmlns:a="http://schemas.openxmlformats.org/drawingml/2006/main">
              <a:ext uri="{FF2B5EF4-FFF2-40B4-BE49-F238E27FC236}">
                <a16:creationId xmlns:a16="http://schemas.microsoft.com/office/drawing/2014/main" id="{EEA78DB8-696C-4A67-9DBC-EF6B6A30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85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CIERRE · CONTRATO Y CONTROL</a:t>
            </a:r>
          </a:p>
        </p:txBody>
      </p:sp>
      <p:sp>
        <p:nvSpPr>
          <p:cNvPr id="7" name="close-title">
            <a:extLst xmlns:a="http://schemas.openxmlformats.org/drawingml/2006/main">
              <a:ext uri="{FF2B5EF4-FFF2-40B4-BE49-F238E27FC236}">
                <a16:creationId xmlns:a16="http://schemas.microsoft.com/office/drawing/2014/main" id="{D6BFB4D7-111B-4619-B570-9B5F7FAE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81250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Una transformación defendible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conserva su </a:t>
            </a:r>
            <a:r>
              <a:rPr sz="48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evidencia</a:t>
            </a:r>
          </a:p>
        </p:txBody>
      </p:sp>
      <p:sp>
        <p:nvSpPr>
          <p:cNvPr id="8" name="close-rule">
            <a:extLst xmlns:a="http://schemas.openxmlformats.org/drawingml/2006/main">
              <a:ext uri="{FF2B5EF4-FFF2-40B4-BE49-F238E27FC236}">
                <a16:creationId xmlns:a16="http://schemas.microsoft.com/office/drawing/2014/main" id="{46530FA7-6C12-415E-AD41-EE8AC8F5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00875" y="560070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33"/>
            </a:solidFill>
            <a:prstDash val="solid"/>
          </a:ln>
        </p:spPr>
      </p:sp>
      <p:sp>
        <p:nvSpPr>
          <p:cNvPr id="9" name="close-body">
            <a:extLst xmlns:a="http://schemas.openxmlformats.org/drawingml/2006/main">
              <a:ext uri="{FF2B5EF4-FFF2-40B4-BE49-F238E27FC236}">
                <a16:creationId xmlns:a16="http://schemas.microsoft.com/office/drawing/2014/main" id="{51FAD1CE-4262-44D9-9E86-6D441757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048375"/>
            <a:ext cx="8572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E3E3E3"/>
                </a:solidFill>
                <a:latin typeface="Telegraf"/>
                <a:ea typeface="Telegraf"/>
                <a:cs typeface="Telegraf"/>
              </a:defRPr>
            </a:pPr>
            <a:r>
              <a:rPr sz="2025" b="0">
                <a:solidFill>
                  <a:srgbClr val="E3E3E3"/>
                </a:solidFill>
                <a:latin typeface="Telegraf"/>
                <a:ea typeface="Telegraf"/>
                <a:cs typeface="Telegraf"/>
              </a:rPr>
              <a:t>Guardar el origen, ejecutar reglas declaradas y explicar cada diferencia entre capas.</a:t>
            </a:r>
          </a:p>
        </p:txBody>
      </p:sp>
      <p:sp>
        <p:nvSpPr>
          <p:cNvPr id="10" name="close-course">
            <a:extLst xmlns:a="http://schemas.openxmlformats.org/drawingml/2006/main">
              <a:ext uri="{FF2B5EF4-FFF2-40B4-BE49-F238E27FC236}">
                <a16:creationId xmlns:a16="http://schemas.microsoft.com/office/drawing/2014/main" id="{07226551-FD8C-4867-8588-12D46997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572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C8C8C8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C8C8C8"/>
                </a:solidFill>
                <a:latin typeface="Telegraf"/>
                <a:ea typeface="Telegraf"/>
                <a:cs typeface="Telegraf"/>
              </a:rPr>
              <a:t>Análisis de Datos · Ingeniería Industrial</a:t>
            </a:r>
          </a:p>
        </p:txBody>
      </p:sp>
    </p:spTree>
    <p:extLst>
      <p:ext uri="{BB962C8B-B14F-4D97-AF65-F5344CB8AC3E}">
        <p14:creationId xmlns:p14="http://schemas.microsoft.com/office/powerpoint/2010/main" val="8945535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2026-08-23T22:33:53.0930000Z</dcterms:created>
  <dcterms:modified xsi:type="dcterms:W3CDTF">2026-08-23T22:33:53.0930000Z</dcterms:modified>
</coreProperties>
</file>