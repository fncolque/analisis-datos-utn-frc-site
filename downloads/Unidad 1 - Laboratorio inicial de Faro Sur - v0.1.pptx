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2aa07f63db42a9" /><Relationship Type="http://schemas.openxmlformats.org/officeDocument/2006/relationships/extended-properties" Target="/docProps/app.xml" Id="R7d4a64b35dcd4c4a" /><Relationship Type="http://schemas.openxmlformats.org/officeDocument/2006/relationships/officeDocument" Target="/ppt/presentation.xml" Id="R47ab802826d645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889869961d4f74"/>
  </p:sldMasterIdLst>
  <p:sldIdLst>
    <p:sldId xmlns:r="http://schemas.openxmlformats.org/officeDocument/2006/relationships" id="256" r:id="R5398a29b65174c16"/>
    <p:sldId xmlns:r="http://schemas.openxmlformats.org/officeDocument/2006/relationships" id="257" r:id="R841f6a0aefd04cc8"/>
    <p:sldId xmlns:r="http://schemas.openxmlformats.org/officeDocument/2006/relationships" id="258" r:id="R5c080bc234854475"/>
    <p:sldId xmlns:r="http://schemas.openxmlformats.org/officeDocument/2006/relationships" id="259" r:id="R8f00b617e84c44dc"/>
    <p:sldId xmlns:r="http://schemas.openxmlformats.org/officeDocument/2006/relationships" id="260" r:id="R7cae1adaab3f42af"/>
    <p:sldId xmlns:r="http://schemas.openxmlformats.org/officeDocument/2006/relationships" id="261" r:id="R2f16da672a034c2c"/>
    <p:sldId xmlns:r="http://schemas.openxmlformats.org/officeDocument/2006/relationships" id="262" r:id="R0cc600ae652f44ff"/>
    <p:sldId xmlns:r="http://schemas.openxmlformats.org/officeDocument/2006/relationships" id="263" r:id="R22f8b4fd2c624e6f"/>
    <p:sldId xmlns:r="http://schemas.openxmlformats.org/officeDocument/2006/relationships" id="264" r:id="R8f99b5bc16cd484a"/>
    <p:sldId xmlns:r="http://schemas.openxmlformats.org/officeDocument/2006/relationships" id="265" r:id="Re8738cfe23184342"/>
    <p:sldId xmlns:r="http://schemas.openxmlformats.org/officeDocument/2006/relationships" id="266" r:id="Rb30f616abb1347a5"/>
    <p:sldId xmlns:r="http://schemas.openxmlformats.org/officeDocument/2006/relationships" id="267" r:id="R50fa7b8a6bfd406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02e0f27a5043ff" /><Relationship Type="http://schemas.openxmlformats.org/officeDocument/2006/relationships/slideMaster" Target="/ppt/slideMasters/slideMaster1.xml" Id="Rf9889869961d4f74" /><Relationship Type="http://schemas.openxmlformats.org/officeDocument/2006/relationships/presProps" Target="/ppt/presProps.xml" Id="R72655ba4d87d411c" /><Relationship Type="http://schemas.openxmlformats.org/officeDocument/2006/relationships/tableStyles" Target="/ppt/tableStyles.xml" Id="Ra17c4abf902348cc" /><Relationship Type="http://schemas.openxmlformats.org/officeDocument/2006/relationships/slide" Target="/ppt/slides/slide1.xml" Id="R5398a29b65174c16" /><Relationship Type="http://schemas.openxmlformats.org/officeDocument/2006/relationships/slide" Target="/ppt/slides/slide2.xml" Id="R841f6a0aefd04cc8" /><Relationship Type="http://schemas.openxmlformats.org/officeDocument/2006/relationships/slide" Target="/ppt/slides/slide3.xml" Id="R5c080bc234854475" /><Relationship Type="http://schemas.openxmlformats.org/officeDocument/2006/relationships/slide" Target="/ppt/slides/slide4.xml" Id="R8f00b617e84c44dc" /><Relationship Type="http://schemas.openxmlformats.org/officeDocument/2006/relationships/slide" Target="/ppt/slides/slide5.xml" Id="R7cae1adaab3f42af" /><Relationship Type="http://schemas.openxmlformats.org/officeDocument/2006/relationships/slide" Target="/ppt/slides/slide6.xml" Id="R2f16da672a034c2c" /><Relationship Type="http://schemas.openxmlformats.org/officeDocument/2006/relationships/slide" Target="/ppt/slides/slide7.xml" Id="R0cc600ae652f44ff" /><Relationship Type="http://schemas.openxmlformats.org/officeDocument/2006/relationships/slide" Target="/ppt/slides/slide8.xml" Id="R22f8b4fd2c624e6f" /><Relationship Type="http://schemas.openxmlformats.org/officeDocument/2006/relationships/slide" Target="/ppt/slides/slide9.xml" Id="R8f99b5bc16cd484a" /><Relationship Type="http://schemas.openxmlformats.org/officeDocument/2006/relationships/slide" Target="/ppt/slides/slide10.xml" Id="Re8738cfe23184342" /><Relationship Type="http://schemas.openxmlformats.org/officeDocument/2006/relationships/slide" Target="/ppt/slides/slide11.xml" Id="Rb30f616abb1347a5" /><Relationship Type="http://schemas.openxmlformats.org/officeDocument/2006/relationships/slide" Target="/ppt/slides/slide12.xml" Id="R50fa7b8a6bfd406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97f9d47e54a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880f635a8a4df6" /><Relationship Type="http://schemas.openxmlformats.org/officeDocument/2006/relationships/slideLayout" Target="/ppt/slideLayouts/slideLayout1.xml" Id="R9372c6717d034f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72c6717d034f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0f9f04aa04eb8" /><Relationship Type="http://schemas.openxmlformats.org/officeDocument/2006/relationships/image" Target="/ppt/media/image.jpeg" Id="R474af445143449da" /><Relationship Type="http://schemas.openxmlformats.org/officeDocument/2006/relationships/image" Target="/ppt/media/image.png" Id="R006ad4ceb3ae46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032c192484e6d" /><Relationship Type="http://schemas.openxmlformats.org/officeDocument/2006/relationships/image" Target="/ppt/media/image2.png" Id="Rf8291640bdbf4d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455fcca79410f" /><Relationship Type="http://schemas.openxmlformats.org/officeDocument/2006/relationships/image" Target="/ppt/media/image2.jpeg" Id="Rcce8152208d3491a" /><Relationship Type="http://schemas.openxmlformats.org/officeDocument/2006/relationships/image" Target="/ppt/media/image3.png" Id="Rda97144b514d43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c80b483c94c25" /><Relationship Type="http://schemas.openxmlformats.org/officeDocument/2006/relationships/image" Target="/ppt/media/image4.png" Id="R0324fad7424a4e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eb6e2c6884bfb" /><Relationship Type="http://schemas.openxmlformats.org/officeDocument/2006/relationships/image" Target="/ppt/media/image5.png" Id="R4cb53fffd3d147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335ebc3d14c70" /><Relationship Type="http://schemas.openxmlformats.org/officeDocument/2006/relationships/image" Target="/ppt/media/image6.png" Id="R848a84cdd2d548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3142270b34a5d" /><Relationship Type="http://schemas.openxmlformats.org/officeDocument/2006/relationships/image" Target="/ppt/media/image7.png" Id="Rc8e7c41ec7a74a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e916402414723" /><Relationship Type="http://schemas.openxmlformats.org/officeDocument/2006/relationships/image" Target="/ppt/media/image3.jpeg" Id="R0feca3c10b004964" /><Relationship Type="http://schemas.openxmlformats.org/officeDocument/2006/relationships/image" Target="/ppt/media/image8.png" Id="Rdc751e1945054f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3a008ef59490d" /><Relationship Type="http://schemas.openxmlformats.org/officeDocument/2006/relationships/image" Target="/ppt/media/image9.png" Id="R13cae9704ba74b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cbed691e94e0d" /><Relationship Type="http://schemas.openxmlformats.org/officeDocument/2006/relationships/image" Target="/ppt/media/image10.png" Id="Rc91153df9e9040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9751157d94907" /><Relationship Type="http://schemas.openxmlformats.org/officeDocument/2006/relationships/image" Target="/ppt/media/image11.png" Id="R8db8251bebb848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83dc944dd441e" /><Relationship Type="http://schemas.openxmlformats.org/officeDocument/2006/relationships/image" Target="/ppt/media/image4.jpeg" Id="R45b3df330d094547" /><Relationship Type="http://schemas.openxmlformats.org/officeDocument/2006/relationships/image" Target="/ppt/media/image12.png" Id="Ra2f0829d2da343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cove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af445143449da"/>
          <a:srcRect xmlns:a="http://schemas.openxmlformats.org/drawingml/2006/main" l="29913" t="0" r="299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over-photo-rule">
            <a:extLst xmlns:a="http://schemas.openxmlformats.org/drawingml/2006/main">
              <a:ext uri="{FF2B5EF4-FFF2-40B4-BE49-F238E27FC236}">
                <a16:creationId xmlns:a16="http://schemas.microsoft.com/office/drawing/2014/main" id="{29425454-4D72-447E-9A5E-2EECE7D8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over-photo-tab">
            <a:extLst xmlns:a="http://schemas.openxmlformats.org/drawingml/2006/main">
              <a:ext uri="{FF2B5EF4-FFF2-40B4-BE49-F238E27FC236}">
                <a16:creationId xmlns:a16="http://schemas.microsoft.com/office/drawing/2014/main" id="{FBBADB8B-81DF-43EA-8441-542B5F39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210550"/>
            <a:ext cx="1809750" cy="247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over-rail">
            <a:extLst xmlns:a="http://schemas.openxmlformats.org/drawingml/2006/main">
              <a:ext uri="{FF2B5EF4-FFF2-40B4-BE49-F238E27FC236}">
                <a16:creationId xmlns:a16="http://schemas.microsoft.com/office/drawing/2014/main" id="{B3830F10-33A6-4812-B67E-6C52E768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0"/>
            <a:ext cx="3333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ad4ceb3ae46df"/>
          <a:stretch xmlns:a="http://schemas.openxmlformats.org/drawingml/2006/main"/>
        </p:blipFill>
        <p:spPr>
          <a:xfrm xmlns:a="http://schemas.openxmlformats.org/drawingml/2006/main">
            <a:off x="7000875" y="62648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43364278-C54F-4A70-B4AD-81246622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666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7" name="cover-program">
            <a:extLst xmlns:a="http://schemas.openxmlformats.org/drawingml/2006/main">
              <a:ext uri="{FF2B5EF4-FFF2-40B4-BE49-F238E27FC236}">
                <a16:creationId xmlns:a16="http://schemas.microsoft.com/office/drawing/2014/main" id="{59508F22-DA3A-4C6C-B6C7-03C572C5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9715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 · 2026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161B629-D321-4AA6-8A72-93341BCB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971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Laboratorio inicial</a:t>
            </a:r>
          </a:p>
          <a:p xmlns:a="http://schemas.openxmlformats.org/drawingml/2006/main">
            <a:pPr algn="l">
              <a:def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54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de </a:t>
            </a:r>
            <a:r>
              <a:rPr sz="54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Faro Sur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95DF7716-C63C-4FD7-A509-C4AFA457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67375"/>
            <a:ext cx="8810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10" name="cover-question-label">
            <a:extLst xmlns:a="http://schemas.openxmlformats.org/drawingml/2006/main">
              <a:ext uri="{FF2B5EF4-FFF2-40B4-BE49-F238E27FC236}">
                <a16:creationId xmlns:a16="http://schemas.microsoft.com/office/drawing/2014/main" id="{95052DA7-532E-4898-9321-8862989B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PREGUNTA DE APERTURA</a:t>
            </a:r>
          </a:p>
        </p:txBody>
      </p:sp>
      <p:sp>
        <p:nvSpPr>
          <p:cNvPr id="11" name="cover-question">
            <a:extLst xmlns:a="http://schemas.openxmlformats.org/drawingml/2006/main">
              <a:ext uri="{FF2B5EF4-FFF2-40B4-BE49-F238E27FC236}">
                <a16:creationId xmlns:a16="http://schemas.microsoft.com/office/drawing/2014/main" id="{BB2B3B69-195D-4D06-87D1-56FBED0F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49605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5E5E5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5E5E5"/>
                </a:solidFill>
                <a:latin typeface="Telegraf"/>
                <a:ea typeface="Telegraf"/>
                <a:cs typeface="Telegraf"/>
              </a:rPr>
              <a:t>¿Qué controles convierten una tabla en evidencia utilizable?</a:t>
            </a:r>
          </a:p>
        </p:txBody>
      </p:sp>
      <p:sp>
        <p:nvSpPr>
          <p:cNvPr id="12" name="cover-unit">
            <a:extLst xmlns:a="http://schemas.openxmlformats.org/drawingml/2006/main">
              <a:ext uri="{FF2B5EF4-FFF2-40B4-BE49-F238E27FC236}">
                <a16:creationId xmlns:a16="http://schemas.microsoft.com/office/drawing/2014/main" id="{8680EB4C-753F-4BD7-9778-9BC672B1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3" name="cover-unit-text">
            <a:extLst xmlns:a="http://schemas.openxmlformats.org/drawingml/2006/main">
              <a:ext uri="{FF2B5EF4-FFF2-40B4-BE49-F238E27FC236}">
                <a16:creationId xmlns:a16="http://schemas.microsoft.com/office/drawing/2014/main" id="{C80C9267-6206-4095-9C2B-F7C24F9D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32485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3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UNIDAD 1 · LABORATORIO</a:t>
            </a:r>
          </a:p>
        </p:txBody>
      </p:sp>
      <p:sp>
        <p:nvSpPr>
          <p:cNvPr id="14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4F6A0213-519A-41C6-9BDE-67D6BC28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8448675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0D0D0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0D0D0"/>
                </a:solidFill>
                <a:latin typeface="Telegraf"/>
                <a:ea typeface="Telegraf"/>
                <a:cs typeface="Telegraf"/>
              </a:rPr>
              <a:t>Análisis de Datos</a:t>
            </a:r>
          </a:p>
        </p:txBody>
      </p:sp>
    </p:spTree>
    <p:extLst>
      <p:ext uri="{BB962C8B-B14F-4D97-AF65-F5344CB8AC3E}">
        <p14:creationId xmlns:p14="http://schemas.microsoft.com/office/powerpoint/2010/main" val="14739517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61B2C501-23CA-4961-8F71-6C2960A5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C29F923D-F2B8-439F-A7B4-384E378B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4B829948-DE22-4FB0-8AF0-F35D5AC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91640bdbf4d5b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7915CEEA-0946-40B7-B54B-46221EB5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ED00D1C-35F2-421A-9BB3-0046F886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A57B6B01-DE7C-46F9-A6A0-AF5C13D9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844B4DC-F07B-444B-96D7-221C1E89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Una práctica reproducible deja un recorrido verificable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1621402A-A4A0-47F0-99E9-4D3D0C4C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AEDC2BA3-84AA-4C42-A28D-2FFA784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A309F520-1AB7-45E9-8FFB-595C3800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2EB61E7D-7650-4FF8-99FE-302B19DA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67FD31B2-63F4-4CC5-BD56-11D18DC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8EFD92CC-528A-44AC-B985-C57A3982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1F436E3E-D9E5-4B06-AD12-74838B7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LABORATORIO · CONTRATO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4D580CAB-A7B7-4A00-8055-25E9741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D5095481-C0C0-4C9F-A431-B52A6B0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798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36217A98-18CB-412A-91E9-9BC20A6D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249A9A10-836C-47E4-B994-63975D07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10E32223-12BC-41B8-A3D8-2503BC54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A130F3C9-B43C-476A-B9BD-7B12B489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Pregunta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3247EE5C-F610-4DE4-B45F-6E550DBF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Decisión de C01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C1E07C4E-7150-4BFD-AAD8-691834B3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000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32B89E30-E1E7-4E4B-ADB9-4B3A5A7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20D80976-00CD-48B0-934A-9B3D6A47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D8AF94F0-0B66-4E57-944E-EAE8BCF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89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69EEE2F2-6D2D-40E4-96E4-90FC869D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Fuente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54CA5A04-0ED1-45D0-AB82-F4E70B99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Archivo y versión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E549EC0-92BD-4C54-8777-F489EAA2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017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471C6B3A-D408-4F12-BC14-7A16B534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F183BD8F-BB46-4EBC-9C5C-0C93D2E0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381F87DB-FF40-4499-A98C-75E46034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910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AE7AEFFD-A0DF-42E7-81BE-165FC561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Grano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869E8ECF-7304-4F44-9053-2BC3A592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Significado de la fila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B76A7DC2-C454-4576-A6AF-AB433157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9035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337C8A98-84FA-430B-B778-51CA2CC5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88F110C8-E133-412D-86ED-45CD3E34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FFECEE01-BFDF-4240-B1BD-09F0B3DD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3927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24E3C4BF-0E5D-4905-8C5E-C8E68769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Cálculo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ABA9563C-42B2-4C03-94CE-BED97733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Notebook ejecutado</a:t>
            </a:r>
          </a:p>
        </p:txBody>
      </p:sp>
      <p:sp>
        <p:nvSpPr>
          <p:cNvPr id="41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74883947-9586-4579-8A94-242B1076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605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F497D"/>
            </a:solidFill>
            <a:prstDash val="solid"/>
          </a:ln>
        </p:spPr>
      </p:sp>
      <p:sp>
        <p:nvSpPr>
          <p:cNvPr id="42" name="flow-step-4">
            <a:extLst xmlns:a="http://schemas.openxmlformats.org/drawingml/2006/main">
              <a:ext uri="{FF2B5EF4-FFF2-40B4-BE49-F238E27FC236}">
                <a16:creationId xmlns:a16="http://schemas.microsoft.com/office/drawing/2014/main" id="{BF2ECA8B-042E-4062-8391-4BCF2FE2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3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CE04B085-CBE8-41F2-86D3-0661EBB7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4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56C96552-A3B4-4A1D-9F19-A6D783ED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094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8C4D1"/>
            </a:solidFill>
            <a:prstDash val="solid"/>
          </a:ln>
        </p:spPr>
      </p:sp>
      <p:sp>
        <p:nvSpPr>
          <p:cNvPr id="45" name="flow-head-4">
            <a:extLst xmlns:a="http://schemas.openxmlformats.org/drawingml/2006/main">
              <a:ext uri="{FF2B5EF4-FFF2-40B4-BE49-F238E27FC236}">
                <a16:creationId xmlns:a16="http://schemas.microsoft.com/office/drawing/2014/main" id="{AADFC339-8F1A-4951-8F4B-9D5FF45A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Control</a:t>
            </a:r>
          </a:p>
        </p:txBody>
      </p:sp>
      <p:sp>
        <p:nvSpPr>
          <p:cNvPr id="4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9766F298-6343-468D-B8B6-5F4DF7E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Resultado esperado</a:t>
            </a:r>
          </a:p>
        </p:txBody>
      </p:sp>
      <p:sp>
        <p:nvSpPr>
          <p:cNvPr id="47" name="flow-step-5">
            <a:extLst xmlns:a="http://schemas.openxmlformats.org/drawingml/2006/main">
              <a:ext uri="{FF2B5EF4-FFF2-40B4-BE49-F238E27FC236}">
                <a16:creationId xmlns:a16="http://schemas.microsoft.com/office/drawing/2014/main" id="{CEBD845B-65B0-44AB-A0C9-60B5BA02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48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BD17C5EC-CA7B-420D-8AAD-754921E9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06</a:t>
            </a:r>
          </a:p>
        </p:txBody>
      </p:sp>
      <p:sp>
        <p:nvSpPr>
          <p:cNvPr id="49" name="flow-card-rule-5">
            <a:extLst xmlns:a="http://schemas.openxmlformats.org/drawingml/2006/main">
              <a:ext uri="{FF2B5EF4-FFF2-40B4-BE49-F238E27FC236}">
                <a16:creationId xmlns:a16="http://schemas.microsoft.com/office/drawing/2014/main" id="{39405E8D-56C9-49E3-93CB-B2A0AD7C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796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0" name="flow-head-5">
            <a:extLst xmlns:a="http://schemas.openxmlformats.org/drawingml/2006/main">
              <a:ext uri="{FF2B5EF4-FFF2-40B4-BE49-F238E27FC236}">
                <a16:creationId xmlns:a16="http://schemas.microsoft.com/office/drawing/2014/main" id="{F1167944-D8EC-4691-8894-32DFD05B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51" name="flow-body-5">
            <a:extLst xmlns:a="http://schemas.openxmlformats.org/drawingml/2006/main">
              <a:ext uri="{FF2B5EF4-FFF2-40B4-BE49-F238E27FC236}">
                <a16:creationId xmlns:a16="http://schemas.microsoft.com/office/drawing/2014/main" id="{91A0610D-46BE-442D-A306-8FCEEC27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Lectura y límite</a:t>
            </a:r>
          </a:p>
        </p:txBody>
      </p:sp>
      <p:sp>
        <p:nvSpPr>
          <p:cNvPr id="52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60662699-2947-4FAF-AC6E-4246052C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5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FC85F01A-8F15-4E98-B2FC-80E4816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Cada etapa permite reconstruir cómo se obtuvo la conclusión.</a:t>
            </a:r>
          </a:p>
        </p:txBody>
      </p:sp>
    </p:spTree>
    <p:extLst>
      <p:ext uri="{BB962C8B-B14F-4D97-AF65-F5344CB8AC3E}">
        <p14:creationId xmlns:p14="http://schemas.microsoft.com/office/powerpoint/2010/main" val="19829709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144F5EC6-9579-4374-B8A5-CA194420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8379F667-7D91-4BED-B200-8D6E1C8C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8B1C7D62-C7D2-4138-95A0-92280662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56C6B71D-C1F5-4C0D-928E-C6831114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pic>
        <p:nvPicPr>
          <p:cNvPr id="44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8152208d3491a"/>
          <a:srcRect xmlns:a="http://schemas.openxmlformats.org/drawingml/2006/main" l="0" t="17723" r="0" b="177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7144b514d438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368B424-6950-48D4-A2F8-304756FC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901170A9-1AD3-4D77-A247-98D6206B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05691FFC-9043-433A-8AE6-9E6A03BC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7A3D4D78-2A4F-4B62-8A4E-E695ADFF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entorno separa datos, documentación, código y salida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CDDF3AEC-F241-4AAC-B5DC-AE0B1137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C89C2E1F-3335-4E93-8EA0-2E9E4258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688DCA86-AB55-4B31-8223-413733A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1E9352F5-358B-42F6-AEB4-BB1BB97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5E6CCB7-52F0-4C7E-BAA1-9DC0D018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4C6C893-8870-4415-AEF6-7588789B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A7541026-F08D-41D7-913F-AFF2911E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COLAB · COMPONENTES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185733EB-0140-4EB8-9642-BD7EC79A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F6BA6BAD-0550-43A0-9381-2D4027E3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0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94A93299-9484-4B0E-94C8-0404871F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1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1CB64C03-3FF3-455B-91AF-5EFF3DCC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2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7813ADEF-85FD-439C-8046-A521F3F0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Notebook</a:t>
            </a:r>
          </a:p>
        </p:txBody>
      </p:sp>
      <p:sp>
        <p:nvSpPr>
          <p:cNvPr id="23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14CAA16F-C1FA-411E-9994-A7B60429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Texto, código y resultados</a:t>
            </a:r>
          </a:p>
        </p:txBody>
      </p:sp>
      <p:sp>
        <p:nvSpPr>
          <p:cNvPr id="24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80E420BC-2DF8-4982-B495-4245E9F1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5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38132B0E-C5B1-4417-BD40-AFFFADE3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068CC2CC-E39E-40C0-8F6F-31F3549A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7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2DF13A77-054D-4DDE-8BF2-ADFC4C63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CSV</a:t>
            </a:r>
          </a:p>
        </p:txBody>
      </p:sp>
      <p:sp>
        <p:nvSpPr>
          <p:cNvPr id="28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A455108A-5462-4C49-9B15-6C8D90A1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ventas_inicial.csv</a:t>
            </a:r>
          </a:p>
        </p:txBody>
      </p:sp>
      <p:sp>
        <p:nvSpPr>
          <p:cNvPr id="29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5DF7398A-93CB-4299-B92A-ABFFB5BD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0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8D464C20-31F6-4E1D-914D-4E3C96A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1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422819E1-0BE2-426F-AA0E-C9FD26CE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2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4A9896D4-A3BD-4904-8CEB-48B4DDD7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Diccionario</a:t>
            </a:r>
          </a:p>
        </p:txBody>
      </p:sp>
      <p:sp>
        <p:nvSpPr>
          <p:cNvPr id="33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9ABB360E-EDE0-4EED-9C64-844C964D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Significado y tipo de cada campo</a:t>
            </a:r>
          </a:p>
        </p:txBody>
      </p:sp>
      <p:sp>
        <p:nvSpPr>
          <p:cNvPr id="34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FA78D985-EA8D-4144-B123-C258F5F8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5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F39C689B-44E5-426F-B2CE-6543539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6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59E71DB2-CB1A-42D1-8D1E-6861960E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37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A61BE2B7-EB02-41CF-9B9C-94D458DA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38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AEAB3C78-C4B4-4FA8-B2A5-FA1E56E0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Control, interpretación y límite</a:t>
            </a:r>
          </a:p>
        </p:txBody>
      </p:sp>
      <p:sp>
        <p:nvSpPr>
          <p:cNvPr id="39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36B2D52B-93B6-4A5F-A688-EEE1FE48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release y sus componentes permanecen identificados durante toda la práctica.</a:t>
            </a:r>
          </a:p>
        </p:txBody>
      </p:sp>
    </p:spTree>
    <p:extLst>
      <p:ext uri="{BB962C8B-B14F-4D97-AF65-F5344CB8AC3E}">
        <p14:creationId xmlns:p14="http://schemas.microsoft.com/office/powerpoint/2010/main" val="955010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30A5341-AD03-4569-98F8-A4F25610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096BCBA8-73A2-4BB4-8C58-16591F98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51CD5EBC-7CD2-4ED6-8674-89C50DE9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4fad7424a4eea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6625F706-AFF0-4F50-8C31-EF377605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415EE71-2990-4C2D-99F7-5BFF1E44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B85466A3-AD8B-4960-8591-F9E06D1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467E59B7-74F1-44C3-982B-81FF16DA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control de entrada habilita el análisis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568B1AE-EFCA-4BCE-BD98-B712F7D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5005450-AEF2-46EE-A9EC-024F6F56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D87ED941-37D9-4EB4-A893-302B3318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F62B4861-B00D-4FD3-BE6E-708C190B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FDAE5620-684C-4307-B2B3-C56627A4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E9DC400E-5F8B-43E6-8870-B589DBCA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0E81CCF7-59A0-42EF-AA6B-7D105657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PAQUETE A · RELEASE 1.0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E041A4D8-09F6-40D2-9D35-2FCB021A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775E4CB3-5093-4A5A-B753-DCF3B3C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754880"/>
                <a:gridCol w="2852928"/>
                <a:gridCol w="8241792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Esperado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Qué permite detectar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Filas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900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archivo parcial o diferente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Columnas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cambio de esquema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Pedidos distintos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426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alteración de la población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Pedido-producto repetido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duplicación de líneas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Campos requeridos ausentes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carga incompleta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032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F3213AE9-1542-4470-855B-B2C7AB9C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BBC310B5-B5E1-45AC-8501-0340DEA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B5B97AC5-DFC4-4992-94DB-CB7F1FA4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53fffd3d14749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F5C95CA1-D2C9-4E71-AB30-80CB8387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CFF92610-B8FD-456E-975E-1C338D10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E9852DE-73B9-4DF1-B09E-F5ACBD6E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A3CE407C-8173-4E5D-B48D-C69A3F0F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pedido repetido revela el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grano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B19BF5A3-8718-44E6-8FA8-24401EA2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9C945908-0C99-46A7-B796-E27DF684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31EA28A-4683-4D7A-A090-4E430E05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E233365-6191-4AEC-9C33-C294ADC8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D31A8123-AB59-4A56-AEA2-12BBA925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D6C840CC-4705-4C84-8C7F-B91DF1C2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1B821F9-A961-4523-84E4-E179E33A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DATOS · TRES FILAS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83D5EEBD-CE14-4029-85FA-D2A4131A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85DB420A-B259-4EB4-9970-8FE9247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3352800"/>
          </a:xfrm>
          <a:prstGeom xmlns:a="http://schemas.openxmlformats.org/drawingml/2006/main" prst="roundRect">
            <a:avLst>
              <a:gd name="adj" fmla="val 5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7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3067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5388864"/>
                <a:gridCol w="2218944"/>
                <a:gridCol w="4754880"/>
              </a:tblGrid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pedido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producto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lectura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FS-2025-0328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Motor eléctrico 10 HP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producto 1 del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FS-2025-0328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Rodamiento industrial 6208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21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producto 2 del pedido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FS-2025-0134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Bomba centrífuga FS-A120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otro pedido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matrix-callout">
            <a:extLst xmlns:a="http://schemas.openxmlformats.org/drawingml/2006/main">
              <a:ext uri="{FF2B5EF4-FFF2-40B4-BE49-F238E27FC236}">
                <a16:creationId xmlns:a16="http://schemas.microsoft.com/office/drawing/2014/main" id="{7C8CE7AC-AD00-4BB9-B6FC-AF98CF1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8001000"/>
            <a:ext cx="1504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Grano: una fila representa un producto dentro de un pedido.</a:t>
            </a:r>
          </a:p>
        </p:txBody>
      </p:sp>
    </p:spTree>
    <p:extLst>
      <p:ext uri="{BB962C8B-B14F-4D97-AF65-F5344CB8AC3E}">
        <p14:creationId xmlns:p14="http://schemas.microsoft.com/office/powerpoint/2010/main" val="19345699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5CE9B744-946F-4E10-B361-8FA04125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6A011CFC-C3B3-442C-9DCC-8B1498AE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AD308D3E-9ED5-45F4-94B3-7C52AD16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a84cdd2d54847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98DBFC74-8379-4126-AB4A-970FEBB1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155D3179-335B-4AC0-9C22-18855616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EA10BABD-FE41-46B7-A0FC-6F905D97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9B2E6935-B54F-472A-8133-15041AE9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Cada campo cumple una función analítica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59409C50-0FE4-446D-AC39-76B83EE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DF478695-049D-431C-A1FF-47C18F90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134C791B-A842-4E69-8FB3-0A0B3E10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CC9BD98C-6F98-4EB1-9D1D-142EA655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80EEA01F-A474-4987-A0CC-D52D0157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D163BE5D-01D2-4D36-88DF-7C6FD575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F940F2D4-21FA-4C59-B0F7-AAD1C513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DICCIONARIO · CLASIFICACIÓN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2B8592D4-183F-45F4-8EED-59860DCC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F442D76C-254F-40CF-857E-2E74B6DD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6656832"/>
                <a:gridCol w="5705856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Clase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Función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distinguir una entidad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pedido · cliente_id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Dimensión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segmentar o describir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familia · región · canal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ubicar el hecho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fecha_pedido · fecha_entrega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Medida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cuantificar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cantidad · precio · costo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representar condición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estado_entrega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451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E6602895-9B13-41A7-AB75-DE184F71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38BEF761-B0FD-46E0-BC6E-F7075F48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519BA1BB-6BDD-4EA7-A943-62635FC3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7c41ec7a74afb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0C834019-4155-4872-8FD1-E6A9DB6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8B46C036-D01D-4A68-BCC3-E6EE79FA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96720FF4-24A0-465B-81B2-756994D6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E2E0B796-61F3-4C96-B840-46BBC612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La demostración recorre el circuito completo una vez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7AD3CB6-EAF6-49CE-AA1B-D2C139A4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FA456111-15A9-42C2-AD8A-3345A8EC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C0563989-3EB7-4CC4-B10A-C7430BF5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7198304D-E702-44EA-A62A-5410E5FB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3E2FE2BC-FBE6-4B5D-9E1F-2118CA1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CCAB3E50-AD6C-4925-96BB-3D7AD281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E8FD1B0C-87E2-42BA-9392-7A67CDC6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DEMOSTRACIÓN · YO HAGO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AE1B631C-ACC0-44AD-9D36-E2FD64B2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2FB2E7D2-7C04-4D01-AE68-D703E896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798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18" name="flow-step-0">
            <a:extLst xmlns:a="http://schemas.openxmlformats.org/drawingml/2006/main">
              <a:ext uri="{FF2B5EF4-FFF2-40B4-BE49-F238E27FC236}">
                <a16:creationId xmlns:a16="http://schemas.microsoft.com/office/drawing/2014/main" id="{DE4297F9-9696-4373-A94D-C4634FBB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19" name="flow-index-0">
            <a:extLst xmlns:a="http://schemas.openxmlformats.org/drawingml/2006/main">
              <a:ext uri="{FF2B5EF4-FFF2-40B4-BE49-F238E27FC236}">
                <a16:creationId xmlns:a16="http://schemas.microsoft.com/office/drawing/2014/main" id="{E6A40416-3EF6-45B6-9823-6BA95AD6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20" name="flow-card-rule-0">
            <a:extLst xmlns:a="http://schemas.openxmlformats.org/drawingml/2006/main">
              <a:ext uri="{FF2B5EF4-FFF2-40B4-BE49-F238E27FC236}">
                <a16:creationId xmlns:a16="http://schemas.microsoft.com/office/drawing/2014/main" id="{B48CDC6F-4B37-4BBC-8D2F-CF2944DD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287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1" name="flow-head-0">
            <a:extLst xmlns:a="http://schemas.openxmlformats.org/drawingml/2006/main">
              <a:ext uri="{FF2B5EF4-FFF2-40B4-BE49-F238E27FC236}">
                <a16:creationId xmlns:a16="http://schemas.microsoft.com/office/drawing/2014/main" id="{03141143-C779-4F07-A113-232DCA6C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Leer</a:t>
            </a:r>
          </a:p>
        </p:txBody>
      </p:sp>
      <p:sp>
        <p:nvSpPr>
          <p:cNvPr id="22" name="flow-body-0">
            <a:extLst xmlns:a="http://schemas.openxmlformats.org/drawingml/2006/main">
              <a:ext uri="{FF2B5EF4-FFF2-40B4-BE49-F238E27FC236}">
                <a16:creationId xmlns:a16="http://schemas.microsoft.com/office/drawing/2014/main" id="{47656CB5-5C70-4775-8F85-0ABBCD47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Diccionario</a:t>
            </a:r>
          </a:p>
        </p:txBody>
      </p:sp>
      <p:sp>
        <p:nvSpPr>
          <p:cNvPr id="23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57CD0428-178A-499E-9507-DE0F3F43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35000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24" name="flow-step-1">
            <a:extLst xmlns:a="http://schemas.openxmlformats.org/drawingml/2006/main">
              <a:ext uri="{FF2B5EF4-FFF2-40B4-BE49-F238E27FC236}">
                <a16:creationId xmlns:a16="http://schemas.microsoft.com/office/drawing/2014/main" id="{0E59901D-E632-47D0-95A9-BCA722E6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4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25" name="flow-index-1">
            <a:extLst xmlns:a="http://schemas.openxmlformats.org/drawingml/2006/main">
              <a:ext uri="{FF2B5EF4-FFF2-40B4-BE49-F238E27FC236}">
                <a16:creationId xmlns:a16="http://schemas.microsoft.com/office/drawing/2014/main" id="{6AF3E0A2-08BA-4243-86A4-81D322EC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6" name="flow-card-rule-1">
            <a:extLst xmlns:a="http://schemas.openxmlformats.org/drawingml/2006/main">
              <a:ext uri="{FF2B5EF4-FFF2-40B4-BE49-F238E27FC236}">
                <a16:creationId xmlns:a16="http://schemas.microsoft.com/office/drawing/2014/main" id="{C54B8EF5-BE5D-4159-887E-55E8FF3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989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27" name="flow-head-1">
            <a:extLst xmlns:a="http://schemas.openxmlformats.org/drawingml/2006/main">
              <a:ext uri="{FF2B5EF4-FFF2-40B4-BE49-F238E27FC236}">
                <a16:creationId xmlns:a16="http://schemas.microsoft.com/office/drawing/2014/main" id="{6072D7D0-7640-4396-8F89-31A72DA9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Cargar</a:t>
            </a:r>
          </a:p>
        </p:txBody>
      </p:sp>
      <p:sp>
        <p:nvSpPr>
          <p:cNvPr id="28" name="flow-body-1">
            <a:extLst xmlns:a="http://schemas.openxmlformats.org/drawingml/2006/main">
              <a:ext uri="{FF2B5EF4-FFF2-40B4-BE49-F238E27FC236}">
                <a16:creationId xmlns:a16="http://schemas.microsoft.com/office/drawing/2014/main" id="{E2D5E81E-C13C-4656-A7BE-45A07E43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9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CSV</a:t>
            </a:r>
          </a:p>
        </p:txBody>
      </p:sp>
      <p:sp>
        <p:nvSpPr>
          <p:cNvPr id="29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8E8E7BFB-B702-4E36-A262-B50AA27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017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0" name="flow-step-2">
            <a:extLst xmlns:a="http://schemas.openxmlformats.org/drawingml/2006/main">
              <a:ext uri="{FF2B5EF4-FFF2-40B4-BE49-F238E27FC236}">
                <a16:creationId xmlns:a16="http://schemas.microsoft.com/office/drawing/2014/main" id="{C2AAA939-6F0C-4BA7-888D-5A5FC324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860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1" name="flow-index-2">
            <a:extLst xmlns:a="http://schemas.openxmlformats.org/drawingml/2006/main">
              <a:ext uri="{FF2B5EF4-FFF2-40B4-BE49-F238E27FC236}">
                <a16:creationId xmlns:a16="http://schemas.microsoft.com/office/drawing/2014/main" id="{7B999A47-1411-47DB-8E02-2FADF09C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05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32" name="flow-card-rule-2">
            <a:extLst xmlns:a="http://schemas.openxmlformats.org/drawingml/2006/main">
              <a:ext uri="{FF2B5EF4-FFF2-40B4-BE49-F238E27FC236}">
                <a16:creationId xmlns:a16="http://schemas.microsoft.com/office/drawing/2014/main" id="{2FFDCE1A-FEF4-4BFE-99A5-F40E51EA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910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3" name="flow-head-2">
            <a:extLst xmlns:a="http://schemas.openxmlformats.org/drawingml/2006/main">
              <a:ext uri="{FF2B5EF4-FFF2-40B4-BE49-F238E27FC236}">
                <a16:creationId xmlns:a16="http://schemas.microsoft.com/office/drawing/2014/main" id="{92749782-8321-4312-AE0B-DCCE747F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Validar</a:t>
            </a:r>
          </a:p>
        </p:txBody>
      </p:sp>
      <p:sp>
        <p:nvSpPr>
          <p:cNvPr id="34" name="flow-body-2">
            <a:extLst xmlns:a="http://schemas.openxmlformats.org/drawingml/2006/main">
              <a:ext uri="{FF2B5EF4-FFF2-40B4-BE49-F238E27FC236}">
                <a16:creationId xmlns:a16="http://schemas.microsoft.com/office/drawing/2014/main" id="{C6651947-A3BE-4D55-839C-573FA589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10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900 × 15</a:t>
            </a:r>
          </a:p>
        </p:txBody>
      </p:sp>
      <p:sp>
        <p:nvSpPr>
          <p:cNvPr id="3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0735E84A-BE84-425D-AB07-CEF537DD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690350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3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3D4FBA7A-697B-4D98-8A0F-8A61E54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37" name="flow-index-3">
            <a:extLst xmlns:a="http://schemas.openxmlformats.org/drawingml/2006/main">
              <a:ext uri="{FF2B5EF4-FFF2-40B4-BE49-F238E27FC236}">
                <a16:creationId xmlns:a16="http://schemas.microsoft.com/office/drawing/2014/main" id="{1C9781BD-6E98-4409-835A-C9734A32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8" name="flow-card-rule-3">
            <a:extLst xmlns:a="http://schemas.openxmlformats.org/drawingml/2006/main">
              <a:ext uri="{FF2B5EF4-FFF2-40B4-BE49-F238E27FC236}">
                <a16:creationId xmlns:a16="http://schemas.microsoft.com/office/drawing/2014/main" id="{81665023-E13A-43DF-A5EC-58D4103F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3927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39" name="flow-head-3">
            <a:extLst xmlns:a="http://schemas.openxmlformats.org/drawingml/2006/main">
              <a:ext uri="{FF2B5EF4-FFF2-40B4-BE49-F238E27FC236}">
                <a16:creationId xmlns:a16="http://schemas.microsoft.com/office/drawing/2014/main" id="{AD1A6E76-0173-4A48-841D-D27DDE2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Ejecutar</a:t>
            </a:r>
          </a:p>
        </p:txBody>
      </p:sp>
      <p:sp>
        <p:nvSpPr>
          <p:cNvPr id="4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BB9860A1-3E31-4955-8AF2-73F2FFD9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Métricas</a:t>
            </a:r>
          </a:p>
        </p:txBody>
      </p:sp>
      <p:sp>
        <p:nvSpPr>
          <p:cNvPr id="41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7B0BD644-A49D-4E5E-B0DE-0F0E6E42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60525" y="4933950"/>
            <a:ext cx="20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FFFF33"/>
            </a:solidFill>
            <a:prstDash val="solid"/>
          </a:ln>
        </p:spPr>
      </p:sp>
      <p:sp>
        <p:nvSpPr>
          <p:cNvPr id="42" name="flow-step-4">
            <a:extLst xmlns:a="http://schemas.openxmlformats.org/drawingml/2006/main">
              <a:ext uri="{FF2B5EF4-FFF2-40B4-BE49-F238E27FC236}">
                <a16:creationId xmlns:a16="http://schemas.microsoft.com/office/drawing/2014/main" id="{E4B22884-E806-4764-AD03-27036251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8950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3" name="flow-index-4">
            <a:extLst xmlns:a="http://schemas.openxmlformats.org/drawingml/2006/main">
              <a:ext uri="{FF2B5EF4-FFF2-40B4-BE49-F238E27FC236}">
                <a16:creationId xmlns:a16="http://schemas.microsoft.com/office/drawing/2014/main" id="{DE29030D-8DCC-491E-8286-FF6B2C1E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44" name="flow-card-rule-4">
            <a:extLst xmlns:a="http://schemas.openxmlformats.org/drawingml/2006/main">
              <a:ext uri="{FF2B5EF4-FFF2-40B4-BE49-F238E27FC236}">
                <a16:creationId xmlns:a16="http://schemas.microsoft.com/office/drawing/2014/main" id="{8922850E-3EA1-4F32-99C6-713768D4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09450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66666"/>
            </a:solidFill>
            <a:prstDash val="solid"/>
          </a:ln>
        </p:spPr>
      </p:sp>
      <p:sp>
        <p:nvSpPr>
          <p:cNvPr id="45" name="flow-head-4">
            <a:extLst xmlns:a="http://schemas.openxmlformats.org/drawingml/2006/main">
              <a:ext uri="{FF2B5EF4-FFF2-40B4-BE49-F238E27FC236}">
                <a16:creationId xmlns:a16="http://schemas.microsoft.com/office/drawing/2014/main" id="{B7B3AE1A-10B7-4445-876A-A6B66149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Comparar</a:t>
            </a:r>
          </a:p>
        </p:txBody>
      </p:sp>
      <p:sp>
        <p:nvSpPr>
          <p:cNvPr id="46" name="flow-body-4">
            <a:extLst xmlns:a="http://schemas.openxmlformats.org/drawingml/2006/main">
              <a:ext uri="{FF2B5EF4-FFF2-40B4-BE49-F238E27FC236}">
                <a16:creationId xmlns:a16="http://schemas.microsoft.com/office/drawing/2014/main" id="{793F7000-2E09-44BA-AAE0-B2B0AC34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9450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Control</a:t>
            </a:r>
          </a:p>
        </p:txBody>
      </p:sp>
      <p:sp>
        <p:nvSpPr>
          <p:cNvPr id="47" name="flow-step-5">
            <a:extLst xmlns:a="http://schemas.openxmlformats.org/drawingml/2006/main">
              <a:ext uri="{FF2B5EF4-FFF2-40B4-BE49-F238E27FC236}">
                <a16:creationId xmlns:a16="http://schemas.microsoft.com/office/drawing/2014/main" id="{948E0273-3749-484D-A5ED-F235D535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9125" y="3714750"/>
            <a:ext cx="2460625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48" name="flow-index-5">
            <a:extLst xmlns:a="http://schemas.openxmlformats.org/drawingml/2006/main">
              <a:ext uri="{FF2B5EF4-FFF2-40B4-BE49-F238E27FC236}">
                <a16:creationId xmlns:a16="http://schemas.microsoft.com/office/drawing/2014/main" id="{2AC8B86E-35BF-43C0-9A62-507A82E2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575" y="3810000"/>
            <a:ext cx="2117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8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06</a:t>
            </a:r>
          </a:p>
        </p:txBody>
      </p:sp>
      <p:sp>
        <p:nvSpPr>
          <p:cNvPr id="49" name="flow-card-rule-5">
            <a:extLst xmlns:a="http://schemas.openxmlformats.org/drawingml/2006/main">
              <a:ext uri="{FF2B5EF4-FFF2-40B4-BE49-F238E27FC236}">
                <a16:creationId xmlns:a16="http://schemas.microsoft.com/office/drawing/2014/main" id="{42011F10-D602-45CC-84FE-FAC7A8BF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779625" y="4495800"/>
            <a:ext cx="207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0" name="flow-head-5">
            <a:extLst xmlns:a="http://schemas.openxmlformats.org/drawingml/2006/main">
              <a:ext uri="{FF2B5EF4-FFF2-40B4-BE49-F238E27FC236}">
                <a16:creationId xmlns:a16="http://schemas.microsoft.com/office/drawing/2014/main" id="{8612347B-57B2-4A92-B896-838432F1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4610100"/>
            <a:ext cx="207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65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Interpretar</a:t>
            </a:r>
          </a:p>
        </p:txBody>
      </p:sp>
      <p:sp>
        <p:nvSpPr>
          <p:cNvPr id="51" name="flow-body-5">
            <a:extLst xmlns:a="http://schemas.openxmlformats.org/drawingml/2006/main">
              <a:ext uri="{FF2B5EF4-FFF2-40B4-BE49-F238E27FC236}">
                <a16:creationId xmlns:a16="http://schemas.microsoft.com/office/drawing/2014/main" id="{51C4E585-B98A-42B2-A46E-FA7AB3D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9625" y="5267325"/>
            <a:ext cx="2079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Decisión y límite</a:t>
            </a:r>
          </a:p>
        </p:txBody>
      </p:sp>
      <p:sp>
        <p:nvSpPr>
          <p:cNvPr id="52" name="flow-callout-panel">
            <a:extLst xmlns:a="http://schemas.openxmlformats.org/drawingml/2006/main">
              <a:ext uri="{FF2B5EF4-FFF2-40B4-BE49-F238E27FC236}">
                <a16:creationId xmlns:a16="http://schemas.microsoft.com/office/drawing/2014/main" id="{38EE7196-ECB7-4294-89D5-24A9F639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2001500" cy="9144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55555"/>
            </a:solidFill>
            <a:prstDash val="solid"/>
          </a:ln>
        </p:spPr>
      </p:sp>
      <p:sp>
        <p:nvSpPr>
          <p:cNvPr id="53" name="flow-callout">
            <a:extLst xmlns:a="http://schemas.openxmlformats.org/drawingml/2006/main">
              <a:ext uri="{FF2B5EF4-FFF2-40B4-BE49-F238E27FC236}">
                <a16:creationId xmlns:a16="http://schemas.microsoft.com/office/drawing/2014/main" id="{100349E3-08A2-4CF5-940B-E1C13A6C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39000"/>
            <a:ext cx="1123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725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Después, cada equipo reproduce el recorrido sobre su copia.</a:t>
            </a:r>
          </a:p>
        </p:txBody>
      </p:sp>
    </p:spTree>
    <p:extLst>
      <p:ext uri="{BB962C8B-B14F-4D97-AF65-F5344CB8AC3E}">
        <p14:creationId xmlns:p14="http://schemas.microsoft.com/office/powerpoint/2010/main" val="7687925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905860E5-E5D4-435B-A87B-D4357BC7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41A45268-16F3-4931-906F-EAAFC1E5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D8D9CC9A-E250-4124-896B-02318C1C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visual-feature-frame">
            <a:extLst xmlns:a="http://schemas.openxmlformats.org/drawingml/2006/main">
              <a:ext uri="{FF2B5EF4-FFF2-40B4-BE49-F238E27FC236}">
                <a16:creationId xmlns:a16="http://schemas.microsoft.com/office/drawing/2014/main" id="{CF60C56A-B85E-44CE-8784-AF4E6B8E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428625"/>
            <a:ext cx="25336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35" name="visual-featur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ca3c10b004964"/>
          <a:srcRect xmlns:a="http://schemas.openxmlformats.org/drawingml/2006/main" l="0" t="17703" r="0" b="17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06700" y="523875"/>
            <a:ext cx="2343150" cy="10096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51e1945054f1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7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F5AA5F30-1E28-4B1B-93E1-D32B8644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8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AE9F0265-7C0A-44E0-8D45-F26683DE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9" name="visual-year">
            <a:extLst xmlns:a="http://schemas.openxmlformats.org/drawingml/2006/main">
              <a:ext uri="{FF2B5EF4-FFF2-40B4-BE49-F238E27FC236}">
                <a16:creationId xmlns:a16="http://schemas.microsoft.com/office/drawing/2014/main" id="{4CB8C8A7-087E-4DE5-9005-43281AF0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10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34674627-1D74-44D1-ACCB-D3B7C202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Cambiar la dimensión modifica la pregunta</a:t>
            </a:r>
          </a:p>
        </p:txBody>
      </p:sp>
      <p:sp>
        <p:nvSpPr>
          <p:cNvPr id="11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FBADA383-3858-420E-B4FA-F3F2DFAD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2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C5A12B94-5E0A-445E-9C40-120D230C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3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2C18FE25-07DB-4571-8AD3-4D407418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E033800F-4AD9-4C6C-8F3C-9AB46CA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1F2088D5-2565-49A1-A3C3-8BB917E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6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61B34F6-1623-4DAB-BEB7-7FEF0546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7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753239C-7176-4194-8C59-37F428CD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ADAPTACIÓN · UNA VARIABLE</a:t>
            </a:r>
          </a:p>
        </p:txBody>
      </p:sp>
      <p:sp>
        <p:nvSpPr>
          <p:cNvPr id="18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5F345D37-61E1-4BCE-88A3-1F605C4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9" name="compare-stage">
            <a:extLst xmlns:a="http://schemas.openxmlformats.org/drawingml/2006/main">
              <a:ext uri="{FF2B5EF4-FFF2-40B4-BE49-F238E27FC236}">
                <a16:creationId xmlns:a16="http://schemas.microsoft.com/office/drawing/2014/main" id="{1AC998B7-E5DD-4EE4-ACAD-8D2EEFA3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5849600" cy="3524250"/>
          </a:xfrm>
          <a:prstGeom xmlns:a="http://schemas.openxmlformats.org/drawingml/2006/main" prst="roundRect">
            <a:avLst>
              <a:gd name="adj" fmla="val 5946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11430">
            <a:solidFill>
              <a:srgbClr val="4F4F4F"/>
            </a:solidFill>
            <a:prstDash val="solid"/>
          </a:ln>
        </p:spPr>
      </p:sp>
      <p:sp>
        <p:nvSpPr>
          <p:cNvPr id="20" name="compare-divider">
            <a:extLst xmlns:a="http://schemas.openxmlformats.org/drawingml/2006/main">
              <a:ext uri="{FF2B5EF4-FFF2-40B4-BE49-F238E27FC236}">
                <a16:creationId xmlns:a16="http://schemas.microsoft.com/office/drawing/2014/main" id="{273C7768-0789-4DFA-85AA-E4B306C6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44000" y="369570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33"/>
            </a:solidFill>
            <a:prstDash val="solid"/>
          </a:ln>
        </p:spPr>
      </p:sp>
      <p:sp>
        <p:nvSpPr>
          <p:cNvPr id="21" name="compare-metric-0">
            <a:extLst xmlns:a="http://schemas.openxmlformats.org/drawingml/2006/main">
              <a:ext uri="{FF2B5EF4-FFF2-40B4-BE49-F238E27FC236}">
                <a16:creationId xmlns:a16="http://schemas.microsoft.com/office/drawing/2014/main" id="{5E90B713-3FCB-4338-88DA-B3278E90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695700"/>
            <a:ext cx="233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9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mezcla</a:t>
            </a:r>
          </a:p>
        </p:txBody>
      </p:sp>
      <p:sp>
        <p:nvSpPr>
          <p:cNvPr id="22" name="compare-head-0">
            <a:extLst xmlns:a="http://schemas.openxmlformats.org/drawingml/2006/main">
              <a:ext uri="{FF2B5EF4-FFF2-40B4-BE49-F238E27FC236}">
                <a16:creationId xmlns:a16="http://schemas.microsoft.com/office/drawing/2014/main" id="{3BA5B9FF-6EB9-4506-B4E5-71FBF1D5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familia</a:t>
            </a:r>
          </a:p>
        </p:txBody>
      </p:sp>
      <p:sp>
        <p:nvSpPr>
          <p:cNvPr id="23" name="compare-rule-0">
            <a:extLst xmlns:a="http://schemas.openxmlformats.org/drawingml/2006/main">
              <a:ext uri="{FF2B5EF4-FFF2-40B4-BE49-F238E27FC236}">
                <a16:creationId xmlns:a16="http://schemas.microsoft.com/office/drawing/2014/main" id="{5388A647-D6E1-41A4-9535-7E4B5E2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4" name="compare-body-0">
            <a:extLst xmlns:a="http://schemas.openxmlformats.org/drawingml/2006/main">
              <a:ext uri="{FF2B5EF4-FFF2-40B4-BE49-F238E27FC236}">
                <a16:creationId xmlns:a16="http://schemas.microsoft.com/office/drawing/2014/main" id="{F039D4AA-C8FA-4A23-A434-2CE9E3A4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Compara venta y margen entre líneas de producto.</a:t>
            </a:r>
          </a:p>
        </p:txBody>
      </p:sp>
      <p:sp>
        <p:nvSpPr>
          <p:cNvPr id="25" name="compare-metric-1">
            <a:extLst xmlns:a="http://schemas.openxmlformats.org/drawingml/2006/main">
              <a:ext uri="{FF2B5EF4-FFF2-40B4-BE49-F238E27FC236}">
                <a16:creationId xmlns:a16="http://schemas.microsoft.com/office/drawing/2014/main" id="{EFDFF37C-19CC-41BA-BBD2-18CE9698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695700"/>
            <a:ext cx="342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2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contexto</a:t>
            </a:r>
          </a:p>
        </p:txBody>
      </p:sp>
      <p:sp>
        <p:nvSpPr>
          <p:cNvPr id="26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65AC4513-218D-43A7-988E-FD4C4378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85762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232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región</a:t>
            </a:r>
          </a:p>
        </p:txBody>
      </p:sp>
      <p:sp>
        <p:nvSpPr>
          <p:cNvPr id="27" name="compare-rule-1">
            <a:extLst xmlns:a="http://schemas.openxmlformats.org/drawingml/2006/main">
              <a:ext uri="{FF2B5EF4-FFF2-40B4-BE49-F238E27FC236}">
                <a16:creationId xmlns:a16="http://schemas.microsoft.com/office/drawing/2014/main" id="{4D1301D0-A575-47E4-B00D-A8FD2965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82175" y="4953000"/>
            <a:ext cx="6410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55555"/>
            </a:solidFill>
            <a:prstDash val="solid"/>
          </a:ln>
        </p:spPr>
      </p:sp>
      <p:sp>
        <p:nvSpPr>
          <p:cNvPr id="28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7B4C562E-8A57-4C46-BEBC-0B4D9F79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191125"/>
            <a:ext cx="642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8D8"/>
                </a:solidFill>
                <a:latin typeface="Telegraf"/>
                <a:ea typeface="Telegraf"/>
                <a:cs typeface="Telegraf"/>
              </a:defRPr>
            </a:pPr>
            <a:r>
              <a:rPr sz="1800" b="0">
                <a:solidFill>
                  <a:srgbClr val="D8D8D8"/>
                </a:solidFill>
                <a:latin typeface="Telegraf"/>
                <a:ea typeface="Telegraf"/>
                <a:cs typeface="Telegraf"/>
              </a:rPr>
              <a:t>Compara desempeño comercial y cumplimiento territorial.</a:t>
            </a:r>
          </a:p>
        </p:txBody>
      </p:sp>
      <p:sp>
        <p:nvSpPr>
          <p:cNvPr id="29" name="compare-bridge">
            <a:extLst xmlns:a="http://schemas.openxmlformats.org/drawingml/2006/main">
              <a:ext uri="{FF2B5EF4-FFF2-40B4-BE49-F238E27FC236}">
                <a16:creationId xmlns:a16="http://schemas.microsoft.com/office/drawing/2014/main" id="{FFFDEE9E-D87E-4BCE-B3EA-F4418EC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353300"/>
            <a:ext cx="12287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30" name="compare-bridge-text">
            <a:extLst xmlns:a="http://schemas.openxmlformats.org/drawingml/2006/main">
              <a:ext uri="{FF2B5EF4-FFF2-40B4-BE49-F238E27FC236}">
                <a16:creationId xmlns:a16="http://schemas.microsoft.com/office/drawing/2014/main" id="{EF7D881F-043E-486F-AB47-23F89B5A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505700"/>
            <a:ext cx="1133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DIMENSION organiza la salida; la fórmula y los controles permanecen estables.</a:t>
            </a:r>
          </a:p>
        </p:txBody>
      </p:sp>
    </p:spTree>
    <p:extLst>
      <p:ext uri="{BB962C8B-B14F-4D97-AF65-F5344CB8AC3E}">
        <p14:creationId xmlns:p14="http://schemas.microsoft.com/office/powerpoint/2010/main" val="14504534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ADE00121-1F30-44C0-8472-762EDFC5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79591E89-CF1C-4B80-8C6E-45A616EB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7052841B-4DEC-42A3-BC75-73D3A346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ae9704ba74bb2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A3B0F5B8-E927-4204-9BD2-3DD1663E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8C75673C-1F51-460A-BC0B-48380E4D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D2E045C8-36A1-4B03-A9CC-F8E750B1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F27199AB-0FA9-40FA-85A9-8B2FD337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El canvas convierte el resultado en una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decisión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condicionada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B0060EDE-F5BD-4EDF-8544-1381EDA9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312B100E-CD54-49A6-9864-FF15CAAB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F7937F24-20F8-42A1-840C-AED7EA06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02FCA0A8-6A51-4948-B416-DB54BD49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EBDFB102-13F8-4832-9D9A-1C0B9537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FC7101A1-EB19-40E2-AE5A-E1DBF390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50BC1A52-1ED7-4AC0-A9E4-0F71CADA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TRANSFERENCIA · EJEMPLO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72663354-B63A-45CE-8E67-3592DE67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A0447BAA-78B8-41F2-974E-84C539A6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263217DB-073B-4CF0-8BD0-F0FAE4ED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64748D12-11FF-4CEE-9922-A71CAC96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971B1357-7573-4AE6-B953-4074BFA1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Observación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513921AC-19D7-4031-8BFC-D2E16D7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Patagonia presenta menor cumplimiento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77124B28-7CE8-43C8-A233-974A7304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19625077-C4F2-40C7-9297-CF8BCAC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DB47EC08-273A-44B2-92ED-EBD5E54F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2141F276-1373-49C2-9169-B240C0A3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Audiencia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8F8CB8DA-C643-4D7C-A432-03E3D242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Gerencia de Operaciones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825E653E-2E2E-40F6-91D8-5DB0701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700" y="3476625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DF3C2AEA-5794-491E-97FD-87228577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8AFEE643-EB66-4E9E-9385-110EC9E1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41200" y="4238625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7A2D5B0D-6149-4A4A-85CD-8C5422F8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4352925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Decisión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28A6F782-6CEF-4FB3-A605-6428AF4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200" y="5000625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Revisar promesa o capacidad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6DAD1299-1A1D-4FFA-9AB1-D7BE0755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929D2957-FCB4-4D63-A3DF-DB985B80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04494F85-DC09-46A8-9925-5779ED92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4D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88874B95-9274-4364-B072-5346FEAD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KPI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BFDDE568-A57F-44AA-8A55-3AB8D92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Pedidos a tiempo / entregados</a:t>
            </a:r>
          </a:p>
        </p:txBody>
      </p:sp>
      <p:sp>
        <p:nvSpPr>
          <p:cNvPr id="37" name="worked-box-4">
            <a:extLst xmlns:a="http://schemas.openxmlformats.org/drawingml/2006/main">
              <a:ext uri="{FF2B5EF4-FFF2-40B4-BE49-F238E27FC236}">
                <a16:creationId xmlns:a16="http://schemas.microsoft.com/office/drawing/2014/main" id="{420F4B01-EAFB-42AD-8A4D-349B7251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950" y="5772150"/>
            <a:ext cx="5118100" cy="2047875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sp>
        <p:nvSpPr>
          <p:cNvPr id="38" name="worked-number-4">
            <a:extLst xmlns:a="http://schemas.openxmlformats.org/drawingml/2006/main">
              <a:ext uri="{FF2B5EF4-FFF2-40B4-BE49-F238E27FC236}">
                <a16:creationId xmlns:a16="http://schemas.microsoft.com/office/drawing/2014/main" id="{C916470D-6F9B-4E25-A6CD-8CCDC9F2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59055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05</a:t>
            </a:r>
          </a:p>
        </p:txBody>
      </p:sp>
      <p:sp>
        <p:nvSpPr>
          <p:cNvPr id="39" name="worked-rule-4">
            <a:extLst xmlns:a="http://schemas.openxmlformats.org/drawingml/2006/main">
              <a:ext uri="{FF2B5EF4-FFF2-40B4-BE49-F238E27FC236}">
                <a16:creationId xmlns:a16="http://schemas.microsoft.com/office/drawing/2014/main" id="{8D646D97-76A8-4F73-8AF0-D7936553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75450" y="6534150"/>
            <a:ext cx="473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40" name="worked-head-4">
            <a:extLst xmlns:a="http://schemas.openxmlformats.org/drawingml/2006/main">
              <a:ext uri="{FF2B5EF4-FFF2-40B4-BE49-F238E27FC236}">
                <a16:creationId xmlns:a16="http://schemas.microsoft.com/office/drawing/2014/main" id="{BD348EE4-C1C9-49B9-BD93-ED3725FF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6648450"/>
            <a:ext cx="4737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Dato faltante</a:t>
            </a:r>
          </a:p>
        </p:txBody>
      </p:sp>
      <p:sp>
        <p:nvSpPr>
          <p:cNvPr id="41" name="worked-body-4">
            <a:extLst xmlns:a="http://schemas.openxmlformats.org/drawingml/2006/main">
              <a:ext uri="{FF2B5EF4-FFF2-40B4-BE49-F238E27FC236}">
                <a16:creationId xmlns:a16="http://schemas.microsoft.com/office/drawing/2014/main" id="{7D93A39E-2827-46F6-87B0-23259E3B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450" y="7296150"/>
            <a:ext cx="473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Depósito y transportista</a:t>
            </a:r>
          </a:p>
        </p:txBody>
      </p:sp>
      <p:sp>
        <p:nvSpPr>
          <p:cNvPr id="42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711883E2-0E75-424B-B66C-520594F1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9625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497D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1F497D"/>
                </a:solidFill>
                <a:latin typeface="Telegraf"/>
                <a:ea typeface="Telegraf"/>
                <a:cs typeface="Telegraf"/>
              </a:rPr>
              <a:t>El límite acompaña la recomendación y define la próxima fuente.</a:t>
            </a:r>
          </a:p>
        </p:txBody>
      </p:sp>
    </p:spTree>
    <p:extLst>
      <p:ext uri="{BB962C8B-B14F-4D97-AF65-F5344CB8AC3E}">
        <p14:creationId xmlns:p14="http://schemas.microsoft.com/office/powerpoint/2010/main" val="334811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visual-dark-rail">
            <a:extLst xmlns:a="http://schemas.openxmlformats.org/drawingml/2006/main">
              <a:ext uri="{FF2B5EF4-FFF2-40B4-BE49-F238E27FC236}">
                <a16:creationId xmlns:a16="http://schemas.microsoft.com/office/drawing/2014/main" id="{939E6787-C49B-4C4E-9677-7D76DA9E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0"/>
            <a:ext cx="30480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sp>
        <p:nvSpPr>
          <p:cNvPr id="2" name="visual-dark-rail-2">
            <a:extLst xmlns:a="http://schemas.openxmlformats.org/drawingml/2006/main">
              <a:ext uri="{FF2B5EF4-FFF2-40B4-BE49-F238E27FC236}">
                <a16:creationId xmlns:a16="http://schemas.microsoft.com/office/drawing/2014/main" id="{C4432461-76B2-4C00-B1FF-B56703C9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0"/>
            <a:ext cx="171450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173A61"/>
          </a:solidFill>
          <a:ln xmlns:a="http://schemas.openxmlformats.org/drawingml/2006/main" w="0">
            <a:noFill/>
          </a:ln>
        </p:spPr>
      </p:sp>
      <p:sp>
        <p:nvSpPr>
          <p:cNvPr id="3" name="visual-dark-tab">
            <a:extLst xmlns:a="http://schemas.openxmlformats.org/drawingml/2006/main">
              <a:ext uri="{FF2B5EF4-FFF2-40B4-BE49-F238E27FC236}">
                <a16:creationId xmlns:a16="http://schemas.microsoft.com/office/drawing/2014/main" id="{438B1142-C345-483E-A2A6-961AA1B0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1333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153df9e904006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16C67F33-C8C9-47CE-A113-713ACCF7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FB99C2DE-0F16-4854-A4EE-09B92042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1701D923-2999-4B18-946A-6EC32B39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D28CD3FF-E3C7-4166-9989-641DA037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explicación de </a:t>
            </a:r>
            <a:r>
              <a:rPr sz="36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IA</a:t>
            </a:r>
            <a:r>
              <a:rPr sz="36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 se incorpora después del contraste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4DAC641E-DCCA-4905-BBC8-288AF33F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4BDC3015-A078-44EA-987D-D7FAF3B8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5A5A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0AD0BCC1-D5F7-4EEE-A1DE-4E3842A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31D5BE27-20D1-4B7A-A846-0592534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5D877E5-B8DB-4A34-85CE-BA557BDB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BF8C73A7-74B5-4762-ABB1-FA625CD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20BB6BE8-7460-41B2-8211-4491D2D5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IA · REGISTRO DE VERIFICACIÓN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9FD3969B-B7BD-4399-BD24-C410149D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1D1D1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D1D1D1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worked-box-0">
            <a:extLst xmlns:a="http://schemas.openxmlformats.org/drawingml/2006/main">
              <a:ext uri="{FF2B5EF4-FFF2-40B4-BE49-F238E27FC236}">
                <a16:creationId xmlns:a16="http://schemas.microsoft.com/office/drawing/2014/main" id="{A2D9BB17-D0E5-40BB-AA84-8E2382B5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18" name="worked-number-0">
            <a:extLst xmlns:a="http://schemas.openxmlformats.org/drawingml/2006/main">
              <a:ext uri="{FF2B5EF4-FFF2-40B4-BE49-F238E27FC236}">
                <a16:creationId xmlns:a16="http://schemas.microsoft.com/office/drawing/2014/main" id="{9F1DC0D7-C662-4BBF-B488-4F0B944E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01</a:t>
            </a:r>
          </a:p>
        </p:txBody>
      </p:sp>
      <p:sp>
        <p:nvSpPr>
          <p:cNvPr id="19" name="worked-rule-0">
            <a:extLst xmlns:a="http://schemas.openxmlformats.org/drawingml/2006/main">
              <a:ext uri="{FF2B5EF4-FFF2-40B4-BE49-F238E27FC236}">
                <a16:creationId xmlns:a16="http://schemas.microsoft.com/office/drawing/2014/main" id="{B3331258-BC01-40EA-9BDD-B9A04BD6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9700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20" name="worked-head-0">
            <a:extLst xmlns:a="http://schemas.openxmlformats.org/drawingml/2006/main">
              <a:ext uri="{FF2B5EF4-FFF2-40B4-BE49-F238E27FC236}">
                <a16:creationId xmlns:a16="http://schemas.microsoft.com/office/drawing/2014/main" id="{2A61ED22-CB1B-4652-8967-D7543F1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Propuesta</a:t>
            </a:r>
          </a:p>
        </p:txBody>
      </p:sp>
      <p:sp>
        <p:nvSpPr>
          <p:cNvPr id="21" name="worked-body-0">
            <a:extLst xmlns:a="http://schemas.openxmlformats.org/drawingml/2006/main">
              <a:ext uri="{FF2B5EF4-FFF2-40B4-BE49-F238E27FC236}">
                <a16:creationId xmlns:a16="http://schemas.microsoft.com/office/drawing/2014/main" id="{F3D75DDB-F7ED-4F6B-9A52-8672FC3D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Lectura o explicación recibida</a:t>
            </a:r>
          </a:p>
        </p:txBody>
      </p:sp>
      <p:sp>
        <p:nvSpPr>
          <p:cNvPr id="22" name="worked-box-1">
            <a:extLst xmlns:a="http://schemas.openxmlformats.org/drawingml/2006/main">
              <a:ext uri="{FF2B5EF4-FFF2-40B4-BE49-F238E27FC236}">
                <a16:creationId xmlns:a16="http://schemas.microsoft.com/office/drawing/2014/main" id="{927FDA7F-13B7-4E35-A6CA-428FB645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13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23" name="worked-number-1">
            <a:extLst xmlns:a="http://schemas.openxmlformats.org/drawingml/2006/main">
              <a:ext uri="{FF2B5EF4-FFF2-40B4-BE49-F238E27FC236}">
                <a16:creationId xmlns:a16="http://schemas.microsoft.com/office/drawing/2014/main" id="{8DB0F117-7F4B-44AF-9BA4-B46E1AD5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02</a:t>
            </a:r>
          </a:p>
        </p:txBody>
      </p:sp>
      <p:sp>
        <p:nvSpPr>
          <p:cNvPr id="24" name="worked-rule-1">
            <a:extLst xmlns:a="http://schemas.openxmlformats.org/drawingml/2006/main">
              <a:ext uri="{FF2B5EF4-FFF2-40B4-BE49-F238E27FC236}">
                <a16:creationId xmlns:a16="http://schemas.microsoft.com/office/drawing/2014/main" id="{1925325B-E6F1-42FB-ACA8-DC877D4E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34013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25" name="worked-head-1">
            <a:extLst xmlns:a="http://schemas.openxmlformats.org/drawingml/2006/main">
              <a:ext uri="{FF2B5EF4-FFF2-40B4-BE49-F238E27FC236}">
                <a16:creationId xmlns:a16="http://schemas.microsoft.com/office/drawing/2014/main" id="{E40B7AB1-4E9D-47A0-AD5D-0C08B116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Prueba</a:t>
            </a:r>
          </a:p>
        </p:txBody>
      </p:sp>
      <p:sp>
        <p:nvSpPr>
          <p:cNvPr id="26" name="worked-body-1">
            <a:extLst xmlns:a="http://schemas.openxmlformats.org/drawingml/2006/main">
              <a:ext uri="{FF2B5EF4-FFF2-40B4-BE49-F238E27FC236}">
                <a16:creationId xmlns:a16="http://schemas.microsoft.com/office/drawing/2014/main" id="{F13927B1-715C-4C37-BDB7-547D6BBE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4013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Notebook y diccionario</a:t>
            </a:r>
          </a:p>
        </p:txBody>
      </p:sp>
      <p:sp>
        <p:nvSpPr>
          <p:cNvPr id="27" name="worked-box-2">
            <a:extLst xmlns:a="http://schemas.openxmlformats.org/drawingml/2006/main">
              <a:ext uri="{FF2B5EF4-FFF2-40B4-BE49-F238E27FC236}">
                <a16:creationId xmlns:a16="http://schemas.microsoft.com/office/drawing/2014/main" id="{C666259B-0935-451D-B730-0B1075D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252525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28" name="worked-number-2">
            <a:extLst xmlns:a="http://schemas.openxmlformats.org/drawingml/2006/main">
              <a:ext uri="{FF2B5EF4-FFF2-40B4-BE49-F238E27FC236}">
                <a16:creationId xmlns:a16="http://schemas.microsoft.com/office/drawing/2014/main" id="{61831529-D10D-4707-BC27-51F9CC5D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03</a:t>
            </a:r>
          </a:p>
        </p:txBody>
      </p:sp>
      <p:sp>
        <p:nvSpPr>
          <p:cNvPr id="29" name="worked-rule-2">
            <a:extLst xmlns:a="http://schemas.openxmlformats.org/drawingml/2006/main">
              <a:ext uri="{FF2B5EF4-FFF2-40B4-BE49-F238E27FC236}">
                <a16:creationId xmlns:a16="http://schemas.microsoft.com/office/drawing/2014/main" id="{B96A2DBD-D195-4A17-A258-008AC4A8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58325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A5A5A"/>
            </a:solidFill>
            <a:prstDash val="solid"/>
          </a:ln>
        </p:spPr>
      </p:sp>
      <p:sp>
        <p:nvSpPr>
          <p:cNvPr id="30" name="worked-head-2">
            <a:extLst xmlns:a="http://schemas.openxmlformats.org/drawingml/2006/main">
              <a:ext uri="{FF2B5EF4-FFF2-40B4-BE49-F238E27FC236}">
                <a16:creationId xmlns:a16="http://schemas.microsoft.com/office/drawing/2014/main" id="{319FB9D6-FB68-4FF3-BC1A-2555C51A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Corrección</a:t>
            </a:r>
          </a:p>
        </p:txBody>
      </p:sp>
      <p:sp>
        <p:nvSpPr>
          <p:cNvPr id="31" name="worked-body-2">
            <a:extLst xmlns:a="http://schemas.openxmlformats.org/drawingml/2006/main">
              <a:ext uri="{FF2B5EF4-FFF2-40B4-BE49-F238E27FC236}">
                <a16:creationId xmlns:a16="http://schemas.microsoft.com/office/drawing/2014/main" id="{06DE013B-01B4-4335-871D-E700828C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D7D7D7"/>
                </a:solidFill>
                <a:latin typeface="Telegraf"/>
                <a:ea typeface="Telegraf"/>
                <a:cs typeface="Telegraf"/>
              </a:rPr>
              <a:t>Cambio realizado por el equipo</a:t>
            </a:r>
          </a:p>
        </p:txBody>
      </p:sp>
      <p:sp>
        <p:nvSpPr>
          <p:cNvPr id="32" name="worked-box-3">
            <a:extLst xmlns:a="http://schemas.openxmlformats.org/drawingml/2006/main">
              <a:ext uri="{FF2B5EF4-FFF2-40B4-BE49-F238E27FC236}">
                <a16:creationId xmlns:a16="http://schemas.microsoft.com/office/drawing/2014/main" id="{ABA29770-50F9-4278-95F2-700D86B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2138" y="3476625"/>
            <a:ext cx="3776663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505050"/>
            </a:solidFill>
            <a:prstDash val="solid"/>
          </a:ln>
        </p:spPr>
      </p:sp>
      <p:sp>
        <p:nvSpPr>
          <p:cNvPr id="33" name="worked-number-3">
            <a:extLst xmlns:a="http://schemas.openxmlformats.org/drawingml/2006/main">
              <a:ext uri="{FF2B5EF4-FFF2-40B4-BE49-F238E27FC236}">
                <a16:creationId xmlns:a16="http://schemas.microsoft.com/office/drawing/2014/main" id="{37D01731-83CB-41D7-A992-E99189E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3609975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262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04</a:t>
            </a:r>
          </a:p>
        </p:txBody>
      </p:sp>
      <p:sp>
        <p:nvSpPr>
          <p:cNvPr id="34" name="worked-rule-3">
            <a:extLst xmlns:a="http://schemas.openxmlformats.org/drawingml/2006/main">
              <a:ext uri="{FF2B5EF4-FFF2-40B4-BE49-F238E27FC236}">
                <a16:creationId xmlns:a16="http://schemas.microsoft.com/office/drawing/2014/main" id="{CE847BA3-277F-4CF3-8192-58F5F5F2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482638" y="4238625"/>
            <a:ext cx="33956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35" name="worked-head-3">
            <a:extLst xmlns:a="http://schemas.openxmlformats.org/drawingml/2006/main">
              <a:ext uri="{FF2B5EF4-FFF2-40B4-BE49-F238E27FC236}">
                <a16:creationId xmlns:a16="http://schemas.microsoft.com/office/drawing/2014/main" id="{F0B4760C-D217-4B13-8A83-77DE4E8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4352925"/>
            <a:ext cx="3395663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8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Conclusión</a:t>
            </a:r>
          </a:p>
        </p:txBody>
      </p:sp>
      <p:sp>
        <p:nvSpPr>
          <p:cNvPr id="36" name="worked-body-3">
            <a:extLst xmlns:a="http://schemas.openxmlformats.org/drawingml/2006/main">
              <a:ext uri="{FF2B5EF4-FFF2-40B4-BE49-F238E27FC236}">
                <a16:creationId xmlns:a16="http://schemas.microsoft.com/office/drawing/2014/main" id="{66D06433-F753-4292-85A5-5FB83CA8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5000625"/>
            <a:ext cx="3395663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Telegraf"/>
                <a:ea typeface="Telegraf"/>
                <a:cs typeface="Telegraf"/>
              </a:defRPr>
            </a:pPr>
            <a:r>
              <a:rPr sz="1575" b="0">
                <a:solidFill>
                  <a:srgbClr val="111111"/>
                </a:solidFill>
                <a:latin typeface="Telegraf"/>
                <a:ea typeface="Telegraf"/>
                <a:cs typeface="Telegraf"/>
              </a:rPr>
              <a:t>Afirmación aceptada y límite</a:t>
            </a:r>
          </a:p>
        </p:txBody>
      </p:sp>
      <p:sp>
        <p:nvSpPr>
          <p:cNvPr id="37" name="worked-caption">
            <a:extLst xmlns:a="http://schemas.openxmlformats.org/drawingml/2006/main">
              <a:ext uri="{FF2B5EF4-FFF2-40B4-BE49-F238E27FC236}">
                <a16:creationId xmlns:a16="http://schemas.microsoft.com/office/drawing/2014/main" id="{1C6FCB6E-894B-40F7-AC26-0822BBA6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67500"/>
            <a:ext cx="1447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33"/>
                </a:solidFill>
                <a:latin typeface="Telegraf"/>
                <a:ea typeface="Telegraf"/>
                <a:cs typeface="Telegraf"/>
              </a:defRPr>
            </a:pPr>
            <a:r>
              <a:rPr sz="1650" b="0">
                <a:solidFill>
                  <a:srgbClr val="FFFF33"/>
                </a:solidFill>
                <a:latin typeface="Telegraf"/>
                <a:ea typeface="Telegraf"/>
                <a:cs typeface="Telegraf"/>
              </a:rPr>
              <a:t>La causa del atraso requiere fuentes que el Paquete A todavía no contiene.</a:t>
            </a:r>
          </a:p>
        </p:txBody>
      </p:sp>
    </p:spTree>
    <p:extLst>
      <p:ext uri="{BB962C8B-B14F-4D97-AF65-F5344CB8AC3E}">
        <p14:creationId xmlns:p14="http://schemas.microsoft.com/office/powerpoint/2010/main" val="1861769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visual-light-field">
            <a:extLst xmlns:a="http://schemas.openxmlformats.org/drawingml/2006/main">
              <a:ext uri="{FF2B5EF4-FFF2-40B4-BE49-F238E27FC236}">
                <a16:creationId xmlns:a16="http://schemas.microsoft.com/office/drawing/2014/main" id="{D2ACE45B-D95D-442D-A59E-8F34C032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1809750"/>
            <a:ext cx="3333750" cy="7239000"/>
          </a:xfrm>
          <a:prstGeom xmlns:a="http://schemas.openxmlformats.org/drawingml/2006/main" prst="roundRect">
            <a:avLst>
              <a:gd name="adj" fmla="val 23429"/>
            </a:avLst>
          </a:prstGeom>
          <a:solidFill xmlns:a="http://schemas.openxmlformats.org/drawingml/2006/main">
            <a:srgbClr val="DCE6F1"/>
          </a:solidFill>
          <a:ln xmlns:a="http://schemas.openxmlformats.org/drawingml/2006/main" w="11430">
            <a:solidFill>
              <a:srgbClr val="DCE6F1"/>
            </a:solidFill>
            <a:prstDash val="solid"/>
          </a:ln>
        </p:spPr>
      </p:sp>
      <p:sp>
        <p:nvSpPr>
          <p:cNvPr id="2" name="visual-light-field-2">
            <a:extLst xmlns:a="http://schemas.openxmlformats.org/drawingml/2006/main">
              <a:ext uri="{FF2B5EF4-FFF2-40B4-BE49-F238E27FC236}">
                <a16:creationId xmlns:a16="http://schemas.microsoft.com/office/drawing/2014/main" id="{A4C4169D-4EF3-46F8-AA40-58BF8BFF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35375" y="457200"/>
            <a:ext cx="1952625" cy="3667125"/>
          </a:xfrm>
          <a:prstGeom xmlns:a="http://schemas.openxmlformats.org/drawingml/2006/main" prst="roundRect">
            <a:avLst>
              <a:gd name="adj" fmla="val 34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" name="visual-light-tab">
            <a:extLst xmlns:a="http://schemas.openxmlformats.org/drawingml/2006/main">
              <a:ext uri="{FF2B5EF4-FFF2-40B4-BE49-F238E27FC236}">
                <a16:creationId xmlns:a16="http://schemas.microsoft.com/office/drawing/2014/main" id="{6ACBE323-11E7-4D36-947A-95F4EB8E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8686800"/>
            <a:ext cx="1524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8251bebb84883"/>
          <a:stretch xmlns:a="http://schemas.openxmlformats.org/drawingml/2006/main"/>
        </p:blipFill>
        <p:spPr>
          <a:xfrm xmlns:a="http://schemas.openxmlformats.org/drawingml/2006/main">
            <a:off x="704850" y="5312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5" name="visual-brand">
            <a:extLst xmlns:a="http://schemas.openxmlformats.org/drawingml/2006/main">
              <a:ext uri="{FF2B5EF4-FFF2-40B4-BE49-F238E27FC236}">
                <a16:creationId xmlns:a16="http://schemas.microsoft.com/office/drawing/2014/main" id="{BEE20280-74A0-42AB-9524-83FEDF7D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Universidad Tecnológica Nacional</a:t>
            </a:r>
          </a:p>
        </p:txBody>
      </p:sp>
      <p:sp>
        <p:nvSpPr>
          <p:cNvPr id="6" name="visual-program">
            <a:extLst xmlns:a="http://schemas.openxmlformats.org/drawingml/2006/main">
              <a:ext uri="{FF2B5EF4-FFF2-40B4-BE49-F238E27FC236}">
                <a16:creationId xmlns:a16="http://schemas.microsoft.com/office/drawing/2014/main" id="{281534C1-0C3D-49B8-B667-7EA6B1C4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953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9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INGENIERÍA INDUSTRIAL</a:t>
            </a:r>
          </a:p>
        </p:txBody>
      </p:sp>
      <p:sp>
        <p:nvSpPr>
          <p:cNvPr id="7" name="visual-year">
            <a:extLst xmlns:a="http://schemas.openxmlformats.org/drawingml/2006/main">
              <a:ext uri="{FF2B5EF4-FFF2-40B4-BE49-F238E27FC236}">
                <a16:creationId xmlns:a16="http://schemas.microsoft.com/office/drawing/2014/main" id="{FE04A5CE-903B-497C-9066-687B6E2D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381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05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2026</a:t>
            </a:r>
          </a:p>
        </p:txBody>
      </p:sp>
      <p:sp>
        <p:nvSpPr>
          <p:cNvPr id="8" name="visual-title">
            <a:extLst xmlns:a="http://schemas.openxmlformats.org/drawingml/2006/main">
              <a:ext uri="{FF2B5EF4-FFF2-40B4-BE49-F238E27FC236}">
                <a16:creationId xmlns:a16="http://schemas.microsoft.com/office/drawing/2014/main" id="{23509617-C7E8-44A7-BACF-B30BE4DC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85900"/>
            <a:ext cx="13811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La </a:t>
            </a:r>
            <a:r>
              <a:rPr sz="36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evidencia</a:t>
            </a:r>
            <a:r>
              <a:rPr sz="3600" b="1">
                <a:solidFill>
                  <a:srgbClr val="111111"/>
                </a:solidFill>
                <a:latin typeface="Telegraf Bold"/>
                <a:ea typeface="Telegraf Bold"/>
                <a:cs typeface="Telegraf Bold"/>
              </a:rPr>
              <a:t> final permite reconstruir el trabajo</a:t>
            </a:r>
          </a:p>
        </p:txBody>
      </p:sp>
      <p:sp>
        <p:nvSpPr>
          <p:cNvPr id="9" name="visual-title-tab">
            <a:extLst xmlns:a="http://schemas.openxmlformats.org/drawingml/2006/main">
              <a:ext uri="{FF2B5EF4-FFF2-40B4-BE49-F238E27FC236}">
                <a16:creationId xmlns:a16="http://schemas.microsoft.com/office/drawing/2014/main" id="{98FDEE82-93CD-421F-B285-7CBAD729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67050"/>
            <a:ext cx="1600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0" name="visual-title-rule">
            <a:extLst xmlns:a="http://schemas.openxmlformats.org/drawingml/2006/main">
              <a:ext uri="{FF2B5EF4-FFF2-40B4-BE49-F238E27FC236}">
                <a16:creationId xmlns:a16="http://schemas.microsoft.com/office/drawing/2014/main" id="{2352B101-B078-4284-9FEA-08B30904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3114675"/>
            <a:ext cx="569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4D1"/>
            </a:solidFill>
            <a:prstDash val="solid"/>
          </a:ln>
        </p:spPr>
      </p:sp>
      <p:sp>
        <p:nvSpPr>
          <p:cNvPr id="11" name="visual-footer-rule">
            <a:extLst xmlns:a="http://schemas.openxmlformats.org/drawingml/2006/main">
              <a:ext uri="{FF2B5EF4-FFF2-40B4-BE49-F238E27FC236}">
                <a16:creationId xmlns:a16="http://schemas.microsoft.com/office/drawing/2014/main" id="{96334DD6-8DBE-4089-8783-421F8E80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9544050"/>
            <a:ext cx="1828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97D"/>
            </a:solidFill>
            <a:prstDash val="solid"/>
          </a:ln>
        </p:spPr>
      </p:sp>
      <p:sp>
        <p:nvSpPr>
          <p:cNvPr id="12" name="visual-footer-pill">
            <a:extLst xmlns:a="http://schemas.openxmlformats.org/drawingml/2006/main">
              <a:ext uri="{FF2B5EF4-FFF2-40B4-BE49-F238E27FC236}">
                <a16:creationId xmlns:a16="http://schemas.microsoft.com/office/drawing/2014/main" id="{D2DDFD95-3E16-460E-82DD-AD973FDE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8048625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3" name="visual-footer-brand-pill">
            <a:extLst xmlns:a="http://schemas.openxmlformats.org/drawingml/2006/main">
              <a:ext uri="{FF2B5EF4-FFF2-40B4-BE49-F238E27FC236}">
                <a16:creationId xmlns:a16="http://schemas.microsoft.com/office/drawing/2014/main" id="{26E2345C-3B75-4F29-A303-813BE65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258300"/>
            <a:ext cx="27241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14" name="visual-footer-brand">
            <a:extLst xmlns:a="http://schemas.openxmlformats.org/drawingml/2006/main">
              <a:ext uri="{FF2B5EF4-FFF2-40B4-BE49-F238E27FC236}">
                <a16:creationId xmlns:a16="http://schemas.microsoft.com/office/drawing/2014/main" id="{114878F6-E1FE-4F89-8191-B0FABBE6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9334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Análisis de Datos</a:t>
            </a:r>
          </a:p>
        </p:txBody>
      </p:sp>
      <p:sp>
        <p:nvSpPr>
          <p:cNvPr id="15" name="visual-label">
            <a:extLst xmlns:a="http://schemas.openxmlformats.org/drawingml/2006/main">
              <a:ext uri="{FF2B5EF4-FFF2-40B4-BE49-F238E27FC236}">
                <a16:creationId xmlns:a16="http://schemas.microsoft.com/office/drawing/2014/main" id="{8ACBA46C-F45B-4488-92C4-00738BD4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3450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defRPr>
            </a:pPr>
            <a:r>
              <a:rPr sz="1200" b="1">
                <a:solidFill>
                  <a:srgbClr val="1F497D"/>
                </a:solidFill>
                <a:latin typeface="Telegraf Bold"/>
                <a:ea typeface="Telegraf Bold"/>
                <a:cs typeface="Telegraf Bold"/>
              </a:rPr>
              <a:t>SALIDA · CHECKLIST</a:t>
            </a:r>
          </a:p>
        </p:txBody>
      </p:sp>
      <p:sp>
        <p:nvSpPr>
          <p:cNvPr id="16" name="visual-course">
            <a:extLst xmlns:a="http://schemas.openxmlformats.org/drawingml/2006/main">
              <a:ext uri="{FF2B5EF4-FFF2-40B4-BE49-F238E27FC236}">
                <a16:creationId xmlns:a16="http://schemas.microsoft.com/office/drawing/2014/main" id="{666C6290-5C6A-48C4-99DE-098538D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9820275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B6573"/>
                </a:solidFill>
                <a:latin typeface="Telegraf"/>
                <a:ea typeface="Telegraf"/>
                <a:cs typeface="Telegraf"/>
              </a:defRPr>
            </a:pPr>
            <a:r>
              <a:rPr sz="975" b="0">
                <a:solidFill>
                  <a:srgbClr val="5B6573"/>
                </a:solidFill>
                <a:latin typeface="Telegraf"/>
                <a:ea typeface="Telegraf"/>
                <a:cs typeface="Telegraf"/>
              </a:rPr>
              <a:t>Ingeniería Industrial · UTN FRC</a:t>
            </a:r>
          </a:p>
        </p:txBody>
      </p:sp>
      <p:sp>
        <p:nvSpPr>
          <p:cNvPr id="17" name="matrix-surface">
            <a:extLst xmlns:a="http://schemas.openxmlformats.org/drawingml/2006/main">
              <a:ext uri="{FF2B5EF4-FFF2-40B4-BE49-F238E27FC236}">
                <a16:creationId xmlns:a16="http://schemas.microsoft.com/office/drawing/2014/main" id="{C0FBB139-6A0C-4BB1-B172-997ACE1D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16192500" cy="4838700"/>
          </a:xfrm>
          <a:prstGeom xmlns:a="http://schemas.openxmlformats.org/drawingml/2006/main" prst="roundRect">
            <a:avLst>
              <a:gd name="adj" fmla="val 35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C4D1"/>
            </a:solidFill>
            <a:prstDash val="solid"/>
          </a:ln>
        </p:spPr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1219200" y="3429000"/>
          <a:ext xmlns:a="http://schemas.openxmlformats.org/drawingml/2006/main" cx="15849600" cy="45529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86912"/>
                <a:gridCol w="6973824"/>
                <a:gridCol w="5388864"/>
              </a:tblGrid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Componente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Evidencia observable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elegraf Bold"/>
                          <a:ea typeface="Telegraf Bold"/>
                          <a:cs typeface="Telegraf Bold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F497D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Fuente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archivo y release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900 × 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Grano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frase completa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línea frente a pedido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valor citado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tabla o gráfico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Interpretación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lectura prudente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dato faltante</a:t>
                      </a:r>
                    </a:p>
                  </a:txBody>
                  <a:tcPr marL="91440" marR="91440" marT="45720" marB="45720">
                    <a:solidFill>
                      <a:srgbClr val="EEF3F8"/>
                    </a:solidFill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propuesta y corrección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>
                          <a:solidFill>
                            <a:srgbClr val="111111"/>
                          </a:solidFill>
                          <a:latin typeface="Telegraf"/>
                          <a:ea typeface="Telegraf"/>
                          <a:cs typeface="Telegraf"/>
                        </a:rPr>
                        <a:t>contraste registrado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03944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clos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3df330d094547"/>
          <a:srcRect xmlns:a="http://schemas.openxmlformats.org/drawingml/2006/main" l="9877" t="0" r="98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9125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close-photo-rule">
            <a:extLst xmlns:a="http://schemas.openxmlformats.org/drawingml/2006/main">
              <a:ext uri="{FF2B5EF4-FFF2-40B4-BE49-F238E27FC236}">
                <a16:creationId xmlns:a16="http://schemas.microsoft.com/office/drawing/2014/main" id="{45803D88-CBCC-4AC2-84EA-A23E767C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0"/>
            <a:ext cx="171450" cy="1028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F497D"/>
          </a:solidFill>
          <a:ln xmlns:a="http://schemas.openxmlformats.org/drawingml/2006/main" w="11430">
            <a:solidFill>
              <a:srgbClr val="1F497D"/>
            </a:solidFill>
            <a:prstDash val="solid"/>
          </a:ln>
        </p:spPr>
      </p:sp>
      <p:sp>
        <p:nvSpPr>
          <p:cNvPr id="3" name="close-photo-tab">
            <a:extLst xmlns:a="http://schemas.openxmlformats.org/drawingml/2006/main">
              <a:ext uri="{FF2B5EF4-FFF2-40B4-BE49-F238E27FC236}">
                <a16:creationId xmlns:a16="http://schemas.microsoft.com/office/drawing/2014/main" id="{04CC4027-7E38-4419-B7EC-BA67458E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0"/>
            <a:ext cx="1952625" cy="228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33"/>
          </a:solidFill>
          <a:ln xmlns:a="http://schemas.openxmlformats.org/drawingml/2006/main" w="11430">
            <a:solidFill>
              <a:srgbClr val="FFFF33"/>
            </a:solidFill>
            <a:prstDash val="solid"/>
          </a:ln>
        </p:spPr>
      </p:sp>
      <p:sp>
        <p:nvSpPr>
          <p:cNvPr id="4" name="close-rail">
            <a:extLst xmlns:a="http://schemas.openxmlformats.org/drawingml/2006/main">
              <a:ext uri="{FF2B5EF4-FFF2-40B4-BE49-F238E27FC236}">
                <a16:creationId xmlns:a16="http://schemas.microsoft.com/office/drawing/2014/main" id="{18B81CE8-92C6-4551-BF9C-E828B781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0"/>
            <a:ext cx="2952750" cy="10287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0B2745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0829d2da343b6"/>
          <a:stretch xmlns:a="http://schemas.openxmlformats.org/drawingml/2006/main"/>
        </p:blipFill>
        <p:spPr>
          <a:xfrm xmlns:a="http://schemas.openxmlformats.org/drawingml/2006/main">
            <a:off x="7000875" y="607438"/>
            <a:ext cx="438150" cy="518675"/>
          </a:xfrm>
          <a:prstGeom xmlns:a="http://schemas.openxmlformats.org/drawingml/2006/main" prst="rect">
            <a:avLst/>
          </a:prstGeom>
        </p:spPr>
      </p:pic>
      <p:sp>
        <p:nvSpPr>
          <p:cNvPr id="6" name="close-label">
            <a:extLst xmlns:a="http://schemas.openxmlformats.org/drawingml/2006/main">
              <a:ext uri="{FF2B5EF4-FFF2-40B4-BE49-F238E27FC236}">
                <a16:creationId xmlns:a16="http://schemas.microsoft.com/office/drawing/2014/main" id="{E8DEE617-3DD3-457E-B655-421FC94E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85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1275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CIERRE · LABORATORIO</a:t>
            </a:r>
          </a:p>
        </p:txBody>
      </p:sp>
      <p:sp>
        <p:nvSpPr>
          <p:cNvPr id="7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33ACB50-F929-4154-B0D9-BB0F3AD3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El control convierte</a:t>
            </a:r>
          </a:p>
          <a:p xmlns:a="http://schemas.openxmlformats.org/drawingml/2006/main">
            <a:pPr algn="l">
              <a:def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defRPr>
            </a:pPr>
            <a:r>
              <a:rPr sz="48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</a:rPr>
              <a:t>una salida en </a:t>
            </a:r>
            <a:r>
              <a:rPr sz="4800" b="1">
                <a:solidFill>
                  <a:srgbClr val="FFFF33"/>
                </a:solidFill>
                <a:latin typeface="Telegraf Bold"/>
                <a:ea typeface="Telegraf Bold"/>
                <a:cs typeface="Telegraf Bold"/>
              </a:rPr>
              <a:t>evidencia</a:t>
            </a:r>
          </a:p>
        </p:txBody>
      </p:sp>
      <p:sp>
        <p:nvSpPr>
          <p:cNvPr id="8" name="close-rule">
            <a:extLst xmlns:a="http://schemas.openxmlformats.org/drawingml/2006/main">
              <a:ext uri="{FF2B5EF4-FFF2-40B4-BE49-F238E27FC236}">
                <a16:creationId xmlns:a16="http://schemas.microsoft.com/office/drawing/2014/main" id="{9E2FDCB7-5E37-4528-8E3A-B6DC4311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00875" y="56007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33"/>
            </a:solidFill>
            <a:prstDash val="solid"/>
          </a:ln>
        </p:spPr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25DC4556-536B-48E0-8856-E793A5D8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048375"/>
            <a:ext cx="857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3E3E3"/>
                </a:solidFill>
                <a:latin typeface="Telegraf"/>
                <a:ea typeface="Telegraf"/>
                <a:cs typeface="Telegraf"/>
              </a:defRPr>
            </a:pPr>
            <a:r>
              <a:rPr sz="2025" b="0">
                <a:solidFill>
                  <a:srgbClr val="E3E3E3"/>
                </a:solidFill>
                <a:latin typeface="Telegraf"/>
                <a:ea typeface="Telegraf"/>
                <a:cs typeface="Telegraf"/>
              </a:rPr>
              <a:t>Identificar la fuente. Explicar el grano. Ejecutar el cálculo. Comparar el resultado. Declarar el límite.</a:t>
            </a:r>
          </a:p>
        </p:txBody>
      </p:sp>
      <p:sp>
        <p:nvSpPr>
          <p:cNvPr id="10" name="close-course">
            <a:extLst xmlns:a="http://schemas.openxmlformats.org/drawingml/2006/main">
              <a:ext uri="{FF2B5EF4-FFF2-40B4-BE49-F238E27FC236}">
                <a16:creationId xmlns:a16="http://schemas.microsoft.com/office/drawing/2014/main" id="{7604EE33-21A4-47D3-9339-C8F05C5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572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C8C8"/>
                </a:solidFill>
                <a:latin typeface="Telegraf"/>
                <a:ea typeface="Telegraf"/>
                <a:cs typeface="Telegraf"/>
              </a:defRPr>
            </a:pPr>
            <a:r>
              <a:rPr sz="1275" b="0">
                <a:solidFill>
                  <a:srgbClr val="C8C8C8"/>
                </a:solidFill>
                <a:latin typeface="Telegraf"/>
                <a:ea typeface="Telegraf"/>
                <a:cs typeface="Telegraf"/>
              </a:rPr>
              <a:t>Análisis de Datos · Ingeniería Industrial</a:t>
            </a:r>
          </a:p>
        </p:txBody>
      </p:sp>
    </p:spTree>
    <p:extLst>
      <p:ext uri="{BB962C8B-B14F-4D97-AF65-F5344CB8AC3E}">
        <p14:creationId xmlns:p14="http://schemas.microsoft.com/office/powerpoint/2010/main" val="1932514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2026-08-12T20:19:07.6010000Z</dcterms:created>
  <dcterms:modified xsi:type="dcterms:W3CDTF">2026-08-12T20:19:07.6010000Z</dcterms:modified>
</coreProperties>
</file>