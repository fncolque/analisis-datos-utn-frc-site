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4f02791bb4cfe" /><Relationship Type="http://schemas.openxmlformats.org/officeDocument/2006/relationships/extended-properties" Target="/docProps/app.xml" Id="R39dfd094acee4f3f" /><Relationship Type="http://schemas.openxmlformats.org/officeDocument/2006/relationships/officeDocument" Target="/ppt/presentation.xml" Id="Rbdb5c473ff21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e3221249c94075"/>
  </p:sldMasterIdLst>
  <p:notesMasterIdLst>
    <p:notesMasterId xmlns:r="http://schemas.openxmlformats.org/officeDocument/2006/relationships" r:id="R321d59f42bf74ff9"/>
  </p:notesMasterIdLst>
  <p:sldIdLst>
    <p:sldId xmlns:r="http://schemas.openxmlformats.org/officeDocument/2006/relationships" id="256" r:id="R942d6863756f4757"/>
    <p:sldId xmlns:r="http://schemas.openxmlformats.org/officeDocument/2006/relationships" id="257" r:id="Re9a2b043372a40fc"/>
    <p:sldId xmlns:r="http://schemas.openxmlformats.org/officeDocument/2006/relationships" id="258" r:id="Rd5b53f71e4334099"/>
    <p:sldId xmlns:r="http://schemas.openxmlformats.org/officeDocument/2006/relationships" id="259" r:id="R6d952cc7d99f4f2a"/>
    <p:sldId xmlns:r="http://schemas.openxmlformats.org/officeDocument/2006/relationships" id="260" r:id="Re9266758aafa4c9d"/>
    <p:sldId xmlns:r="http://schemas.openxmlformats.org/officeDocument/2006/relationships" id="261" r:id="R18309b84fe5b4d80"/>
    <p:sldId xmlns:r="http://schemas.openxmlformats.org/officeDocument/2006/relationships" id="262" r:id="R2d57f9af1a3241dc"/>
    <p:sldId xmlns:r="http://schemas.openxmlformats.org/officeDocument/2006/relationships" id="263" r:id="Rfa88b37a40eb4eb7"/>
    <p:sldId xmlns:r="http://schemas.openxmlformats.org/officeDocument/2006/relationships" id="264" r:id="R7704977567074e4b"/>
    <p:sldId xmlns:r="http://schemas.openxmlformats.org/officeDocument/2006/relationships" id="265" r:id="Rcf16d9393f854b7d"/>
    <p:sldId xmlns:r="http://schemas.openxmlformats.org/officeDocument/2006/relationships" id="266" r:id="R82cda87695eb405c"/>
    <p:sldId xmlns:r="http://schemas.openxmlformats.org/officeDocument/2006/relationships" id="267" r:id="R209523dac39549bd"/>
    <p:sldId xmlns:r="http://schemas.openxmlformats.org/officeDocument/2006/relationships" id="268" r:id="Rbf2a21943b35423b"/>
    <p:sldId xmlns:r="http://schemas.openxmlformats.org/officeDocument/2006/relationships" id="269" r:id="R75ae27d8414e4202"/>
    <p:sldId xmlns:r="http://schemas.openxmlformats.org/officeDocument/2006/relationships" id="270" r:id="R90e23b018b5b453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a8bbbe8b14b2d" /><Relationship Type="http://schemas.openxmlformats.org/officeDocument/2006/relationships/slideMaster" Target="/ppt/slideMasters/slideMaster1.xml" Id="Rd8e3221249c94075" /><Relationship Type="http://schemas.openxmlformats.org/officeDocument/2006/relationships/notesMaster" Target="/ppt/notesMasters/notesMaster1.xml" Id="R321d59f42bf74ff9" /><Relationship Type="http://schemas.openxmlformats.org/officeDocument/2006/relationships/presProps" Target="/ppt/presProps.xml" Id="Radc83c2ca493444a" /><Relationship Type="http://schemas.openxmlformats.org/officeDocument/2006/relationships/tableStyles" Target="/ppt/tableStyles.xml" Id="R20c2805c4ca54ee3" /><Relationship Type="http://schemas.openxmlformats.org/officeDocument/2006/relationships/slide" Target="/ppt/slides/slide1.xml" Id="R942d6863756f4757" /><Relationship Type="http://schemas.openxmlformats.org/officeDocument/2006/relationships/slide" Target="/ppt/slides/slide2.xml" Id="Re9a2b043372a40fc" /><Relationship Type="http://schemas.openxmlformats.org/officeDocument/2006/relationships/slide" Target="/ppt/slides/slide3.xml" Id="Rd5b53f71e4334099" /><Relationship Type="http://schemas.openxmlformats.org/officeDocument/2006/relationships/slide" Target="/ppt/slides/slide4.xml" Id="R6d952cc7d99f4f2a" /><Relationship Type="http://schemas.openxmlformats.org/officeDocument/2006/relationships/slide" Target="/ppt/slides/slide5.xml" Id="Re9266758aafa4c9d" /><Relationship Type="http://schemas.openxmlformats.org/officeDocument/2006/relationships/slide" Target="/ppt/slides/slide6.xml" Id="R18309b84fe5b4d80" /><Relationship Type="http://schemas.openxmlformats.org/officeDocument/2006/relationships/slide" Target="/ppt/slides/slide7.xml" Id="R2d57f9af1a3241dc" /><Relationship Type="http://schemas.openxmlformats.org/officeDocument/2006/relationships/slide" Target="/ppt/slides/slide8.xml" Id="Rfa88b37a40eb4eb7" /><Relationship Type="http://schemas.openxmlformats.org/officeDocument/2006/relationships/slide" Target="/ppt/slides/slide9.xml" Id="R7704977567074e4b" /><Relationship Type="http://schemas.openxmlformats.org/officeDocument/2006/relationships/slide" Target="/ppt/slides/slide10.xml" Id="Rcf16d9393f854b7d" /><Relationship Type="http://schemas.openxmlformats.org/officeDocument/2006/relationships/slide" Target="/ppt/slides/slide11.xml" Id="R82cda87695eb405c" /><Relationship Type="http://schemas.openxmlformats.org/officeDocument/2006/relationships/slide" Target="/ppt/slides/slide12.xml" Id="R209523dac39549bd" /><Relationship Type="http://schemas.openxmlformats.org/officeDocument/2006/relationships/slide" Target="/ppt/slides/slide13.xml" Id="Rbf2a21943b35423b" /><Relationship Type="http://schemas.openxmlformats.org/officeDocument/2006/relationships/slide" Target="/ppt/slides/slide14.xml" Id="R75ae27d8414e4202" /><Relationship Type="http://schemas.openxmlformats.org/officeDocument/2006/relationships/slide" Target="/ppt/slides/slide15.xml" Id="R90e23b018b5b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cf12a0c502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acd601f274061" /><Relationship Type="http://schemas.openxmlformats.org/officeDocument/2006/relationships/notesMaster" Target="/ppt/notesMasters/notesMaster1.xml" Id="R437e4777837d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ada37dfa24eb6" /><Relationship Type="http://schemas.openxmlformats.org/officeDocument/2006/relationships/notesMaster" Target="/ppt/notesMasters/notesMaster1.xml" Id="R822eb39555b6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59c38f500b423c" /><Relationship Type="http://schemas.openxmlformats.org/officeDocument/2006/relationships/notesMaster" Target="/ppt/notesMasters/notesMaster1.xml" Id="Rad53e77f3c27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8e51d04ed4db3" /><Relationship Type="http://schemas.openxmlformats.org/officeDocument/2006/relationships/notesMaster" Target="/ppt/notesMasters/notesMaster1.xml" Id="Raa579138fa9d4d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2f9b4809f44e2e" /><Relationship Type="http://schemas.openxmlformats.org/officeDocument/2006/relationships/notesMaster" Target="/ppt/notesMasters/notesMaster1.xml" Id="Rd9f6928b3513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46836f8d9941d5" /><Relationship Type="http://schemas.openxmlformats.org/officeDocument/2006/relationships/notesMaster" Target="/ppt/notesMasters/notesMaster1.xml" Id="Rbb30c21bb2e0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2ba0f2af8c452e" /><Relationship Type="http://schemas.openxmlformats.org/officeDocument/2006/relationships/notesMaster" Target="/ppt/notesMasters/notesMaster1.xml" Id="R8f7bf9caa3c744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200354cbc42f8" /><Relationship Type="http://schemas.openxmlformats.org/officeDocument/2006/relationships/notesMaster" Target="/ppt/notesMasters/notesMaster1.xml" Id="Rfb582417268848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616f592cc84122" /><Relationship Type="http://schemas.openxmlformats.org/officeDocument/2006/relationships/notesMaster" Target="/ppt/notesMasters/notesMaster1.xml" Id="R5cfcf7986b084b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51765de08742d5" /><Relationship Type="http://schemas.openxmlformats.org/officeDocument/2006/relationships/notesMaster" Target="/ppt/notesMasters/notesMaster1.xml" Id="R95a89ba512bc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aa574452134503" /><Relationship Type="http://schemas.openxmlformats.org/officeDocument/2006/relationships/notesMaster" Target="/ppt/notesMasters/notesMaster1.xml" Id="R6cc0ebdc75d04a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bcddaeb844cd9" /><Relationship Type="http://schemas.openxmlformats.org/officeDocument/2006/relationships/notesMaster" Target="/ppt/notesMasters/notesMaster1.xml" Id="R0d26044f1f3a46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6e1d5c00643ca" /><Relationship Type="http://schemas.openxmlformats.org/officeDocument/2006/relationships/notesMaster" Target="/ppt/notesMasters/notesMaster1.xml" Id="R01676b91931d48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5f763b08be463f" /><Relationship Type="http://schemas.openxmlformats.org/officeDocument/2006/relationships/notesMaster" Target="/ppt/notesMasters/notesMaster1.xml" Id="R86a71304762746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e002ed3edb4ff6" /><Relationship Type="http://schemas.openxmlformats.org/officeDocument/2006/relationships/notesMaster" Target="/ppt/notesMasters/notesMaster1.xml" Id="R9c89803fdc63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eaf6f0e4145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433a7a66541cd" /><Relationship Type="http://schemas.openxmlformats.org/officeDocument/2006/relationships/slideLayout" Target="/ppt/slideLayouts/slideLayout1.xml" Id="R886908682955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6908682955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a551aeace420e" /><Relationship Type="http://schemas.openxmlformats.org/officeDocument/2006/relationships/image" Target="/ppt/media/image.jpeg" Id="R7b8f6ce04cb34e8d" /><Relationship Type="http://schemas.openxmlformats.org/officeDocument/2006/relationships/image" Target="/ppt/media/image.png" Id="Re68fdda196ef4e4f" /><Relationship Type="http://schemas.openxmlformats.org/officeDocument/2006/relationships/notesSlide" Target="/ppt/notesSlides/notesSlide1.xml" Id="Ra1953fc364a7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c1c73371439a" /><Relationship Type="http://schemas.openxmlformats.org/officeDocument/2006/relationships/image" Target="/ppt/media/image2.png" Id="R8b5441fe0f264891" /><Relationship Type="http://schemas.openxmlformats.org/officeDocument/2006/relationships/notesSlide" Target="/ppt/notesSlides/notesSlide2.xml" Id="Rb90e20c687e241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3e6fbec00436d" /><Relationship Type="http://schemas.openxmlformats.org/officeDocument/2006/relationships/image" Target="/ppt/media/image3.png" Id="Ra61fe30a6f8c405c" /><Relationship Type="http://schemas.openxmlformats.org/officeDocument/2006/relationships/notesSlide" Target="/ppt/notesSlides/notesSlide3.xml" Id="Rfc6e67539a6d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a59c90f9441ee" /><Relationship Type="http://schemas.openxmlformats.org/officeDocument/2006/relationships/image" Target="/ppt/media/image4.png" Id="R03b97df695ff46d0" /><Relationship Type="http://schemas.openxmlformats.org/officeDocument/2006/relationships/notesSlide" Target="/ppt/notesSlides/notesSlide4.xml" Id="Rb73dbd821dab4a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182f388b84ac1" /><Relationship Type="http://schemas.openxmlformats.org/officeDocument/2006/relationships/image" Target="/ppt/media/image5.png" Id="R7f230750ddea4d69" /><Relationship Type="http://schemas.openxmlformats.org/officeDocument/2006/relationships/notesSlide" Target="/ppt/notesSlides/notesSlide5.xml" Id="R3c402589135e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0c218a1d64fdc" /><Relationship Type="http://schemas.openxmlformats.org/officeDocument/2006/relationships/image" Target="/ppt/media/image3.png" Id="R599bb3728fb246c7" /><Relationship Type="http://schemas.openxmlformats.org/officeDocument/2006/relationships/notesSlide" Target="/ppt/notesSlides/notesSlide6.xml" Id="R9d17b8d41231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4683b4be04211" /><Relationship Type="http://schemas.openxmlformats.org/officeDocument/2006/relationships/image" Target="/ppt/media/image6.png" Id="Rd372daee0b964216" /><Relationship Type="http://schemas.openxmlformats.org/officeDocument/2006/relationships/notesSlide" Target="/ppt/notesSlides/notesSlide7.xml" Id="R8589bada5388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7028375784bcb" /><Relationship Type="http://schemas.openxmlformats.org/officeDocument/2006/relationships/image" Target="/ppt/media/image7.png" Id="R91195711d2fd4336" /><Relationship Type="http://schemas.openxmlformats.org/officeDocument/2006/relationships/notesSlide" Target="/ppt/notesSlides/notesSlide8.xml" Id="R9b6cba2c4860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a4c8f031149e9" /><Relationship Type="http://schemas.openxmlformats.org/officeDocument/2006/relationships/image" Target="/ppt/media/image8.png" Id="R72929c08488a4f8a" /><Relationship Type="http://schemas.openxmlformats.org/officeDocument/2006/relationships/notesSlide" Target="/ppt/notesSlides/notesSlide9.xml" Id="R7637066b95a543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1b6f88d724d40" /><Relationship Type="http://schemas.openxmlformats.org/officeDocument/2006/relationships/image" Target="/ppt/media/image9.png" Id="R895fb0ee4fbf4bbe" /><Relationship Type="http://schemas.openxmlformats.org/officeDocument/2006/relationships/notesSlide" Target="/ppt/notesSlides/notesSlide10.xml" Id="Rcc02730b124348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42ea6afb049be" /><Relationship Type="http://schemas.openxmlformats.org/officeDocument/2006/relationships/image" Target="/ppt/media/image2.jpeg" Id="Rfba1623565b1446e" /><Relationship Type="http://schemas.openxmlformats.org/officeDocument/2006/relationships/image" Target="/ppt/media/image10.png" Id="R9a686ca916214382" /><Relationship Type="http://schemas.openxmlformats.org/officeDocument/2006/relationships/notesSlide" Target="/ppt/notesSlides/notesSlide11.xml" Id="R2309f11031c744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3bab4eee54d9f" /><Relationship Type="http://schemas.openxmlformats.org/officeDocument/2006/relationships/image" Target="/ppt/media/image11.png" Id="R93092b16f50b4c16" /><Relationship Type="http://schemas.openxmlformats.org/officeDocument/2006/relationships/notesSlide" Target="/ppt/notesSlides/notesSlide12.xml" Id="R4b97940b314e48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0ca8c27054d55" /><Relationship Type="http://schemas.openxmlformats.org/officeDocument/2006/relationships/image" Target="/ppt/media/image12.png" Id="Rd8090bf3fed74c2d" /><Relationship Type="http://schemas.openxmlformats.org/officeDocument/2006/relationships/notesSlide" Target="/ppt/notesSlides/notesSlide13.xml" Id="R831e1adfa8f24e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fe1e43a84a49" /><Relationship Type="http://schemas.openxmlformats.org/officeDocument/2006/relationships/image" Target="/ppt/media/image13.png" Id="R09964e7b275c4f14" /><Relationship Type="http://schemas.openxmlformats.org/officeDocument/2006/relationships/notesSlide" Target="/ppt/notesSlides/notesSlide14.xml" Id="R70dad9bdc9964f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09e4a91674911" /><Relationship Type="http://schemas.openxmlformats.org/officeDocument/2006/relationships/image" Target="/ppt/media/image3.jpeg" Id="R98436546b3c841e9" /><Relationship Type="http://schemas.openxmlformats.org/officeDocument/2006/relationships/image" Target="/ppt/media/image14.png" Id="Re4c3d59d58a54eb8" /><Relationship Type="http://schemas.openxmlformats.org/officeDocument/2006/relationships/notesSlide" Target="/ppt/notesSlides/notesSlide15.xml" Id="R3c5d6f5ae84644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f6ce04cb34e8d"/>
          <a:srcRect xmlns:a="http://schemas.openxmlformats.org/drawingml/2006/main" l="27431" t="0" r="274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638B51E6-35C4-4BD3-A095-D9C7058E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85F63C2D-B5BA-4A6A-B302-E245CA64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01C35A18-304A-47D8-A53B-CD32319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fdda196ef4e4f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F180E9B0-2445-43C1-BCE0-588FACE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176EDB39-1509-4FA1-8F64-2AD377D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EB450FE-282C-48BD-A292-E4F30BDC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Power BI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modelo semántico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1AB30B94-98B1-411D-A9A3-65EC2B1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6A6558BB-17BE-4978-8B53-9C7E97A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1CAC9D86-0FE2-4ED6-8D91-08D04C7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¿Cómo entregar métricas consistentes dentro de un modelo de consumo?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4E18BA21-95B9-4529-9C2D-B0080CF9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898BE835-8542-4D10-B26D-215ED12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6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5E284430-1F97-40BB-97EF-EC174977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565371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6177FE5C-B419-4647-98EA-9EAB16A4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1D840F4-2550-4877-938D-4258FF2B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03B9105-B13B-4808-9CF1-8F12FDDA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441fe0f264891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90160F37-CFE2-4DEC-9E40-7F3640B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28104EC-58AB-4442-A712-3FB9A69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9E30401-6DEA-474F-A4B4-0CC41411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BFCBD73-D5D4-4636-8A07-8D512C9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Power BI separa preparación, modelo y experiencia de consumo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959BED7-8CAB-4148-90CC-DAFB3719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C02329E-7BCB-4B84-8FC5-D581D4C4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6C84592-FFE2-4C3E-96CB-1D68C571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8149CE7-1A19-4170-A528-39220CA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23991AF-85FA-4772-90E2-CE06A98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9001275-820F-4C5B-8019-A3F750A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0645A93-A867-46B4-85FC-776588C5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POWER BI · ARQUITECTURA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CF4DB62-2220-40D2-B1ED-F7349704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D094E89-6F15-4025-828C-5AB4E94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9188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B2B30DEB-8017-474A-AD69-A5010BE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6B1867C5-4B2C-4B10-8224-1AD8E9D3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4582731D-C902-4858-95A3-750250AA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B6EB3BE8-5AAE-4771-B893-2262643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Power Query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D48CAAFA-907F-44BC-8D79-EB8297F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conectar y preparar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01752CC-214E-4697-81C2-99FE569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63025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E9DDC8D2-9DA0-4F9C-BCCA-B51BC57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FC0D264C-4D9B-4175-ACDD-9DBAEA5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4537FA97-CE53-4DC5-BECA-317D0918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62588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CCE10FBC-FD77-425D-AD34-FBB15F3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Modelo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FA8B854-985F-45E2-BF99-AE91D854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relaciones y medidas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E0D62A6-DE4C-4C86-ACFA-94954AE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96863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24927BA6-19F8-48CA-9A01-73B04178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4075BB82-888A-408D-8418-EAE087C9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9113B06E-06C6-449B-8D83-ED78790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96425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868D0851-9E17-4198-ABA5-AED2CD3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Reporte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ECE2C7B3-C4B5-498E-BC97-23D8149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preguntas y navegación</a:t>
            </a:r>
          </a:p>
        </p:txBody>
      </p:sp>
      <p:sp>
        <p:nvSpPr>
          <p:cNvPr id="35" name="flow-step-3">
            <a:extLst xmlns:a="http://schemas.openxmlformats.org/drawingml/2006/main">
              <a:ext uri="{FF2B5EF4-FFF2-40B4-BE49-F238E27FC236}">
                <a16:creationId xmlns:a16="http://schemas.microsoft.com/office/drawing/2014/main" id="{2015B2A5-A027-400F-ADB7-A185E37F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3714750"/>
            <a:ext cx="3709988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6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940EB9AB-7AFA-489F-802F-DD4FC37D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3810000"/>
            <a:ext cx="336708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7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5D000B60-F30F-4D84-8DE9-9FF13884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30263" y="4495800"/>
            <a:ext cx="3328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8" name="flow-head-3">
            <a:extLst xmlns:a="http://schemas.openxmlformats.org/drawingml/2006/main">
              <a:ext uri="{FF2B5EF4-FFF2-40B4-BE49-F238E27FC236}">
                <a16:creationId xmlns:a16="http://schemas.microsoft.com/office/drawing/2014/main" id="{B79D3546-8D52-4631-B784-D842C89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4610100"/>
            <a:ext cx="33289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Servicio</a:t>
            </a:r>
          </a:p>
        </p:txBody>
      </p:sp>
      <p:sp>
        <p:nvSpPr>
          <p:cNvPr id="39" name="flow-body-3">
            <a:extLst xmlns:a="http://schemas.openxmlformats.org/drawingml/2006/main">
              <a:ext uri="{FF2B5EF4-FFF2-40B4-BE49-F238E27FC236}">
                <a16:creationId xmlns:a16="http://schemas.microsoft.com/office/drawing/2014/main" id="{2394976C-314F-4574-AA57-DC603D43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5267325"/>
            <a:ext cx="33289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publicar y actualizar</a:t>
            </a:r>
          </a:p>
        </p:txBody>
      </p:sp>
      <p:sp>
        <p:nvSpPr>
          <p:cNvPr id="40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BB50BF5A-0133-4715-ABB2-7B51A3A6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1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A8F5499C-D4D7-47DA-B91E-030A6DBA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capa conserva una responsabilidad y un control.</a:t>
            </a:r>
          </a:p>
        </p:txBody>
      </p:sp>
    </p:spTree>
    <p:extLst>
      <p:ext uri="{BB962C8B-B14F-4D97-AF65-F5344CB8AC3E}">
        <p14:creationId xmlns:p14="http://schemas.microsoft.com/office/powerpoint/2010/main" val="111681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1D00EBB6-8C50-4655-8682-A0BB8AC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16391F7-57E4-443E-BBBA-AA86B85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1D0AE35-AB36-41ED-BEE9-FA0B8B9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fe30a6f8c405c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4857770-D799-4D3F-B051-DAC75EB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8C5B9FF7-DAF9-4DF3-8468-2F86AD9B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BDA0FBEE-2BB6-431F-B341-031F677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34951DD-4F12-4DCA-B434-A85F873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Power Query entrega una tabla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actualizable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y controlada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A8E78B46-AA8E-4607-9BB1-5C72CDB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96DDC03-BC75-4AAD-9E3D-D600BEE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2252D2C-1E42-4A33-BCF5-DFA85CF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C2BC382-D983-4DC8-8BDD-21FA7A48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01B97A2-89B5-48BF-A02E-7C99C8F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DA8E3A3-FBEE-4964-92E6-46CCA97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36C080F-729B-4D58-ABCB-F0ACC1A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POWER QUERY · PREPARACIÓN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D99AE7F-E1B7-471E-AE6F-476103D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28FB1472-0097-4600-914D-E47C324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7173A315-27DD-4EA4-9EE6-8774B37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7E02647A-FAC6-4DD6-8F6F-CBBC05FF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F97DA50E-B73E-4E7B-A496-8DB6093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Carpeta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518D50AD-034E-4F78-BF06-C0E7F58F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archivos y recepción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F061CBD4-5D14-4E9E-8778-206AF41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3768D6FA-C4E2-4E1B-B676-BCB06B6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C823E6A1-C734-46FC-A494-B14214F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5F35CD44-3EAF-4D98-B81C-565C129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Combinar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7DD85AE6-2151-4B25-8884-B70EB74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mismo esquema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64FC9C4A-0199-4913-9B57-4827B4B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8E694D1E-0E8B-40A0-A48E-6C24BF2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27AEEAC8-FD3C-46E1-B3C5-D7A9B33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40535858-AD47-4119-921E-727AF41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Normalizar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AFCDEA57-94DF-44F7-9AB6-1D07D5A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tipos y columnas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4F4EEE31-92BD-4049-8D25-DD1474F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F94A6CE9-9BC7-45DE-99C2-1E8A6D29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195EBAB6-0D4A-4544-AFD3-4E3DD5C6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30A8D07C-AEDC-4580-B791-AAE3880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Separar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354A1C65-C951-4D38-A196-350D968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válidos y rechazos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908E6341-CC9F-439B-9E57-CC1A030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6DDBB349-B160-4A55-A540-526F529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79F2132C-95E3-4171-8A53-D8B3ACA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1C4AF7A3-9FE8-4220-B509-4EEA73E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Cargar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1E507CD8-0222-4540-8D75-998917E9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Excel o modelo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AF5280D3-2D98-45B0-BA5C-1850DEAE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Actualizar repite las reglas; la reconciliación confirma 5 archivos y 28 filas curadas.</a:t>
            </a:r>
          </a:p>
        </p:txBody>
      </p:sp>
    </p:spTree>
    <p:extLst>
      <p:ext uri="{BB962C8B-B14F-4D97-AF65-F5344CB8AC3E}">
        <p14:creationId xmlns:p14="http://schemas.microsoft.com/office/powerpoint/2010/main" val="447091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E6B8ECC8-554A-403A-A4E4-B1192F8E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B50AF151-5795-4D68-8096-782809E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383E94E9-B277-4942-AE2A-A32B585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97df695ff46d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36C0929-3BB8-469C-8DAE-A9843C94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188E7A1-2AE7-4791-971F-8CF7A6F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7C54DDC7-18E2-45B0-90D5-F6B09E65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46C1BDC-98B2-4FBE-AB95-2E6D41D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Los marts llegan con propósito y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declarados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3AF3B40-32DC-4DE7-A647-B4DFB1A0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906BA17-53E1-423C-9684-3699FCD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B8F4B86-2595-4F30-ABD4-AFB7E280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81EF1E4-358D-4BDA-994D-2979E14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47031EA-6B39-47C8-8876-BBAF310E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CA8895C-12D7-4CC3-B082-9A1797C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96A25A5-9478-44CE-A377-11234224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ENTRADA · PAQUETE E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9E19C3B-C96E-4C7E-9CB1-17BA0A4E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55E34BAE-CB76-4542-B0C4-D8C38A82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279392"/>
                <a:gridCol w="4754880"/>
                <a:gridCol w="6815328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Tabla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Grano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Uso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fact_ventas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vendida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 y margen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dim_fecha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 día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períodos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dim_producto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 producto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dim_cliente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 cliente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segmento y región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978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BC0648E2-49AF-4C1B-8824-20B27B62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13DF3F9E-50BC-4353-A4F1-1428F2F3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0870E539-DF25-43F6-BBFE-1CFA196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30750ddea4d6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9EF71F1-E05B-4CB8-96F0-D38AEF6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121AC6A-DD33-48EB-A452-03EAFC70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11E1BE7-BDDE-4B30-8777-07F82F48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AD19368-86D9-4873-8C67-4FD18E65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esquema estrella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hace predecible el contexto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31E60A8-03E2-42AE-B8D9-49004DE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05B34FD-B88A-42D2-8584-AE82B988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AF039AC-BCFA-4703-AD20-10749684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61F1BC79-8A93-4DA9-A6F1-CE5B77EE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79C754E-9E91-4386-AA36-3D47569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69C7364B-58F7-4ED2-B384-C2E4DEB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CD71336-1A0D-4161-AE41-666D4E9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MODELO · ESQUEMA ESTRELLA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724BCEC-F8D9-451D-8EE0-778EE429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r-line-date">
            <a:extLst xmlns:a="http://schemas.openxmlformats.org/drawingml/2006/main">
              <a:ext uri="{FF2B5EF4-FFF2-40B4-BE49-F238E27FC236}">
                <a16:creationId xmlns:a16="http://schemas.microsoft.com/office/drawing/2014/main" id="{E7536874-D5BB-44E8-9940-49F41369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57750" y="4143375"/>
            <a:ext cx="2143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star-line-customer">
            <a:extLst xmlns:a="http://schemas.openxmlformats.org/drawingml/2006/main">
              <a:ext uri="{FF2B5EF4-FFF2-40B4-BE49-F238E27FC236}">
                <a16:creationId xmlns:a16="http://schemas.microsoft.com/office/drawing/2014/main" id="{329758E5-0130-4FD8-9784-8ABEAD59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57750" y="5953125"/>
            <a:ext cx="21431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9" name="star-line-product">
            <a:extLst xmlns:a="http://schemas.openxmlformats.org/drawingml/2006/main">
              <a:ext uri="{FF2B5EF4-FFF2-40B4-BE49-F238E27FC236}">
                <a16:creationId xmlns:a16="http://schemas.microsoft.com/office/drawing/2014/main" id="{6AC8E233-D03E-4E45-A216-EFF69B44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82375" y="4143375"/>
            <a:ext cx="20478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0" name="star-line-channel">
            <a:extLst xmlns:a="http://schemas.openxmlformats.org/drawingml/2006/main">
              <a:ext uri="{FF2B5EF4-FFF2-40B4-BE49-F238E27FC236}">
                <a16:creationId xmlns:a16="http://schemas.microsoft.com/office/drawing/2014/main" id="{4A063996-7912-48AC-AFF5-1F3655B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82375" y="5953125"/>
            <a:ext cx="204787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1" name="star-box-date">
            <a:extLst xmlns:a="http://schemas.openxmlformats.org/drawingml/2006/main">
              <a:ext uri="{FF2B5EF4-FFF2-40B4-BE49-F238E27FC236}">
                <a16:creationId xmlns:a16="http://schemas.microsoft.com/office/drawing/2014/main" id="{779E1796-F982-4C78-B7BC-82A88B30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22" name="star-head-date">
            <a:extLst xmlns:a="http://schemas.openxmlformats.org/drawingml/2006/main">
              <a:ext uri="{FF2B5EF4-FFF2-40B4-BE49-F238E27FC236}">
                <a16:creationId xmlns:a16="http://schemas.microsoft.com/office/drawing/2014/main" id="{A352C26B-10D7-446F-9EE6-225F56F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99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dim_fecha</a:t>
            </a:r>
          </a:p>
        </p:txBody>
      </p:sp>
      <p:sp>
        <p:nvSpPr>
          <p:cNvPr id="23" name="star-body-date">
            <a:extLst xmlns:a="http://schemas.openxmlformats.org/drawingml/2006/main">
              <a:ext uri="{FF2B5EF4-FFF2-40B4-BE49-F238E27FC236}">
                <a16:creationId xmlns:a16="http://schemas.microsoft.com/office/drawing/2014/main" id="{CC69E036-666A-4B5D-8D18-0630D54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8147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día · mes · año</a:t>
            </a:r>
          </a:p>
        </p:txBody>
      </p:sp>
      <p:sp>
        <p:nvSpPr>
          <p:cNvPr id="24" name="star-box-customer">
            <a:extLst xmlns:a="http://schemas.openxmlformats.org/drawingml/2006/main">
              <a:ext uri="{FF2B5EF4-FFF2-40B4-BE49-F238E27FC236}">
                <a16:creationId xmlns:a16="http://schemas.microsoft.com/office/drawing/2014/main" id="{36E7F745-A51A-430D-8471-074CDE5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25" name="star-head-customer">
            <a:extLst xmlns:a="http://schemas.openxmlformats.org/drawingml/2006/main">
              <a:ext uri="{FF2B5EF4-FFF2-40B4-BE49-F238E27FC236}">
                <a16:creationId xmlns:a16="http://schemas.microsoft.com/office/drawing/2014/main" id="{4E65465A-E27D-40EB-AAA6-7DEDA0FF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4198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dim_cliente</a:t>
            </a:r>
          </a:p>
        </p:txBody>
      </p:sp>
      <p:sp>
        <p:nvSpPr>
          <p:cNvPr id="26" name="star-body-customer">
            <a:extLst xmlns:a="http://schemas.openxmlformats.org/drawingml/2006/main">
              <a:ext uri="{FF2B5EF4-FFF2-40B4-BE49-F238E27FC236}">
                <a16:creationId xmlns:a16="http://schemas.microsoft.com/office/drawing/2014/main" id="{F1919D0D-80F0-4F31-A4D0-9436E1F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991350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segmento · región</a:t>
            </a:r>
          </a:p>
        </p:txBody>
      </p:sp>
      <p:sp>
        <p:nvSpPr>
          <p:cNvPr id="27" name="star-box-product">
            <a:extLst xmlns:a="http://schemas.openxmlformats.org/drawingml/2006/main">
              <a:ext uri="{FF2B5EF4-FFF2-40B4-BE49-F238E27FC236}">
                <a16:creationId xmlns:a16="http://schemas.microsoft.com/office/drawing/2014/main" id="{06AD8647-9D33-4E1D-BBEF-E1CBACD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381375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28" name="star-head-product">
            <a:extLst xmlns:a="http://schemas.openxmlformats.org/drawingml/2006/main">
              <a:ext uri="{FF2B5EF4-FFF2-40B4-BE49-F238E27FC236}">
                <a16:creationId xmlns:a16="http://schemas.microsoft.com/office/drawing/2014/main" id="{28CAB0FE-D307-4390-A583-D883027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6099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dim_producto</a:t>
            </a:r>
          </a:p>
        </p:txBody>
      </p:sp>
      <p:sp>
        <p:nvSpPr>
          <p:cNvPr id="29" name="star-body-product">
            <a:extLst xmlns:a="http://schemas.openxmlformats.org/drawingml/2006/main">
              <a:ext uri="{FF2B5EF4-FFF2-40B4-BE49-F238E27FC236}">
                <a16:creationId xmlns:a16="http://schemas.microsoft.com/office/drawing/2014/main" id="{7F0D384B-835E-41F1-A5B8-5B8D9CE1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18147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familia · descripción</a:t>
            </a:r>
          </a:p>
        </p:txBody>
      </p:sp>
      <p:sp>
        <p:nvSpPr>
          <p:cNvPr id="30" name="star-box-channel">
            <a:extLst xmlns:a="http://schemas.openxmlformats.org/drawingml/2006/main">
              <a:ext uri="{FF2B5EF4-FFF2-40B4-BE49-F238E27FC236}">
                <a16:creationId xmlns:a16="http://schemas.microsoft.com/office/drawing/2014/main" id="{1C6BBDAE-0A76-4C0C-AE09-B7D198C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191250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31" name="star-head-channel">
            <a:extLst xmlns:a="http://schemas.openxmlformats.org/drawingml/2006/main">
              <a:ext uri="{FF2B5EF4-FFF2-40B4-BE49-F238E27FC236}">
                <a16:creationId xmlns:a16="http://schemas.microsoft.com/office/drawing/2014/main" id="{93F248A1-6962-4596-89D2-654A78F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4198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8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dim_canal</a:t>
            </a:r>
          </a:p>
        </p:txBody>
      </p:sp>
      <p:sp>
        <p:nvSpPr>
          <p:cNvPr id="32" name="star-body-channel">
            <a:extLst xmlns:a="http://schemas.openxmlformats.org/drawingml/2006/main">
              <a:ext uri="{FF2B5EF4-FFF2-40B4-BE49-F238E27FC236}">
                <a16:creationId xmlns:a16="http://schemas.microsoft.com/office/drawing/2014/main" id="{D1BBAEDF-4E3C-45B6-B794-7AB6025A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991350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canal · tipo de venta</a:t>
            </a:r>
          </a:p>
        </p:txBody>
      </p:sp>
      <p:sp>
        <p:nvSpPr>
          <p:cNvPr id="33" name="star-fact-box">
            <a:extLst xmlns:a="http://schemas.openxmlformats.org/drawingml/2006/main">
              <a:ext uri="{FF2B5EF4-FFF2-40B4-BE49-F238E27FC236}">
                <a16:creationId xmlns:a16="http://schemas.microsoft.com/office/drawing/2014/main" id="{A6936E7C-1F83-48EC-8A05-DFBFC53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438150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34" name="star-fact-head">
            <a:extLst xmlns:a="http://schemas.openxmlformats.org/drawingml/2006/main">
              <a:ext uri="{FF2B5EF4-FFF2-40B4-BE49-F238E27FC236}">
                <a16:creationId xmlns:a16="http://schemas.microsoft.com/office/drawing/2014/main" id="{3194169F-80B0-4BCB-9D19-39B926E9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5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fact_ventas</a:t>
            </a:r>
          </a:p>
        </p:txBody>
      </p:sp>
      <p:sp>
        <p:nvSpPr>
          <p:cNvPr id="35" name="star-fact-grain-label">
            <a:extLst xmlns:a="http://schemas.openxmlformats.org/drawingml/2006/main">
              <a:ext uri="{FF2B5EF4-FFF2-40B4-BE49-F238E27FC236}">
                <a16:creationId xmlns:a16="http://schemas.microsoft.com/office/drawing/2014/main" id="{9FC9435C-953E-4BD7-AF0F-8DB82447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</a:p>
        </p:txBody>
      </p:sp>
      <p:sp>
        <p:nvSpPr>
          <p:cNvPr id="36" name="star-fact-grain">
            <a:extLst xmlns:a="http://schemas.openxmlformats.org/drawingml/2006/main">
              <a:ext uri="{FF2B5EF4-FFF2-40B4-BE49-F238E27FC236}">
                <a16:creationId xmlns:a16="http://schemas.microsoft.com/office/drawing/2014/main" id="{3576C4ED-2238-4502-A57C-69E28EED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911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línea vendida</a:t>
            </a:r>
          </a:p>
        </p:txBody>
      </p:sp>
      <p:sp>
        <p:nvSpPr>
          <p:cNvPr id="37" name="star-fact-rule">
            <a:extLst xmlns:a="http://schemas.openxmlformats.org/drawingml/2006/main">
              <a:ext uri="{FF2B5EF4-FFF2-40B4-BE49-F238E27FC236}">
                <a16:creationId xmlns:a16="http://schemas.microsoft.com/office/drawing/2014/main" id="{65782619-7A15-4EAA-8216-0DA73637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72375" y="585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97D"/>
            </a:solidFill>
            <a:prstDash val="solid"/>
          </a:ln>
        </p:spPr>
      </p:sp>
      <p:sp>
        <p:nvSpPr>
          <p:cNvPr id="38" name="star-fact-measures">
            <a:extLst xmlns:a="http://schemas.openxmlformats.org/drawingml/2006/main">
              <a:ext uri="{FF2B5EF4-FFF2-40B4-BE49-F238E27FC236}">
                <a16:creationId xmlns:a16="http://schemas.microsoft.com/office/drawing/2014/main" id="{D6BAD9FD-609C-4AD9-814C-241CE6B0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436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00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cantidad · venta neta · margen</a:t>
            </a:r>
          </a:p>
        </p:txBody>
      </p:sp>
      <p:sp>
        <p:nvSpPr>
          <p:cNvPr id="39" name="star-callout">
            <a:extLst xmlns:a="http://schemas.openxmlformats.org/drawingml/2006/main">
              <a:ext uri="{FF2B5EF4-FFF2-40B4-BE49-F238E27FC236}">
                <a16:creationId xmlns:a16="http://schemas.microsoft.com/office/drawing/2014/main" id="{0D909EB2-D96D-4C3D-B277-342C6AD9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Las dimensiones filtran una tabla de hechos con medidas aditivas.</a:t>
            </a:r>
          </a:p>
        </p:txBody>
      </p:sp>
    </p:spTree>
    <p:extLst>
      <p:ext uri="{BB962C8B-B14F-4D97-AF65-F5344CB8AC3E}">
        <p14:creationId xmlns:p14="http://schemas.microsoft.com/office/powerpoint/2010/main" val="143197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1D00EBB6-8C50-4655-8682-A0BB8AC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16391F7-57E4-443E-BBBA-AA86B85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1D0AE35-AB36-41ED-BEE9-FA0B8B9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bb3728fb246c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4857770-D799-4D3F-B051-DAC75EB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8C5B9FF7-DAF9-4DF3-8468-2F86AD9B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BDA0FBEE-2BB6-431F-B341-031F677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34951DD-4F12-4DCA-B434-A85F873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lado uno necesita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claves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únicas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A8E78B46-AA8E-4607-9BB1-5C72CDB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96DDC03-BC75-4AAD-9E3D-D600BEE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2252D2C-1E42-4A33-BCF5-DFA85CF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C2BC382-D983-4DC8-8BDD-21FA7A48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01B97A2-89B5-48BF-A02E-7C99C8F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DA8E3A3-FBEE-4964-92E6-46CCA97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36C080F-729B-4D58-ABCB-F0ACC1A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MODELO · RELACIONES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D99AE7F-E1B7-471E-AE6F-476103D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28FB1472-0097-4600-914D-E47C324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7173A315-27DD-4EA4-9EE6-8774B37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7E02647A-FAC6-4DD6-8F6F-CBBC05FF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F97DA50E-B73E-4E7B-A496-8DB6093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Dimensión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518D50AD-034E-4F78-BF06-C0E7F58F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product_id único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F061CBD4-5D14-4E9E-8778-206AF41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3768D6FA-C4E2-4E1B-B676-BCB06B6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C823E6A1-C734-46FC-A494-B14214F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5F35CD44-3EAF-4D98-B81C-565C129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Hecho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7DD85AE6-2151-4B25-8884-B70EB74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product_id repetido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64FC9C4A-0199-4913-9B57-4827B4B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8E694D1E-0E8B-40A0-A48E-6C24BF2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27AEEAC8-FD3C-46E1-B3C5-D7A9B33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40535858-AD47-4119-921E-727AF41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Cardinalidad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AFCDEA57-94DF-44F7-9AB6-1D07D5A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uno a muchos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4F4EEE31-92BD-4049-8D25-DD1474F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F94A6CE9-9BC7-45DE-99C2-1E8A6D29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195EBAB6-0D4A-4544-AFD3-4E3DD5C6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30A8D07C-AEDC-4580-B791-AAE3880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Integridad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354A1C65-C951-4D38-A196-350D968A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cero claves huérfanas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908E6341-CC9F-439B-9E57-CC1A030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6DDBB349-B160-4A55-A540-526F529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79F2132C-95E3-4171-8A53-D8B3ACA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1C4AF7A3-9FE8-4220-B509-4EEA73E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Control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1E507CD8-0222-4540-8D75-998917E9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distinct count = filas dim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AF5280D3-2D98-45B0-BA5C-1850DEAE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Una relación ambigua cambia el resultado de cada medida.</a:t>
            </a:r>
          </a:p>
        </p:txBody>
      </p:sp>
    </p:spTree>
    <p:extLst>
      <p:ext uri="{BB962C8B-B14F-4D97-AF65-F5344CB8AC3E}">
        <p14:creationId xmlns:p14="http://schemas.microsoft.com/office/powerpoint/2010/main" val="447091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604A2575-7DB4-4290-BBD8-A1D1ED7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F15D1A8B-BC98-4826-8275-8C4E3402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D4375C5A-A446-41FD-B6BF-EF96D82F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2daee0b96421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ACA5BAD-FBA5-4FBB-8F57-C7840A0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47D8B0C-182D-4184-A105-F6DA2FF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ABF412D-8235-4F3E-8062-72D462D9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48EE16C-CB15-4460-8B66-DADED176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contexto de filtro viaja desde la selección hasta la medida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2956CC0-208A-4CBC-AE3D-B8B922EF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B7DB93A-63AF-4FAF-BB0A-49C50FE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0CC151AC-2398-44B4-9CD7-7B0BC67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36ABE21D-A579-4860-9162-0598452D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4ABC155-101E-4046-BC56-D109457E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20CBF99-7EE9-44C4-B2D1-F0A52F3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FD17A89-6215-406D-9E6E-2E60327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DAX · CONTEXTO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60D224F-42C9-416B-B542-9DDF4D6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212CEDA0-BF6D-4943-93A7-9861815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D0AEAD04-17E2-4691-B27F-9F5E87EB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1734EBBC-AC02-457C-94DC-245025D0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8459CF18-C3FF-4AC4-B1AA-505EFE5A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92BB78A-3D16-4373-8E27-45B041C3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Usuario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9B30F82-83ED-4328-A1B1-3B974BE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elige Patagonia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1B12B96-CD4A-46F1-B018-28E813B1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91933033-CA66-4CEA-BB6B-DEE15D42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06146F31-7667-4A58-B68C-2CB8FAA4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39D51484-F8B5-4540-B27C-E433EDA0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8C3DDD2F-E0C9-4399-A855-5C3F49DD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Dimensión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DA9F2AA-83E3-42BA-A472-8D746737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filtra clientes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9A83304-0C5D-400F-BD3D-4D92967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CF3A98D-DE07-4610-816F-9E86D15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1583F8B-FA04-44CF-B9D4-C78F90E2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A102915B-7AAC-4B66-9540-AE50110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E66B010A-E071-4709-A2B5-EA6407A9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Relación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BD22E0E1-8087-4534-BB66-2BAD0C2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propaga claves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EFCD8D2-2639-4C63-83FC-4916D2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22D8D564-C745-46D0-B124-977DF37C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C3629F70-3C8D-443B-93E8-BC190F9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6159D49B-9DDF-40AB-9639-F82E01B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DE69DDD4-AF53-4542-9709-6D57DCEE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Hecho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740C03B-1670-4051-83F6-077D658F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reduce líneas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C0EB94B3-4A7F-4764-9F4F-4C0BFE8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B9A9F7DC-D3F4-4B8A-BF37-750FD6C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14FEAA3F-C784-4D75-809F-DACC794F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E532E7B8-456E-411C-9E61-94AB0A1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Medida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C6FE9B7E-80E1-4A85-B296-CA3CB7A8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agrega venta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EC4D6C12-E4DF-4C48-A357-9EBFED8E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F6742D97-D2B2-43A1-96A6-7DAB4B8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 dirección de filtro forma parte del significado del modelo.</a:t>
            </a:r>
          </a:p>
        </p:txBody>
      </p:sp>
    </p:spTree>
    <p:extLst>
      <p:ext uri="{BB962C8B-B14F-4D97-AF65-F5344CB8AC3E}">
        <p14:creationId xmlns:p14="http://schemas.microsoft.com/office/powerpoint/2010/main" val="741646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6A22B4FD-706E-4A93-B420-F1F3F8ED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2F2DFEEB-7D28-40EC-9292-B1079C0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CE4830D1-8578-4020-9DC8-5ED14131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95711d2fd433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C50FDFD-06BE-40DC-BFA3-496006D1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406D973-FB15-40E9-B90E-6111E3E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888C8E9-F9D2-487B-85B3-CEE8665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0D767307-7FAD-4563-99FB-23CEE15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Columnas y medidas se calculan en contextos distintos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8B75510-CA45-4699-A8BC-B46EF99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AF9E827-443F-4A57-88C5-2C4B360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A0E1219-F304-456C-8EC0-4F7DEB4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77FB877-2051-4E7C-A6D8-3DB1394D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548D59F-8B54-430F-879F-E34C521B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62D8EF84-EF11-4EA5-9B4A-EF60A72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678D5B3-3A6E-4A15-9DFF-EBC41EDD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DAX · DISTINCIÓN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6B2F30E-1DC3-4880-BAB8-D6A8710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4B5D2D8B-DF15-4BB8-9F35-8181B4A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A4764064-C24D-4AE6-86BD-0E66012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C1BDD25B-6477-4BDA-95C1-B1EE7483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fila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04C3A6D1-B01D-48F3-80CD-DC908E44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Columna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632E7582-DFC6-44A0-9049-115A32D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CF3A7DC4-4178-4F64-812F-40E7466A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Se evalúa para cada registro y se almacena en el modelo.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176F4868-CB5B-4A95-A709-A77092DE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filtro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22289EA1-4BCF-4591-9534-774DEEA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Medida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08BE9711-0B9A-46F6-891E-3C0FE2F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A2411DF6-7956-4C18-9BFC-97C2B55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Se evalúa al consultar según la selección del usuario.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1B4DB4C9-9085-4B41-8C46-C0D45AC1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B2EBFF5E-94A2-4883-8E54-1BA417A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Las definiciones de KPI se implementan como medidas cuando deben responder al contexto.</a:t>
            </a:r>
          </a:p>
        </p:txBody>
      </p:sp>
    </p:spTree>
    <p:extLst>
      <p:ext uri="{BB962C8B-B14F-4D97-AF65-F5344CB8AC3E}">
        <p14:creationId xmlns:p14="http://schemas.microsoft.com/office/powerpoint/2010/main" val="343107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8D97104-826A-4B2E-96F3-C565A3EB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FABB67A-4070-4687-88A7-56719FA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37668335-6CB3-4A3C-9517-7A1E471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29c08488a4f8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35A1314-BEA4-4F71-BC45-8567EBE3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97A5E22B-9537-4890-B5E8-2FBF385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12E35120-F1AE-4D98-888E-6A10FD1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A25F68D-6037-4AD6-BA9A-6AEA1B7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medida expresa la definición del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KPI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8B22336-13CE-428D-B7E6-E8F1F1B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6C8A669-9995-49F4-9117-71CB3126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73EB093-35CB-4350-85E7-2378FF27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DEC2E1F-C8AF-4BAA-BCAC-5D34BAB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FD90A7F-3815-4EE0-8568-8B4B301A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CD1C7F2-3AE5-435C-8246-7192E4E6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8DF9A30-9FFC-4F46-B7E0-3FC521ED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DAX · VENTA NETA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C8499D2-4BA5-4B2E-B5CB-3E2B9885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1F5A4BB3-83B8-429C-BD28-7420A3C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89C6F53B-D37C-4BA7-BFE6-6EF2088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Venta Neta :=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SUMX(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fact_ventas,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fact_ventas[cantidad]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* fact_ventas[precio_unitario]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* (1 - fact_ventas[descuento])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Filtro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Venta Neta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Todo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$ 84,3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Patagonia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$ 13,7 M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$ 18,4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899788CF-6438-4296-9AD9-18EF2C3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206DFA13-9358-4A29-8185-1D60BBF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fórmula permanece; el contexto cambia la población evaluada.</a:t>
            </a:r>
          </a:p>
        </p:txBody>
      </p:sp>
    </p:spTree>
    <p:extLst>
      <p:ext uri="{BB962C8B-B14F-4D97-AF65-F5344CB8AC3E}">
        <p14:creationId xmlns:p14="http://schemas.microsoft.com/office/powerpoint/2010/main" val="2042255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277F516D-6597-4FB5-B4E9-19D8D95D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5362F5E-F19F-45ED-A7A8-91F1743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0BDA987-C204-4A8E-BEA4-83DFABD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fb0ee4fbf4bbe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33C51DC-A393-4660-BEFA-C18303F0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2FCEE96-EBEE-4485-995F-A815DBC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9002483-E5F2-4FF1-933D-9BB1397C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D328490-D74C-4BB3-AA44-34B59D5C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ratio se construye desde medidas reconciliables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EA1BDE4-F33D-4EDE-860A-E456B2F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78189C7-C92B-41E3-B6BB-048BD68B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8DE40B7E-2CBB-4D48-90C2-C525C5C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D48D1FE-923B-4861-B5EE-0BDDF6D4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41B6F585-2B1F-4044-8317-6AA26F1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02DBAF5-83A1-4054-88FA-93281C73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4B54C2F-98AF-4573-9E36-3D49EC3A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DAX · MARGEN %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DE8F524E-5C02-48DC-85BA-CA40254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de-panel">
            <a:extLst xmlns:a="http://schemas.openxmlformats.org/drawingml/2006/main">
              <a:ext uri="{FF2B5EF4-FFF2-40B4-BE49-F238E27FC236}">
                <a16:creationId xmlns:a16="http://schemas.microsoft.com/office/drawing/2014/main" id="{2392000E-E329-4DD2-8FB9-558557AA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8" name="code-text">
            <a:extLst xmlns:a="http://schemas.openxmlformats.org/drawingml/2006/main">
              <a:ext uri="{FF2B5EF4-FFF2-40B4-BE49-F238E27FC236}">
                <a16:creationId xmlns:a16="http://schemas.microsoft.com/office/drawing/2014/main" id="{27C5E0BC-FF05-4306-988C-CBC9D84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Margen Bruto :=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[Venta Neta] - [Costo Total]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Margen % :=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DIVIDE([Margen Bruto], [Venta Neta])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90525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Medida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 Neta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$ 84,3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Costo Total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$ 57,8 M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Margen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31,4 %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33D10000-B1EE-4FDE-AB96-08CE061E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8153400" cy="3438525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1" name="code-note">
            <a:extLst xmlns:a="http://schemas.openxmlformats.org/drawingml/2006/main">
              <a:ext uri="{FF2B5EF4-FFF2-40B4-BE49-F238E27FC236}">
                <a16:creationId xmlns:a16="http://schemas.microsoft.com/office/drawing/2014/main" id="{54BC0EFC-8DA6-4186-8057-055A0D99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Numerador y denominador se verifican por separado antes de interpretar el ratio.</a:t>
            </a:r>
          </a:p>
        </p:txBody>
      </p:sp>
    </p:spTree>
    <p:extLst>
      <p:ext uri="{BB962C8B-B14F-4D97-AF65-F5344CB8AC3E}">
        <p14:creationId xmlns:p14="http://schemas.microsoft.com/office/powerpoint/2010/main" val="1565687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DC8EC987-DE35-495E-84F3-04AE509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F186D38-83A6-4A82-A161-DEFB87A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68FC7CA-B377-4BEA-8ABD-C4BF07C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0B429453-2DD5-4EBF-A21A-C8E85F0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29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1623565b1446e"/>
          <a:srcRect xmlns:a="http://schemas.openxmlformats.org/drawingml/2006/main" l="0" t="21274" r="0" b="212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86ca91621438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59E634F-899A-499F-9441-B952E3A5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C9D5DE0-4057-4DCC-8B1C-E1D66D1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9497F55-1549-4B32-9A1C-237491E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6F1FF19-9E19-45FF-BE2C-0A8DCB25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Cada visual responde una tarea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EE08FBA-859B-4DEC-B740-69E9FBE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4A5555E-E342-4B2A-A69E-C198262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7A84D1F-383E-4AA2-9AA5-E42B1F9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1B1E43F-9131-49AA-8949-5D4C834E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AD0A6BF-3427-499E-95DA-C9F80F1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06CE9F04-22DD-41CD-94D0-A34FD0C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73571F5-DD32-4E2B-A0E6-A78D40D8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REPORTE · ELECCIÓN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EDD0E0E-CC01-4B5A-9179-53377E3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7BB8F562-93F3-4377-925C-6836AF9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022848"/>
                <a:gridCol w="4279392"/>
                <a:gridCol w="5547360"/>
              </a:tblGrid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Visual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Interacción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familia vende más?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barras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filtro por región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¿cómo evoluciona?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rango de fechas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¿dónde se concentra la demora?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distribución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detalle por ruta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KPI requiere acción?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tarjeta + tendencia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drill-through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765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8DC69912-38EB-4E39-9022-8BC494A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6331D5C-32C2-4403-8ED7-8FDE3C2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CD20A634-DC1A-4E56-82B6-241D89E1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92b16f50b4c1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C1C746B-32E8-4F19-A59E-DC763A4A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64125BF-6B44-4928-8D21-2ED7475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F8AEB29-0A08-4B24-AE7B-6038278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DBAA116-37FF-4B74-B5E1-8F38AB9D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página organiza una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A6C2815C-D638-473A-A7AF-74202C2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16AD5E0-DBC2-4CA8-9EC5-DB173619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62DC168-149A-47B1-BEEE-C2B3ACBA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8A5AE14-9159-421F-B47E-BA7250EA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2337BDB-83B2-445D-8C3A-A523192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60CE357-CB65-4F52-A98E-C957D88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6999FCE-9151-4089-8E03-76EA26B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REPORTE · COMPOSICIÓN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82C0F8C-2CC9-4742-B176-9747A908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E9DC12CD-43E4-4ED5-B2E0-3B76DC72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CFD242CE-7B61-44AC-B79E-D377E2A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1AE78EF1-74AF-4956-B6F7-7D2C7DC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8B02D40E-7B67-426E-923A-42BD7F1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Pregunta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125A0211-715C-43ED-92D2-B8988193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¿dónde ajustar capacidad?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76A4D577-853F-4C83-B9C5-5720887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6926F9C2-04A6-4528-8BDD-BD9C86E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20A837A3-C3DC-4050-89E4-EB1D198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FAFE040D-413F-45F0-8262-7D5590C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KPI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C59CB2BE-0F0F-4BC0-B25C-E7758EA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P90 de demora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08C64383-0AE1-4959-957C-E61A283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BB045DA6-053A-4AA0-BB2B-4245341A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0C105B52-40AB-4960-AA43-F643C7F6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E603CA92-B7A3-4E1D-92E5-A50EF298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Comparación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02CC125B-7320-4453-9D58-C51A3BD3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región y ruta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40DC317A-69CC-40E6-8E76-6805006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5509E7EC-DCFB-4BD0-8037-FC9AF9B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D32ABCE2-535D-4281-9EBB-1B7B10B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6F523750-0965-4301-AA6B-229E620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Detalle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E07BF773-0DD8-4241-8310-7FF70A38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pedidos afectados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4884457E-9576-4B88-A9A9-07A9184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FD9EAAFF-02BA-43BE-882F-789B1924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929EA70D-2AD7-49EE-AF35-7C1F2D8C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760B00C4-779B-419E-B9EE-F8561E58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Acción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6C5F2534-444F-4FA0-A030-569A714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responsable y umbral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1F173BE6-D08C-4A82-882F-88671B3F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orden visual acompaña la secuencia de lectura de la audiencia.</a:t>
            </a:r>
          </a:p>
        </p:txBody>
      </p:sp>
    </p:spTree>
    <p:extLst>
      <p:ext uri="{BB962C8B-B14F-4D97-AF65-F5344CB8AC3E}">
        <p14:creationId xmlns:p14="http://schemas.microsoft.com/office/powerpoint/2010/main" val="175855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28322A43-6938-4E79-BD56-7D35885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F49A728-C265-4751-8B8D-0158444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35B06BA1-B584-4C31-AF5E-EB62717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90bf3fed74c2d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DA59579-591F-45EE-BB1C-357EF834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AE4BCAA-1BD3-4E1E-95CD-BB3891C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125F50FB-AF9F-4F76-ACA2-37169A29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83CC7FB-3868-4310-B3E2-6A4A5E6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reporte conserva gobierno y reconciliación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0319641E-31B0-4C65-A145-7CC4A7EA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5DE0DA0-41D0-4EAE-8DDB-3E5CFA5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4AB4751-1FB7-49C3-9385-347625E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CAAA227-1335-40B3-8E78-82A3B5E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7E11E9F9-6957-4316-AE0B-B1F973AA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5D3B93A-13DB-4F0C-BC65-1D322FB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7023C1D-01A8-44A6-8107-B18FEF7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ENTREGA · CONTROLES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58EDCDB-06B7-4FCA-B17B-810EE66E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D622681C-8FA7-4C97-B9A7-C94B15C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03904"/>
                <a:gridCol w="5547360"/>
                <a:gridCol w="6498336"/>
              </a:tblGrid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Evidencia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Resultado Faro Sur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Fuente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archivo y versión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mart v6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Actualización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 y estado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12/08 · OK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Reconciliación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SQL = modelo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$ 84,3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Permisos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audiencia definida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curso / equipo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Definición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ficha KPI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Margen % 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414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F79F9224-78C7-40FB-A3BD-A99CF3E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6D75FC3C-1D45-4C80-BDF0-F5B00E7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E8BB9326-864E-4FD4-92EE-13549B4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64e7b275c4f14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EF0AACE-868F-4C69-86B0-DF726C86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B87B3E5-4091-47FC-9E81-FFAE47A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AB94B75A-847B-4141-B005-018295D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FE9454C-BDBC-4622-9522-DA3B6C0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modelo semántico funciona como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contrato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de consumo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B0BED31-A15E-4EB2-9439-98E7D7D2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AC23F74-EA15-40EC-A4AC-3758584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AF15C8E-BE6F-4F02-AE17-96136CF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6F9DCD4-69AA-4037-8212-6618B9DF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045A779E-2866-4CCB-9A2C-D33E94A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C21BFB6-53D6-4B3C-B63A-F6462DD3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B7FA8B7-9109-4206-836C-CC7F9B47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MODELO · SIGNIFICADO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E122F25-577F-4AB9-AECE-E021321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3E9AE183-E343-4245-9C8B-980DDB0A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1447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75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3075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Relaciones, medidas, formatos y descripciones convierten tablas técnicas en un vocabulario compartido. Cada cambio de definición recibe versión y control.</a:t>
            </a:r>
          </a:p>
        </p:txBody>
      </p:sp>
      <p:sp>
        <p:nvSpPr>
          <p:cNvPr id="18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8A113199-C73E-4690-98AD-D23BFB7D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34977580-D4CA-4F14-8FBB-53683D6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El usuario consume una métrica con el mismo significado en cada página.</a:t>
            </a:r>
          </a:p>
        </p:txBody>
      </p:sp>
    </p:spTree>
    <p:extLst>
      <p:ext uri="{BB962C8B-B14F-4D97-AF65-F5344CB8AC3E}">
        <p14:creationId xmlns:p14="http://schemas.microsoft.com/office/powerpoint/2010/main" val="749758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36546b3c841e9"/>
          <a:srcRect xmlns:a="http://schemas.openxmlformats.org/drawingml/2006/main" l="27431" t="0" r="274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F7AC9E8A-3304-4962-B8FB-3CDCA22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2627FB89-2805-4AB8-8088-E8EC3925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10778931-2DEC-4879-BF22-58A4682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3d59d58a54eb8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5170BB1F-E8C0-4F61-BC84-8B218F68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MODELO DE CONSUMO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F3ADFE4-A5A2-4621-B334-93F606AA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 reporte confiable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hereda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controles</a:t>
            </a: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del pipeline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49E52A12-DBD9-485C-8934-E4B95C2F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C6F11AA4-B379-4675-92F9-C06D660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Modelar el grano, definir medidas, verificar filtros y reconciliar cada KPI con su fuente.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9781224F-6B95-48D1-9B27-ABE013AA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510995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2026-08-23T22:33:08.9630000Z</dcterms:created>
  <dcterms:modified xsi:type="dcterms:W3CDTF">2026-08-23T22:33:08.9630000Z</dcterms:modified>
</coreProperties>
</file>