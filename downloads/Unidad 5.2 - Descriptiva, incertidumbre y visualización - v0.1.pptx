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44bc9abd80743d1" /><Relationship Type="http://schemas.openxmlformats.org/officeDocument/2006/relationships/extended-properties" Target="/docProps/app.xml" Id="R079ae97e5f3942d4" /><Relationship Type="http://schemas.openxmlformats.org/officeDocument/2006/relationships/officeDocument" Target="/ppt/presentation.xml" Id="Rc7a619a2a17a401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e83c6e8b486429d"/>
  </p:sldMasterIdLst>
  <p:sldIdLst>
    <p:sldId xmlns:r="http://schemas.openxmlformats.org/officeDocument/2006/relationships" id="256" r:id="R3a1d425c50c24227"/>
    <p:sldId xmlns:r="http://schemas.openxmlformats.org/officeDocument/2006/relationships" id="257" r:id="R2d869f92174e48db"/>
    <p:sldId xmlns:r="http://schemas.openxmlformats.org/officeDocument/2006/relationships" id="258" r:id="R774029998d2341d8"/>
    <p:sldId xmlns:r="http://schemas.openxmlformats.org/officeDocument/2006/relationships" id="259" r:id="Rd71b9fc6cf9c4497"/>
    <p:sldId xmlns:r="http://schemas.openxmlformats.org/officeDocument/2006/relationships" id="260" r:id="R9e98725fb4fe4b0c"/>
    <p:sldId xmlns:r="http://schemas.openxmlformats.org/officeDocument/2006/relationships" id="261" r:id="R9d366f1a1a114eba"/>
    <p:sldId xmlns:r="http://schemas.openxmlformats.org/officeDocument/2006/relationships" id="262" r:id="Ree34f172109a443f"/>
    <p:sldId xmlns:r="http://schemas.openxmlformats.org/officeDocument/2006/relationships" id="263" r:id="R44ec6834d1d24af8"/>
    <p:sldId xmlns:r="http://schemas.openxmlformats.org/officeDocument/2006/relationships" id="264" r:id="R18dbaa23b9474402"/>
    <p:sldId xmlns:r="http://schemas.openxmlformats.org/officeDocument/2006/relationships" id="265" r:id="Rdd97b6bcbc994f0a"/>
    <p:sldId xmlns:r="http://schemas.openxmlformats.org/officeDocument/2006/relationships" id="266" r:id="R3e8c8038959c43d0"/>
    <p:sldId xmlns:r="http://schemas.openxmlformats.org/officeDocument/2006/relationships" id="267" r:id="Ra1cceb5660954433"/>
    <p:sldId xmlns:r="http://schemas.openxmlformats.org/officeDocument/2006/relationships" id="268" r:id="R57d2bc7206f8429a"/>
    <p:sldId xmlns:r="http://schemas.openxmlformats.org/officeDocument/2006/relationships" id="269" r:id="R097dde83545c48dd"/>
    <p:sldId xmlns:r="http://schemas.openxmlformats.org/officeDocument/2006/relationships" id="270" r:id="R03c483f7890a4ad3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b0dd93fa70447e4" /><Relationship Type="http://schemas.openxmlformats.org/officeDocument/2006/relationships/slideMaster" Target="/ppt/slideMasters/slideMaster1.xml" Id="R0e83c6e8b486429d" /><Relationship Type="http://schemas.openxmlformats.org/officeDocument/2006/relationships/presProps" Target="/ppt/presProps.xml" Id="R50ce63621d654863" /><Relationship Type="http://schemas.openxmlformats.org/officeDocument/2006/relationships/tableStyles" Target="/ppt/tableStyles.xml" Id="R5770b4d1980345fe" /><Relationship Type="http://schemas.openxmlformats.org/officeDocument/2006/relationships/slide" Target="/ppt/slides/slide1.xml" Id="R3a1d425c50c24227" /><Relationship Type="http://schemas.openxmlformats.org/officeDocument/2006/relationships/slide" Target="/ppt/slides/slide2.xml" Id="R2d869f92174e48db" /><Relationship Type="http://schemas.openxmlformats.org/officeDocument/2006/relationships/slide" Target="/ppt/slides/slide3.xml" Id="R774029998d2341d8" /><Relationship Type="http://schemas.openxmlformats.org/officeDocument/2006/relationships/slide" Target="/ppt/slides/slide4.xml" Id="Rd71b9fc6cf9c4497" /><Relationship Type="http://schemas.openxmlformats.org/officeDocument/2006/relationships/slide" Target="/ppt/slides/slide5.xml" Id="R9e98725fb4fe4b0c" /><Relationship Type="http://schemas.openxmlformats.org/officeDocument/2006/relationships/slide" Target="/ppt/slides/slide6.xml" Id="R9d366f1a1a114eba" /><Relationship Type="http://schemas.openxmlformats.org/officeDocument/2006/relationships/slide" Target="/ppt/slides/slide7.xml" Id="Ree34f172109a443f" /><Relationship Type="http://schemas.openxmlformats.org/officeDocument/2006/relationships/slide" Target="/ppt/slides/slide8.xml" Id="R44ec6834d1d24af8" /><Relationship Type="http://schemas.openxmlformats.org/officeDocument/2006/relationships/slide" Target="/ppt/slides/slide9.xml" Id="R18dbaa23b9474402" /><Relationship Type="http://schemas.openxmlformats.org/officeDocument/2006/relationships/slide" Target="/ppt/slides/slide10.xml" Id="Rdd97b6bcbc994f0a" /><Relationship Type="http://schemas.openxmlformats.org/officeDocument/2006/relationships/slide" Target="/ppt/slides/slide11.xml" Id="R3e8c8038959c43d0" /><Relationship Type="http://schemas.openxmlformats.org/officeDocument/2006/relationships/slide" Target="/ppt/slides/slide12.xml" Id="Ra1cceb5660954433" /><Relationship Type="http://schemas.openxmlformats.org/officeDocument/2006/relationships/slide" Target="/ppt/slides/slide13.xml" Id="R57d2bc7206f8429a" /><Relationship Type="http://schemas.openxmlformats.org/officeDocument/2006/relationships/slide" Target="/ppt/slides/slide14.xml" Id="R097dde83545c48dd" /><Relationship Type="http://schemas.openxmlformats.org/officeDocument/2006/relationships/slide" Target="/ppt/slides/slide15.xml" Id="R03c483f7890a4ad3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12c870a94343a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2740d6361574fb1" /><Relationship Type="http://schemas.openxmlformats.org/officeDocument/2006/relationships/slideLayout" Target="/ppt/slideLayouts/slideLayout1.xml" Id="R469c75dfc386430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69c75dfc386430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1e66bba8554fa1" /><Relationship Type="http://schemas.openxmlformats.org/officeDocument/2006/relationships/image" Target="/ppt/media/image.jpeg" Id="Rb745297072854ac8" /><Relationship Type="http://schemas.openxmlformats.org/officeDocument/2006/relationships/image" Target="/ppt/media/image.png" Id="R3af807beba9942a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a3bb7304934ee1" /><Relationship Type="http://schemas.openxmlformats.org/officeDocument/2006/relationships/image" Target="/ppt/media/image2.png" Id="Re0cf661e139d40d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b464ffc6cc4801" /><Relationship Type="http://schemas.openxmlformats.org/officeDocument/2006/relationships/image" Target="/ppt/media/image3.png" Id="Rdc7273d4e0244d3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d901e98c8a4b41" /><Relationship Type="http://schemas.openxmlformats.org/officeDocument/2006/relationships/image" Target="/ppt/media/image4.png" Id="R858f6311e7dd479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0a361c456b4e23" /><Relationship Type="http://schemas.openxmlformats.org/officeDocument/2006/relationships/image" Target="/ppt/media/image5.png" Id="Rc2e90a24c9b5488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20c6f919944c7b" /><Relationship Type="http://schemas.openxmlformats.org/officeDocument/2006/relationships/image" Target="/ppt/media/image6.png" Id="Rb744735efd3246a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2ffb64ac4e42a8" /><Relationship Type="http://schemas.openxmlformats.org/officeDocument/2006/relationships/image" Target="/ppt/media/image7.png" Id="R09a29dd64f124e0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765f1449524ccb" /><Relationship Type="http://schemas.openxmlformats.org/officeDocument/2006/relationships/image" Target="/ppt/media/image8.png" Id="Rcf69c129e798426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c632f335174244" /><Relationship Type="http://schemas.openxmlformats.org/officeDocument/2006/relationships/image" Target="/ppt/media/image9.png" Id="R3a382c139d5949d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768b052f1d478b" /><Relationship Type="http://schemas.openxmlformats.org/officeDocument/2006/relationships/image" Target="/ppt/media/image2.jpeg" Id="Rbdaa552b67c74ea6" /><Relationship Type="http://schemas.openxmlformats.org/officeDocument/2006/relationships/image" Target="/ppt/media/image10.png" Id="R0636836f5ce04c6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d2eaefb1c04be6" /><Relationship Type="http://schemas.openxmlformats.org/officeDocument/2006/relationships/image" Target="/ppt/media/image11.png" Id="Rd61deb69976846c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a3650c58d24ad7" /><Relationship Type="http://schemas.openxmlformats.org/officeDocument/2006/relationships/image" Target="/ppt/media/image12.png" Id="R2513c092a098444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d079370be94421" /><Relationship Type="http://schemas.openxmlformats.org/officeDocument/2006/relationships/image" Target="/ppt/media/image13.png" Id="R30251af27879484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d2ee96bf064e6a" /><Relationship Type="http://schemas.openxmlformats.org/officeDocument/2006/relationships/image" Target="/ppt/media/image14.png" Id="R4a48bea4673f447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07d59fb2ab4282" /><Relationship Type="http://schemas.openxmlformats.org/officeDocument/2006/relationships/image" Target="/ppt/media/image3.jpeg" Id="Re7e5bc34d3c942d8" /><Relationship Type="http://schemas.openxmlformats.org/officeDocument/2006/relationships/image" Target="/ppt/media/image15.png" Id="Rd30eb7d68246414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15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cover-phot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45297072854ac8"/>
          <a:srcRect xmlns:a="http://schemas.openxmlformats.org/drawingml/2006/main" l="29926" t="0" r="2992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6191250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cover-photo-rule">
            <a:extLst xmlns:a="http://schemas.openxmlformats.org/drawingml/2006/main">
              <a:ext uri="{FF2B5EF4-FFF2-40B4-BE49-F238E27FC236}">
                <a16:creationId xmlns:a16="http://schemas.microsoft.com/office/drawing/2014/main" id="{F9500D8E-31F0-41D8-A26F-9A599D802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0"/>
            <a:ext cx="171450" cy="1028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3" name="cover-photo-tab">
            <a:extLst xmlns:a="http://schemas.openxmlformats.org/drawingml/2006/main">
              <a:ext uri="{FF2B5EF4-FFF2-40B4-BE49-F238E27FC236}">
                <a16:creationId xmlns:a16="http://schemas.microsoft.com/office/drawing/2014/main" id="{5B403AAB-64C2-4841-B2BE-47F36CF31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8210550"/>
            <a:ext cx="1809750" cy="2476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sp>
        <p:nvSpPr>
          <p:cNvPr id="4" name="cover-rail">
            <a:extLst xmlns:a="http://schemas.openxmlformats.org/drawingml/2006/main">
              <a:ext uri="{FF2B5EF4-FFF2-40B4-BE49-F238E27FC236}">
                <a16:creationId xmlns:a16="http://schemas.microsoft.com/office/drawing/2014/main" id="{51589320-F250-4E35-9046-DC50DE1B5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0"/>
            <a:ext cx="3333750" cy="102870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0B2745"/>
          </a:solidFill>
          <a:ln xmlns:a="http://schemas.openxmlformats.org/drawingml/2006/main" w="0">
            <a:noFill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f807beba9942a2"/>
          <a:stretch xmlns:a="http://schemas.openxmlformats.org/drawingml/2006/main"/>
        </p:blipFill>
        <p:spPr>
          <a:xfrm xmlns:a="http://schemas.openxmlformats.org/drawingml/2006/main">
            <a:off x="7000875" y="626488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6" name="cover-brand">
            <a:extLst xmlns:a="http://schemas.openxmlformats.org/drawingml/2006/main">
              <a:ext uri="{FF2B5EF4-FFF2-40B4-BE49-F238E27FC236}">
                <a16:creationId xmlns:a16="http://schemas.microsoft.com/office/drawing/2014/main" id="{54DFC43A-9F71-4192-BBCB-B6E571A06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6667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Universidad Tecnológica Nacional</a:t>
            </a:r>
          </a:p>
        </p:txBody>
      </p:sp>
      <p:sp>
        <p:nvSpPr>
          <p:cNvPr id="7" name="cover-program">
            <a:extLst xmlns:a="http://schemas.openxmlformats.org/drawingml/2006/main">
              <a:ext uri="{FF2B5EF4-FFF2-40B4-BE49-F238E27FC236}">
                <a16:creationId xmlns:a16="http://schemas.microsoft.com/office/drawing/2014/main" id="{E568417D-6B3D-4C9E-9D66-47DDF7E6C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971550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90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INGENIERÍA INDUSTRIAL · 2026</a:t>
            </a:r>
          </a:p>
        </p:txBody>
      </p:sp>
      <p:sp>
        <p:nvSpPr>
          <p:cNvPr id="8" name="cover-title">
            <a:extLst xmlns:a="http://schemas.openxmlformats.org/drawingml/2006/main">
              <a:ext uri="{FF2B5EF4-FFF2-40B4-BE49-F238E27FC236}">
                <a16:creationId xmlns:a16="http://schemas.microsoft.com/office/drawing/2014/main" id="{9D0F6C92-246B-4248-A806-6928BB269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57450"/>
            <a:ext cx="9715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54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Descriptiva, </a:t>
            </a:r>
            <a:r>
              <a:rPr sz="540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incertidumbre</a:t>
            </a:r>
          </a:p>
          <a:p xmlns:a="http://schemas.openxmlformats.org/drawingml/2006/main">
            <a:pPr algn="l">
              <a:defRPr sz="54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54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y visualización</a:t>
            </a:r>
          </a:p>
        </p:txBody>
      </p:sp>
      <p:sp>
        <p:nvSpPr>
          <p:cNvPr id="9" name="cover-rule">
            <a:extLst xmlns:a="http://schemas.openxmlformats.org/drawingml/2006/main">
              <a:ext uri="{FF2B5EF4-FFF2-40B4-BE49-F238E27FC236}">
                <a16:creationId xmlns:a16="http://schemas.microsoft.com/office/drawing/2014/main" id="{22E47C40-72D9-49A8-BCD9-40A9038E6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000875" y="5667375"/>
            <a:ext cx="8810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FF33"/>
            </a:solidFill>
            <a:prstDash val="solid"/>
          </a:ln>
        </p:spPr>
      </p:sp>
      <p:sp>
        <p:nvSpPr>
          <p:cNvPr id="10" name="cover-question-label">
            <a:extLst xmlns:a="http://schemas.openxmlformats.org/drawingml/2006/main">
              <a:ext uri="{FF2B5EF4-FFF2-40B4-BE49-F238E27FC236}">
                <a16:creationId xmlns:a16="http://schemas.microsoft.com/office/drawing/2014/main" id="{B3E988F8-CBF0-4309-9B6D-BE7DE479E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6048375"/>
            <a:ext cx="342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10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PREGUNTA DE APERTURA</a:t>
            </a:r>
          </a:p>
        </p:txBody>
      </p:sp>
      <p:sp>
        <p:nvSpPr>
          <p:cNvPr id="11" name="cover-question">
            <a:extLst xmlns:a="http://schemas.openxmlformats.org/drawingml/2006/main">
              <a:ext uri="{FF2B5EF4-FFF2-40B4-BE49-F238E27FC236}">
                <a16:creationId xmlns:a16="http://schemas.microsoft.com/office/drawing/2014/main" id="{D06A7626-4A6E-40E6-9C04-F9D82CE1C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6496050"/>
            <a:ext cx="8858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E5E5E5"/>
                </a:solidFill>
                <a:latin typeface="Telegraf"/>
                <a:ea typeface="Telegraf"/>
                <a:cs typeface="Telegraf"/>
              </a:defRPr>
            </a:pPr>
            <a:r>
              <a:rPr sz="2025" b="0">
                <a:solidFill>
                  <a:srgbClr val="E5E5E5"/>
                </a:solidFill>
                <a:latin typeface="Telegraf"/>
                <a:ea typeface="Telegraf"/>
                <a:cs typeface="Telegraf"/>
              </a:rPr>
              <a:t>¿Cómo resumir datos sin ocultar su variabilidad?</a:t>
            </a:r>
          </a:p>
        </p:txBody>
      </p:sp>
      <p:sp>
        <p:nvSpPr>
          <p:cNvPr id="12" name="cover-unit">
            <a:extLst xmlns:a="http://schemas.openxmlformats.org/drawingml/2006/main">
              <a:ext uri="{FF2B5EF4-FFF2-40B4-BE49-F238E27FC236}">
                <a16:creationId xmlns:a16="http://schemas.microsoft.com/office/drawing/2014/main" id="{42D4F383-4AFA-4180-965A-1279F4DA8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8324850"/>
            <a:ext cx="266700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sp>
        <p:nvSpPr>
          <p:cNvPr id="13" name="cover-unit-text">
            <a:extLst xmlns:a="http://schemas.openxmlformats.org/drawingml/2006/main">
              <a:ext uri="{FF2B5EF4-FFF2-40B4-BE49-F238E27FC236}">
                <a16:creationId xmlns:a16="http://schemas.microsoft.com/office/drawing/2014/main" id="{D659B588-C7E1-4FB6-B748-2CCE909D3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8324850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3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UNIDAD 5</a:t>
            </a:r>
          </a:p>
        </p:txBody>
      </p:sp>
      <p:sp>
        <p:nvSpPr>
          <p:cNvPr id="14" name="cover-course">
            <a:extLst xmlns:a="http://schemas.openxmlformats.org/drawingml/2006/main">
              <a:ext uri="{FF2B5EF4-FFF2-40B4-BE49-F238E27FC236}">
                <a16:creationId xmlns:a16="http://schemas.microsoft.com/office/drawing/2014/main" id="{FF6F24E3-6CAD-4C94-A46F-D1772F21A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8448675"/>
            <a:ext cx="590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0D0D0"/>
                </a:solidFill>
                <a:latin typeface="Telegraf"/>
                <a:ea typeface="Telegraf"/>
                <a:cs typeface="Telegraf"/>
              </a:defRPr>
            </a:pPr>
            <a:r>
              <a:rPr sz="1275" b="0">
                <a:solidFill>
                  <a:srgbClr val="D0D0D0"/>
                </a:solidFill>
                <a:latin typeface="Telegraf"/>
                <a:ea typeface="Telegraf"/>
                <a:cs typeface="Telegraf"/>
              </a:rPr>
              <a:t>Análisis de Datos</a:t>
            </a:r>
          </a:p>
        </p:txBody>
      </p:sp>
    </p:spTree>
    <p:extLst>
      <p:ext uri="{BB962C8B-B14F-4D97-AF65-F5344CB8AC3E}">
        <p14:creationId xmlns:p14="http://schemas.microsoft.com/office/powerpoint/2010/main" val="4431496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visual-light-field">
            <a:extLst xmlns:a="http://schemas.openxmlformats.org/drawingml/2006/main">
              <a:ext uri="{FF2B5EF4-FFF2-40B4-BE49-F238E27FC236}">
                <a16:creationId xmlns:a16="http://schemas.microsoft.com/office/drawing/2014/main" id="{32A7050A-A39E-4DCE-B410-B55D97483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1809750"/>
            <a:ext cx="3333750" cy="7239000"/>
          </a:xfrm>
          <a:prstGeom xmlns:a="http://schemas.openxmlformats.org/drawingml/2006/main" prst="roundRect">
            <a:avLst>
              <a:gd name="adj" fmla="val 23429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11430">
            <a:solidFill>
              <a:srgbClr val="DCE6F1"/>
            </a:solidFill>
            <a:prstDash val="solid"/>
          </a:ln>
        </p:spPr>
      </p:sp>
      <p:sp>
        <p:nvSpPr>
          <p:cNvPr id="2" name="visual-light-field-2">
            <a:extLst xmlns:a="http://schemas.openxmlformats.org/drawingml/2006/main">
              <a:ext uri="{FF2B5EF4-FFF2-40B4-BE49-F238E27FC236}">
                <a16:creationId xmlns:a16="http://schemas.microsoft.com/office/drawing/2014/main" id="{41B6D4C7-DA21-46DB-A928-0FFED10CD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5375" y="457200"/>
            <a:ext cx="1952625" cy="3667125"/>
          </a:xfrm>
          <a:prstGeom xmlns:a="http://schemas.openxmlformats.org/drawingml/2006/main" prst="roundRect">
            <a:avLst>
              <a:gd name="adj" fmla="val 341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" name="visual-light-tab">
            <a:extLst xmlns:a="http://schemas.openxmlformats.org/drawingml/2006/main">
              <a:ext uri="{FF2B5EF4-FFF2-40B4-BE49-F238E27FC236}">
                <a16:creationId xmlns:a16="http://schemas.microsoft.com/office/drawing/2014/main" id="{132C1E6D-1107-4A2A-81D5-3A8BE752E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8686800"/>
            <a:ext cx="1524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cf661e139d40da"/>
          <a:stretch xmlns:a="http://schemas.openxmlformats.org/drawingml/2006/main"/>
        </p:blipFill>
        <p:spPr>
          <a:xfrm xmlns:a="http://schemas.openxmlformats.org/drawingml/2006/main">
            <a:off x="704850" y="531238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5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D45A2499-A16B-4D54-A634-1B300FDC7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0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Universidad Tecnológica Nacional</a:t>
            </a:r>
          </a:p>
        </p:txBody>
      </p:sp>
      <p:sp>
        <p:nvSpPr>
          <p:cNvPr id="6" name="visual-program">
            <a:extLst xmlns:a="http://schemas.openxmlformats.org/drawingml/2006/main">
              <a:ext uri="{FF2B5EF4-FFF2-40B4-BE49-F238E27FC236}">
                <a16:creationId xmlns:a16="http://schemas.microsoft.com/office/drawing/2014/main" id="{FE80EEA0-82F2-4C0E-8F93-A337A481E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9535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INGENIERÍA INDUSTRIAL</a:t>
            </a:r>
          </a:p>
        </p:txBody>
      </p:sp>
      <p:sp>
        <p:nvSpPr>
          <p:cNvPr id="7" name="visual-year">
            <a:extLst xmlns:a="http://schemas.openxmlformats.org/drawingml/2006/main">
              <a:ext uri="{FF2B5EF4-FFF2-40B4-BE49-F238E27FC236}">
                <a16:creationId xmlns:a16="http://schemas.microsoft.com/office/drawing/2014/main" id="{C802D70B-BC68-4005-B401-C0C53CC31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63817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2026</a:t>
            </a:r>
          </a:p>
        </p:txBody>
      </p:sp>
      <p:sp>
        <p:nvSpPr>
          <p:cNvPr id="8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B9E97E44-847F-49D5-84C3-A88F388E6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85900"/>
            <a:ext cx="138112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Toda medida necesita contexto antes de interpretarse</a:t>
            </a:r>
          </a:p>
        </p:txBody>
      </p:sp>
      <p:sp>
        <p:nvSpPr>
          <p:cNvPr id="9" name="visual-title-tab">
            <a:extLst xmlns:a="http://schemas.openxmlformats.org/drawingml/2006/main">
              <a:ext uri="{FF2B5EF4-FFF2-40B4-BE49-F238E27FC236}">
                <a16:creationId xmlns:a16="http://schemas.microsoft.com/office/drawing/2014/main" id="{259166E8-B0D3-4E16-ADFF-7D82E1F99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67050"/>
            <a:ext cx="16002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0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A9D9364F-270B-46AD-A3B8-DEAD8F64E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71800" y="3114675"/>
            <a:ext cx="569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8C4D1"/>
            </a:solidFill>
            <a:prstDash val="solid"/>
          </a:ln>
        </p:spPr>
      </p:sp>
      <p:sp>
        <p:nvSpPr>
          <p:cNvPr id="11" name="visual-footer-rule">
            <a:extLst xmlns:a="http://schemas.openxmlformats.org/drawingml/2006/main">
              <a:ext uri="{FF2B5EF4-FFF2-40B4-BE49-F238E27FC236}">
                <a16:creationId xmlns:a16="http://schemas.microsoft.com/office/drawing/2014/main" id="{633823AA-5225-4B85-8760-78493C9A3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0" y="954405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497D"/>
            </a:solidFill>
            <a:prstDash val="solid"/>
          </a:ln>
        </p:spPr>
      </p:sp>
      <p:sp>
        <p:nvSpPr>
          <p:cNvPr id="12" name="visual-footer-pill">
            <a:extLst xmlns:a="http://schemas.openxmlformats.org/drawingml/2006/main">
              <a:ext uri="{FF2B5EF4-FFF2-40B4-BE49-F238E27FC236}">
                <a16:creationId xmlns:a16="http://schemas.microsoft.com/office/drawing/2014/main" id="{74F09E49-2C61-498E-B584-0D74CEA68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8048625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3" name="visual-footer-brand-pill">
            <a:extLst xmlns:a="http://schemas.openxmlformats.org/drawingml/2006/main">
              <a:ext uri="{FF2B5EF4-FFF2-40B4-BE49-F238E27FC236}">
                <a16:creationId xmlns:a16="http://schemas.microsoft.com/office/drawing/2014/main" id="{1C5DACD6-22C7-4AD2-ABF3-1D342DFD1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272415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4" name="visual-footer-brand">
            <a:extLst xmlns:a="http://schemas.openxmlformats.org/drawingml/2006/main">
              <a:ext uri="{FF2B5EF4-FFF2-40B4-BE49-F238E27FC236}">
                <a16:creationId xmlns:a16="http://schemas.microsoft.com/office/drawing/2014/main" id="{1B2ACE0D-1160-42BE-A83A-A9EE94B22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93345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Análisis de Datos</a:t>
            </a:r>
          </a:p>
        </p:txBody>
      </p:sp>
      <p:sp>
        <p:nvSpPr>
          <p:cNvPr id="15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C2121841-F0B6-478E-997F-B2E60B8AE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334500"/>
            <a:ext cx="490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DESCRIPTIVA · CONTEXTO</a:t>
            </a:r>
          </a:p>
        </p:txBody>
      </p:sp>
      <p:sp>
        <p:nvSpPr>
          <p:cNvPr id="16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9AC69C0A-E352-4BC0-A47A-265642A75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9820275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97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Ingeniería Industrial · UTN FRC</a:t>
            </a:r>
          </a:p>
        </p:txBody>
      </p:sp>
      <p:sp>
        <p:nvSpPr>
          <p:cNvPr id="17" name="matrix-surface">
            <a:extLst xmlns:a="http://schemas.openxmlformats.org/drawingml/2006/main">
              <a:ext uri="{FF2B5EF4-FFF2-40B4-BE49-F238E27FC236}">
                <a16:creationId xmlns:a16="http://schemas.microsoft.com/office/drawing/2014/main" id="{FD7A4495-FF2C-4224-A704-5E9392BE5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95650"/>
            <a:ext cx="16192500" cy="4095750"/>
          </a:xfrm>
          <a:prstGeom xmlns:a="http://schemas.openxmlformats.org/drawingml/2006/main" prst="roundRect">
            <a:avLst>
              <a:gd name="adj" fmla="val 41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graphicFrame>
        <p:nvGraphicFramePr>
          <p:cNvPr id="36" name=""/>
          <p:cNvGraphicFramePr/>
          <p:nvPr/>
        </p:nvGraphicFramePr>
        <p:xfrm>
          <a:off xmlns:a="http://schemas.openxmlformats.org/drawingml/2006/main" x="1219200" y="3429000"/>
          <a:ext xmlns:a="http://schemas.openxmlformats.org/drawingml/2006/main" cx="15849600" cy="3810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486912"/>
                <a:gridCol w="6022848"/>
                <a:gridCol w="6339840"/>
              </a:tblGrid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Telegraf Bold"/>
                          <a:ea typeface="Telegraf Bold"/>
                          <a:cs typeface="Telegraf Bold"/>
                        </a:rPr>
                        <a:t>Pieza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Telegraf Bold"/>
                          <a:ea typeface="Telegraf Bold"/>
                          <a:cs typeface="Telegraf Bold"/>
                        </a:rPr>
                        <a:t>Ejemplo Faro Sur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Telegraf Bold"/>
                          <a:ea typeface="Telegraf Bold"/>
                          <a:cs typeface="Telegraf Bold"/>
                        </a:rPr>
                        <a:t>Riesgo si falta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Población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pedidos entregados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mezclar abiertos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Período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julio 2026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comparar estaciones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Unidad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horas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confundir días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Grano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un pedido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ponderar por líneas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753699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visual-light-field">
            <a:extLst xmlns:a="http://schemas.openxmlformats.org/drawingml/2006/main">
              <a:ext uri="{FF2B5EF4-FFF2-40B4-BE49-F238E27FC236}">
                <a16:creationId xmlns:a16="http://schemas.microsoft.com/office/drawing/2014/main" id="{51AFB64D-71A5-45EF-9E63-AAAD354C2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1809750"/>
            <a:ext cx="3333750" cy="7239000"/>
          </a:xfrm>
          <a:prstGeom xmlns:a="http://schemas.openxmlformats.org/drawingml/2006/main" prst="roundRect">
            <a:avLst>
              <a:gd name="adj" fmla="val 23429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11430">
            <a:solidFill>
              <a:srgbClr val="DCE6F1"/>
            </a:solidFill>
            <a:prstDash val="solid"/>
          </a:ln>
        </p:spPr>
      </p:sp>
      <p:sp>
        <p:nvSpPr>
          <p:cNvPr id="2" name="visual-light-field-2">
            <a:extLst xmlns:a="http://schemas.openxmlformats.org/drawingml/2006/main">
              <a:ext uri="{FF2B5EF4-FFF2-40B4-BE49-F238E27FC236}">
                <a16:creationId xmlns:a16="http://schemas.microsoft.com/office/drawing/2014/main" id="{34DC6921-6A3F-47CB-9F49-8BB2FE986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5375" y="457200"/>
            <a:ext cx="1952625" cy="3667125"/>
          </a:xfrm>
          <a:prstGeom xmlns:a="http://schemas.openxmlformats.org/drawingml/2006/main" prst="roundRect">
            <a:avLst>
              <a:gd name="adj" fmla="val 341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" name="visual-light-tab">
            <a:extLst xmlns:a="http://schemas.openxmlformats.org/drawingml/2006/main">
              <a:ext uri="{FF2B5EF4-FFF2-40B4-BE49-F238E27FC236}">
                <a16:creationId xmlns:a16="http://schemas.microsoft.com/office/drawing/2014/main" id="{2E0366CF-33D3-4412-B5CF-CC8502D70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8686800"/>
            <a:ext cx="1524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7273d4e0244d3f"/>
          <a:stretch xmlns:a="http://schemas.openxmlformats.org/drawingml/2006/main"/>
        </p:blipFill>
        <p:spPr>
          <a:xfrm xmlns:a="http://schemas.openxmlformats.org/drawingml/2006/main">
            <a:off x="704850" y="531238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5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3E5C9173-82D9-4CCB-BD5E-2A2F33867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0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Universidad Tecnológica Nacional</a:t>
            </a:r>
          </a:p>
        </p:txBody>
      </p:sp>
      <p:sp>
        <p:nvSpPr>
          <p:cNvPr id="6" name="visual-program">
            <a:extLst xmlns:a="http://schemas.openxmlformats.org/drawingml/2006/main">
              <a:ext uri="{FF2B5EF4-FFF2-40B4-BE49-F238E27FC236}">
                <a16:creationId xmlns:a16="http://schemas.microsoft.com/office/drawing/2014/main" id="{58C4E1E9-AD74-4474-8935-0FCF02F8D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9535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INGENIERÍA INDUSTRIAL</a:t>
            </a:r>
          </a:p>
        </p:txBody>
      </p:sp>
      <p:sp>
        <p:nvSpPr>
          <p:cNvPr id="7" name="visual-year">
            <a:extLst xmlns:a="http://schemas.openxmlformats.org/drawingml/2006/main">
              <a:ext uri="{FF2B5EF4-FFF2-40B4-BE49-F238E27FC236}">
                <a16:creationId xmlns:a16="http://schemas.microsoft.com/office/drawing/2014/main" id="{E1121023-68DF-4396-8AF3-BD4DAD61D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63817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2026</a:t>
            </a:r>
          </a:p>
        </p:txBody>
      </p:sp>
      <p:sp>
        <p:nvSpPr>
          <p:cNvPr id="8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401CCE71-A526-49C1-8E17-AD6CF7AC1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85900"/>
            <a:ext cx="138112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Conteo y tasa responden preguntas diferentes</a:t>
            </a:r>
          </a:p>
        </p:txBody>
      </p:sp>
      <p:sp>
        <p:nvSpPr>
          <p:cNvPr id="9" name="visual-title-tab">
            <a:extLst xmlns:a="http://schemas.openxmlformats.org/drawingml/2006/main">
              <a:ext uri="{FF2B5EF4-FFF2-40B4-BE49-F238E27FC236}">
                <a16:creationId xmlns:a16="http://schemas.microsoft.com/office/drawing/2014/main" id="{8A2B1446-F727-49F4-9C2F-0C49902C7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67050"/>
            <a:ext cx="16002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0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86A6BE9A-EBA0-4763-B4CA-8E762DFC3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71800" y="3114675"/>
            <a:ext cx="569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8C4D1"/>
            </a:solidFill>
            <a:prstDash val="solid"/>
          </a:ln>
        </p:spPr>
      </p:sp>
      <p:sp>
        <p:nvSpPr>
          <p:cNvPr id="11" name="visual-footer-rule">
            <a:extLst xmlns:a="http://schemas.openxmlformats.org/drawingml/2006/main">
              <a:ext uri="{FF2B5EF4-FFF2-40B4-BE49-F238E27FC236}">
                <a16:creationId xmlns:a16="http://schemas.microsoft.com/office/drawing/2014/main" id="{658369CD-9D57-4183-8E15-895E6C4B8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0" y="954405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497D"/>
            </a:solidFill>
            <a:prstDash val="solid"/>
          </a:ln>
        </p:spPr>
      </p:sp>
      <p:sp>
        <p:nvSpPr>
          <p:cNvPr id="12" name="visual-footer-pill">
            <a:extLst xmlns:a="http://schemas.openxmlformats.org/drawingml/2006/main">
              <a:ext uri="{FF2B5EF4-FFF2-40B4-BE49-F238E27FC236}">
                <a16:creationId xmlns:a16="http://schemas.microsoft.com/office/drawing/2014/main" id="{E8F3D2AD-3F1C-49EB-97DC-E7FCD73B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8048625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3" name="visual-footer-brand-pill">
            <a:extLst xmlns:a="http://schemas.openxmlformats.org/drawingml/2006/main">
              <a:ext uri="{FF2B5EF4-FFF2-40B4-BE49-F238E27FC236}">
                <a16:creationId xmlns:a16="http://schemas.microsoft.com/office/drawing/2014/main" id="{422579D5-3712-4746-BDBA-CDD74A3C3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272415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4" name="visual-footer-brand">
            <a:extLst xmlns:a="http://schemas.openxmlformats.org/drawingml/2006/main">
              <a:ext uri="{FF2B5EF4-FFF2-40B4-BE49-F238E27FC236}">
                <a16:creationId xmlns:a16="http://schemas.microsoft.com/office/drawing/2014/main" id="{F88EDF1E-96CB-4FD7-8F9B-1D9345FB4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93345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Análisis de Datos</a:t>
            </a:r>
          </a:p>
        </p:txBody>
      </p:sp>
      <p:sp>
        <p:nvSpPr>
          <p:cNvPr id="15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0C6C2AEA-FFB7-4C8D-BF5B-FACB9A75C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334500"/>
            <a:ext cx="490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FRECUENCIA · DENOMINADOR</a:t>
            </a:r>
          </a:p>
        </p:txBody>
      </p:sp>
      <p:sp>
        <p:nvSpPr>
          <p:cNvPr id="16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4E4816FA-369A-496C-BC5A-262930A5E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9820275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97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Ingeniería Industrial · UTN FRC</a:t>
            </a:r>
          </a:p>
        </p:txBody>
      </p:sp>
      <p:sp>
        <p:nvSpPr>
          <p:cNvPr id="17" name="worked-box-0">
            <a:extLst xmlns:a="http://schemas.openxmlformats.org/drawingml/2006/main">
              <a:ext uri="{FF2B5EF4-FFF2-40B4-BE49-F238E27FC236}">
                <a16:creationId xmlns:a16="http://schemas.microsoft.com/office/drawing/2014/main" id="{1B5D6B42-E2DD-4495-A371-88109C63D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76625"/>
            <a:ext cx="3776663" cy="2762250"/>
          </a:xfrm>
          <a:prstGeom xmlns:a="http://schemas.openxmlformats.org/drawingml/2006/main" prst="roundRect">
            <a:avLst>
              <a:gd name="adj" fmla="val 62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18" name="worked-number-0">
            <a:extLst xmlns:a="http://schemas.openxmlformats.org/drawingml/2006/main">
              <a:ext uri="{FF2B5EF4-FFF2-40B4-BE49-F238E27FC236}">
                <a16:creationId xmlns:a16="http://schemas.microsoft.com/office/drawing/2014/main" id="{29FE6B25-1BA5-4735-B68B-110F49A0A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609975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01</a:t>
            </a:r>
          </a:p>
        </p:txBody>
      </p:sp>
      <p:sp>
        <p:nvSpPr>
          <p:cNvPr id="19" name="worked-rule-0">
            <a:extLst xmlns:a="http://schemas.openxmlformats.org/drawingml/2006/main">
              <a:ext uri="{FF2B5EF4-FFF2-40B4-BE49-F238E27FC236}">
                <a16:creationId xmlns:a16="http://schemas.microsoft.com/office/drawing/2014/main" id="{E6A75C00-82B3-4AB1-B2C1-7670F8297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09700" y="4238625"/>
            <a:ext cx="339566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B8C4D1"/>
            </a:solidFill>
            <a:prstDash val="solid"/>
          </a:ln>
        </p:spPr>
      </p:sp>
      <p:sp>
        <p:nvSpPr>
          <p:cNvPr id="20" name="worked-head-0">
            <a:extLst xmlns:a="http://schemas.openxmlformats.org/drawingml/2006/main">
              <a:ext uri="{FF2B5EF4-FFF2-40B4-BE49-F238E27FC236}">
                <a16:creationId xmlns:a16="http://schemas.microsoft.com/office/drawing/2014/main" id="{1B64C9D5-7373-4ECC-8D0A-BCD86E255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352925"/>
            <a:ext cx="3395663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Atrasados</a:t>
            </a:r>
          </a:p>
        </p:txBody>
      </p:sp>
      <p:sp>
        <p:nvSpPr>
          <p:cNvPr id="21" name="worked-body-0">
            <a:extLst xmlns:a="http://schemas.openxmlformats.org/drawingml/2006/main">
              <a:ext uri="{FF2B5EF4-FFF2-40B4-BE49-F238E27FC236}">
                <a16:creationId xmlns:a16="http://schemas.microsoft.com/office/drawing/2014/main" id="{6E38CAD8-EDC7-4405-9FB5-9EFC17D41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000625"/>
            <a:ext cx="3395663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575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42 pedidos</a:t>
            </a:r>
          </a:p>
        </p:txBody>
      </p:sp>
      <p:sp>
        <p:nvSpPr>
          <p:cNvPr id="22" name="worked-box-1">
            <a:extLst xmlns:a="http://schemas.openxmlformats.org/drawingml/2006/main">
              <a:ext uri="{FF2B5EF4-FFF2-40B4-BE49-F238E27FC236}">
                <a16:creationId xmlns:a16="http://schemas.microsoft.com/office/drawing/2014/main" id="{580DE3EC-F014-4FED-9085-6DF65FA12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3513" y="3476625"/>
            <a:ext cx="3776663" cy="2762250"/>
          </a:xfrm>
          <a:prstGeom xmlns:a="http://schemas.openxmlformats.org/drawingml/2006/main" prst="roundRect">
            <a:avLst>
              <a:gd name="adj" fmla="val 62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23" name="worked-number-1">
            <a:extLst xmlns:a="http://schemas.openxmlformats.org/drawingml/2006/main">
              <a:ext uri="{FF2B5EF4-FFF2-40B4-BE49-F238E27FC236}">
                <a16:creationId xmlns:a16="http://schemas.microsoft.com/office/drawing/2014/main" id="{DBC27525-0482-408F-88F4-07BBED2CA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4013" y="3609975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02</a:t>
            </a:r>
          </a:p>
        </p:txBody>
      </p:sp>
      <p:sp>
        <p:nvSpPr>
          <p:cNvPr id="24" name="worked-rule-1">
            <a:extLst xmlns:a="http://schemas.openxmlformats.org/drawingml/2006/main">
              <a:ext uri="{FF2B5EF4-FFF2-40B4-BE49-F238E27FC236}">
                <a16:creationId xmlns:a16="http://schemas.microsoft.com/office/drawing/2014/main" id="{09F0E34A-A47F-4C8A-9CBF-2AE420189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434013" y="4238625"/>
            <a:ext cx="339566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B8C4D1"/>
            </a:solidFill>
            <a:prstDash val="solid"/>
          </a:ln>
        </p:spPr>
      </p:sp>
      <p:sp>
        <p:nvSpPr>
          <p:cNvPr id="25" name="worked-head-1">
            <a:extLst xmlns:a="http://schemas.openxmlformats.org/drawingml/2006/main">
              <a:ext uri="{FF2B5EF4-FFF2-40B4-BE49-F238E27FC236}">
                <a16:creationId xmlns:a16="http://schemas.microsoft.com/office/drawing/2014/main" id="{37E28428-8870-41D6-919A-D93B2DC91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4013" y="4352925"/>
            <a:ext cx="3395663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Entregados</a:t>
            </a:r>
          </a:p>
        </p:txBody>
      </p:sp>
      <p:sp>
        <p:nvSpPr>
          <p:cNvPr id="26" name="worked-body-1">
            <a:extLst xmlns:a="http://schemas.openxmlformats.org/drawingml/2006/main">
              <a:ext uri="{FF2B5EF4-FFF2-40B4-BE49-F238E27FC236}">
                <a16:creationId xmlns:a16="http://schemas.microsoft.com/office/drawing/2014/main" id="{C1DA42D6-6873-4B8A-AFDF-BEEF95C65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4013" y="5000625"/>
            <a:ext cx="3395663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575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280 pedidos</a:t>
            </a:r>
          </a:p>
        </p:txBody>
      </p:sp>
      <p:sp>
        <p:nvSpPr>
          <p:cNvPr id="27" name="worked-box-2">
            <a:extLst xmlns:a="http://schemas.openxmlformats.org/drawingml/2006/main">
              <a:ext uri="{FF2B5EF4-FFF2-40B4-BE49-F238E27FC236}">
                <a16:creationId xmlns:a16="http://schemas.microsoft.com/office/drawing/2014/main" id="{E11F1D12-F891-479F-BF04-0BB38DC50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476625"/>
            <a:ext cx="3776663" cy="2762250"/>
          </a:xfrm>
          <a:prstGeom xmlns:a="http://schemas.openxmlformats.org/drawingml/2006/main" prst="roundRect">
            <a:avLst>
              <a:gd name="adj" fmla="val 62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28" name="worked-number-2">
            <a:extLst xmlns:a="http://schemas.openxmlformats.org/drawingml/2006/main">
              <a:ext uri="{FF2B5EF4-FFF2-40B4-BE49-F238E27FC236}">
                <a16:creationId xmlns:a16="http://schemas.microsoft.com/office/drawing/2014/main" id="{65E96C5E-7878-4023-95CA-11E8C91B0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3609975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03</a:t>
            </a:r>
          </a:p>
        </p:txBody>
      </p:sp>
      <p:sp>
        <p:nvSpPr>
          <p:cNvPr id="29" name="worked-rule-2">
            <a:extLst xmlns:a="http://schemas.openxmlformats.org/drawingml/2006/main">
              <a:ext uri="{FF2B5EF4-FFF2-40B4-BE49-F238E27FC236}">
                <a16:creationId xmlns:a16="http://schemas.microsoft.com/office/drawing/2014/main" id="{7AAA89C2-F04E-4A52-BBE3-12F7668B4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458325" y="4238625"/>
            <a:ext cx="339566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B8C4D1"/>
            </a:solidFill>
            <a:prstDash val="solid"/>
          </a:ln>
        </p:spPr>
      </p:sp>
      <p:sp>
        <p:nvSpPr>
          <p:cNvPr id="30" name="worked-head-2">
            <a:extLst xmlns:a="http://schemas.openxmlformats.org/drawingml/2006/main">
              <a:ext uri="{FF2B5EF4-FFF2-40B4-BE49-F238E27FC236}">
                <a16:creationId xmlns:a16="http://schemas.microsoft.com/office/drawing/2014/main" id="{0B7BF7F4-AADF-4CED-80CE-72A43D41B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4352925"/>
            <a:ext cx="3395663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Tasa</a:t>
            </a:r>
          </a:p>
        </p:txBody>
      </p:sp>
      <p:sp>
        <p:nvSpPr>
          <p:cNvPr id="31" name="worked-body-2">
            <a:extLst xmlns:a="http://schemas.openxmlformats.org/drawingml/2006/main">
              <a:ext uri="{FF2B5EF4-FFF2-40B4-BE49-F238E27FC236}">
                <a16:creationId xmlns:a16="http://schemas.microsoft.com/office/drawing/2014/main" id="{2D831DC5-D3E0-4577-845B-184F6871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5000625"/>
            <a:ext cx="3395663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575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15,0 %</a:t>
            </a:r>
          </a:p>
        </p:txBody>
      </p:sp>
      <p:sp>
        <p:nvSpPr>
          <p:cNvPr id="32" name="worked-box-3">
            <a:extLst xmlns:a="http://schemas.openxmlformats.org/drawingml/2006/main">
              <a:ext uri="{FF2B5EF4-FFF2-40B4-BE49-F238E27FC236}">
                <a16:creationId xmlns:a16="http://schemas.microsoft.com/office/drawing/2014/main" id="{0E3E23B9-8EE1-4117-869E-B7FF855CB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2138" y="3476625"/>
            <a:ext cx="3776663" cy="2762250"/>
          </a:xfrm>
          <a:prstGeom xmlns:a="http://schemas.openxmlformats.org/drawingml/2006/main" prst="roundRect">
            <a:avLst>
              <a:gd name="adj" fmla="val 6207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33" name="worked-number-3">
            <a:extLst xmlns:a="http://schemas.openxmlformats.org/drawingml/2006/main">
              <a:ext uri="{FF2B5EF4-FFF2-40B4-BE49-F238E27FC236}">
                <a16:creationId xmlns:a16="http://schemas.microsoft.com/office/drawing/2014/main" id="{19750E47-A304-4812-9FE5-B2257C7E8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2638" y="3609975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262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04</a:t>
            </a:r>
          </a:p>
        </p:txBody>
      </p:sp>
      <p:sp>
        <p:nvSpPr>
          <p:cNvPr id="34" name="worked-rule-3">
            <a:extLst xmlns:a="http://schemas.openxmlformats.org/drawingml/2006/main">
              <a:ext uri="{FF2B5EF4-FFF2-40B4-BE49-F238E27FC236}">
                <a16:creationId xmlns:a16="http://schemas.microsoft.com/office/drawing/2014/main" id="{F7393A1E-32C0-440D-AF89-2BA567CEF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482638" y="4238625"/>
            <a:ext cx="339566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111111"/>
            </a:solidFill>
            <a:prstDash val="solid"/>
          </a:ln>
        </p:spPr>
      </p:sp>
      <p:sp>
        <p:nvSpPr>
          <p:cNvPr id="35" name="worked-head-3">
            <a:extLst xmlns:a="http://schemas.openxmlformats.org/drawingml/2006/main">
              <a:ext uri="{FF2B5EF4-FFF2-40B4-BE49-F238E27FC236}">
                <a16:creationId xmlns:a16="http://schemas.microsoft.com/office/drawing/2014/main" id="{B3164670-FF00-4053-9D68-64190DC6F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2638" y="4352925"/>
            <a:ext cx="3395663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8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Comparación</a:t>
            </a:r>
          </a:p>
        </p:txBody>
      </p:sp>
      <p:sp>
        <p:nvSpPr>
          <p:cNvPr id="36" name="worked-body-3">
            <a:extLst xmlns:a="http://schemas.openxmlformats.org/drawingml/2006/main">
              <a:ext uri="{FF2B5EF4-FFF2-40B4-BE49-F238E27FC236}">
                <a16:creationId xmlns:a16="http://schemas.microsoft.com/office/drawing/2014/main" id="{8B3AAAF8-06AD-4A85-8F88-399146DF5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2638" y="5000625"/>
            <a:ext cx="3395663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575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+3,8 pp vs. junio</a:t>
            </a:r>
          </a:p>
        </p:txBody>
      </p:sp>
      <p:sp>
        <p:nvSpPr>
          <p:cNvPr id="37" name="worked-caption">
            <a:extLst xmlns:a="http://schemas.openxmlformats.org/drawingml/2006/main">
              <a:ext uri="{FF2B5EF4-FFF2-40B4-BE49-F238E27FC236}">
                <a16:creationId xmlns:a16="http://schemas.microsoft.com/office/drawing/2014/main" id="{EDAE9EEE-D54C-4489-8D3F-A3E73B092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6667500"/>
            <a:ext cx="1447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F497D"/>
                </a:solidFill>
                <a:latin typeface="Telegraf"/>
                <a:ea typeface="Telegraf"/>
                <a:cs typeface="Telegraf"/>
              </a:defRPr>
            </a:pPr>
            <a:r>
              <a:rPr sz="1650" b="0">
                <a:solidFill>
                  <a:srgbClr val="1F497D"/>
                </a:solidFill>
                <a:latin typeface="Telegraf"/>
                <a:ea typeface="Telegraf"/>
                <a:cs typeface="Telegraf"/>
              </a:rPr>
              <a:t>El conteo muestra carga; la tasa permite comparar poblaciones de tamaño distinto.</a:t>
            </a:r>
          </a:p>
        </p:txBody>
      </p:sp>
    </p:spTree>
    <p:extLst>
      <p:ext uri="{BB962C8B-B14F-4D97-AF65-F5344CB8AC3E}">
        <p14:creationId xmlns:p14="http://schemas.microsoft.com/office/powerpoint/2010/main" val="10855057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515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visual-dark-rail">
            <a:extLst xmlns:a="http://schemas.openxmlformats.org/drawingml/2006/main">
              <a:ext uri="{FF2B5EF4-FFF2-40B4-BE49-F238E27FC236}">
                <a16:creationId xmlns:a16="http://schemas.microsoft.com/office/drawing/2014/main" id="{642E13AA-2986-49DB-A4DF-DF62FF81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0"/>
            <a:ext cx="3048000" cy="102870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0B2745"/>
          </a:solidFill>
          <a:ln xmlns:a="http://schemas.openxmlformats.org/drawingml/2006/main" w="0">
            <a:noFill/>
          </a:ln>
        </p:spPr>
      </p:sp>
      <p:sp>
        <p:nvSpPr>
          <p:cNvPr id="2" name="visual-dark-rail-2">
            <a:extLst xmlns:a="http://schemas.openxmlformats.org/drawingml/2006/main">
              <a:ext uri="{FF2B5EF4-FFF2-40B4-BE49-F238E27FC236}">
                <a16:creationId xmlns:a16="http://schemas.microsoft.com/office/drawing/2014/main" id="{C8D4E80F-A4F0-45E2-92AB-C1468C8D3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0"/>
            <a:ext cx="1714500" cy="102870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173A61"/>
          </a:solidFill>
          <a:ln xmlns:a="http://schemas.openxmlformats.org/drawingml/2006/main" w="0">
            <a:noFill/>
          </a:ln>
        </p:spPr>
      </p:sp>
      <p:sp>
        <p:nvSpPr>
          <p:cNvPr id="3" name="visual-dark-tab">
            <a:extLst xmlns:a="http://schemas.openxmlformats.org/drawingml/2006/main">
              <a:ext uri="{FF2B5EF4-FFF2-40B4-BE49-F238E27FC236}">
                <a16:creationId xmlns:a16="http://schemas.microsoft.com/office/drawing/2014/main" id="{0F13578C-C942-40CF-8901-E16561A41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95750" cy="1333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8f6311e7dd4798"/>
          <a:stretch xmlns:a="http://schemas.openxmlformats.org/drawingml/2006/main"/>
        </p:blipFill>
        <p:spPr>
          <a:xfrm xmlns:a="http://schemas.openxmlformats.org/drawingml/2006/main">
            <a:off x="704850" y="531238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5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1DFDAC1C-D005-4AAD-BCCA-39C52E312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0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Universidad Tecnológica Nacional</a:t>
            </a:r>
          </a:p>
        </p:txBody>
      </p:sp>
      <p:sp>
        <p:nvSpPr>
          <p:cNvPr id="6" name="visual-program">
            <a:extLst xmlns:a="http://schemas.openxmlformats.org/drawingml/2006/main">
              <a:ext uri="{FF2B5EF4-FFF2-40B4-BE49-F238E27FC236}">
                <a16:creationId xmlns:a16="http://schemas.microsoft.com/office/drawing/2014/main" id="{351913CC-4B1A-4448-AC15-E89D82EE5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9535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90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INGENIERÍA INDUSTRIAL</a:t>
            </a:r>
          </a:p>
        </p:txBody>
      </p:sp>
      <p:sp>
        <p:nvSpPr>
          <p:cNvPr id="7" name="visual-year">
            <a:extLst xmlns:a="http://schemas.openxmlformats.org/drawingml/2006/main">
              <a:ext uri="{FF2B5EF4-FFF2-40B4-BE49-F238E27FC236}">
                <a16:creationId xmlns:a16="http://schemas.microsoft.com/office/drawing/2014/main" id="{97929FA8-A478-434E-8A1C-8E0066500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63817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10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2026</a:t>
            </a:r>
          </a:p>
        </p:txBody>
      </p:sp>
      <p:sp>
        <p:nvSpPr>
          <p:cNvPr id="8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E4C0FA08-FE65-475E-B44B-73B7283A3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85900"/>
            <a:ext cx="138112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36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Media y mediana observan centros distintos</a:t>
            </a:r>
          </a:p>
        </p:txBody>
      </p:sp>
      <p:sp>
        <p:nvSpPr>
          <p:cNvPr id="9" name="visual-title-tab">
            <a:extLst xmlns:a="http://schemas.openxmlformats.org/drawingml/2006/main">
              <a:ext uri="{FF2B5EF4-FFF2-40B4-BE49-F238E27FC236}">
                <a16:creationId xmlns:a16="http://schemas.microsoft.com/office/drawing/2014/main" id="{C9C27DD6-32D9-46BA-B6BE-9F8CAF3D6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67050"/>
            <a:ext cx="16002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sp>
        <p:nvSpPr>
          <p:cNvPr id="10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6C45C7CD-92B2-40B6-A788-578EA022F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71800" y="3114675"/>
            <a:ext cx="569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5A5A5A"/>
            </a:solidFill>
            <a:prstDash val="solid"/>
          </a:ln>
        </p:spPr>
      </p:sp>
      <p:sp>
        <p:nvSpPr>
          <p:cNvPr id="11" name="visual-footer-rule">
            <a:extLst xmlns:a="http://schemas.openxmlformats.org/drawingml/2006/main">
              <a:ext uri="{FF2B5EF4-FFF2-40B4-BE49-F238E27FC236}">
                <a16:creationId xmlns:a16="http://schemas.microsoft.com/office/drawing/2014/main" id="{BF2B6703-DDCA-4C48-BF70-C91F9158C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0" y="954405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2" name="visual-footer-pill">
            <a:extLst xmlns:a="http://schemas.openxmlformats.org/drawingml/2006/main">
              <a:ext uri="{FF2B5EF4-FFF2-40B4-BE49-F238E27FC236}">
                <a16:creationId xmlns:a16="http://schemas.microsoft.com/office/drawing/2014/main" id="{8442D78C-8F80-46C5-BA94-F4C86F0B4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8048625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13" name="visual-footer-brand-pill">
            <a:extLst xmlns:a="http://schemas.openxmlformats.org/drawingml/2006/main">
              <a:ext uri="{FF2B5EF4-FFF2-40B4-BE49-F238E27FC236}">
                <a16:creationId xmlns:a16="http://schemas.microsoft.com/office/drawing/2014/main" id="{E1052DDF-6D5F-414B-843B-908280624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272415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sp>
        <p:nvSpPr>
          <p:cNvPr id="14" name="visual-footer-brand">
            <a:extLst xmlns:a="http://schemas.openxmlformats.org/drawingml/2006/main">
              <a:ext uri="{FF2B5EF4-FFF2-40B4-BE49-F238E27FC236}">
                <a16:creationId xmlns:a16="http://schemas.microsoft.com/office/drawing/2014/main" id="{24079FEF-7D3A-4AA9-9FB4-ACC3C1F73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93345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Análisis de Datos</a:t>
            </a:r>
          </a:p>
        </p:txBody>
      </p:sp>
      <p:sp>
        <p:nvSpPr>
          <p:cNvPr id="15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38929F21-E529-47CB-91E1-D8F8138DC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334500"/>
            <a:ext cx="490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CENTRO · EJEMPLO</a:t>
            </a:r>
          </a:p>
        </p:txBody>
      </p:sp>
      <p:sp>
        <p:nvSpPr>
          <p:cNvPr id="16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3A17B158-F71D-4B7A-A940-86FE979A3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9820275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D1D1D1"/>
                </a:solidFill>
                <a:latin typeface="Telegraf"/>
                <a:ea typeface="Telegraf"/>
                <a:cs typeface="Telegraf"/>
              </a:defRPr>
            </a:pPr>
            <a:r>
              <a:rPr sz="975" b="0">
                <a:solidFill>
                  <a:srgbClr val="D1D1D1"/>
                </a:solidFill>
                <a:latin typeface="Telegraf"/>
                <a:ea typeface="Telegraf"/>
                <a:cs typeface="Telegraf"/>
              </a:rPr>
              <a:t>Ingeniería Industrial · UTN FRC</a:t>
            </a:r>
          </a:p>
        </p:txBody>
      </p:sp>
      <p:sp>
        <p:nvSpPr>
          <p:cNvPr id="17" name="compare-stage">
            <a:extLst xmlns:a="http://schemas.openxmlformats.org/drawingml/2006/main">
              <a:ext uri="{FF2B5EF4-FFF2-40B4-BE49-F238E27FC236}">
                <a16:creationId xmlns:a16="http://schemas.microsoft.com/office/drawing/2014/main" id="{C0F71488-81DA-4B23-A4D7-ED3D9156D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09950"/>
            <a:ext cx="15849600" cy="3524250"/>
          </a:xfrm>
          <a:prstGeom xmlns:a="http://schemas.openxmlformats.org/drawingml/2006/main" prst="roundRect">
            <a:avLst>
              <a:gd name="adj" fmla="val 5946"/>
            </a:avLst>
          </a:prstGeom>
          <a:solidFill xmlns:a="http://schemas.openxmlformats.org/drawingml/2006/main">
            <a:srgbClr val="1B1B1B"/>
          </a:solidFill>
          <a:ln xmlns:a="http://schemas.openxmlformats.org/drawingml/2006/main" w="11430">
            <a:solidFill>
              <a:srgbClr val="4F4F4F"/>
            </a:solidFill>
            <a:prstDash val="solid"/>
          </a:ln>
        </p:spPr>
      </p:sp>
      <p:sp>
        <p:nvSpPr>
          <p:cNvPr id="18" name="compare-divider">
            <a:extLst xmlns:a="http://schemas.openxmlformats.org/drawingml/2006/main">
              <a:ext uri="{FF2B5EF4-FFF2-40B4-BE49-F238E27FC236}">
                <a16:creationId xmlns:a16="http://schemas.microsoft.com/office/drawing/2014/main" id="{055D9305-F4CC-4AA8-9D27-578BFA715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144000" y="3695700"/>
            <a:ext cx="0" cy="289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33"/>
            </a:solidFill>
            <a:prstDash val="solid"/>
          </a:ln>
        </p:spPr>
      </p:sp>
      <p:sp>
        <p:nvSpPr>
          <p:cNvPr id="19" name="compare-metric-0">
            <a:extLst xmlns:a="http://schemas.openxmlformats.org/drawingml/2006/main">
              <a:ext uri="{FF2B5EF4-FFF2-40B4-BE49-F238E27FC236}">
                <a16:creationId xmlns:a16="http://schemas.microsoft.com/office/drawing/2014/main" id="{F30A7955-B6F2-4500-9B1D-FBB28FFC5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695700"/>
            <a:ext cx="23336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49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6,8 d</a:t>
            </a:r>
          </a:p>
        </p:txBody>
      </p:sp>
      <p:sp>
        <p:nvSpPr>
          <p:cNvPr id="20" name="compare-head-0">
            <a:extLst xmlns:a="http://schemas.openxmlformats.org/drawingml/2006/main">
              <a:ext uri="{FF2B5EF4-FFF2-40B4-BE49-F238E27FC236}">
                <a16:creationId xmlns:a16="http://schemas.microsoft.com/office/drawing/2014/main" id="{D7B792F0-1F4A-41ED-8703-194193AE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857625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232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Media</a:t>
            </a:r>
          </a:p>
        </p:txBody>
      </p:sp>
      <p:sp>
        <p:nvSpPr>
          <p:cNvPr id="21" name="compare-rule-0">
            <a:extLst xmlns:a="http://schemas.openxmlformats.org/drawingml/2006/main">
              <a:ext uri="{FF2B5EF4-FFF2-40B4-BE49-F238E27FC236}">
                <a16:creationId xmlns:a16="http://schemas.microsoft.com/office/drawing/2014/main" id="{2B3A5652-0EE6-4151-BF82-C57A89258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733550" y="4953000"/>
            <a:ext cx="6410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555555"/>
            </a:solidFill>
            <a:prstDash val="solid"/>
          </a:ln>
        </p:spPr>
      </p:sp>
      <p:sp>
        <p:nvSpPr>
          <p:cNvPr id="22" name="compare-body-0">
            <a:extLst xmlns:a="http://schemas.openxmlformats.org/drawingml/2006/main">
              <a:ext uri="{FF2B5EF4-FFF2-40B4-BE49-F238E27FC236}">
                <a16:creationId xmlns:a16="http://schemas.microsoft.com/office/drawing/2014/main" id="{B50431FF-DC4D-43A6-8D7C-09C5ABB9A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191125"/>
            <a:ext cx="64293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8D8D8"/>
                </a:solidFill>
                <a:latin typeface="Telegraf"/>
                <a:ea typeface="Telegraf"/>
                <a:cs typeface="Telegraf"/>
              </a:defRPr>
            </a:pPr>
            <a:r>
              <a:rPr sz="1800" b="0">
                <a:solidFill>
                  <a:srgbClr val="D8D8D8"/>
                </a:solidFill>
                <a:latin typeface="Telegraf"/>
                <a:ea typeface="Telegraf"/>
                <a:cs typeface="Telegraf"/>
              </a:rPr>
              <a:t>Incorpora cada demora y reacciona ante una cola larga.</a:t>
            </a:r>
          </a:p>
        </p:txBody>
      </p:sp>
      <p:sp>
        <p:nvSpPr>
          <p:cNvPr id="23" name="compare-metric-1">
            <a:extLst xmlns:a="http://schemas.openxmlformats.org/drawingml/2006/main">
              <a:ext uri="{FF2B5EF4-FFF2-40B4-BE49-F238E27FC236}">
                <a16:creationId xmlns:a16="http://schemas.microsoft.com/office/drawing/2014/main" id="{BD21D196-B962-4D08-84EB-D7EAAD952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3695700"/>
            <a:ext cx="23336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49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4,0 d</a:t>
            </a:r>
          </a:p>
        </p:txBody>
      </p:sp>
      <p:sp>
        <p:nvSpPr>
          <p:cNvPr id="24" name="compare-head-1">
            <a:extLst xmlns:a="http://schemas.openxmlformats.org/drawingml/2006/main">
              <a:ext uri="{FF2B5EF4-FFF2-40B4-BE49-F238E27FC236}">
                <a16:creationId xmlns:a16="http://schemas.microsoft.com/office/drawing/2014/main" id="{666309E9-CC8A-44EC-9CE4-8AD8B3278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25" y="3857625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232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Mediana</a:t>
            </a:r>
          </a:p>
        </p:txBody>
      </p:sp>
      <p:sp>
        <p:nvSpPr>
          <p:cNvPr id="25" name="compare-rule-1">
            <a:extLst xmlns:a="http://schemas.openxmlformats.org/drawingml/2006/main">
              <a:ext uri="{FF2B5EF4-FFF2-40B4-BE49-F238E27FC236}">
                <a16:creationId xmlns:a16="http://schemas.microsoft.com/office/drawing/2014/main" id="{B8F980FC-9734-4CB3-9A04-CD43EC4DF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782175" y="4953000"/>
            <a:ext cx="6410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555555"/>
            </a:solidFill>
            <a:prstDash val="solid"/>
          </a:ln>
        </p:spPr>
      </p:sp>
      <p:sp>
        <p:nvSpPr>
          <p:cNvPr id="26" name="compare-body-1">
            <a:extLst xmlns:a="http://schemas.openxmlformats.org/drawingml/2006/main">
              <a:ext uri="{FF2B5EF4-FFF2-40B4-BE49-F238E27FC236}">
                <a16:creationId xmlns:a16="http://schemas.microsoft.com/office/drawing/2014/main" id="{9E0D8D3E-9F98-49C6-8E8A-40B0114E2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5191125"/>
            <a:ext cx="64293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8D8D8"/>
                </a:solidFill>
                <a:latin typeface="Telegraf"/>
                <a:ea typeface="Telegraf"/>
                <a:cs typeface="Telegraf"/>
              </a:defRPr>
            </a:pPr>
            <a:r>
              <a:rPr sz="1800" b="0">
                <a:solidFill>
                  <a:srgbClr val="D8D8D8"/>
                </a:solidFill>
                <a:latin typeface="Telegraf"/>
                <a:ea typeface="Telegraf"/>
                <a:cs typeface="Telegraf"/>
              </a:rPr>
              <a:t>Divide los pedidos ordenados en dos mitades.</a:t>
            </a:r>
          </a:p>
        </p:txBody>
      </p:sp>
      <p:sp>
        <p:nvSpPr>
          <p:cNvPr id="27" name="compare-bridge">
            <a:extLst xmlns:a="http://schemas.openxmlformats.org/drawingml/2006/main">
              <a:ext uri="{FF2B5EF4-FFF2-40B4-BE49-F238E27FC236}">
                <a16:creationId xmlns:a16="http://schemas.microsoft.com/office/drawing/2014/main" id="{50D33231-7A6F-40EE-BD2B-D05933FB0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7353300"/>
            <a:ext cx="122872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sp>
        <p:nvSpPr>
          <p:cNvPr id="28" name="compare-bridge-text">
            <a:extLst xmlns:a="http://schemas.openxmlformats.org/drawingml/2006/main">
              <a:ext uri="{FF2B5EF4-FFF2-40B4-BE49-F238E27FC236}">
                <a16:creationId xmlns:a16="http://schemas.microsoft.com/office/drawing/2014/main" id="{890649ED-9A97-4F20-8C75-EC3670CB4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7505700"/>
            <a:ext cx="11334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8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La distancia entre ambas sugiere asimetría y justifica mirar percentiles.</a:t>
            </a:r>
          </a:p>
        </p:txBody>
      </p:sp>
    </p:spTree>
    <p:extLst>
      <p:ext uri="{BB962C8B-B14F-4D97-AF65-F5344CB8AC3E}">
        <p14:creationId xmlns:p14="http://schemas.microsoft.com/office/powerpoint/2010/main" val="7564368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visual-light-field">
            <a:extLst xmlns:a="http://schemas.openxmlformats.org/drawingml/2006/main">
              <a:ext uri="{FF2B5EF4-FFF2-40B4-BE49-F238E27FC236}">
                <a16:creationId xmlns:a16="http://schemas.microsoft.com/office/drawing/2014/main" id="{3A81A953-DD21-4C3D-BC23-9B41BBC5E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1809750"/>
            <a:ext cx="3333750" cy="7239000"/>
          </a:xfrm>
          <a:prstGeom xmlns:a="http://schemas.openxmlformats.org/drawingml/2006/main" prst="roundRect">
            <a:avLst>
              <a:gd name="adj" fmla="val 23429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11430">
            <a:solidFill>
              <a:srgbClr val="DCE6F1"/>
            </a:solidFill>
            <a:prstDash val="solid"/>
          </a:ln>
        </p:spPr>
      </p:sp>
      <p:sp>
        <p:nvSpPr>
          <p:cNvPr id="2" name="visual-light-field-2">
            <a:extLst xmlns:a="http://schemas.openxmlformats.org/drawingml/2006/main">
              <a:ext uri="{FF2B5EF4-FFF2-40B4-BE49-F238E27FC236}">
                <a16:creationId xmlns:a16="http://schemas.microsoft.com/office/drawing/2014/main" id="{CE0A8C8C-4EC7-4467-9287-381FC6783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5375" y="457200"/>
            <a:ext cx="1952625" cy="3667125"/>
          </a:xfrm>
          <a:prstGeom xmlns:a="http://schemas.openxmlformats.org/drawingml/2006/main" prst="roundRect">
            <a:avLst>
              <a:gd name="adj" fmla="val 341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" name="visual-light-tab">
            <a:extLst xmlns:a="http://schemas.openxmlformats.org/drawingml/2006/main">
              <a:ext uri="{FF2B5EF4-FFF2-40B4-BE49-F238E27FC236}">
                <a16:creationId xmlns:a16="http://schemas.microsoft.com/office/drawing/2014/main" id="{5943409B-1B3D-44ED-918E-FE7EA685D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8686800"/>
            <a:ext cx="1524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e90a24c9b54887"/>
          <a:stretch xmlns:a="http://schemas.openxmlformats.org/drawingml/2006/main"/>
        </p:blipFill>
        <p:spPr>
          <a:xfrm xmlns:a="http://schemas.openxmlformats.org/drawingml/2006/main">
            <a:off x="704850" y="531238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5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3E63E7D4-26C3-47BF-975F-33D6307EC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0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Universidad Tecnológica Nacional</a:t>
            </a:r>
          </a:p>
        </p:txBody>
      </p:sp>
      <p:sp>
        <p:nvSpPr>
          <p:cNvPr id="6" name="visual-program">
            <a:extLst xmlns:a="http://schemas.openxmlformats.org/drawingml/2006/main">
              <a:ext uri="{FF2B5EF4-FFF2-40B4-BE49-F238E27FC236}">
                <a16:creationId xmlns:a16="http://schemas.microsoft.com/office/drawing/2014/main" id="{E0D3BBBC-D3AC-4D5E-B5BF-429616053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9535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INGENIERÍA INDUSTRIAL</a:t>
            </a:r>
          </a:p>
        </p:txBody>
      </p:sp>
      <p:sp>
        <p:nvSpPr>
          <p:cNvPr id="7" name="visual-year">
            <a:extLst xmlns:a="http://schemas.openxmlformats.org/drawingml/2006/main">
              <a:ext uri="{FF2B5EF4-FFF2-40B4-BE49-F238E27FC236}">
                <a16:creationId xmlns:a16="http://schemas.microsoft.com/office/drawing/2014/main" id="{F5A6AAA1-BE88-48EC-80D6-2DDF11CBA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63817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2026</a:t>
            </a:r>
          </a:p>
        </p:txBody>
      </p:sp>
      <p:sp>
        <p:nvSpPr>
          <p:cNvPr id="8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5526D385-7113-43F7-836B-F221D35C8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85900"/>
            <a:ext cx="138112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Los percentiles vuelven visible la experiencia de la cola</a:t>
            </a:r>
          </a:p>
        </p:txBody>
      </p:sp>
      <p:sp>
        <p:nvSpPr>
          <p:cNvPr id="9" name="visual-title-tab">
            <a:extLst xmlns:a="http://schemas.openxmlformats.org/drawingml/2006/main">
              <a:ext uri="{FF2B5EF4-FFF2-40B4-BE49-F238E27FC236}">
                <a16:creationId xmlns:a16="http://schemas.microsoft.com/office/drawing/2014/main" id="{97DDB36A-907A-4F37-A8C8-297E6C533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67050"/>
            <a:ext cx="16002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0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6CAA2ADD-E5E0-4D88-897B-9C339689B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71800" y="3114675"/>
            <a:ext cx="569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8C4D1"/>
            </a:solidFill>
            <a:prstDash val="solid"/>
          </a:ln>
        </p:spPr>
      </p:sp>
      <p:sp>
        <p:nvSpPr>
          <p:cNvPr id="11" name="visual-footer-rule">
            <a:extLst xmlns:a="http://schemas.openxmlformats.org/drawingml/2006/main">
              <a:ext uri="{FF2B5EF4-FFF2-40B4-BE49-F238E27FC236}">
                <a16:creationId xmlns:a16="http://schemas.microsoft.com/office/drawing/2014/main" id="{E2724DD7-795D-4C11-A295-FD1228E55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0" y="954405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497D"/>
            </a:solidFill>
            <a:prstDash val="solid"/>
          </a:ln>
        </p:spPr>
      </p:sp>
      <p:sp>
        <p:nvSpPr>
          <p:cNvPr id="12" name="visual-footer-pill">
            <a:extLst xmlns:a="http://schemas.openxmlformats.org/drawingml/2006/main">
              <a:ext uri="{FF2B5EF4-FFF2-40B4-BE49-F238E27FC236}">
                <a16:creationId xmlns:a16="http://schemas.microsoft.com/office/drawing/2014/main" id="{CC8A2C65-34EA-40C6-B066-1973D2711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8048625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3" name="visual-footer-brand-pill">
            <a:extLst xmlns:a="http://schemas.openxmlformats.org/drawingml/2006/main">
              <a:ext uri="{FF2B5EF4-FFF2-40B4-BE49-F238E27FC236}">
                <a16:creationId xmlns:a16="http://schemas.microsoft.com/office/drawing/2014/main" id="{D46943A2-87C2-41D3-ADBD-6478B5FFF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272415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4" name="visual-footer-brand">
            <a:extLst xmlns:a="http://schemas.openxmlformats.org/drawingml/2006/main">
              <a:ext uri="{FF2B5EF4-FFF2-40B4-BE49-F238E27FC236}">
                <a16:creationId xmlns:a16="http://schemas.microsoft.com/office/drawing/2014/main" id="{7673F8EE-FA62-46CD-86A1-347C763EB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93345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Análisis de Datos</a:t>
            </a:r>
          </a:p>
        </p:txBody>
      </p:sp>
      <p:sp>
        <p:nvSpPr>
          <p:cNvPr id="15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6475A5B2-C26B-4C4F-A63E-AC3ABCBFC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334500"/>
            <a:ext cx="490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SERVICIO · DISTRIBUCIÓN</a:t>
            </a:r>
          </a:p>
        </p:txBody>
      </p:sp>
      <p:sp>
        <p:nvSpPr>
          <p:cNvPr id="16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0E328530-11FA-4FC4-91C5-E9DB1D6F0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9820275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97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Ingeniería Industrial · UTN FRC</a:t>
            </a:r>
          </a:p>
        </p:txBody>
      </p:sp>
      <p:sp>
        <p:nvSpPr>
          <p:cNvPr id="17" name="matrix-surface">
            <a:extLst xmlns:a="http://schemas.openxmlformats.org/drawingml/2006/main">
              <a:ext uri="{FF2B5EF4-FFF2-40B4-BE49-F238E27FC236}">
                <a16:creationId xmlns:a16="http://schemas.microsoft.com/office/drawing/2014/main" id="{B1B0A16D-48C0-47F3-AED0-6E905B55B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95650"/>
            <a:ext cx="16192500" cy="4095750"/>
          </a:xfrm>
          <a:prstGeom xmlns:a="http://schemas.openxmlformats.org/drawingml/2006/main" prst="roundRect">
            <a:avLst>
              <a:gd name="adj" fmla="val 41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graphicFrame>
        <p:nvGraphicFramePr>
          <p:cNvPr id="36" name=""/>
          <p:cNvGraphicFramePr/>
          <p:nvPr/>
        </p:nvGraphicFramePr>
        <p:xfrm>
          <a:off xmlns:a="http://schemas.openxmlformats.org/drawingml/2006/main" x="1219200" y="3429000"/>
          <a:ext xmlns:a="http://schemas.openxmlformats.org/drawingml/2006/main" cx="15849600" cy="3810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169920"/>
                <a:gridCol w="3962400"/>
                <a:gridCol w="8717280"/>
              </a:tblGrid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Telegraf Bold"/>
                          <a:ea typeface="Telegraf Bold"/>
                          <a:cs typeface="Telegraf Bold"/>
                        </a:rPr>
                        <a:t>Medida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Telegraf Bold"/>
                          <a:ea typeface="Telegraf Bold"/>
                          <a:cs typeface="Telegraf Bold"/>
                        </a:rPr>
                        <a:t>Demora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Telegraf Bold"/>
                          <a:ea typeface="Telegraf Bold"/>
                          <a:cs typeface="Telegraf Bold"/>
                        </a:rPr>
                        <a:t>Lectura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P50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4 días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la mitad llega antes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P75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7 días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tres de cada cuatro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P90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14 días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uno de cada diez supera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Máximo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39 días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caso extremo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160015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visual-light-field">
            <a:extLst xmlns:a="http://schemas.openxmlformats.org/drawingml/2006/main">
              <a:ext uri="{FF2B5EF4-FFF2-40B4-BE49-F238E27FC236}">
                <a16:creationId xmlns:a16="http://schemas.microsoft.com/office/drawing/2014/main" id="{3AFA6476-0F12-4CBF-8CF3-50220F491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1809750"/>
            <a:ext cx="3333750" cy="7239000"/>
          </a:xfrm>
          <a:prstGeom xmlns:a="http://schemas.openxmlformats.org/drawingml/2006/main" prst="roundRect">
            <a:avLst>
              <a:gd name="adj" fmla="val 23429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11430">
            <a:solidFill>
              <a:srgbClr val="DCE6F1"/>
            </a:solidFill>
            <a:prstDash val="solid"/>
          </a:ln>
        </p:spPr>
      </p:sp>
      <p:sp>
        <p:nvSpPr>
          <p:cNvPr id="2" name="visual-light-field-2">
            <a:extLst xmlns:a="http://schemas.openxmlformats.org/drawingml/2006/main">
              <a:ext uri="{FF2B5EF4-FFF2-40B4-BE49-F238E27FC236}">
                <a16:creationId xmlns:a16="http://schemas.microsoft.com/office/drawing/2014/main" id="{76DB393F-7981-404C-B255-B9DB46D2C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5375" y="457200"/>
            <a:ext cx="1952625" cy="3667125"/>
          </a:xfrm>
          <a:prstGeom xmlns:a="http://schemas.openxmlformats.org/drawingml/2006/main" prst="roundRect">
            <a:avLst>
              <a:gd name="adj" fmla="val 341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" name="visual-light-tab">
            <a:extLst xmlns:a="http://schemas.openxmlformats.org/drawingml/2006/main">
              <a:ext uri="{FF2B5EF4-FFF2-40B4-BE49-F238E27FC236}">
                <a16:creationId xmlns:a16="http://schemas.microsoft.com/office/drawing/2014/main" id="{4C2236AD-12CA-4C98-92BD-B8322301E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8686800"/>
            <a:ext cx="1524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44735efd3246a0"/>
          <a:stretch xmlns:a="http://schemas.openxmlformats.org/drawingml/2006/main"/>
        </p:blipFill>
        <p:spPr>
          <a:xfrm xmlns:a="http://schemas.openxmlformats.org/drawingml/2006/main">
            <a:off x="704850" y="531238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5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45A97B6C-F0EA-4ACA-A8E3-1F6E203AA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0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Universidad Tecnológica Nacional</a:t>
            </a:r>
          </a:p>
        </p:txBody>
      </p:sp>
      <p:sp>
        <p:nvSpPr>
          <p:cNvPr id="6" name="visual-program">
            <a:extLst xmlns:a="http://schemas.openxmlformats.org/drawingml/2006/main">
              <a:ext uri="{FF2B5EF4-FFF2-40B4-BE49-F238E27FC236}">
                <a16:creationId xmlns:a16="http://schemas.microsoft.com/office/drawing/2014/main" id="{6F272FB5-49ED-45BE-851A-53A55AD85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9535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INGENIERÍA INDUSTRIAL</a:t>
            </a:r>
          </a:p>
        </p:txBody>
      </p:sp>
      <p:sp>
        <p:nvSpPr>
          <p:cNvPr id="7" name="visual-year">
            <a:extLst xmlns:a="http://schemas.openxmlformats.org/drawingml/2006/main">
              <a:ext uri="{FF2B5EF4-FFF2-40B4-BE49-F238E27FC236}">
                <a16:creationId xmlns:a16="http://schemas.microsoft.com/office/drawing/2014/main" id="{1C4BAF32-75BD-47F0-A364-E6FBE6CDB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63817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2026</a:t>
            </a:r>
          </a:p>
        </p:txBody>
      </p:sp>
      <p:sp>
        <p:nvSpPr>
          <p:cNvPr id="8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E24F90A6-2FD1-483F-89E5-32A599ABD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85900"/>
            <a:ext cx="138112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Dos regiones pueden compartir promedio y diferir en estabilidad</a:t>
            </a:r>
          </a:p>
        </p:txBody>
      </p:sp>
      <p:sp>
        <p:nvSpPr>
          <p:cNvPr id="9" name="visual-title-tab">
            <a:extLst xmlns:a="http://schemas.openxmlformats.org/drawingml/2006/main">
              <a:ext uri="{FF2B5EF4-FFF2-40B4-BE49-F238E27FC236}">
                <a16:creationId xmlns:a16="http://schemas.microsoft.com/office/drawing/2014/main" id="{7CD55263-D133-4760-87EB-E9BD3864E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67050"/>
            <a:ext cx="16002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0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E3C752D1-48BF-4E5E-BD1A-C66998A38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71800" y="3114675"/>
            <a:ext cx="569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8C4D1"/>
            </a:solidFill>
            <a:prstDash val="solid"/>
          </a:ln>
        </p:spPr>
      </p:sp>
      <p:sp>
        <p:nvSpPr>
          <p:cNvPr id="11" name="visual-footer-rule">
            <a:extLst xmlns:a="http://schemas.openxmlformats.org/drawingml/2006/main">
              <a:ext uri="{FF2B5EF4-FFF2-40B4-BE49-F238E27FC236}">
                <a16:creationId xmlns:a16="http://schemas.microsoft.com/office/drawing/2014/main" id="{80538482-2950-4467-A0C6-558A553C8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0" y="954405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497D"/>
            </a:solidFill>
            <a:prstDash val="solid"/>
          </a:ln>
        </p:spPr>
      </p:sp>
      <p:sp>
        <p:nvSpPr>
          <p:cNvPr id="12" name="visual-footer-pill">
            <a:extLst xmlns:a="http://schemas.openxmlformats.org/drawingml/2006/main">
              <a:ext uri="{FF2B5EF4-FFF2-40B4-BE49-F238E27FC236}">
                <a16:creationId xmlns:a16="http://schemas.microsoft.com/office/drawing/2014/main" id="{11700C7F-72C5-46F4-BCBF-235B2A182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8048625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3" name="visual-footer-brand-pill">
            <a:extLst xmlns:a="http://schemas.openxmlformats.org/drawingml/2006/main">
              <a:ext uri="{FF2B5EF4-FFF2-40B4-BE49-F238E27FC236}">
                <a16:creationId xmlns:a16="http://schemas.microsoft.com/office/drawing/2014/main" id="{F75D84A0-1B7A-4D3A-98A8-127EA9298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272415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4" name="visual-footer-brand">
            <a:extLst xmlns:a="http://schemas.openxmlformats.org/drawingml/2006/main">
              <a:ext uri="{FF2B5EF4-FFF2-40B4-BE49-F238E27FC236}">
                <a16:creationId xmlns:a16="http://schemas.microsoft.com/office/drawing/2014/main" id="{07D39A61-D42E-408D-B0CA-7711561F8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93345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Análisis de Datos</a:t>
            </a:r>
          </a:p>
        </p:txBody>
      </p:sp>
      <p:sp>
        <p:nvSpPr>
          <p:cNvPr id="15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2F08F30D-BB4C-4D6E-8F00-8D0DEA4A0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334500"/>
            <a:ext cx="490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DISPERSIÓN · COMPARACIÓN</a:t>
            </a:r>
          </a:p>
        </p:txBody>
      </p:sp>
      <p:sp>
        <p:nvSpPr>
          <p:cNvPr id="16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760F7B67-2C93-482E-B541-FBAADBB6C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9820275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97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Ingeniería Industrial · UTN FRC</a:t>
            </a:r>
          </a:p>
        </p:txBody>
      </p:sp>
      <p:sp>
        <p:nvSpPr>
          <p:cNvPr id="17" name="bars-axis-x">
            <a:extLst xmlns:a="http://schemas.openxmlformats.org/drawingml/2006/main">
              <a:ext uri="{FF2B5EF4-FFF2-40B4-BE49-F238E27FC236}">
                <a16:creationId xmlns:a16="http://schemas.microsoft.com/office/drawing/2014/main" id="{8B0DC477-BEA1-420F-8221-8E3011A04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857500" y="7762875"/>
            <a:ext cx="1314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8" name="bars-axis-y">
            <a:extLst xmlns:a="http://schemas.openxmlformats.org/drawingml/2006/main">
              <a:ext uri="{FF2B5EF4-FFF2-40B4-BE49-F238E27FC236}">
                <a16:creationId xmlns:a16="http://schemas.microsoft.com/office/drawing/2014/main" id="{9F41DC13-12C4-419B-B599-C64E03248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857500" y="3476625"/>
            <a:ext cx="0" cy="428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9" name="bars-column-0">
            <a:extLst xmlns:a="http://schemas.openxmlformats.org/drawingml/2006/main">
              <a:ext uri="{FF2B5EF4-FFF2-40B4-BE49-F238E27FC236}">
                <a16:creationId xmlns:a16="http://schemas.microsoft.com/office/drawing/2014/main" id="{EDA82D8E-379B-42C9-AB80-1BFC95C19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6157232"/>
            <a:ext cx="3429000" cy="1605643"/>
          </a:xfrm>
          <a:prstGeom xmlns:a="http://schemas.openxmlformats.org/drawingml/2006/main" prst="roundRect">
            <a:avLst>
              <a:gd name="adj" fmla="val 4746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20" name="bars-value-0">
            <a:extLst xmlns:a="http://schemas.openxmlformats.org/drawingml/2006/main">
              <a:ext uri="{FF2B5EF4-FFF2-40B4-BE49-F238E27FC236}">
                <a16:creationId xmlns:a16="http://schemas.microsoft.com/office/drawing/2014/main" id="{BC04281D-C545-4AC1-9DF9-8744791D0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585732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1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5,9 d</a:t>
            </a:r>
          </a:p>
        </p:txBody>
      </p:sp>
      <p:sp>
        <p:nvSpPr>
          <p:cNvPr id="21" name="bars-label-0">
            <a:extLst xmlns:a="http://schemas.openxmlformats.org/drawingml/2006/main">
              <a:ext uri="{FF2B5EF4-FFF2-40B4-BE49-F238E27FC236}">
                <a16:creationId xmlns:a16="http://schemas.microsoft.com/office/drawing/2014/main" id="{54A2B2EE-350F-49C8-977B-EE0F26D8C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7905750"/>
            <a:ext cx="419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Centro</a:t>
            </a:r>
          </a:p>
        </p:txBody>
      </p:sp>
      <p:sp>
        <p:nvSpPr>
          <p:cNvPr id="22" name="bars-column-1">
            <a:extLst xmlns:a="http://schemas.openxmlformats.org/drawingml/2006/main">
              <a:ext uri="{FF2B5EF4-FFF2-40B4-BE49-F238E27FC236}">
                <a16:creationId xmlns:a16="http://schemas.microsoft.com/office/drawing/2014/main" id="{C8E6EB8F-4F80-4158-A2EA-93B51C5F3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388304"/>
            <a:ext cx="3429000" cy="3374571"/>
          </a:xfrm>
          <a:prstGeom xmlns:a="http://schemas.openxmlformats.org/drawingml/2006/main" prst="roundRect">
            <a:avLst>
              <a:gd name="adj" fmla="val 2258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sp>
        <p:nvSpPr>
          <p:cNvPr id="23" name="bars-value-1">
            <a:extLst xmlns:a="http://schemas.openxmlformats.org/drawingml/2006/main">
              <a:ext uri="{FF2B5EF4-FFF2-40B4-BE49-F238E27FC236}">
                <a16:creationId xmlns:a16="http://schemas.microsoft.com/office/drawing/2014/main" id="{57070F22-A0D6-4069-8F0D-99FE93F60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816804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1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P90 12,4 d</a:t>
            </a:r>
          </a:p>
        </p:txBody>
      </p:sp>
      <p:sp>
        <p:nvSpPr>
          <p:cNvPr id="24" name="bars-label-1">
            <a:extLst xmlns:a="http://schemas.openxmlformats.org/drawingml/2006/main">
              <a:ext uri="{FF2B5EF4-FFF2-40B4-BE49-F238E27FC236}">
                <a16:creationId xmlns:a16="http://schemas.microsoft.com/office/drawing/2014/main" id="{29350868-897A-41EF-A23A-45EA1989C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7905750"/>
            <a:ext cx="419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Patagonia</a:t>
            </a:r>
          </a:p>
        </p:txBody>
      </p:sp>
      <p:sp>
        <p:nvSpPr>
          <p:cNvPr id="25" name="bars-column-2">
            <a:extLst xmlns:a="http://schemas.openxmlformats.org/drawingml/2006/main">
              <a:ext uri="{FF2B5EF4-FFF2-40B4-BE49-F238E27FC236}">
                <a16:creationId xmlns:a16="http://schemas.microsoft.com/office/drawing/2014/main" id="{33E3E5D4-8D88-4B6A-AF4A-811119832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5558518"/>
            <a:ext cx="3429000" cy="2204357"/>
          </a:xfrm>
          <a:prstGeom xmlns:a="http://schemas.openxmlformats.org/drawingml/2006/main" prst="roundRect">
            <a:avLst>
              <a:gd name="adj" fmla="val 3457"/>
            </a:avLst>
          </a:prstGeom>
          <a:solidFill xmlns:a="http://schemas.openxmlformats.org/drawingml/2006/main">
            <a:srgbClr val="4F81BD"/>
          </a:solidFill>
          <a:ln xmlns:a="http://schemas.openxmlformats.org/drawingml/2006/main" w="11430">
            <a:solidFill>
              <a:srgbClr val="4F81BD"/>
            </a:solidFill>
            <a:prstDash val="solid"/>
          </a:ln>
        </p:spPr>
      </p:sp>
      <p:sp>
        <p:nvSpPr>
          <p:cNvPr id="26" name="bars-value-2">
            <a:extLst xmlns:a="http://schemas.openxmlformats.org/drawingml/2006/main">
              <a:ext uri="{FF2B5EF4-FFF2-40B4-BE49-F238E27FC236}">
                <a16:creationId xmlns:a16="http://schemas.microsoft.com/office/drawing/2014/main" id="{154A9213-F0E5-4D40-BFE6-9B23F191E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987018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1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P90 8,1 d</a:t>
            </a:r>
          </a:p>
        </p:txBody>
      </p:sp>
      <p:sp>
        <p:nvSpPr>
          <p:cNvPr id="27" name="bars-label-2">
            <a:extLst xmlns:a="http://schemas.openxmlformats.org/drawingml/2006/main">
              <a:ext uri="{FF2B5EF4-FFF2-40B4-BE49-F238E27FC236}">
                <a16:creationId xmlns:a16="http://schemas.microsoft.com/office/drawing/2014/main" id="{FADFF107-660E-4084-A837-3BF617990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7905750"/>
            <a:ext cx="419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Cuyo</a:t>
            </a:r>
          </a:p>
        </p:txBody>
      </p:sp>
      <p:sp>
        <p:nvSpPr>
          <p:cNvPr id="28" name="bars-callout">
            <a:extLst xmlns:a="http://schemas.openxmlformats.org/drawingml/2006/main">
              <a:ext uri="{FF2B5EF4-FFF2-40B4-BE49-F238E27FC236}">
                <a16:creationId xmlns:a16="http://schemas.microsoft.com/office/drawing/2014/main" id="{C5924CA6-A986-4A9A-9F7B-7CA1C20BC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8763000"/>
            <a:ext cx="1352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F497D"/>
                </a:solidFill>
                <a:latin typeface="Telegraf"/>
                <a:ea typeface="Telegraf"/>
                <a:cs typeface="Telegraf"/>
              </a:defRPr>
            </a:pPr>
            <a:r>
              <a:rPr sz="1650" b="0">
                <a:solidFill>
                  <a:srgbClr val="1F497D"/>
                </a:solidFill>
                <a:latin typeface="Telegraf"/>
                <a:ea typeface="Telegraf"/>
                <a:cs typeface="Telegraf"/>
              </a:rPr>
              <a:t>El promedio de ambas regiones ronda seis días; la cola cambia la promesa de servicio.</a:t>
            </a:r>
          </a:p>
        </p:txBody>
      </p:sp>
    </p:spTree>
    <p:extLst>
      <p:ext uri="{BB962C8B-B14F-4D97-AF65-F5344CB8AC3E}">
        <p14:creationId xmlns:p14="http://schemas.microsoft.com/office/powerpoint/2010/main" val="899728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visual-light-field">
            <a:extLst xmlns:a="http://schemas.openxmlformats.org/drawingml/2006/main">
              <a:ext uri="{FF2B5EF4-FFF2-40B4-BE49-F238E27FC236}">
                <a16:creationId xmlns:a16="http://schemas.microsoft.com/office/drawing/2014/main" id="{4ED21A5C-468E-4BE7-89EB-D74D9D542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1809750"/>
            <a:ext cx="3333750" cy="7239000"/>
          </a:xfrm>
          <a:prstGeom xmlns:a="http://schemas.openxmlformats.org/drawingml/2006/main" prst="roundRect">
            <a:avLst>
              <a:gd name="adj" fmla="val 23429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11430">
            <a:solidFill>
              <a:srgbClr val="DCE6F1"/>
            </a:solidFill>
            <a:prstDash val="solid"/>
          </a:ln>
        </p:spPr>
      </p:sp>
      <p:sp>
        <p:nvSpPr>
          <p:cNvPr id="2" name="visual-light-field-2">
            <a:extLst xmlns:a="http://schemas.openxmlformats.org/drawingml/2006/main">
              <a:ext uri="{FF2B5EF4-FFF2-40B4-BE49-F238E27FC236}">
                <a16:creationId xmlns:a16="http://schemas.microsoft.com/office/drawing/2014/main" id="{49CF9857-15D1-40CF-A644-186414879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5375" y="457200"/>
            <a:ext cx="1952625" cy="3667125"/>
          </a:xfrm>
          <a:prstGeom xmlns:a="http://schemas.openxmlformats.org/drawingml/2006/main" prst="roundRect">
            <a:avLst>
              <a:gd name="adj" fmla="val 341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" name="visual-light-tab">
            <a:extLst xmlns:a="http://schemas.openxmlformats.org/drawingml/2006/main">
              <a:ext uri="{FF2B5EF4-FFF2-40B4-BE49-F238E27FC236}">
                <a16:creationId xmlns:a16="http://schemas.microsoft.com/office/drawing/2014/main" id="{4C048E71-E261-443F-970B-5639FA57E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8686800"/>
            <a:ext cx="1524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a29dd64f124e0f"/>
          <a:stretch xmlns:a="http://schemas.openxmlformats.org/drawingml/2006/main"/>
        </p:blipFill>
        <p:spPr>
          <a:xfrm xmlns:a="http://schemas.openxmlformats.org/drawingml/2006/main">
            <a:off x="704850" y="531238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5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401663CE-F716-4C3F-A841-05EDD8358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0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Universidad Tecnológica Nacional</a:t>
            </a:r>
          </a:p>
        </p:txBody>
      </p:sp>
      <p:sp>
        <p:nvSpPr>
          <p:cNvPr id="6" name="visual-program">
            <a:extLst xmlns:a="http://schemas.openxmlformats.org/drawingml/2006/main">
              <a:ext uri="{FF2B5EF4-FFF2-40B4-BE49-F238E27FC236}">
                <a16:creationId xmlns:a16="http://schemas.microsoft.com/office/drawing/2014/main" id="{42E9EB2D-A6EF-48C9-9879-3237216DE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9535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INGENIERÍA INDUSTRIAL</a:t>
            </a:r>
          </a:p>
        </p:txBody>
      </p:sp>
      <p:sp>
        <p:nvSpPr>
          <p:cNvPr id="7" name="visual-year">
            <a:extLst xmlns:a="http://schemas.openxmlformats.org/drawingml/2006/main">
              <a:ext uri="{FF2B5EF4-FFF2-40B4-BE49-F238E27FC236}">
                <a16:creationId xmlns:a16="http://schemas.microsoft.com/office/drawing/2014/main" id="{F7E467C3-A452-43B4-8E18-AC76EA75D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63817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2026</a:t>
            </a:r>
          </a:p>
        </p:txBody>
      </p:sp>
      <p:sp>
        <p:nvSpPr>
          <p:cNvPr id="8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12A695B8-8FA9-4353-9EC4-B6775D925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85900"/>
            <a:ext cx="138112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Un outlier abre una investigación</a:t>
            </a:r>
          </a:p>
        </p:txBody>
      </p:sp>
      <p:sp>
        <p:nvSpPr>
          <p:cNvPr id="9" name="visual-title-tab">
            <a:extLst xmlns:a="http://schemas.openxmlformats.org/drawingml/2006/main">
              <a:ext uri="{FF2B5EF4-FFF2-40B4-BE49-F238E27FC236}">
                <a16:creationId xmlns:a16="http://schemas.microsoft.com/office/drawing/2014/main" id="{EE902CD8-871F-4F50-8268-9FC63928E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67050"/>
            <a:ext cx="16002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0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848FBC1C-4F6C-4DCC-8660-D38360DEF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71800" y="3114675"/>
            <a:ext cx="569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8C4D1"/>
            </a:solidFill>
            <a:prstDash val="solid"/>
          </a:ln>
        </p:spPr>
      </p:sp>
      <p:sp>
        <p:nvSpPr>
          <p:cNvPr id="11" name="visual-footer-rule">
            <a:extLst xmlns:a="http://schemas.openxmlformats.org/drawingml/2006/main">
              <a:ext uri="{FF2B5EF4-FFF2-40B4-BE49-F238E27FC236}">
                <a16:creationId xmlns:a16="http://schemas.microsoft.com/office/drawing/2014/main" id="{23DAA34B-AFF0-4B7D-B349-AD30EFCC6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0" y="954405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497D"/>
            </a:solidFill>
            <a:prstDash val="solid"/>
          </a:ln>
        </p:spPr>
      </p:sp>
      <p:sp>
        <p:nvSpPr>
          <p:cNvPr id="12" name="visual-footer-pill">
            <a:extLst xmlns:a="http://schemas.openxmlformats.org/drawingml/2006/main">
              <a:ext uri="{FF2B5EF4-FFF2-40B4-BE49-F238E27FC236}">
                <a16:creationId xmlns:a16="http://schemas.microsoft.com/office/drawing/2014/main" id="{3C938D56-C436-487B-BCB4-5E7F311C5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8048625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3" name="visual-footer-brand-pill">
            <a:extLst xmlns:a="http://schemas.openxmlformats.org/drawingml/2006/main">
              <a:ext uri="{FF2B5EF4-FFF2-40B4-BE49-F238E27FC236}">
                <a16:creationId xmlns:a16="http://schemas.microsoft.com/office/drawing/2014/main" id="{9695E25B-5C9B-411A-94F1-A9AB66370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272415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4" name="visual-footer-brand">
            <a:extLst xmlns:a="http://schemas.openxmlformats.org/drawingml/2006/main">
              <a:ext uri="{FF2B5EF4-FFF2-40B4-BE49-F238E27FC236}">
                <a16:creationId xmlns:a16="http://schemas.microsoft.com/office/drawing/2014/main" id="{E6762FB9-56BD-4577-902A-C1474FFD6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93345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Análisis de Datos</a:t>
            </a:r>
          </a:p>
        </p:txBody>
      </p:sp>
      <p:sp>
        <p:nvSpPr>
          <p:cNvPr id="15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161363BE-68E0-4D2D-88A6-6F0F09321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334500"/>
            <a:ext cx="490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EDA · CASO EXTREMO</a:t>
            </a:r>
          </a:p>
        </p:txBody>
      </p:sp>
      <p:sp>
        <p:nvSpPr>
          <p:cNvPr id="16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5FBE0606-2F4F-4AF4-B0D5-64F5B7853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9820275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97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Ingeniería Industrial · UTN FRC</a:t>
            </a:r>
          </a:p>
        </p:txBody>
      </p:sp>
      <p:sp>
        <p:nvSpPr>
          <p:cNvPr id="17" name="worked-box-0">
            <a:extLst xmlns:a="http://schemas.openxmlformats.org/drawingml/2006/main">
              <a:ext uri="{FF2B5EF4-FFF2-40B4-BE49-F238E27FC236}">
                <a16:creationId xmlns:a16="http://schemas.microsoft.com/office/drawing/2014/main" id="{C73DE1DE-DB0F-4CD0-95EB-6D669942C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76625"/>
            <a:ext cx="5118100" cy="2047875"/>
          </a:xfrm>
          <a:prstGeom xmlns:a="http://schemas.openxmlformats.org/drawingml/2006/main" prst="roundRect">
            <a:avLst>
              <a:gd name="adj" fmla="val 83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18" name="worked-number-0">
            <a:extLst xmlns:a="http://schemas.openxmlformats.org/drawingml/2006/main">
              <a:ext uri="{FF2B5EF4-FFF2-40B4-BE49-F238E27FC236}">
                <a16:creationId xmlns:a16="http://schemas.microsoft.com/office/drawing/2014/main" id="{ACA3CCBD-D7FF-4F1C-A721-3EAC6FD6A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609975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01</a:t>
            </a:r>
          </a:p>
        </p:txBody>
      </p:sp>
      <p:sp>
        <p:nvSpPr>
          <p:cNvPr id="19" name="worked-rule-0">
            <a:extLst xmlns:a="http://schemas.openxmlformats.org/drawingml/2006/main">
              <a:ext uri="{FF2B5EF4-FFF2-40B4-BE49-F238E27FC236}">
                <a16:creationId xmlns:a16="http://schemas.microsoft.com/office/drawing/2014/main" id="{47BA7CAF-21C3-4536-A06E-D0D22EF80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09700" y="4238625"/>
            <a:ext cx="473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B8C4D1"/>
            </a:solidFill>
            <a:prstDash val="solid"/>
          </a:ln>
        </p:spPr>
      </p:sp>
      <p:sp>
        <p:nvSpPr>
          <p:cNvPr id="20" name="worked-head-0">
            <a:extLst xmlns:a="http://schemas.openxmlformats.org/drawingml/2006/main">
              <a:ext uri="{FF2B5EF4-FFF2-40B4-BE49-F238E27FC236}">
                <a16:creationId xmlns:a16="http://schemas.microsoft.com/office/drawing/2014/main" id="{D81365D3-2018-4174-9A86-29AE91A8A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352925"/>
            <a:ext cx="4737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Detectar</a:t>
            </a:r>
          </a:p>
        </p:txBody>
      </p:sp>
      <p:sp>
        <p:nvSpPr>
          <p:cNvPr id="21" name="worked-body-0">
            <a:extLst xmlns:a="http://schemas.openxmlformats.org/drawingml/2006/main">
              <a:ext uri="{FF2B5EF4-FFF2-40B4-BE49-F238E27FC236}">
                <a16:creationId xmlns:a16="http://schemas.microsoft.com/office/drawing/2014/main" id="{65A5CED0-33D3-4801-84CC-FE562EA66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000625"/>
            <a:ext cx="4737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9127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575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39 días de demora</a:t>
            </a:r>
          </a:p>
        </p:txBody>
      </p:sp>
      <p:sp>
        <p:nvSpPr>
          <p:cNvPr id="22" name="worked-box-1">
            <a:extLst xmlns:a="http://schemas.openxmlformats.org/drawingml/2006/main">
              <a:ext uri="{FF2B5EF4-FFF2-40B4-BE49-F238E27FC236}">
                <a16:creationId xmlns:a16="http://schemas.microsoft.com/office/drawing/2014/main" id="{8FB12F9E-8BCC-4B07-84CE-28DF4D6E0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4950" y="3476625"/>
            <a:ext cx="5118100" cy="2047875"/>
          </a:xfrm>
          <a:prstGeom xmlns:a="http://schemas.openxmlformats.org/drawingml/2006/main" prst="roundRect">
            <a:avLst>
              <a:gd name="adj" fmla="val 83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23" name="worked-number-1">
            <a:extLst xmlns:a="http://schemas.openxmlformats.org/drawingml/2006/main">
              <a:ext uri="{FF2B5EF4-FFF2-40B4-BE49-F238E27FC236}">
                <a16:creationId xmlns:a16="http://schemas.microsoft.com/office/drawing/2014/main" id="{0931B48C-925D-4AFD-A1FD-F2ADE5F73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450" y="3609975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02</a:t>
            </a:r>
          </a:p>
        </p:txBody>
      </p:sp>
      <p:sp>
        <p:nvSpPr>
          <p:cNvPr id="24" name="worked-rule-1">
            <a:extLst xmlns:a="http://schemas.openxmlformats.org/drawingml/2006/main">
              <a:ext uri="{FF2B5EF4-FFF2-40B4-BE49-F238E27FC236}">
                <a16:creationId xmlns:a16="http://schemas.microsoft.com/office/drawing/2014/main" id="{EEC266FA-B899-4385-9857-050A2174A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775450" y="4238625"/>
            <a:ext cx="473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B8C4D1"/>
            </a:solidFill>
            <a:prstDash val="solid"/>
          </a:ln>
        </p:spPr>
      </p:sp>
      <p:sp>
        <p:nvSpPr>
          <p:cNvPr id="25" name="worked-head-1">
            <a:extLst xmlns:a="http://schemas.openxmlformats.org/drawingml/2006/main">
              <a:ext uri="{FF2B5EF4-FFF2-40B4-BE49-F238E27FC236}">
                <a16:creationId xmlns:a16="http://schemas.microsoft.com/office/drawing/2014/main" id="{61D2A7D0-1500-4BE4-85F9-C768F8125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450" y="4352925"/>
            <a:ext cx="4737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Validar</a:t>
            </a:r>
          </a:p>
        </p:txBody>
      </p:sp>
      <p:sp>
        <p:nvSpPr>
          <p:cNvPr id="26" name="worked-body-1">
            <a:extLst xmlns:a="http://schemas.openxmlformats.org/drawingml/2006/main">
              <a:ext uri="{FF2B5EF4-FFF2-40B4-BE49-F238E27FC236}">
                <a16:creationId xmlns:a16="http://schemas.microsoft.com/office/drawing/2014/main" id="{624D7019-E2BE-427F-959C-625C985FA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450" y="5000625"/>
            <a:ext cx="4737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9127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575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fechas y zona horaria</a:t>
            </a:r>
          </a:p>
        </p:txBody>
      </p:sp>
      <p:sp>
        <p:nvSpPr>
          <p:cNvPr id="27" name="worked-box-2">
            <a:extLst xmlns:a="http://schemas.openxmlformats.org/drawingml/2006/main">
              <a:ext uri="{FF2B5EF4-FFF2-40B4-BE49-F238E27FC236}">
                <a16:creationId xmlns:a16="http://schemas.microsoft.com/office/drawing/2014/main" id="{7EFA27E3-A442-433D-B5A8-6A3258540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0700" y="3476625"/>
            <a:ext cx="5118100" cy="2047875"/>
          </a:xfrm>
          <a:prstGeom xmlns:a="http://schemas.openxmlformats.org/drawingml/2006/main" prst="roundRect">
            <a:avLst>
              <a:gd name="adj" fmla="val 83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28" name="worked-number-2">
            <a:extLst xmlns:a="http://schemas.openxmlformats.org/drawingml/2006/main">
              <a:ext uri="{FF2B5EF4-FFF2-40B4-BE49-F238E27FC236}">
                <a16:creationId xmlns:a16="http://schemas.microsoft.com/office/drawing/2014/main" id="{A83345E4-2A7F-4D7F-ACCC-134BDAA93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1200" y="3609975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03</a:t>
            </a:r>
          </a:p>
        </p:txBody>
      </p:sp>
      <p:sp>
        <p:nvSpPr>
          <p:cNvPr id="29" name="worked-rule-2">
            <a:extLst xmlns:a="http://schemas.openxmlformats.org/drawingml/2006/main">
              <a:ext uri="{FF2B5EF4-FFF2-40B4-BE49-F238E27FC236}">
                <a16:creationId xmlns:a16="http://schemas.microsoft.com/office/drawing/2014/main" id="{2A2EBCC2-42D1-40C2-A0C0-D74ADE46E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141200" y="4238625"/>
            <a:ext cx="473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B8C4D1"/>
            </a:solidFill>
            <a:prstDash val="solid"/>
          </a:ln>
        </p:spPr>
      </p:sp>
      <p:sp>
        <p:nvSpPr>
          <p:cNvPr id="30" name="worked-head-2">
            <a:extLst xmlns:a="http://schemas.openxmlformats.org/drawingml/2006/main">
              <a:ext uri="{FF2B5EF4-FFF2-40B4-BE49-F238E27FC236}">
                <a16:creationId xmlns:a16="http://schemas.microsoft.com/office/drawing/2014/main" id="{A413C314-A75C-48B6-A62F-A218FFF94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1200" y="4352925"/>
            <a:ext cx="4737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Contextualizar</a:t>
            </a:r>
          </a:p>
        </p:txBody>
      </p:sp>
      <p:sp>
        <p:nvSpPr>
          <p:cNvPr id="31" name="worked-body-2">
            <a:extLst xmlns:a="http://schemas.openxmlformats.org/drawingml/2006/main">
              <a:ext uri="{FF2B5EF4-FFF2-40B4-BE49-F238E27FC236}">
                <a16:creationId xmlns:a16="http://schemas.microsoft.com/office/drawing/2014/main" id="{C933DEAB-C34F-4694-BF47-7C0618EC4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1200" y="5000625"/>
            <a:ext cx="4737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9127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575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repuesto importado</a:t>
            </a:r>
          </a:p>
        </p:txBody>
      </p:sp>
      <p:sp>
        <p:nvSpPr>
          <p:cNvPr id="32" name="worked-box-3">
            <a:extLst xmlns:a="http://schemas.openxmlformats.org/drawingml/2006/main">
              <a:ext uri="{FF2B5EF4-FFF2-40B4-BE49-F238E27FC236}">
                <a16:creationId xmlns:a16="http://schemas.microsoft.com/office/drawing/2014/main" id="{0F8C1394-633E-4E35-A47B-618A1182C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772150"/>
            <a:ext cx="5118100" cy="2047875"/>
          </a:xfrm>
          <a:prstGeom xmlns:a="http://schemas.openxmlformats.org/drawingml/2006/main" prst="roundRect">
            <a:avLst>
              <a:gd name="adj" fmla="val 83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33" name="worked-number-3">
            <a:extLst xmlns:a="http://schemas.openxmlformats.org/drawingml/2006/main">
              <a:ext uri="{FF2B5EF4-FFF2-40B4-BE49-F238E27FC236}">
                <a16:creationId xmlns:a16="http://schemas.microsoft.com/office/drawing/2014/main" id="{DB66D0F7-C46A-470C-8F80-6CEDD27C1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905500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04</a:t>
            </a:r>
          </a:p>
        </p:txBody>
      </p:sp>
      <p:sp>
        <p:nvSpPr>
          <p:cNvPr id="34" name="worked-rule-3">
            <a:extLst xmlns:a="http://schemas.openxmlformats.org/drawingml/2006/main">
              <a:ext uri="{FF2B5EF4-FFF2-40B4-BE49-F238E27FC236}">
                <a16:creationId xmlns:a16="http://schemas.microsoft.com/office/drawing/2014/main" id="{F0CDC681-F585-4BFA-B4CC-AA495ABF0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09700" y="6534150"/>
            <a:ext cx="473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B8C4D1"/>
            </a:solidFill>
            <a:prstDash val="solid"/>
          </a:ln>
        </p:spPr>
      </p:sp>
      <p:sp>
        <p:nvSpPr>
          <p:cNvPr id="35" name="worked-head-3">
            <a:extLst xmlns:a="http://schemas.openxmlformats.org/drawingml/2006/main">
              <a:ext uri="{FF2B5EF4-FFF2-40B4-BE49-F238E27FC236}">
                <a16:creationId xmlns:a16="http://schemas.microsoft.com/office/drawing/2014/main" id="{151128C5-9239-46A5-9D78-77E7223CC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6648450"/>
            <a:ext cx="4737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Decidir</a:t>
            </a:r>
          </a:p>
        </p:txBody>
      </p:sp>
      <p:sp>
        <p:nvSpPr>
          <p:cNvPr id="36" name="worked-body-3">
            <a:extLst xmlns:a="http://schemas.openxmlformats.org/drawingml/2006/main">
              <a:ext uri="{FF2B5EF4-FFF2-40B4-BE49-F238E27FC236}">
                <a16:creationId xmlns:a16="http://schemas.microsoft.com/office/drawing/2014/main" id="{ECC5E211-1D18-474E-B420-74659AB13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7296150"/>
            <a:ext cx="4737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9127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575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conservar y segmentar</a:t>
            </a:r>
          </a:p>
        </p:txBody>
      </p:sp>
      <p:sp>
        <p:nvSpPr>
          <p:cNvPr id="37" name="worked-box-4">
            <a:extLst xmlns:a="http://schemas.openxmlformats.org/drawingml/2006/main">
              <a:ext uri="{FF2B5EF4-FFF2-40B4-BE49-F238E27FC236}">
                <a16:creationId xmlns:a16="http://schemas.microsoft.com/office/drawing/2014/main" id="{A002E07F-11A1-484F-BEE6-642DB3D41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4950" y="5772150"/>
            <a:ext cx="5118100" cy="2047875"/>
          </a:xfrm>
          <a:prstGeom xmlns:a="http://schemas.openxmlformats.org/drawingml/2006/main" prst="roundRect">
            <a:avLst>
              <a:gd name="adj" fmla="val 8372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38" name="worked-number-4">
            <a:extLst xmlns:a="http://schemas.openxmlformats.org/drawingml/2006/main">
              <a:ext uri="{FF2B5EF4-FFF2-40B4-BE49-F238E27FC236}">
                <a16:creationId xmlns:a16="http://schemas.microsoft.com/office/drawing/2014/main" id="{719220C4-9D7A-4BA7-A50E-C79A2DCB9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450" y="5905500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262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05</a:t>
            </a:r>
          </a:p>
        </p:txBody>
      </p:sp>
      <p:sp>
        <p:nvSpPr>
          <p:cNvPr id="39" name="worked-rule-4">
            <a:extLst xmlns:a="http://schemas.openxmlformats.org/drawingml/2006/main">
              <a:ext uri="{FF2B5EF4-FFF2-40B4-BE49-F238E27FC236}">
                <a16:creationId xmlns:a16="http://schemas.microsoft.com/office/drawing/2014/main" id="{925BE91B-FDD7-49E2-AA91-74BA9FF4B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775450" y="6534150"/>
            <a:ext cx="473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111111"/>
            </a:solidFill>
            <a:prstDash val="solid"/>
          </a:ln>
        </p:spPr>
      </p:sp>
      <p:sp>
        <p:nvSpPr>
          <p:cNvPr id="40" name="worked-head-4">
            <a:extLst xmlns:a="http://schemas.openxmlformats.org/drawingml/2006/main">
              <a:ext uri="{FF2B5EF4-FFF2-40B4-BE49-F238E27FC236}">
                <a16:creationId xmlns:a16="http://schemas.microsoft.com/office/drawing/2014/main" id="{17D3CE17-81BB-4B1F-932D-A42378AB5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450" y="6648450"/>
            <a:ext cx="4737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8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Comunicar</a:t>
            </a:r>
          </a:p>
        </p:txBody>
      </p:sp>
      <p:sp>
        <p:nvSpPr>
          <p:cNvPr id="41" name="worked-body-4">
            <a:extLst xmlns:a="http://schemas.openxmlformats.org/drawingml/2006/main">
              <a:ext uri="{FF2B5EF4-FFF2-40B4-BE49-F238E27FC236}">
                <a16:creationId xmlns:a16="http://schemas.microsoft.com/office/drawing/2014/main" id="{1C76AC82-6254-464F-A83C-CCF85F9EE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450" y="7296150"/>
            <a:ext cx="4737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9127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575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impacto sobre P90</a:t>
            </a:r>
          </a:p>
        </p:txBody>
      </p:sp>
      <p:sp>
        <p:nvSpPr>
          <p:cNvPr id="42" name="worked-caption">
            <a:extLst xmlns:a="http://schemas.openxmlformats.org/drawingml/2006/main">
              <a:ext uri="{FF2B5EF4-FFF2-40B4-BE49-F238E27FC236}">
                <a16:creationId xmlns:a16="http://schemas.microsoft.com/office/drawing/2014/main" id="{39BBD6D2-68D2-4CE3-8F6B-B042BA5A2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8096250"/>
            <a:ext cx="1447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F497D"/>
                </a:solidFill>
                <a:latin typeface="Telegraf"/>
                <a:ea typeface="Telegraf"/>
                <a:cs typeface="Telegraf"/>
              </a:defRPr>
            </a:pPr>
            <a:r>
              <a:rPr sz="1650" b="0">
                <a:solidFill>
                  <a:srgbClr val="1F497D"/>
                </a:solidFill>
                <a:latin typeface="Telegraf"/>
                <a:ea typeface="Telegraf"/>
                <a:cs typeface="Telegraf"/>
              </a:rPr>
              <a:t>Eliminar el caso cambiaría la pregunta y necesita una justificación registrada.</a:t>
            </a:r>
          </a:p>
        </p:txBody>
      </p:sp>
    </p:spTree>
    <p:extLst>
      <p:ext uri="{BB962C8B-B14F-4D97-AF65-F5344CB8AC3E}">
        <p14:creationId xmlns:p14="http://schemas.microsoft.com/office/powerpoint/2010/main" val="83302954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visual-light-field">
            <a:extLst xmlns:a="http://schemas.openxmlformats.org/drawingml/2006/main">
              <a:ext uri="{FF2B5EF4-FFF2-40B4-BE49-F238E27FC236}">
                <a16:creationId xmlns:a16="http://schemas.microsoft.com/office/drawing/2014/main" id="{33F08044-84E4-49FE-B81B-D31BA8CB0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1809750"/>
            <a:ext cx="3333750" cy="7239000"/>
          </a:xfrm>
          <a:prstGeom xmlns:a="http://schemas.openxmlformats.org/drawingml/2006/main" prst="roundRect">
            <a:avLst>
              <a:gd name="adj" fmla="val 23429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11430">
            <a:solidFill>
              <a:srgbClr val="DCE6F1"/>
            </a:solidFill>
            <a:prstDash val="solid"/>
          </a:ln>
        </p:spPr>
      </p:sp>
      <p:sp>
        <p:nvSpPr>
          <p:cNvPr id="2" name="visual-light-field-2">
            <a:extLst xmlns:a="http://schemas.openxmlformats.org/drawingml/2006/main">
              <a:ext uri="{FF2B5EF4-FFF2-40B4-BE49-F238E27FC236}">
                <a16:creationId xmlns:a16="http://schemas.microsoft.com/office/drawing/2014/main" id="{7CB161EF-F694-4D9B-AE3C-CFA277E3C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5375" y="457200"/>
            <a:ext cx="1952625" cy="3667125"/>
          </a:xfrm>
          <a:prstGeom xmlns:a="http://schemas.openxmlformats.org/drawingml/2006/main" prst="roundRect">
            <a:avLst>
              <a:gd name="adj" fmla="val 341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" name="visual-light-tab">
            <a:extLst xmlns:a="http://schemas.openxmlformats.org/drawingml/2006/main">
              <a:ext uri="{FF2B5EF4-FFF2-40B4-BE49-F238E27FC236}">
                <a16:creationId xmlns:a16="http://schemas.microsoft.com/office/drawing/2014/main" id="{03BD1379-DF9E-4B69-8754-11EAD61B4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8686800"/>
            <a:ext cx="1524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69c129e798426a"/>
          <a:stretch xmlns:a="http://schemas.openxmlformats.org/drawingml/2006/main"/>
        </p:blipFill>
        <p:spPr>
          <a:xfrm xmlns:a="http://schemas.openxmlformats.org/drawingml/2006/main">
            <a:off x="704850" y="531238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5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DB904C89-F8A4-4EF8-A25D-97C1292C4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0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Universidad Tecnológica Nacional</a:t>
            </a:r>
          </a:p>
        </p:txBody>
      </p:sp>
      <p:sp>
        <p:nvSpPr>
          <p:cNvPr id="6" name="visual-program">
            <a:extLst xmlns:a="http://schemas.openxmlformats.org/drawingml/2006/main">
              <a:ext uri="{FF2B5EF4-FFF2-40B4-BE49-F238E27FC236}">
                <a16:creationId xmlns:a16="http://schemas.microsoft.com/office/drawing/2014/main" id="{7A6E1712-2028-4E78-BFA8-5E24AE91D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9535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INGENIERÍA INDUSTRIAL</a:t>
            </a:r>
          </a:p>
        </p:txBody>
      </p:sp>
      <p:sp>
        <p:nvSpPr>
          <p:cNvPr id="7" name="visual-year">
            <a:extLst xmlns:a="http://schemas.openxmlformats.org/drawingml/2006/main">
              <a:ext uri="{FF2B5EF4-FFF2-40B4-BE49-F238E27FC236}">
                <a16:creationId xmlns:a16="http://schemas.microsoft.com/office/drawing/2014/main" id="{9B397BF1-33DC-4B09-8CD3-957F6BBFB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63817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2026</a:t>
            </a:r>
          </a:p>
        </p:txBody>
      </p:sp>
      <p:sp>
        <p:nvSpPr>
          <p:cNvPr id="8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83B3F38B-708C-4DD3-9168-FF801E19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85900"/>
            <a:ext cx="138112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La forma del conjunto aporta más que un coeficiente aislado</a:t>
            </a:r>
          </a:p>
        </p:txBody>
      </p:sp>
      <p:sp>
        <p:nvSpPr>
          <p:cNvPr id="9" name="visual-title-tab">
            <a:extLst xmlns:a="http://schemas.openxmlformats.org/drawingml/2006/main">
              <a:ext uri="{FF2B5EF4-FFF2-40B4-BE49-F238E27FC236}">
                <a16:creationId xmlns:a16="http://schemas.microsoft.com/office/drawing/2014/main" id="{F3B530D3-2CB5-4C84-BF0E-04376336F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67050"/>
            <a:ext cx="16002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0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4DDB7683-0C0F-4862-869D-62F88429C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71800" y="3114675"/>
            <a:ext cx="569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8C4D1"/>
            </a:solidFill>
            <a:prstDash val="solid"/>
          </a:ln>
        </p:spPr>
      </p:sp>
      <p:sp>
        <p:nvSpPr>
          <p:cNvPr id="11" name="visual-footer-rule">
            <a:extLst xmlns:a="http://schemas.openxmlformats.org/drawingml/2006/main">
              <a:ext uri="{FF2B5EF4-FFF2-40B4-BE49-F238E27FC236}">
                <a16:creationId xmlns:a16="http://schemas.microsoft.com/office/drawing/2014/main" id="{1DCA815A-52A8-4E11-BD26-65B41474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0" y="954405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497D"/>
            </a:solidFill>
            <a:prstDash val="solid"/>
          </a:ln>
        </p:spPr>
      </p:sp>
      <p:sp>
        <p:nvSpPr>
          <p:cNvPr id="12" name="visual-footer-pill">
            <a:extLst xmlns:a="http://schemas.openxmlformats.org/drawingml/2006/main">
              <a:ext uri="{FF2B5EF4-FFF2-40B4-BE49-F238E27FC236}">
                <a16:creationId xmlns:a16="http://schemas.microsoft.com/office/drawing/2014/main" id="{B29C61CB-4355-4CF1-ABA5-ACC6BDD18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8048625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3" name="visual-footer-brand-pill">
            <a:extLst xmlns:a="http://schemas.openxmlformats.org/drawingml/2006/main">
              <a:ext uri="{FF2B5EF4-FFF2-40B4-BE49-F238E27FC236}">
                <a16:creationId xmlns:a16="http://schemas.microsoft.com/office/drawing/2014/main" id="{CEC12C07-07A9-4305-9F53-12513B0D2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272415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4" name="visual-footer-brand">
            <a:extLst xmlns:a="http://schemas.openxmlformats.org/drawingml/2006/main">
              <a:ext uri="{FF2B5EF4-FFF2-40B4-BE49-F238E27FC236}">
                <a16:creationId xmlns:a16="http://schemas.microsoft.com/office/drawing/2014/main" id="{AC975A67-E0E5-4222-B655-B4937C41A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93345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Análisis de Datos</a:t>
            </a:r>
          </a:p>
        </p:txBody>
      </p:sp>
      <p:sp>
        <p:nvSpPr>
          <p:cNvPr id="15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FF25EBF5-7706-413B-95DF-DB52C6D0D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334500"/>
            <a:ext cx="490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ASOCIACIÓN · DISPERSIÓN</a:t>
            </a:r>
          </a:p>
        </p:txBody>
      </p:sp>
      <p:sp>
        <p:nvSpPr>
          <p:cNvPr id="16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3CFCF859-18A0-4ABA-BBCA-80B4B63BE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9820275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97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Ingeniería Industrial · UTN FRC</a:t>
            </a:r>
          </a:p>
        </p:txBody>
      </p:sp>
      <p:sp>
        <p:nvSpPr>
          <p:cNvPr id="17" name="scatter-panel">
            <a:extLst xmlns:a="http://schemas.openxmlformats.org/drawingml/2006/main">
              <a:ext uri="{FF2B5EF4-FFF2-40B4-BE49-F238E27FC236}">
                <a16:creationId xmlns:a16="http://schemas.microsoft.com/office/drawing/2014/main" id="{7F5484B4-C81E-474E-AC1C-51B36A948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333750"/>
            <a:ext cx="12573000" cy="4572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18" name="scatter-axis-x">
            <a:extLst xmlns:a="http://schemas.openxmlformats.org/drawingml/2006/main">
              <a:ext uri="{FF2B5EF4-FFF2-40B4-BE49-F238E27FC236}">
                <a16:creationId xmlns:a16="http://schemas.microsoft.com/office/drawing/2014/main" id="{82ECC631-E4F2-4C63-8737-79AF512C1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524250" y="733425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9" name="scatter-axis-y">
            <a:extLst xmlns:a="http://schemas.openxmlformats.org/drawingml/2006/main">
              <a:ext uri="{FF2B5EF4-FFF2-40B4-BE49-F238E27FC236}">
                <a16:creationId xmlns:a16="http://schemas.microsoft.com/office/drawing/2014/main" id="{329CE3EB-78D2-4AA6-AEC1-DF9261514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524250" y="3714750"/>
            <a:ext cx="0" cy="3619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20" name="scatter-dot-0">
            <a:extLst xmlns:a="http://schemas.openxmlformats.org/drawingml/2006/main">
              <a:ext uri="{FF2B5EF4-FFF2-40B4-BE49-F238E27FC236}">
                <a16:creationId xmlns:a16="http://schemas.microsoft.com/office/drawing/2014/main" id="{A4B51A42-FD61-4FFD-BBE5-48846C4C2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6537614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21" name="scatter-dot-1">
            <a:extLst xmlns:a="http://schemas.openxmlformats.org/drawingml/2006/main">
              <a:ext uri="{FF2B5EF4-FFF2-40B4-BE49-F238E27FC236}">
                <a16:creationId xmlns:a16="http://schemas.microsoft.com/office/drawing/2014/main" id="{F1CEA5D1-C92F-40C6-B7C9-B7EC97675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6225886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22" name="scatter-dot-2">
            <a:extLst xmlns:a="http://schemas.openxmlformats.org/drawingml/2006/main">
              <a:ext uri="{FF2B5EF4-FFF2-40B4-BE49-F238E27FC236}">
                <a16:creationId xmlns:a16="http://schemas.microsoft.com/office/drawing/2014/main" id="{F568A384-847C-4871-8D44-740521689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6031057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23" name="scatter-dot-3">
            <a:extLst xmlns:a="http://schemas.openxmlformats.org/drawingml/2006/main">
              <a:ext uri="{FF2B5EF4-FFF2-40B4-BE49-F238E27FC236}">
                <a16:creationId xmlns:a16="http://schemas.microsoft.com/office/drawing/2014/main" id="{28D8D24C-BD4C-4BB1-8BAA-953C70B58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758295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24" name="scatter-dot-4">
            <a:extLst xmlns:a="http://schemas.openxmlformats.org/drawingml/2006/main">
              <a:ext uri="{FF2B5EF4-FFF2-40B4-BE49-F238E27FC236}">
                <a16:creationId xmlns:a16="http://schemas.microsoft.com/office/drawing/2014/main" id="{5D706B1E-2784-48E7-8F96-5FC2018F7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4589318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sp>
        <p:nvSpPr>
          <p:cNvPr id="25" name="scatter-dot-5">
            <a:extLst xmlns:a="http://schemas.openxmlformats.org/drawingml/2006/main">
              <a:ext uri="{FF2B5EF4-FFF2-40B4-BE49-F238E27FC236}">
                <a16:creationId xmlns:a16="http://schemas.microsoft.com/office/drawing/2014/main" id="{5F00C8EA-B57E-42EF-A62C-DA84BC14D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4355523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sp>
        <p:nvSpPr>
          <p:cNvPr id="26" name="scatter-dot-6">
            <a:extLst xmlns:a="http://schemas.openxmlformats.org/drawingml/2006/main">
              <a:ext uri="{FF2B5EF4-FFF2-40B4-BE49-F238E27FC236}">
                <a16:creationId xmlns:a16="http://schemas.microsoft.com/office/drawing/2014/main" id="{37A79996-8F32-40B5-AE50-0B9219932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44550" y="4043795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sp>
        <p:nvSpPr>
          <p:cNvPr id="27" name="scatter-dot-7">
            <a:extLst xmlns:a="http://schemas.openxmlformats.org/drawingml/2006/main">
              <a:ext uri="{FF2B5EF4-FFF2-40B4-BE49-F238E27FC236}">
                <a16:creationId xmlns:a16="http://schemas.microsoft.com/office/drawing/2014/main" id="{BA47CD17-743C-4284-BC3B-9D8A520F8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0" y="3810000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sp>
        <p:nvSpPr>
          <p:cNvPr id="28" name="scatter-x-label">
            <a:extLst xmlns:a="http://schemas.openxmlformats.org/drawingml/2006/main">
              <a:ext uri="{FF2B5EF4-FFF2-40B4-BE49-F238E27FC236}">
                <a16:creationId xmlns:a16="http://schemas.microsoft.com/office/drawing/2014/main" id="{06BC7623-7D7B-4527-A870-2685A56AD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75247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142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cantidad</a:t>
            </a:r>
          </a:p>
        </p:txBody>
      </p:sp>
      <p:sp>
        <p:nvSpPr>
          <p:cNvPr id="29" name="scatter-y-label">
            <a:extLst xmlns:a="http://schemas.openxmlformats.org/drawingml/2006/main">
              <a:ext uri="{FF2B5EF4-FFF2-40B4-BE49-F238E27FC236}">
                <a16:creationId xmlns:a16="http://schemas.microsoft.com/office/drawing/2014/main" id="{B9C2872F-B708-4D2A-9D0D-1CEE132DE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4099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142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venta neta</a:t>
            </a:r>
          </a:p>
        </p:txBody>
      </p:sp>
      <p:sp>
        <p:nvSpPr>
          <p:cNvPr id="30" name="scatter-legend-a">
            <a:extLst xmlns:a="http://schemas.openxmlformats.org/drawingml/2006/main">
              <a:ext uri="{FF2B5EF4-FFF2-40B4-BE49-F238E27FC236}">
                <a16:creationId xmlns:a16="http://schemas.microsoft.com/office/drawing/2014/main" id="{DF8989EA-5E79-45BF-A194-167336094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667125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31" name="scatter-legend-a-text">
            <a:extLst xmlns:a="http://schemas.openxmlformats.org/drawingml/2006/main">
              <a:ext uri="{FF2B5EF4-FFF2-40B4-BE49-F238E27FC236}">
                <a16:creationId xmlns:a16="http://schemas.microsoft.com/office/drawing/2014/main" id="{0BB52A7D-0D0F-46EF-993C-43A563C3E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36004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350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Estándar</a:t>
            </a:r>
          </a:p>
        </p:txBody>
      </p:sp>
      <p:sp>
        <p:nvSpPr>
          <p:cNvPr id="32" name="scatter-legend-b">
            <a:extLst xmlns:a="http://schemas.openxmlformats.org/drawingml/2006/main">
              <a:ext uri="{FF2B5EF4-FFF2-40B4-BE49-F238E27FC236}">
                <a16:creationId xmlns:a16="http://schemas.microsoft.com/office/drawing/2014/main" id="{B31EB13E-8944-47A6-A524-735331513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4095750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sp>
        <p:nvSpPr>
          <p:cNvPr id="33" name="scatter-legend-b-text">
            <a:extLst xmlns:a="http://schemas.openxmlformats.org/drawingml/2006/main">
              <a:ext uri="{FF2B5EF4-FFF2-40B4-BE49-F238E27FC236}">
                <a16:creationId xmlns:a16="http://schemas.microsoft.com/office/drawing/2014/main" id="{F00C4DD2-8726-44EC-82E8-A6BD0B513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4029075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350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Mayorista</a:t>
            </a:r>
          </a:p>
        </p:txBody>
      </p:sp>
      <p:sp>
        <p:nvSpPr>
          <p:cNvPr id="34" name="scatter-callout">
            <a:extLst xmlns:a="http://schemas.openxmlformats.org/drawingml/2006/main">
              <a:ext uri="{FF2B5EF4-FFF2-40B4-BE49-F238E27FC236}">
                <a16:creationId xmlns:a16="http://schemas.microsoft.com/office/drawing/2014/main" id="{1CAFB7AF-D9F4-47D3-8FEC-E1D013DDA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8572500"/>
            <a:ext cx="1333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F497D"/>
                </a:solidFill>
                <a:latin typeface="Telegraf"/>
                <a:ea typeface="Telegraf"/>
                <a:cs typeface="Telegraf"/>
              </a:defRPr>
            </a:pPr>
            <a:r>
              <a:rPr sz="1650" b="0">
                <a:solidFill>
                  <a:srgbClr val="1F497D"/>
                </a:solidFill>
                <a:latin typeface="Telegraf"/>
                <a:ea typeface="Telegraf"/>
                <a:cs typeface="Telegraf"/>
              </a:rPr>
              <a:t>Los grupos sugieren analizar canal antes de resumir la asociación.</a:t>
            </a:r>
          </a:p>
        </p:txBody>
      </p:sp>
    </p:spTree>
    <p:extLst>
      <p:ext uri="{BB962C8B-B14F-4D97-AF65-F5344CB8AC3E}">
        <p14:creationId xmlns:p14="http://schemas.microsoft.com/office/powerpoint/2010/main" val="158591074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515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visual-dark-rail">
            <a:extLst xmlns:a="http://schemas.openxmlformats.org/drawingml/2006/main">
              <a:ext uri="{FF2B5EF4-FFF2-40B4-BE49-F238E27FC236}">
                <a16:creationId xmlns:a16="http://schemas.microsoft.com/office/drawing/2014/main" id="{376F7530-425B-4DFE-94CA-39EE06E0C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0"/>
            <a:ext cx="3048000" cy="102870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0B2745"/>
          </a:solidFill>
          <a:ln xmlns:a="http://schemas.openxmlformats.org/drawingml/2006/main" w="0">
            <a:noFill/>
          </a:ln>
        </p:spPr>
      </p:sp>
      <p:sp>
        <p:nvSpPr>
          <p:cNvPr id="2" name="visual-dark-rail-2">
            <a:extLst xmlns:a="http://schemas.openxmlformats.org/drawingml/2006/main">
              <a:ext uri="{FF2B5EF4-FFF2-40B4-BE49-F238E27FC236}">
                <a16:creationId xmlns:a16="http://schemas.microsoft.com/office/drawing/2014/main" id="{BC5D6588-44DE-41FD-932A-E4EEFD213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0"/>
            <a:ext cx="1714500" cy="102870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173A61"/>
          </a:solidFill>
          <a:ln xmlns:a="http://schemas.openxmlformats.org/drawingml/2006/main" w="0">
            <a:noFill/>
          </a:ln>
        </p:spPr>
      </p:sp>
      <p:sp>
        <p:nvSpPr>
          <p:cNvPr id="3" name="visual-dark-tab">
            <a:extLst xmlns:a="http://schemas.openxmlformats.org/drawingml/2006/main">
              <a:ext uri="{FF2B5EF4-FFF2-40B4-BE49-F238E27FC236}">
                <a16:creationId xmlns:a16="http://schemas.microsoft.com/office/drawing/2014/main" id="{11C96441-098D-45CC-A72B-C6E99B23C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95750" cy="1333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382c139d5949df"/>
          <a:stretch xmlns:a="http://schemas.openxmlformats.org/drawingml/2006/main"/>
        </p:blipFill>
        <p:spPr>
          <a:xfrm xmlns:a="http://schemas.openxmlformats.org/drawingml/2006/main">
            <a:off x="704850" y="531238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5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EA77985B-5409-4EA1-AFAA-ADBCC7CAC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0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Universidad Tecnológica Nacional</a:t>
            </a:r>
          </a:p>
        </p:txBody>
      </p:sp>
      <p:sp>
        <p:nvSpPr>
          <p:cNvPr id="6" name="visual-program">
            <a:extLst xmlns:a="http://schemas.openxmlformats.org/drawingml/2006/main">
              <a:ext uri="{FF2B5EF4-FFF2-40B4-BE49-F238E27FC236}">
                <a16:creationId xmlns:a16="http://schemas.microsoft.com/office/drawing/2014/main" id="{03A8C0F1-0786-42D1-BD59-2C56D67AA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9535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90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INGENIERÍA INDUSTRIAL</a:t>
            </a:r>
          </a:p>
        </p:txBody>
      </p:sp>
      <p:sp>
        <p:nvSpPr>
          <p:cNvPr id="7" name="visual-year">
            <a:extLst xmlns:a="http://schemas.openxmlformats.org/drawingml/2006/main">
              <a:ext uri="{FF2B5EF4-FFF2-40B4-BE49-F238E27FC236}">
                <a16:creationId xmlns:a16="http://schemas.microsoft.com/office/drawing/2014/main" id="{42CB5093-A136-4BA5-B135-30836B287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63817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10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2026</a:t>
            </a:r>
          </a:p>
        </p:txBody>
      </p:sp>
      <p:sp>
        <p:nvSpPr>
          <p:cNvPr id="8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82F17EB6-D8AF-494C-9AE3-50350196C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85900"/>
            <a:ext cx="138112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36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Correlación resume asociación; causalidad exige diseño adicional</a:t>
            </a:r>
          </a:p>
        </p:txBody>
      </p:sp>
      <p:sp>
        <p:nvSpPr>
          <p:cNvPr id="9" name="visual-title-tab">
            <a:extLst xmlns:a="http://schemas.openxmlformats.org/drawingml/2006/main">
              <a:ext uri="{FF2B5EF4-FFF2-40B4-BE49-F238E27FC236}">
                <a16:creationId xmlns:a16="http://schemas.microsoft.com/office/drawing/2014/main" id="{D49C1F8D-A4E2-4E32-90BD-BC5F8B8C4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67050"/>
            <a:ext cx="16002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sp>
        <p:nvSpPr>
          <p:cNvPr id="10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12E83021-8D48-45FE-AAC5-AE221B52B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71800" y="3114675"/>
            <a:ext cx="569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5A5A5A"/>
            </a:solidFill>
            <a:prstDash val="solid"/>
          </a:ln>
        </p:spPr>
      </p:sp>
      <p:sp>
        <p:nvSpPr>
          <p:cNvPr id="11" name="visual-footer-rule">
            <a:extLst xmlns:a="http://schemas.openxmlformats.org/drawingml/2006/main">
              <a:ext uri="{FF2B5EF4-FFF2-40B4-BE49-F238E27FC236}">
                <a16:creationId xmlns:a16="http://schemas.microsoft.com/office/drawing/2014/main" id="{FDD2DC0E-F7F0-47BB-96B1-645AE5C6B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0" y="954405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2" name="visual-footer-pill">
            <a:extLst xmlns:a="http://schemas.openxmlformats.org/drawingml/2006/main">
              <a:ext uri="{FF2B5EF4-FFF2-40B4-BE49-F238E27FC236}">
                <a16:creationId xmlns:a16="http://schemas.microsoft.com/office/drawing/2014/main" id="{80EBF771-234A-4702-B617-F7DCE07DA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8048625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13" name="visual-footer-brand-pill">
            <a:extLst xmlns:a="http://schemas.openxmlformats.org/drawingml/2006/main">
              <a:ext uri="{FF2B5EF4-FFF2-40B4-BE49-F238E27FC236}">
                <a16:creationId xmlns:a16="http://schemas.microsoft.com/office/drawing/2014/main" id="{C25B4406-D7E1-42B7-8B2E-74CE514FF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272415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sp>
        <p:nvSpPr>
          <p:cNvPr id="14" name="visual-footer-brand">
            <a:extLst xmlns:a="http://schemas.openxmlformats.org/drawingml/2006/main">
              <a:ext uri="{FF2B5EF4-FFF2-40B4-BE49-F238E27FC236}">
                <a16:creationId xmlns:a16="http://schemas.microsoft.com/office/drawing/2014/main" id="{54F7BC74-29F2-4F73-8B26-35F4D231A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93345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Análisis de Datos</a:t>
            </a:r>
          </a:p>
        </p:txBody>
      </p:sp>
      <p:sp>
        <p:nvSpPr>
          <p:cNvPr id="15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2BE1B847-EA2A-4E88-92BD-E5A1E19B5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334500"/>
            <a:ext cx="490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INCERTIDUMBRE · LÍMITE</a:t>
            </a:r>
          </a:p>
        </p:txBody>
      </p:sp>
      <p:sp>
        <p:nvSpPr>
          <p:cNvPr id="16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4F8BEB70-EB88-47CF-803B-C07729709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9820275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D1D1D1"/>
                </a:solidFill>
                <a:latin typeface="Telegraf"/>
                <a:ea typeface="Telegraf"/>
                <a:cs typeface="Telegraf"/>
              </a:defRPr>
            </a:pPr>
            <a:r>
              <a:rPr sz="975" b="0">
                <a:solidFill>
                  <a:srgbClr val="D1D1D1"/>
                </a:solidFill>
                <a:latin typeface="Telegraf"/>
                <a:ea typeface="Telegraf"/>
                <a:cs typeface="Telegraf"/>
              </a:rPr>
              <a:t>Ingeniería Industrial · UTN FRC</a:t>
            </a:r>
          </a:p>
        </p:txBody>
      </p:sp>
      <p:sp>
        <p:nvSpPr>
          <p:cNvPr id="17" name="compare-stage">
            <a:extLst xmlns:a="http://schemas.openxmlformats.org/drawingml/2006/main">
              <a:ext uri="{FF2B5EF4-FFF2-40B4-BE49-F238E27FC236}">
                <a16:creationId xmlns:a16="http://schemas.microsoft.com/office/drawing/2014/main" id="{443D1C1C-5D46-4CE7-86C1-308735D77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09950"/>
            <a:ext cx="15849600" cy="3524250"/>
          </a:xfrm>
          <a:prstGeom xmlns:a="http://schemas.openxmlformats.org/drawingml/2006/main" prst="roundRect">
            <a:avLst>
              <a:gd name="adj" fmla="val 5946"/>
            </a:avLst>
          </a:prstGeom>
          <a:solidFill xmlns:a="http://schemas.openxmlformats.org/drawingml/2006/main">
            <a:srgbClr val="1B1B1B"/>
          </a:solidFill>
          <a:ln xmlns:a="http://schemas.openxmlformats.org/drawingml/2006/main" w="11430">
            <a:solidFill>
              <a:srgbClr val="4F4F4F"/>
            </a:solidFill>
            <a:prstDash val="solid"/>
          </a:ln>
        </p:spPr>
      </p:sp>
      <p:sp>
        <p:nvSpPr>
          <p:cNvPr id="18" name="compare-divider">
            <a:extLst xmlns:a="http://schemas.openxmlformats.org/drawingml/2006/main">
              <a:ext uri="{FF2B5EF4-FFF2-40B4-BE49-F238E27FC236}">
                <a16:creationId xmlns:a16="http://schemas.microsoft.com/office/drawing/2014/main" id="{F154C353-2871-4622-95A9-E6EECD048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144000" y="3695700"/>
            <a:ext cx="0" cy="289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33"/>
            </a:solidFill>
            <a:prstDash val="solid"/>
          </a:ln>
        </p:spPr>
      </p:sp>
      <p:sp>
        <p:nvSpPr>
          <p:cNvPr id="19" name="compare-metric-0">
            <a:extLst xmlns:a="http://schemas.openxmlformats.org/drawingml/2006/main">
              <a:ext uri="{FF2B5EF4-FFF2-40B4-BE49-F238E27FC236}">
                <a16:creationId xmlns:a16="http://schemas.microsoft.com/office/drawing/2014/main" id="{D59FB33A-1400-41D9-BFD9-7BF9CFEFA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695700"/>
            <a:ext cx="23336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49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r = .62</a:t>
            </a:r>
          </a:p>
        </p:txBody>
      </p:sp>
      <p:sp>
        <p:nvSpPr>
          <p:cNvPr id="20" name="compare-head-0">
            <a:extLst xmlns:a="http://schemas.openxmlformats.org/drawingml/2006/main">
              <a:ext uri="{FF2B5EF4-FFF2-40B4-BE49-F238E27FC236}">
                <a16:creationId xmlns:a16="http://schemas.microsoft.com/office/drawing/2014/main" id="{3590A77F-EC67-4ED3-8A91-550218900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857625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232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Asociación</a:t>
            </a:r>
          </a:p>
        </p:txBody>
      </p:sp>
      <p:sp>
        <p:nvSpPr>
          <p:cNvPr id="21" name="compare-rule-0">
            <a:extLst xmlns:a="http://schemas.openxmlformats.org/drawingml/2006/main">
              <a:ext uri="{FF2B5EF4-FFF2-40B4-BE49-F238E27FC236}">
                <a16:creationId xmlns:a16="http://schemas.microsoft.com/office/drawing/2014/main" id="{EF369AEB-8A1D-4B98-9B45-C66F09A5F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733550" y="4953000"/>
            <a:ext cx="6410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555555"/>
            </a:solidFill>
            <a:prstDash val="solid"/>
          </a:ln>
        </p:spPr>
      </p:sp>
      <p:sp>
        <p:nvSpPr>
          <p:cNvPr id="22" name="compare-body-0">
            <a:extLst xmlns:a="http://schemas.openxmlformats.org/drawingml/2006/main">
              <a:ext uri="{FF2B5EF4-FFF2-40B4-BE49-F238E27FC236}">
                <a16:creationId xmlns:a16="http://schemas.microsoft.com/office/drawing/2014/main" id="{8B944A56-3655-43BB-B703-4CB9C4593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191125"/>
            <a:ext cx="64293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8D8D8"/>
                </a:solidFill>
                <a:latin typeface="Telegraf"/>
                <a:ea typeface="Telegraf"/>
                <a:cs typeface="Telegraf"/>
              </a:defRPr>
            </a:pPr>
            <a:r>
              <a:rPr sz="1800" b="0">
                <a:solidFill>
                  <a:srgbClr val="D8D8D8"/>
                </a:solidFill>
                <a:latin typeface="Telegraf"/>
                <a:ea typeface="Telegraf"/>
                <a:cs typeface="Telegraf"/>
              </a:rPr>
              <a:t>Cantidad y venta cambian juntas dentro del conjunto observado.</a:t>
            </a:r>
          </a:p>
        </p:txBody>
      </p:sp>
      <p:sp>
        <p:nvSpPr>
          <p:cNvPr id="23" name="compare-metric-1">
            <a:extLst xmlns:a="http://schemas.openxmlformats.org/drawingml/2006/main">
              <a:ext uri="{FF2B5EF4-FFF2-40B4-BE49-F238E27FC236}">
                <a16:creationId xmlns:a16="http://schemas.microsoft.com/office/drawing/2014/main" id="{2227C601-3840-47FA-9A47-BB557892A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3695700"/>
            <a:ext cx="23336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83507"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49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¿por qué?</a:t>
            </a:r>
          </a:p>
        </p:txBody>
      </p:sp>
      <p:sp>
        <p:nvSpPr>
          <p:cNvPr id="24" name="compare-head-1">
            <a:extLst xmlns:a="http://schemas.openxmlformats.org/drawingml/2006/main">
              <a:ext uri="{FF2B5EF4-FFF2-40B4-BE49-F238E27FC236}">
                <a16:creationId xmlns:a16="http://schemas.microsoft.com/office/drawing/2014/main" id="{2B0B4DE8-7EAB-45CE-AE55-C00293BE0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25" y="3857625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232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Causalidad</a:t>
            </a:r>
          </a:p>
        </p:txBody>
      </p:sp>
      <p:sp>
        <p:nvSpPr>
          <p:cNvPr id="25" name="compare-rule-1">
            <a:extLst xmlns:a="http://schemas.openxmlformats.org/drawingml/2006/main">
              <a:ext uri="{FF2B5EF4-FFF2-40B4-BE49-F238E27FC236}">
                <a16:creationId xmlns:a16="http://schemas.microsoft.com/office/drawing/2014/main" id="{AAEF6B62-B21F-4A68-8084-63BF83E1D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782175" y="4953000"/>
            <a:ext cx="6410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555555"/>
            </a:solidFill>
            <a:prstDash val="solid"/>
          </a:ln>
        </p:spPr>
      </p:sp>
      <p:sp>
        <p:nvSpPr>
          <p:cNvPr id="26" name="compare-body-1">
            <a:extLst xmlns:a="http://schemas.openxmlformats.org/drawingml/2006/main">
              <a:ext uri="{FF2B5EF4-FFF2-40B4-BE49-F238E27FC236}">
                <a16:creationId xmlns:a16="http://schemas.microsoft.com/office/drawing/2014/main" id="{5C23CE02-F38C-4842-BDC0-090A984D7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5191125"/>
            <a:ext cx="64293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8D8D8"/>
                </a:solidFill>
                <a:latin typeface="Telegraf"/>
                <a:ea typeface="Telegraf"/>
                <a:cs typeface="Telegraf"/>
              </a:defRPr>
            </a:pPr>
            <a:r>
              <a:rPr sz="1800" b="0">
                <a:solidFill>
                  <a:srgbClr val="D8D8D8"/>
                </a:solidFill>
                <a:latin typeface="Telegraf"/>
                <a:ea typeface="Telegraf"/>
                <a:cs typeface="Telegraf"/>
              </a:rPr>
              <a:t>Requiere mecanismo, temporalidad y control de explicaciones alternativas.</a:t>
            </a:r>
          </a:p>
        </p:txBody>
      </p:sp>
      <p:sp>
        <p:nvSpPr>
          <p:cNvPr id="27" name="compare-bridge">
            <a:extLst xmlns:a="http://schemas.openxmlformats.org/drawingml/2006/main">
              <a:ext uri="{FF2B5EF4-FFF2-40B4-BE49-F238E27FC236}">
                <a16:creationId xmlns:a16="http://schemas.microsoft.com/office/drawing/2014/main" id="{379071C1-6135-463C-B3D5-A5F2416CA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7353300"/>
            <a:ext cx="122872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sp>
        <p:nvSpPr>
          <p:cNvPr id="28" name="compare-bridge-text">
            <a:extLst xmlns:a="http://schemas.openxmlformats.org/drawingml/2006/main">
              <a:ext uri="{FF2B5EF4-FFF2-40B4-BE49-F238E27FC236}">
                <a16:creationId xmlns:a16="http://schemas.microsoft.com/office/drawing/2014/main" id="{0C18873F-8D3E-4DD7-93BC-56BBF143C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7505700"/>
            <a:ext cx="11334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8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La conclusión declara lo observado y evita atribuir un efecto sin evidencia adicional.</a:t>
            </a:r>
          </a:p>
        </p:txBody>
      </p:sp>
    </p:spTree>
    <p:extLst>
      <p:ext uri="{BB962C8B-B14F-4D97-AF65-F5344CB8AC3E}">
        <p14:creationId xmlns:p14="http://schemas.microsoft.com/office/powerpoint/2010/main" val="188455839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visual-light-field">
            <a:extLst xmlns:a="http://schemas.openxmlformats.org/drawingml/2006/main">
              <a:ext uri="{FF2B5EF4-FFF2-40B4-BE49-F238E27FC236}">
                <a16:creationId xmlns:a16="http://schemas.microsoft.com/office/drawing/2014/main" id="{7EFD5DCC-6EE4-4EA9-A79C-353508558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1809750"/>
            <a:ext cx="3333750" cy="7239000"/>
          </a:xfrm>
          <a:prstGeom xmlns:a="http://schemas.openxmlformats.org/drawingml/2006/main" prst="roundRect">
            <a:avLst>
              <a:gd name="adj" fmla="val 23429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11430">
            <a:solidFill>
              <a:srgbClr val="DCE6F1"/>
            </a:solidFill>
            <a:prstDash val="solid"/>
          </a:ln>
        </p:spPr>
      </p:sp>
      <p:sp>
        <p:nvSpPr>
          <p:cNvPr id="2" name="visual-light-field-2">
            <a:extLst xmlns:a="http://schemas.openxmlformats.org/drawingml/2006/main">
              <a:ext uri="{FF2B5EF4-FFF2-40B4-BE49-F238E27FC236}">
                <a16:creationId xmlns:a16="http://schemas.microsoft.com/office/drawing/2014/main" id="{6C699541-BE79-41D6-BB4B-0281A2A8B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5375" y="457200"/>
            <a:ext cx="1952625" cy="3667125"/>
          </a:xfrm>
          <a:prstGeom xmlns:a="http://schemas.openxmlformats.org/drawingml/2006/main" prst="roundRect">
            <a:avLst>
              <a:gd name="adj" fmla="val 341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" name="visual-light-tab">
            <a:extLst xmlns:a="http://schemas.openxmlformats.org/drawingml/2006/main">
              <a:ext uri="{FF2B5EF4-FFF2-40B4-BE49-F238E27FC236}">
                <a16:creationId xmlns:a16="http://schemas.microsoft.com/office/drawing/2014/main" id="{B6F6B3D7-88F3-4EED-A941-CEA83E545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8686800"/>
            <a:ext cx="1524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sp>
        <p:nvSpPr>
          <p:cNvPr id="4" name="visual-feature-frame">
            <a:extLst xmlns:a="http://schemas.openxmlformats.org/drawingml/2006/main">
              <a:ext uri="{FF2B5EF4-FFF2-40B4-BE49-F238E27FC236}">
                <a16:creationId xmlns:a16="http://schemas.microsoft.com/office/drawing/2014/main" id="{99E9FDAC-5CC0-49EF-ADAC-9EABA6D2A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11450" y="428625"/>
            <a:ext cx="253365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pic>
        <p:nvPicPr>
          <p:cNvPr id="39" name="visual-feature-phot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aa552b67c74ea6"/>
          <a:srcRect xmlns:a="http://schemas.openxmlformats.org/drawingml/2006/main" l="0" t="17683" r="0" b="176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506700" y="523875"/>
            <a:ext cx="2343150" cy="1009650"/>
          </a:xfrm>
          <a:prstGeom xmlns:a="http://schemas.openxmlformats.org/drawingml/2006/main" prst="rect">
            <a:avLst/>
          </a:prstGeom>
        </p:spPr>
      </p:pic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36836f5ce04c6b"/>
          <a:stretch xmlns:a="http://schemas.openxmlformats.org/drawingml/2006/main"/>
        </p:blipFill>
        <p:spPr>
          <a:xfrm xmlns:a="http://schemas.openxmlformats.org/drawingml/2006/main">
            <a:off x="704850" y="531238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7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0D255971-CB94-4A6C-9692-363383ADF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0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Universidad Tecnológica Nacional</a:t>
            </a:r>
          </a:p>
        </p:txBody>
      </p:sp>
      <p:sp>
        <p:nvSpPr>
          <p:cNvPr id="8" name="visual-program">
            <a:extLst xmlns:a="http://schemas.openxmlformats.org/drawingml/2006/main">
              <a:ext uri="{FF2B5EF4-FFF2-40B4-BE49-F238E27FC236}">
                <a16:creationId xmlns:a16="http://schemas.microsoft.com/office/drawing/2014/main" id="{98F245B2-DCF0-4895-8862-51F734940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9535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INGENIERÍA INDUSTRIAL</a:t>
            </a:r>
          </a:p>
        </p:txBody>
      </p:sp>
      <p:sp>
        <p:nvSpPr>
          <p:cNvPr id="9" name="visual-year">
            <a:extLst xmlns:a="http://schemas.openxmlformats.org/drawingml/2006/main">
              <a:ext uri="{FF2B5EF4-FFF2-40B4-BE49-F238E27FC236}">
                <a16:creationId xmlns:a16="http://schemas.microsoft.com/office/drawing/2014/main" id="{E3071578-A663-48F5-A23B-AF69C8757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63817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2026</a:t>
            </a:r>
          </a:p>
        </p:txBody>
      </p:sp>
      <p:sp>
        <p:nvSpPr>
          <p:cNvPr id="10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7A859639-C6DB-4CFD-B736-67AE26E53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85900"/>
            <a:ext cx="138112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La agregación puede ocultar patrones por segmento</a:t>
            </a:r>
          </a:p>
        </p:txBody>
      </p:sp>
      <p:sp>
        <p:nvSpPr>
          <p:cNvPr id="11" name="visual-title-tab">
            <a:extLst xmlns:a="http://schemas.openxmlformats.org/drawingml/2006/main">
              <a:ext uri="{FF2B5EF4-FFF2-40B4-BE49-F238E27FC236}">
                <a16:creationId xmlns:a16="http://schemas.microsoft.com/office/drawing/2014/main" id="{FA79D4FC-93A0-42E9-9EB2-59D3C72E0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67050"/>
            <a:ext cx="16002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2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53423D4D-E5DF-43C2-8388-2A221794A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71800" y="3114675"/>
            <a:ext cx="569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8C4D1"/>
            </a:solidFill>
            <a:prstDash val="solid"/>
          </a:ln>
        </p:spPr>
      </p:sp>
      <p:sp>
        <p:nvSpPr>
          <p:cNvPr id="13" name="visual-footer-rule">
            <a:extLst xmlns:a="http://schemas.openxmlformats.org/drawingml/2006/main">
              <a:ext uri="{FF2B5EF4-FFF2-40B4-BE49-F238E27FC236}">
                <a16:creationId xmlns:a16="http://schemas.microsoft.com/office/drawing/2014/main" id="{25E09CA2-B915-481C-9F1B-5C10FBA81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0" y="954405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497D"/>
            </a:solidFill>
            <a:prstDash val="solid"/>
          </a:ln>
        </p:spPr>
      </p:sp>
      <p:sp>
        <p:nvSpPr>
          <p:cNvPr id="14" name="visual-footer-pill">
            <a:extLst xmlns:a="http://schemas.openxmlformats.org/drawingml/2006/main">
              <a:ext uri="{FF2B5EF4-FFF2-40B4-BE49-F238E27FC236}">
                <a16:creationId xmlns:a16="http://schemas.microsoft.com/office/drawing/2014/main" id="{F7B05D5A-9B75-4C28-825D-E7B811430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8048625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5" name="visual-footer-brand-pill">
            <a:extLst xmlns:a="http://schemas.openxmlformats.org/drawingml/2006/main">
              <a:ext uri="{FF2B5EF4-FFF2-40B4-BE49-F238E27FC236}">
                <a16:creationId xmlns:a16="http://schemas.microsoft.com/office/drawing/2014/main" id="{AEC78741-F5F9-44E7-8F29-FC6911B85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272415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6" name="visual-footer-brand">
            <a:extLst xmlns:a="http://schemas.openxmlformats.org/drawingml/2006/main">
              <a:ext uri="{FF2B5EF4-FFF2-40B4-BE49-F238E27FC236}">
                <a16:creationId xmlns:a16="http://schemas.microsoft.com/office/drawing/2014/main" id="{FD71506C-FC88-4ED0-84B9-E2B0573C7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93345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Análisis de Datos</a:t>
            </a:r>
          </a:p>
        </p:txBody>
      </p:sp>
      <p:sp>
        <p:nvSpPr>
          <p:cNvPr id="17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0CCFC1BF-0F2D-4F2D-A1AA-477871CD7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334500"/>
            <a:ext cx="490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ANÁLISIS · VARIABLE TERCERA</a:t>
            </a:r>
          </a:p>
        </p:txBody>
      </p:sp>
      <p:sp>
        <p:nvSpPr>
          <p:cNvPr id="18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7A790505-4228-432E-9BF5-8E1CB80BF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9820275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97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Ingeniería Industrial · UTN FRC</a:t>
            </a:r>
          </a:p>
        </p:txBody>
      </p:sp>
      <p:sp>
        <p:nvSpPr>
          <p:cNvPr id="19" name="case-box-0">
            <a:extLst xmlns:a="http://schemas.openxmlformats.org/drawingml/2006/main">
              <a:ext uri="{FF2B5EF4-FFF2-40B4-BE49-F238E27FC236}">
                <a16:creationId xmlns:a16="http://schemas.microsoft.com/office/drawing/2014/main" id="{DE2F2373-51AA-4469-A316-40512BB56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619500"/>
            <a:ext cx="5105400" cy="31432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20" name="case-index-0">
            <a:extLst xmlns:a="http://schemas.openxmlformats.org/drawingml/2006/main">
              <a:ext uri="{FF2B5EF4-FFF2-40B4-BE49-F238E27FC236}">
                <a16:creationId xmlns:a16="http://schemas.microsoft.com/office/drawing/2014/main" id="{A0BD71F8-37D2-4598-AC28-04F665D8D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790950"/>
            <a:ext cx="85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0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01</a:t>
            </a:r>
          </a:p>
        </p:txBody>
      </p:sp>
      <p:sp>
        <p:nvSpPr>
          <p:cNvPr id="21" name="case-rule-0">
            <a:extLst xmlns:a="http://schemas.openxmlformats.org/drawingml/2006/main">
              <a:ext uri="{FF2B5EF4-FFF2-40B4-BE49-F238E27FC236}">
                <a16:creationId xmlns:a16="http://schemas.microsoft.com/office/drawing/2014/main" id="{48E5EBF3-AB99-4CA9-A49B-38FD6BEF8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47800" y="4524375"/>
            <a:ext cx="4648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8C4D1"/>
            </a:solidFill>
            <a:prstDash val="solid"/>
          </a:ln>
        </p:spPr>
      </p:sp>
      <p:sp>
        <p:nvSpPr>
          <p:cNvPr id="22" name="case-head-0">
            <a:extLst xmlns:a="http://schemas.openxmlformats.org/drawingml/2006/main">
              <a:ext uri="{FF2B5EF4-FFF2-40B4-BE49-F238E27FC236}">
                <a16:creationId xmlns:a16="http://schemas.microsoft.com/office/drawing/2014/main" id="{B26A6480-8317-4415-946E-32C8C2ECD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705350"/>
            <a:ext cx="4648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0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Total</a:t>
            </a:r>
          </a:p>
        </p:txBody>
      </p:sp>
      <p:sp>
        <p:nvSpPr>
          <p:cNvPr id="23" name="case-body-0">
            <a:extLst xmlns:a="http://schemas.openxmlformats.org/drawingml/2006/main">
              <a:ext uri="{FF2B5EF4-FFF2-40B4-BE49-F238E27FC236}">
                <a16:creationId xmlns:a16="http://schemas.microsoft.com/office/drawing/2014/main" id="{03545BFA-DC4D-4DBD-B04A-0694E1D67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524500"/>
            <a:ext cx="4648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575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descuento y margen parecen neutros</a:t>
            </a:r>
          </a:p>
        </p:txBody>
      </p:sp>
      <p:sp>
        <p:nvSpPr>
          <p:cNvPr id="24" name="case-box-1">
            <a:extLst xmlns:a="http://schemas.openxmlformats.org/drawingml/2006/main">
              <a:ext uri="{FF2B5EF4-FFF2-40B4-BE49-F238E27FC236}">
                <a16:creationId xmlns:a16="http://schemas.microsoft.com/office/drawing/2014/main" id="{83E39942-02FB-4A76-9AB2-27CB24526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19500"/>
            <a:ext cx="5105400" cy="31432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25" name="case-index-1">
            <a:extLst xmlns:a="http://schemas.openxmlformats.org/drawingml/2006/main">
              <a:ext uri="{FF2B5EF4-FFF2-40B4-BE49-F238E27FC236}">
                <a16:creationId xmlns:a16="http://schemas.microsoft.com/office/drawing/2014/main" id="{01B74528-8AD7-41C5-93F8-5BEC4EB1E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790950"/>
            <a:ext cx="85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0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02</a:t>
            </a:r>
          </a:p>
        </p:txBody>
      </p:sp>
      <p:sp>
        <p:nvSpPr>
          <p:cNvPr id="26" name="case-rule-1">
            <a:extLst xmlns:a="http://schemas.openxmlformats.org/drawingml/2006/main">
              <a:ext uri="{FF2B5EF4-FFF2-40B4-BE49-F238E27FC236}">
                <a16:creationId xmlns:a16="http://schemas.microsoft.com/office/drawing/2014/main" id="{3FA923F7-3C18-45DB-89B6-A0567C644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19900" y="4524375"/>
            <a:ext cx="4648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8C4D1"/>
            </a:solidFill>
            <a:prstDash val="solid"/>
          </a:ln>
        </p:spPr>
      </p:sp>
      <p:sp>
        <p:nvSpPr>
          <p:cNvPr id="27" name="case-head-1">
            <a:extLst xmlns:a="http://schemas.openxmlformats.org/drawingml/2006/main">
              <a:ext uri="{FF2B5EF4-FFF2-40B4-BE49-F238E27FC236}">
                <a16:creationId xmlns:a16="http://schemas.microsoft.com/office/drawing/2014/main" id="{5E3EC9BD-9FD3-431F-ACE7-5D14B2174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705350"/>
            <a:ext cx="4648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0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Minorista</a:t>
            </a:r>
          </a:p>
        </p:txBody>
      </p:sp>
      <p:sp>
        <p:nvSpPr>
          <p:cNvPr id="28" name="case-body-1">
            <a:extLst xmlns:a="http://schemas.openxmlformats.org/drawingml/2006/main">
              <a:ext uri="{FF2B5EF4-FFF2-40B4-BE49-F238E27FC236}">
                <a16:creationId xmlns:a16="http://schemas.microsoft.com/office/drawing/2014/main" id="{C9D93165-F004-4E52-8672-4829A6496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524500"/>
            <a:ext cx="4648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575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más descuento, menor margen</a:t>
            </a:r>
          </a:p>
        </p:txBody>
      </p:sp>
      <p:sp>
        <p:nvSpPr>
          <p:cNvPr id="29" name="case-box-2">
            <a:extLst xmlns:a="http://schemas.openxmlformats.org/drawingml/2006/main">
              <a:ext uri="{FF2B5EF4-FFF2-40B4-BE49-F238E27FC236}">
                <a16:creationId xmlns:a16="http://schemas.microsoft.com/office/drawing/2014/main" id="{7DCC4604-FE43-463E-8CC6-AB65D710E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3619500"/>
            <a:ext cx="5105400" cy="31432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30" name="case-index-2">
            <a:extLst xmlns:a="http://schemas.openxmlformats.org/drawingml/2006/main">
              <a:ext uri="{FF2B5EF4-FFF2-40B4-BE49-F238E27FC236}">
                <a16:creationId xmlns:a16="http://schemas.microsoft.com/office/drawing/2014/main" id="{873D00E5-3B83-4D62-AEAF-C4579C569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3790950"/>
            <a:ext cx="85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30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03</a:t>
            </a:r>
          </a:p>
        </p:txBody>
      </p:sp>
      <p:sp>
        <p:nvSpPr>
          <p:cNvPr id="31" name="case-rule-2">
            <a:extLst xmlns:a="http://schemas.openxmlformats.org/drawingml/2006/main">
              <a:ext uri="{FF2B5EF4-FFF2-40B4-BE49-F238E27FC236}">
                <a16:creationId xmlns:a16="http://schemas.microsoft.com/office/drawing/2014/main" id="{439CB8FA-E7F1-49CE-81A6-B4186E5E7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192000" y="4524375"/>
            <a:ext cx="4648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32" name="case-head-2">
            <a:extLst xmlns:a="http://schemas.openxmlformats.org/drawingml/2006/main">
              <a:ext uri="{FF2B5EF4-FFF2-40B4-BE49-F238E27FC236}">
                <a16:creationId xmlns:a16="http://schemas.microsoft.com/office/drawing/2014/main" id="{0B437B4B-033D-42E0-B44E-33C19C1F5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4705350"/>
            <a:ext cx="4648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202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Mayorista</a:t>
            </a:r>
          </a:p>
        </p:txBody>
      </p:sp>
      <p:sp>
        <p:nvSpPr>
          <p:cNvPr id="33" name="case-body-2">
            <a:extLst xmlns:a="http://schemas.openxmlformats.org/drawingml/2006/main">
              <a:ext uri="{FF2B5EF4-FFF2-40B4-BE49-F238E27FC236}">
                <a16:creationId xmlns:a16="http://schemas.microsoft.com/office/drawing/2014/main" id="{0A3F64D9-E6AE-4969-81C3-F1CB6F3FC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5524500"/>
            <a:ext cx="4648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575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más descuento, menor margen</a:t>
            </a:r>
          </a:p>
        </p:txBody>
      </p:sp>
      <p:sp>
        <p:nvSpPr>
          <p:cNvPr id="34" name="case-footer">
            <a:extLst xmlns:a="http://schemas.openxmlformats.org/drawingml/2006/main">
              <a:ext uri="{FF2B5EF4-FFF2-40B4-BE49-F238E27FC236}">
                <a16:creationId xmlns:a16="http://schemas.microsoft.com/office/drawing/2014/main" id="{130BE30C-46EE-4A4D-A968-AE682BF46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7239000"/>
            <a:ext cx="1352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F497D"/>
                </a:solidFill>
                <a:latin typeface="Telegraf"/>
                <a:ea typeface="Telegraf"/>
                <a:cs typeface="Telegraf"/>
              </a:defRPr>
            </a:pPr>
            <a:r>
              <a:rPr sz="1875" b="0">
                <a:solidFill>
                  <a:srgbClr val="1F497D"/>
                </a:solidFill>
                <a:latin typeface="Telegraf"/>
                <a:ea typeface="Telegraf"/>
                <a:cs typeface="Telegraf"/>
              </a:rPr>
              <a:t>La mezcla de canales cambia entre niveles de descuento y altera el patrón agregado.</a:t>
            </a:r>
          </a:p>
        </p:txBody>
      </p:sp>
    </p:spTree>
    <p:extLst>
      <p:ext uri="{BB962C8B-B14F-4D97-AF65-F5344CB8AC3E}">
        <p14:creationId xmlns:p14="http://schemas.microsoft.com/office/powerpoint/2010/main" val="203509265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visual-light-field">
            <a:extLst xmlns:a="http://schemas.openxmlformats.org/drawingml/2006/main">
              <a:ext uri="{FF2B5EF4-FFF2-40B4-BE49-F238E27FC236}">
                <a16:creationId xmlns:a16="http://schemas.microsoft.com/office/drawing/2014/main" id="{4A442589-DFE9-4DCD-B761-4A92E3349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1809750"/>
            <a:ext cx="3333750" cy="7239000"/>
          </a:xfrm>
          <a:prstGeom xmlns:a="http://schemas.openxmlformats.org/drawingml/2006/main" prst="roundRect">
            <a:avLst>
              <a:gd name="adj" fmla="val 23429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11430">
            <a:solidFill>
              <a:srgbClr val="DCE6F1"/>
            </a:solidFill>
            <a:prstDash val="solid"/>
          </a:ln>
        </p:spPr>
      </p:sp>
      <p:sp>
        <p:nvSpPr>
          <p:cNvPr id="2" name="visual-light-field-2">
            <a:extLst xmlns:a="http://schemas.openxmlformats.org/drawingml/2006/main">
              <a:ext uri="{FF2B5EF4-FFF2-40B4-BE49-F238E27FC236}">
                <a16:creationId xmlns:a16="http://schemas.microsoft.com/office/drawing/2014/main" id="{3990DCA9-50C1-4A59-9066-EC11ED6BC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5375" y="457200"/>
            <a:ext cx="1952625" cy="3667125"/>
          </a:xfrm>
          <a:prstGeom xmlns:a="http://schemas.openxmlformats.org/drawingml/2006/main" prst="roundRect">
            <a:avLst>
              <a:gd name="adj" fmla="val 341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" name="visual-light-tab">
            <a:extLst xmlns:a="http://schemas.openxmlformats.org/drawingml/2006/main">
              <a:ext uri="{FF2B5EF4-FFF2-40B4-BE49-F238E27FC236}">
                <a16:creationId xmlns:a16="http://schemas.microsoft.com/office/drawing/2014/main" id="{DBBD79B5-8B41-4F22-B2D4-DC017BC7A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8686800"/>
            <a:ext cx="1524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1deb69976846c0"/>
          <a:stretch xmlns:a="http://schemas.openxmlformats.org/drawingml/2006/main"/>
        </p:blipFill>
        <p:spPr>
          <a:xfrm xmlns:a="http://schemas.openxmlformats.org/drawingml/2006/main">
            <a:off x="704850" y="531238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5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27772746-F39B-404C-A59D-923A4F1D7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0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Universidad Tecnológica Nacional</a:t>
            </a:r>
          </a:p>
        </p:txBody>
      </p:sp>
      <p:sp>
        <p:nvSpPr>
          <p:cNvPr id="6" name="visual-program">
            <a:extLst xmlns:a="http://schemas.openxmlformats.org/drawingml/2006/main">
              <a:ext uri="{FF2B5EF4-FFF2-40B4-BE49-F238E27FC236}">
                <a16:creationId xmlns:a16="http://schemas.microsoft.com/office/drawing/2014/main" id="{A5CB611A-2E33-465A-9645-040BD76AD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9535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INGENIERÍA INDUSTRIAL</a:t>
            </a:r>
          </a:p>
        </p:txBody>
      </p:sp>
      <p:sp>
        <p:nvSpPr>
          <p:cNvPr id="7" name="visual-year">
            <a:extLst xmlns:a="http://schemas.openxmlformats.org/drawingml/2006/main">
              <a:ext uri="{FF2B5EF4-FFF2-40B4-BE49-F238E27FC236}">
                <a16:creationId xmlns:a16="http://schemas.microsoft.com/office/drawing/2014/main" id="{40D9EB5A-CF6F-48B4-8E10-4655C2DB8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63817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2026</a:t>
            </a:r>
          </a:p>
        </p:txBody>
      </p:sp>
      <p:sp>
        <p:nvSpPr>
          <p:cNvPr id="8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E1A17EA5-201D-4FFF-B860-7AC18C553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85900"/>
            <a:ext cx="138112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La tarea analítica orienta la elección visual</a:t>
            </a:r>
          </a:p>
        </p:txBody>
      </p:sp>
      <p:sp>
        <p:nvSpPr>
          <p:cNvPr id="9" name="visual-title-tab">
            <a:extLst xmlns:a="http://schemas.openxmlformats.org/drawingml/2006/main">
              <a:ext uri="{FF2B5EF4-FFF2-40B4-BE49-F238E27FC236}">
                <a16:creationId xmlns:a16="http://schemas.microsoft.com/office/drawing/2014/main" id="{4C74D65A-7F39-4BF4-A0D5-1FAD56EAC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67050"/>
            <a:ext cx="16002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0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460BFEF4-9826-41C3-A7BC-E8D5C55EA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71800" y="3114675"/>
            <a:ext cx="569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8C4D1"/>
            </a:solidFill>
            <a:prstDash val="solid"/>
          </a:ln>
        </p:spPr>
      </p:sp>
      <p:sp>
        <p:nvSpPr>
          <p:cNvPr id="11" name="visual-footer-rule">
            <a:extLst xmlns:a="http://schemas.openxmlformats.org/drawingml/2006/main">
              <a:ext uri="{FF2B5EF4-FFF2-40B4-BE49-F238E27FC236}">
                <a16:creationId xmlns:a16="http://schemas.microsoft.com/office/drawing/2014/main" id="{D8869623-3A98-4935-98EA-2D6872E47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0" y="954405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497D"/>
            </a:solidFill>
            <a:prstDash val="solid"/>
          </a:ln>
        </p:spPr>
      </p:sp>
      <p:sp>
        <p:nvSpPr>
          <p:cNvPr id="12" name="visual-footer-pill">
            <a:extLst xmlns:a="http://schemas.openxmlformats.org/drawingml/2006/main">
              <a:ext uri="{FF2B5EF4-FFF2-40B4-BE49-F238E27FC236}">
                <a16:creationId xmlns:a16="http://schemas.microsoft.com/office/drawing/2014/main" id="{01A965AE-22FB-4CE1-9C35-34CFB9F22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8048625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3" name="visual-footer-brand-pill">
            <a:extLst xmlns:a="http://schemas.openxmlformats.org/drawingml/2006/main">
              <a:ext uri="{FF2B5EF4-FFF2-40B4-BE49-F238E27FC236}">
                <a16:creationId xmlns:a16="http://schemas.microsoft.com/office/drawing/2014/main" id="{5DA13DFD-9CFB-4CD9-8104-FAED7033F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272415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4" name="visual-footer-brand">
            <a:extLst xmlns:a="http://schemas.openxmlformats.org/drawingml/2006/main">
              <a:ext uri="{FF2B5EF4-FFF2-40B4-BE49-F238E27FC236}">
                <a16:creationId xmlns:a16="http://schemas.microsoft.com/office/drawing/2014/main" id="{F03B3F67-2752-416C-98B9-2C5A53870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93345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Análisis de Datos</a:t>
            </a:r>
          </a:p>
        </p:txBody>
      </p:sp>
      <p:sp>
        <p:nvSpPr>
          <p:cNvPr id="15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74DF1B77-BDA9-4787-AE2C-E7DF6ECCD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334500"/>
            <a:ext cx="490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VISUALIZACIÓN · SELECCIÓN</a:t>
            </a:r>
          </a:p>
        </p:txBody>
      </p:sp>
      <p:sp>
        <p:nvSpPr>
          <p:cNvPr id="16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31DABA34-85B3-4CA2-BF1A-74175C152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9820275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97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Ingeniería Industrial · UTN FRC</a:t>
            </a:r>
          </a:p>
        </p:txBody>
      </p:sp>
      <p:sp>
        <p:nvSpPr>
          <p:cNvPr id="17" name="matrix-surface">
            <a:extLst xmlns:a="http://schemas.openxmlformats.org/drawingml/2006/main">
              <a:ext uri="{FF2B5EF4-FFF2-40B4-BE49-F238E27FC236}">
                <a16:creationId xmlns:a16="http://schemas.microsoft.com/office/drawing/2014/main" id="{26E8DD9E-DE62-41A5-86D0-A2AAC5C4C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95650"/>
            <a:ext cx="16192500" cy="4838700"/>
          </a:xfrm>
          <a:prstGeom xmlns:a="http://schemas.openxmlformats.org/drawingml/2006/main" prst="roundRect">
            <a:avLst>
              <a:gd name="adj" fmla="val 35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graphicFrame>
        <p:nvGraphicFramePr>
          <p:cNvPr id="36" name=""/>
          <p:cNvGraphicFramePr/>
          <p:nvPr/>
        </p:nvGraphicFramePr>
        <p:xfrm>
          <a:off xmlns:a="http://schemas.openxmlformats.org/drawingml/2006/main" x="1219200" y="3429000"/>
          <a:ext xmlns:a="http://schemas.openxmlformats.org/drawingml/2006/main" cx="15849600" cy="45529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328416"/>
                <a:gridCol w="5388864"/>
                <a:gridCol w="7132320"/>
              </a:tblGrid>
              <a:tr h="758825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Telegraf Bold"/>
                          <a:ea typeface="Telegraf Bold"/>
                          <a:cs typeface="Telegraf Bold"/>
                        </a:rPr>
                        <a:t>Tarea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Telegraf Bold"/>
                          <a:ea typeface="Telegraf Bold"/>
                          <a:cs typeface="Telegraf Bold"/>
                        </a:rPr>
                        <a:t>Visual sugerido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Telegraf Bold"/>
                          <a:ea typeface="Telegraf Bold"/>
                          <a:cs typeface="Telegraf Bold"/>
                        </a:rPr>
                        <a:t>Ejemplo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</a:tr>
              <a:tr h="758825"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comparar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barras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venta por familia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58825"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evolución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línea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tasa semanal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</a:tr>
              <a:tr h="758825"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distribuir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histograma o boxplot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demora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58825"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relacionar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dispersión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cantidad y margen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</a:tr>
              <a:tr h="758825"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componer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barra apilada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mix de canal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773201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515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visual-dark-rail">
            <a:extLst xmlns:a="http://schemas.openxmlformats.org/drawingml/2006/main">
              <a:ext uri="{FF2B5EF4-FFF2-40B4-BE49-F238E27FC236}">
                <a16:creationId xmlns:a16="http://schemas.microsoft.com/office/drawing/2014/main" id="{F812D9CE-5B05-436C-8247-A1DE1C30C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0"/>
            <a:ext cx="3048000" cy="102870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0B2745"/>
          </a:solidFill>
          <a:ln xmlns:a="http://schemas.openxmlformats.org/drawingml/2006/main" w="0">
            <a:noFill/>
          </a:ln>
        </p:spPr>
      </p:sp>
      <p:sp>
        <p:nvSpPr>
          <p:cNvPr id="2" name="visual-dark-rail-2">
            <a:extLst xmlns:a="http://schemas.openxmlformats.org/drawingml/2006/main">
              <a:ext uri="{FF2B5EF4-FFF2-40B4-BE49-F238E27FC236}">
                <a16:creationId xmlns:a16="http://schemas.microsoft.com/office/drawing/2014/main" id="{C57FA154-06C7-4897-95D8-A82A3930D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0"/>
            <a:ext cx="1714500" cy="102870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173A61"/>
          </a:solidFill>
          <a:ln xmlns:a="http://schemas.openxmlformats.org/drawingml/2006/main" w="0">
            <a:noFill/>
          </a:ln>
        </p:spPr>
      </p:sp>
      <p:sp>
        <p:nvSpPr>
          <p:cNvPr id="3" name="visual-dark-tab">
            <a:extLst xmlns:a="http://schemas.openxmlformats.org/drawingml/2006/main">
              <a:ext uri="{FF2B5EF4-FFF2-40B4-BE49-F238E27FC236}">
                <a16:creationId xmlns:a16="http://schemas.microsoft.com/office/drawing/2014/main" id="{55260004-DB4A-4A8C-A607-234D6393E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95750" cy="1333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13c092a0984448"/>
          <a:stretch xmlns:a="http://schemas.openxmlformats.org/drawingml/2006/main"/>
        </p:blipFill>
        <p:spPr>
          <a:xfrm xmlns:a="http://schemas.openxmlformats.org/drawingml/2006/main">
            <a:off x="704850" y="531238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5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D259020D-0F45-4F3C-A68D-44EE8872F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0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Universidad Tecnológica Nacional</a:t>
            </a:r>
          </a:p>
        </p:txBody>
      </p:sp>
      <p:sp>
        <p:nvSpPr>
          <p:cNvPr id="6" name="visual-program">
            <a:extLst xmlns:a="http://schemas.openxmlformats.org/drawingml/2006/main">
              <a:ext uri="{FF2B5EF4-FFF2-40B4-BE49-F238E27FC236}">
                <a16:creationId xmlns:a16="http://schemas.microsoft.com/office/drawing/2014/main" id="{F4FE78CF-76BE-49E4-92DA-63BEF6EC9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9535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90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INGENIERÍA INDUSTRIAL</a:t>
            </a:r>
          </a:p>
        </p:txBody>
      </p:sp>
      <p:sp>
        <p:nvSpPr>
          <p:cNvPr id="7" name="visual-year">
            <a:extLst xmlns:a="http://schemas.openxmlformats.org/drawingml/2006/main">
              <a:ext uri="{FF2B5EF4-FFF2-40B4-BE49-F238E27FC236}">
                <a16:creationId xmlns:a16="http://schemas.microsoft.com/office/drawing/2014/main" id="{869F10AE-46D3-4418-8471-A0B32D7B1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63817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10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2026</a:t>
            </a:r>
          </a:p>
        </p:txBody>
      </p:sp>
      <p:sp>
        <p:nvSpPr>
          <p:cNvPr id="8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87DBCECD-FEAE-4ECA-BB7C-612B26404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85900"/>
            <a:ext cx="138112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36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La escala cambia la percepción del mismo dato</a:t>
            </a:r>
          </a:p>
        </p:txBody>
      </p:sp>
      <p:sp>
        <p:nvSpPr>
          <p:cNvPr id="9" name="visual-title-tab">
            <a:extLst xmlns:a="http://schemas.openxmlformats.org/drawingml/2006/main">
              <a:ext uri="{FF2B5EF4-FFF2-40B4-BE49-F238E27FC236}">
                <a16:creationId xmlns:a16="http://schemas.microsoft.com/office/drawing/2014/main" id="{C4717EBA-07CD-4375-BCF8-1239A94AC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67050"/>
            <a:ext cx="16002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sp>
        <p:nvSpPr>
          <p:cNvPr id="10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7A94EE2D-2752-4004-B05F-5E7E32040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71800" y="3114675"/>
            <a:ext cx="569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5A5A5A"/>
            </a:solidFill>
            <a:prstDash val="solid"/>
          </a:ln>
        </p:spPr>
      </p:sp>
      <p:sp>
        <p:nvSpPr>
          <p:cNvPr id="11" name="visual-footer-rule">
            <a:extLst xmlns:a="http://schemas.openxmlformats.org/drawingml/2006/main">
              <a:ext uri="{FF2B5EF4-FFF2-40B4-BE49-F238E27FC236}">
                <a16:creationId xmlns:a16="http://schemas.microsoft.com/office/drawing/2014/main" id="{F8C57B0C-30A7-4A13-9DE9-241D108BD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0" y="954405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2" name="visual-footer-pill">
            <a:extLst xmlns:a="http://schemas.openxmlformats.org/drawingml/2006/main">
              <a:ext uri="{FF2B5EF4-FFF2-40B4-BE49-F238E27FC236}">
                <a16:creationId xmlns:a16="http://schemas.microsoft.com/office/drawing/2014/main" id="{961D3678-291D-4754-8607-3224CA895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8048625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13" name="visual-footer-brand-pill">
            <a:extLst xmlns:a="http://schemas.openxmlformats.org/drawingml/2006/main">
              <a:ext uri="{FF2B5EF4-FFF2-40B4-BE49-F238E27FC236}">
                <a16:creationId xmlns:a16="http://schemas.microsoft.com/office/drawing/2014/main" id="{37922005-341F-4D8A-AFB5-574D43EBE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272415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sp>
        <p:nvSpPr>
          <p:cNvPr id="14" name="visual-footer-brand">
            <a:extLst xmlns:a="http://schemas.openxmlformats.org/drawingml/2006/main">
              <a:ext uri="{FF2B5EF4-FFF2-40B4-BE49-F238E27FC236}">
                <a16:creationId xmlns:a16="http://schemas.microsoft.com/office/drawing/2014/main" id="{50304FE7-31E8-4B9A-9798-9D6E09DC5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93345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Análisis de Datos</a:t>
            </a:r>
          </a:p>
        </p:txBody>
      </p:sp>
      <p:sp>
        <p:nvSpPr>
          <p:cNvPr id="15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1B9DC35F-7FDD-423F-A64D-4659512B4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334500"/>
            <a:ext cx="490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VISUALIZACIÓN · EJE</a:t>
            </a:r>
          </a:p>
        </p:txBody>
      </p:sp>
      <p:sp>
        <p:nvSpPr>
          <p:cNvPr id="16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97C82CFD-CE03-48C6-AED8-CB385BEE4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9820275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D1D1D1"/>
                </a:solidFill>
                <a:latin typeface="Telegraf"/>
                <a:ea typeface="Telegraf"/>
                <a:cs typeface="Telegraf"/>
              </a:defRPr>
            </a:pPr>
            <a:r>
              <a:rPr sz="975" b="0">
                <a:solidFill>
                  <a:srgbClr val="D1D1D1"/>
                </a:solidFill>
                <a:latin typeface="Telegraf"/>
                <a:ea typeface="Telegraf"/>
                <a:cs typeface="Telegraf"/>
              </a:rPr>
              <a:t>Ingeniería Industrial · UTN FRC</a:t>
            </a:r>
          </a:p>
        </p:txBody>
      </p:sp>
      <p:sp>
        <p:nvSpPr>
          <p:cNvPr id="17" name="compare-stage">
            <a:extLst xmlns:a="http://schemas.openxmlformats.org/drawingml/2006/main">
              <a:ext uri="{FF2B5EF4-FFF2-40B4-BE49-F238E27FC236}">
                <a16:creationId xmlns:a16="http://schemas.microsoft.com/office/drawing/2014/main" id="{3DEF21DA-7430-40DB-BF38-4ABA39C90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09950"/>
            <a:ext cx="15849600" cy="3524250"/>
          </a:xfrm>
          <a:prstGeom xmlns:a="http://schemas.openxmlformats.org/drawingml/2006/main" prst="roundRect">
            <a:avLst>
              <a:gd name="adj" fmla="val 5946"/>
            </a:avLst>
          </a:prstGeom>
          <a:solidFill xmlns:a="http://schemas.openxmlformats.org/drawingml/2006/main">
            <a:srgbClr val="1B1B1B"/>
          </a:solidFill>
          <a:ln xmlns:a="http://schemas.openxmlformats.org/drawingml/2006/main" w="11430">
            <a:solidFill>
              <a:srgbClr val="4F4F4F"/>
            </a:solidFill>
            <a:prstDash val="solid"/>
          </a:ln>
        </p:spPr>
      </p:sp>
      <p:sp>
        <p:nvSpPr>
          <p:cNvPr id="18" name="compare-divider">
            <a:extLst xmlns:a="http://schemas.openxmlformats.org/drawingml/2006/main">
              <a:ext uri="{FF2B5EF4-FFF2-40B4-BE49-F238E27FC236}">
                <a16:creationId xmlns:a16="http://schemas.microsoft.com/office/drawing/2014/main" id="{BA1844E9-685B-4EA8-BF1B-09490ADEC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144000" y="3695700"/>
            <a:ext cx="0" cy="289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33"/>
            </a:solidFill>
            <a:prstDash val="solid"/>
          </a:ln>
        </p:spPr>
      </p:sp>
      <p:sp>
        <p:nvSpPr>
          <p:cNvPr id="19" name="compare-metric-0">
            <a:extLst xmlns:a="http://schemas.openxmlformats.org/drawingml/2006/main">
              <a:ext uri="{FF2B5EF4-FFF2-40B4-BE49-F238E27FC236}">
                <a16:creationId xmlns:a16="http://schemas.microsoft.com/office/drawing/2014/main" id="{6011F541-0C0C-4CD0-83BC-528AEBA1C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695700"/>
            <a:ext cx="23336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49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48→52</a:t>
            </a:r>
          </a:p>
        </p:txBody>
      </p:sp>
      <p:sp>
        <p:nvSpPr>
          <p:cNvPr id="20" name="compare-head-0">
            <a:extLst xmlns:a="http://schemas.openxmlformats.org/drawingml/2006/main">
              <a:ext uri="{FF2B5EF4-FFF2-40B4-BE49-F238E27FC236}">
                <a16:creationId xmlns:a16="http://schemas.microsoft.com/office/drawing/2014/main" id="{C1616688-E3A4-42A6-8EC2-16A0B2319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857625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232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Eje truncado</a:t>
            </a:r>
          </a:p>
        </p:txBody>
      </p:sp>
      <p:sp>
        <p:nvSpPr>
          <p:cNvPr id="21" name="compare-rule-0">
            <a:extLst xmlns:a="http://schemas.openxmlformats.org/drawingml/2006/main">
              <a:ext uri="{FF2B5EF4-FFF2-40B4-BE49-F238E27FC236}">
                <a16:creationId xmlns:a16="http://schemas.microsoft.com/office/drawing/2014/main" id="{5D4AB2B2-A93A-4125-8737-26C766ABF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733550" y="4953000"/>
            <a:ext cx="6410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555555"/>
            </a:solidFill>
            <a:prstDash val="solid"/>
          </a:ln>
        </p:spPr>
      </p:sp>
      <p:sp>
        <p:nvSpPr>
          <p:cNvPr id="22" name="compare-body-0">
            <a:extLst xmlns:a="http://schemas.openxmlformats.org/drawingml/2006/main">
              <a:ext uri="{FF2B5EF4-FFF2-40B4-BE49-F238E27FC236}">
                <a16:creationId xmlns:a16="http://schemas.microsoft.com/office/drawing/2014/main" id="{4918D155-D808-4F58-A510-5D8150C9A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191125"/>
            <a:ext cx="64293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8D8D8"/>
                </a:solidFill>
                <a:latin typeface="Telegraf"/>
                <a:ea typeface="Telegraf"/>
                <a:cs typeface="Telegraf"/>
              </a:defRPr>
            </a:pPr>
            <a:r>
              <a:rPr sz="1800" b="0">
                <a:solidFill>
                  <a:srgbClr val="D8D8D8"/>
                </a:solidFill>
                <a:latin typeface="Telegraf"/>
                <a:ea typeface="Telegraf"/>
                <a:cs typeface="Telegraf"/>
              </a:rPr>
              <a:t>Una variación de cuatro puntos ocupa toda la altura.</a:t>
            </a:r>
          </a:p>
        </p:txBody>
      </p:sp>
      <p:sp>
        <p:nvSpPr>
          <p:cNvPr id="23" name="compare-metric-1">
            <a:extLst xmlns:a="http://schemas.openxmlformats.org/drawingml/2006/main">
              <a:ext uri="{FF2B5EF4-FFF2-40B4-BE49-F238E27FC236}">
                <a16:creationId xmlns:a16="http://schemas.microsoft.com/office/drawing/2014/main" id="{5D11DE87-773F-4CC6-8230-C760685D9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3695700"/>
            <a:ext cx="23336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49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0→100</a:t>
            </a:r>
          </a:p>
        </p:txBody>
      </p:sp>
      <p:sp>
        <p:nvSpPr>
          <p:cNvPr id="24" name="compare-head-1">
            <a:extLst xmlns:a="http://schemas.openxmlformats.org/drawingml/2006/main">
              <a:ext uri="{FF2B5EF4-FFF2-40B4-BE49-F238E27FC236}">
                <a16:creationId xmlns:a16="http://schemas.microsoft.com/office/drawing/2014/main" id="{383F11FA-1A30-4E94-A6D0-BB5F8F08F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25" y="3857625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232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Eje completo</a:t>
            </a:r>
          </a:p>
        </p:txBody>
      </p:sp>
      <p:sp>
        <p:nvSpPr>
          <p:cNvPr id="25" name="compare-rule-1">
            <a:extLst xmlns:a="http://schemas.openxmlformats.org/drawingml/2006/main">
              <a:ext uri="{FF2B5EF4-FFF2-40B4-BE49-F238E27FC236}">
                <a16:creationId xmlns:a16="http://schemas.microsoft.com/office/drawing/2014/main" id="{7ABEC740-90E9-49CC-BCA7-9F6771F2D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782175" y="4953000"/>
            <a:ext cx="6410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555555"/>
            </a:solidFill>
            <a:prstDash val="solid"/>
          </a:ln>
        </p:spPr>
      </p:sp>
      <p:sp>
        <p:nvSpPr>
          <p:cNvPr id="26" name="compare-body-1">
            <a:extLst xmlns:a="http://schemas.openxmlformats.org/drawingml/2006/main">
              <a:ext uri="{FF2B5EF4-FFF2-40B4-BE49-F238E27FC236}">
                <a16:creationId xmlns:a16="http://schemas.microsoft.com/office/drawing/2014/main" id="{86E2C96A-6F7B-42E0-8511-15E48E2CB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5191125"/>
            <a:ext cx="64293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8D8D8"/>
                </a:solidFill>
                <a:latin typeface="Telegraf"/>
                <a:ea typeface="Telegraf"/>
                <a:cs typeface="Telegraf"/>
              </a:defRPr>
            </a:pPr>
            <a:r>
              <a:rPr sz="1800" b="0">
                <a:solidFill>
                  <a:srgbClr val="D8D8D8"/>
                </a:solidFill>
                <a:latin typeface="Telegraf"/>
                <a:ea typeface="Telegraf"/>
                <a:cs typeface="Telegraf"/>
              </a:rPr>
              <a:t>La magnitud se observa dentro del rango pertinente.</a:t>
            </a:r>
          </a:p>
        </p:txBody>
      </p:sp>
      <p:sp>
        <p:nvSpPr>
          <p:cNvPr id="27" name="compare-bridge">
            <a:extLst xmlns:a="http://schemas.openxmlformats.org/drawingml/2006/main">
              <a:ext uri="{FF2B5EF4-FFF2-40B4-BE49-F238E27FC236}">
                <a16:creationId xmlns:a16="http://schemas.microsoft.com/office/drawing/2014/main" id="{67DF6AA3-EB5B-41F2-BCDC-B5D318A20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7353300"/>
            <a:ext cx="122872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sp>
        <p:nvSpPr>
          <p:cNvPr id="28" name="compare-bridge-text">
            <a:extLst xmlns:a="http://schemas.openxmlformats.org/drawingml/2006/main">
              <a:ext uri="{FF2B5EF4-FFF2-40B4-BE49-F238E27FC236}">
                <a16:creationId xmlns:a16="http://schemas.microsoft.com/office/drawing/2014/main" id="{6DA7A405-71DA-4D0A-B36C-B5933F5E6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7505700"/>
            <a:ext cx="11334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8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El rango se elige según la pregunta y se muestra con claridad.</a:t>
            </a:r>
          </a:p>
        </p:txBody>
      </p:sp>
    </p:spTree>
    <p:extLst>
      <p:ext uri="{BB962C8B-B14F-4D97-AF65-F5344CB8AC3E}">
        <p14:creationId xmlns:p14="http://schemas.microsoft.com/office/powerpoint/2010/main" val="115717600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visual-light-field">
            <a:extLst xmlns:a="http://schemas.openxmlformats.org/drawingml/2006/main">
              <a:ext uri="{FF2B5EF4-FFF2-40B4-BE49-F238E27FC236}">
                <a16:creationId xmlns:a16="http://schemas.microsoft.com/office/drawing/2014/main" id="{C2898378-617E-43F4-9061-C6D8E7663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1809750"/>
            <a:ext cx="3333750" cy="7239000"/>
          </a:xfrm>
          <a:prstGeom xmlns:a="http://schemas.openxmlformats.org/drawingml/2006/main" prst="roundRect">
            <a:avLst>
              <a:gd name="adj" fmla="val 23429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11430">
            <a:solidFill>
              <a:srgbClr val="DCE6F1"/>
            </a:solidFill>
            <a:prstDash val="solid"/>
          </a:ln>
        </p:spPr>
      </p:sp>
      <p:sp>
        <p:nvSpPr>
          <p:cNvPr id="2" name="visual-light-field-2">
            <a:extLst xmlns:a="http://schemas.openxmlformats.org/drawingml/2006/main">
              <a:ext uri="{FF2B5EF4-FFF2-40B4-BE49-F238E27FC236}">
                <a16:creationId xmlns:a16="http://schemas.microsoft.com/office/drawing/2014/main" id="{4692EDDE-CABD-4047-A5C3-F92D893DE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5375" y="457200"/>
            <a:ext cx="1952625" cy="3667125"/>
          </a:xfrm>
          <a:prstGeom xmlns:a="http://schemas.openxmlformats.org/drawingml/2006/main" prst="roundRect">
            <a:avLst>
              <a:gd name="adj" fmla="val 341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" name="visual-light-tab">
            <a:extLst xmlns:a="http://schemas.openxmlformats.org/drawingml/2006/main">
              <a:ext uri="{FF2B5EF4-FFF2-40B4-BE49-F238E27FC236}">
                <a16:creationId xmlns:a16="http://schemas.microsoft.com/office/drawing/2014/main" id="{FC826802-4E58-4796-B1DE-BC69FCE35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8686800"/>
            <a:ext cx="1524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251af278794840"/>
          <a:stretch xmlns:a="http://schemas.openxmlformats.org/drawingml/2006/main"/>
        </p:blipFill>
        <p:spPr>
          <a:xfrm xmlns:a="http://schemas.openxmlformats.org/drawingml/2006/main">
            <a:off x="704850" y="531238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5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BF9061BF-0FEB-45A2-916D-F783E630C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0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Universidad Tecnológica Nacional</a:t>
            </a:r>
          </a:p>
        </p:txBody>
      </p:sp>
      <p:sp>
        <p:nvSpPr>
          <p:cNvPr id="6" name="visual-program">
            <a:extLst xmlns:a="http://schemas.openxmlformats.org/drawingml/2006/main">
              <a:ext uri="{FF2B5EF4-FFF2-40B4-BE49-F238E27FC236}">
                <a16:creationId xmlns:a16="http://schemas.microsoft.com/office/drawing/2014/main" id="{66F02C6A-E7D9-4A0E-8355-DE619F3D6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9535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INGENIERÍA INDUSTRIAL</a:t>
            </a:r>
          </a:p>
        </p:txBody>
      </p:sp>
      <p:sp>
        <p:nvSpPr>
          <p:cNvPr id="7" name="visual-year">
            <a:extLst xmlns:a="http://schemas.openxmlformats.org/drawingml/2006/main">
              <a:ext uri="{FF2B5EF4-FFF2-40B4-BE49-F238E27FC236}">
                <a16:creationId xmlns:a16="http://schemas.microsoft.com/office/drawing/2014/main" id="{4F0BCDE7-6F9E-4553-8E2A-171AEEB82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63817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2026</a:t>
            </a:r>
          </a:p>
        </p:txBody>
      </p:sp>
      <p:sp>
        <p:nvSpPr>
          <p:cNvPr id="8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DB997522-AE5D-4F00-AFE4-E60C17A54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85900"/>
            <a:ext cx="138112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Un título analítico comunica el hallazgo</a:t>
            </a:r>
          </a:p>
        </p:txBody>
      </p:sp>
      <p:sp>
        <p:nvSpPr>
          <p:cNvPr id="9" name="visual-title-tab">
            <a:extLst xmlns:a="http://schemas.openxmlformats.org/drawingml/2006/main">
              <a:ext uri="{FF2B5EF4-FFF2-40B4-BE49-F238E27FC236}">
                <a16:creationId xmlns:a16="http://schemas.microsoft.com/office/drawing/2014/main" id="{9559EA85-7B8C-4987-8DDC-2542C6B1A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67050"/>
            <a:ext cx="16002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0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DB4910BC-1DB6-4113-9870-BBC755297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71800" y="3114675"/>
            <a:ext cx="569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8C4D1"/>
            </a:solidFill>
            <a:prstDash val="solid"/>
          </a:ln>
        </p:spPr>
      </p:sp>
      <p:sp>
        <p:nvSpPr>
          <p:cNvPr id="11" name="visual-footer-rule">
            <a:extLst xmlns:a="http://schemas.openxmlformats.org/drawingml/2006/main">
              <a:ext uri="{FF2B5EF4-FFF2-40B4-BE49-F238E27FC236}">
                <a16:creationId xmlns:a16="http://schemas.microsoft.com/office/drawing/2014/main" id="{9B581312-5D76-4798-8A47-382769F23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0" y="954405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497D"/>
            </a:solidFill>
            <a:prstDash val="solid"/>
          </a:ln>
        </p:spPr>
      </p:sp>
      <p:sp>
        <p:nvSpPr>
          <p:cNvPr id="12" name="visual-footer-pill">
            <a:extLst xmlns:a="http://schemas.openxmlformats.org/drawingml/2006/main">
              <a:ext uri="{FF2B5EF4-FFF2-40B4-BE49-F238E27FC236}">
                <a16:creationId xmlns:a16="http://schemas.microsoft.com/office/drawing/2014/main" id="{68AEDEDD-6A0D-4699-80DF-3A564C9A6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8048625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3" name="visual-footer-brand-pill">
            <a:extLst xmlns:a="http://schemas.openxmlformats.org/drawingml/2006/main">
              <a:ext uri="{FF2B5EF4-FFF2-40B4-BE49-F238E27FC236}">
                <a16:creationId xmlns:a16="http://schemas.microsoft.com/office/drawing/2014/main" id="{AB85AFDD-396A-4B2C-B606-78983208D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272415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4" name="visual-footer-brand">
            <a:extLst xmlns:a="http://schemas.openxmlformats.org/drawingml/2006/main">
              <a:ext uri="{FF2B5EF4-FFF2-40B4-BE49-F238E27FC236}">
                <a16:creationId xmlns:a16="http://schemas.microsoft.com/office/drawing/2014/main" id="{3E48E2A3-C9D9-4619-8F66-0598D5B25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93345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Análisis de Datos</a:t>
            </a:r>
          </a:p>
        </p:txBody>
      </p:sp>
      <p:sp>
        <p:nvSpPr>
          <p:cNvPr id="15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254C5368-4EDA-40D9-9895-FE106F448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334500"/>
            <a:ext cx="490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NARRATIVA · TÍTULO</a:t>
            </a:r>
          </a:p>
        </p:txBody>
      </p:sp>
      <p:sp>
        <p:nvSpPr>
          <p:cNvPr id="16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9D60CA76-2409-41FB-BE1D-3E2D3CAD6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9820275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97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Ingeniería Industrial · UTN FRC</a:t>
            </a:r>
          </a:p>
        </p:txBody>
      </p:sp>
      <p:sp>
        <p:nvSpPr>
          <p:cNvPr id="17" name="worked-box-0">
            <a:extLst xmlns:a="http://schemas.openxmlformats.org/drawingml/2006/main">
              <a:ext uri="{FF2B5EF4-FFF2-40B4-BE49-F238E27FC236}">
                <a16:creationId xmlns:a16="http://schemas.microsoft.com/office/drawing/2014/main" id="{A345D1E0-4D06-4508-963E-5EE863C0C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76625"/>
            <a:ext cx="5118100" cy="2047875"/>
          </a:xfrm>
          <a:prstGeom xmlns:a="http://schemas.openxmlformats.org/drawingml/2006/main" prst="roundRect">
            <a:avLst>
              <a:gd name="adj" fmla="val 83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18" name="worked-number-0">
            <a:extLst xmlns:a="http://schemas.openxmlformats.org/drawingml/2006/main">
              <a:ext uri="{FF2B5EF4-FFF2-40B4-BE49-F238E27FC236}">
                <a16:creationId xmlns:a16="http://schemas.microsoft.com/office/drawing/2014/main" id="{491D30C9-2377-4814-A3EB-C1BA6FA72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609975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01</a:t>
            </a:r>
          </a:p>
        </p:txBody>
      </p:sp>
      <p:sp>
        <p:nvSpPr>
          <p:cNvPr id="19" name="worked-rule-0">
            <a:extLst xmlns:a="http://schemas.openxmlformats.org/drawingml/2006/main">
              <a:ext uri="{FF2B5EF4-FFF2-40B4-BE49-F238E27FC236}">
                <a16:creationId xmlns:a16="http://schemas.microsoft.com/office/drawing/2014/main" id="{6E6596E2-F130-4551-AC89-B47B13553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09700" y="4238625"/>
            <a:ext cx="473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B8C4D1"/>
            </a:solidFill>
            <a:prstDash val="solid"/>
          </a:ln>
        </p:spPr>
      </p:sp>
      <p:sp>
        <p:nvSpPr>
          <p:cNvPr id="20" name="worked-head-0">
            <a:extLst xmlns:a="http://schemas.openxmlformats.org/drawingml/2006/main">
              <a:ext uri="{FF2B5EF4-FFF2-40B4-BE49-F238E27FC236}">
                <a16:creationId xmlns:a16="http://schemas.microsoft.com/office/drawing/2014/main" id="{49DBBDB6-E496-45E6-A41F-81FA1DA98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352925"/>
            <a:ext cx="4737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Objeto</a:t>
            </a:r>
          </a:p>
        </p:txBody>
      </p:sp>
      <p:sp>
        <p:nvSpPr>
          <p:cNvPr id="21" name="worked-body-0">
            <a:extLst xmlns:a="http://schemas.openxmlformats.org/drawingml/2006/main">
              <a:ext uri="{FF2B5EF4-FFF2-40B4-BE49-F238E27FC236}">
                <a16:creationId xmlns:a16="http://schemas.microsoft.com/office/drawing/2014/main" id="{F6F7E143-1236-49AD-9EE1-EAE0CB8F7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000625"/>
            <a:ext cx="4737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9127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575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demora P90</a:t>
            </a:r>
          </a:p>
        </p:txBody>
      </p:sp>
      <p:sp>
        <p:nvSpPr>
          <p:cNvPr id="22" name="worked-box-1">
            <a:extLst xmlns:a="http://schemas.openxmlformats.org/drawingml/2006/main">
              <a:ext uri="{FF2B5EF4-FFF2-40B4-BE49-F238E27FC236}">
                <a16:creationId xmlns:a16="http://schemas.microsoft.com/office/drawing/2014/main" id="{12B3A666-75C4-4D0C-9FE8-B36CBC006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4950" y="3476625"/>
            <a:ext cx="5118100" cy="2047875"/>
          </a:xfrm>
          <a:prstGeom xmlns:a="http://schemas.openxmlformats.org/drawingml/2006/main" prst="roundRect">
            <a:avLst>
              <a:gd name="adj" fmla="val 83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23" name="worked-number-1">
            <a:extLst xmlns:a="http://schemas.openxmlformats.org/drawingml/2006/main">
              <a:ext uri="{FF2B5EF4-FFF2-40B4-BE49-F238E27FC236}">
                <a16:creationId xmlns:a16="http://schemas.microsoft.com/office/drawing/2014/main" id="{A5D4ED55-D07E-48C2-BC6C-0BD8BA6A4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450" y="3609975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02</a:t>
            </a:r>
          </a:p>
        </p:txBody>
      </p:sp>
      <p:sp>
        <p:nvSpPr>
          <p:cNvPr id="24" name="worked-rule-1">
            <a:extLst xmlns:a="http://schemas.openxmlformats.org/drawingml/2006/main">
              <a:ext uri="{FF2B5EF4-FFF2-40B4-BE49-F238E27FC236}">
                <a16:creationId xmlns:a16="http://schemas.microsoft.com/office/drawing/2014/main" id="{FB65C92C-9403-4D33-9172-6F15952B5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775450" y="4238625"/>
            <a:ext cx="473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B8C4D1"/>
            </a:solidFill>
            <a:prstDash val="solid"/>
          </a:ln>
        </p:spPr>
      </p:sp>
      <p:sp>
        <p:nvSpPr>
          <p:cNvPr id="25" name="worked-head-1">
            <a:extLst xmlns:a="http://schemas.openxmlformats.org/drawingml/2006/main">
              <a:ext uri="{FF2B5EF4-FFF2-40B4-BE49-F238E27FC236}">
                <a16:creationId xmlns:a16="http://schemas.microsoft.com/office/drawing/2014/main" id="{E8052518-C7F1-4279-B311-6AF1D0ECE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450" y="4352925"/>
            <a:ext cx="4737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Segmento</a:t>
            </a:r>
          </a:p>
        </p:txBody>
      </p:sp>
      <p:sp>
        <p:nvSpPr>
          <p:cNvPr id="26" name="worked-body-1">
            <a:extLst xmlns:a="http://schemas.openxmlformats.org/drawingml/2006/main">
              <a:ext uri="{FF2B5EF4-FFF2-40B4-BE49-F238E27FC236}">
                <a16:creationId xmlns:a16="http://schemas.microsoft.com/office/drawing/2014/main" id="{7ED98477-25EB-4C0E-85EE-6C0802FE4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450" y="5000625"/>
            <a:ext cx="4737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9127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575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Patagonia</a:t>
            </a:r>
          </a:p>
        </p:txBody>
      </p:sp>
      <p:sp>
        <p:nvSpPr>
          <p:cNvPr id="27" name="worked-box-2">
            <a:extLst xmlns:a="http://schemas.openxmlformats.org/drawingml/2006/main">
              <a:ext uri="{FF2B5EF4-FFF2-40B4-BE49-F238E27FC236}">
                <a16:creationId xmlns:a16="http://schemas.microsoft.com/office/drawing/2014/main" id="{B2A6CF29-F70E-487C-90E9-B17B8B33D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0700" y="3476625"/>
            <a:ext cx="5118100" cy="2047875"/>
          </a:xfrm>
          <a:prstGeom xmlns:a="http://schemas.openxmlformats.org/drawingml/2006/main" prst="roundRect">
            <a:avLst>
              <a:gd name="adj" fmla="val 83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28" name="worked-number-2">
            <a:extLst xmlns:a="http://schemas.openxmlformats.org/drawingml/2006/main">
              <a:ext uri="{FF2B5EF4-FFF2-40B4-BE49-F238E27FC236}">
                <a16:creationId xmlns:a16="http://schemas.microsoft.com/office/drawing/2014/main" id="{F38396E4-E64F-4781-8522-F3F2C3D62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1200" y="3609975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03</a:t>
            </a:r>
          </a:p>
        </p:txBody>
      </p:sp>
      <p:sp>
        <p:nvSpPr>
          <p:cNvPr id="29" name="worked-rule-2">
            <a:extLst xmlns:a="http://schemas.openxmlformats.org/drawingml/2006/main">
              <a:ext uri="{FF2B5EF4-FFF2-40B4-BE49-F238E27FC236}">
                <a16:creationId xmlns:a16="http://schemas.microsoft.com/office/drawing/2014/main" id="{62AA71A2-B4B6-4D80-B972-3E0A81E5C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141200" y="4238625"/>
            <a:ext cx="473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B8C4D1"/>
            </a:solidFill>
            <a:prstDash val="solid"/>
          </a:ln>
        </p:spPr>
      </p:sp>
      <p:sp>
        <p:nvSpPr>
          <p:cNvPr id="30" name="worked-head-2">
            <a:extLst xmlns:a="http://schemas.openxmlformats.org/drawingml/2006/main">
              <a:ext uri="{FF2B5EF4-FFF2-40B4-BE49-F238E27FC236}">
                <a16:creationId xmlns:a16="http://schemas.microsoft.com/office/drawing/2014/main" id="{5D63A970-A6C5-48A7-BA0E-C0060382E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1200" y="4352925"/>
            <a:ext cx="4737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Cambio</a:t>
            </a:r>
          </a:p>
        </p:txBody>
      </p:sp>
      <p:sp>
        <p:nvSpPr>
          <p:cNvPr id="31" name="worked-body-2">
            <a:extLst xmlns:a="http://schemas.openxmlformats.org/drawingml/2006/main">
              <a:ext uri="{FF2B5EF4-FFF2-40B4-BE49-F238E27FC236}">
                <a16:creationId xmlns:a16="http://schemas.microsoft.com/office/drawing/2014/main" id="{F50C745F-E969-4392-9841-DC6E98853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1200" y="5000625"/>
            <a:ext cx="4737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9127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575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+4,3 días</a:t>
            </a:r>
          </a:p>
        </p:txBody>
      </p:sp>
      <p:sp>
        <p:nvSpPr>
          <p:cNvPr id="32" name="worked-box-3">
            <a:extLst xmlns:a="http://schemas.openxmlformats.org/drawingml/2006/main">
              <a:ext uri="{FF2B5EF4-FFF2-40B4-BE49-F238E27FC236}">
                <a16:creationId xmlns:a16="http://schemas.microsoft.com/office/drawing/2014/main" id="{E958D7B1-723E-417D-AAB7-610956633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772150"/>
            <a:ext cx="5118100" cy="2047875"/>
          </a:xfrm>
          <a:prstGeom xmlns:a="http://schemas.openxmlformats.org/drawingml/2006/main" prst="roundRect">
            <a:avLst>
              <a:gd name="adj" fmla="val 83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33" name="worked-number-3">
            <a:extLst xmlns:a="http://schemas.openxmlformats.org/drawingml/2006/main">
              <a:ext uri="{FF2B5EF4-FFF2-40B4-BE49-F238E27FC236}">
                <a16:creationId xmlns:a16="http://schemas.microsoft.com/office/drawing/2014/main" id="{01A821C3-10BE-47A1-B3EA-2E66CAC93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905500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04</a:t>
            </a:r>
          </a:p>
        </p:txBody>
      </p:sp>
      <p:sp>
        <p:nvSpPr>
          <p:cNvPr id="34" name="worked-rule-3">
            <a:extLst xmlns:a="http://schemas.openxmlformats.org/drawingml/2006/main">
              <a:ext uri="{FF2B5EF4-FFF2-40B4-BE49-F238E27FC236}">
                <a16:creationId xmlns:a16="http://schemas.microsoft.com/office/drawing/2014/main" id="{1382F4B6-A46A-4914-9919-1B654B8ED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09700" y="6534150"/>
            <a:ext cx="473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B8C4D1"/>
            </a:solidFill>
            <a:prstDash val="solid"/>
          </a:ln>
        </p:spPr>
      </p:sp>
      <p:sp>
        <p:nvSpPr>
          <p:cNvPr id="35" name="worked-head-3">
            <a:extLst xmlns:a="http://schemas.openxmlformats.org/drawingml/2006/main">
              <a:ext uri="{FF2B5EF4-FFF2-40B4-BE49-F238E27FC236}">
                <a16:creationId xmlns:a16="http://schemas.microsoft.com/office/drawing/2014/main" id="{87417D56-3B0B-4120-9C57-AD1BA69A1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6648450"/>
            <a:ext cx="4737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Período</a:t>
            </a:r>
          </a:p>
        </p:txBody>
      </p:sp>
      <p:sp>
        <p:nvSpPr>
          <p:cNvPr id="36" name="worked-body-3">
            <a:extLst xmlns:a="http://schemas.openxmlformats.org/drawingml/2006/main">
              <a:ext uri="{FF2B5EF4-FFF2-40B4-BE49-F238E27FC236}">
                <a16:creationId xmlns:a16="http://schemas.microsoft.com/office/drawing/2014/main" id="{8FD64859-EDC9-4304-A2E0-DCC5C5A25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7296150"/>
            <a:ext cx="4737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9127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575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julio vs. junio</a:t>
            </a:r>
          </a:p>
        </p:txBody>
      </p:sp>
      <p:sp>
        <p:nvSpPr>
          <p:cNvPr id="37" name="worked-box-4">
            <a:extLst xmlns:a="http://schemas.openxmlformats.org/drawingml/2006/main">
              <a:ext uri="{FF2B5EF4-FFF2-40B4-BE49-F238E27FC236}">
                <a16:creationId xmlns:a16="http://schemas.microsoft.com/office/drawing/2014/main" id="{60496F4B-ECDA-4D84-B3E7-7DE24E7C7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4950" y="5772150"/>
            <a:ext cx="5118100" cy="2047875"/>
          </a:xfrm>
          <a:prstGeom xmlns:a="http://schemas.openxmlformats.org/drawingml/2006/main" prst="roundRect">
            <a:avLst>
              <a:gd name="adj" fmla="val 8372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38" name="worked-number-4">
            <a:extLst xmlns:a="http://schemas.openxmlformats.org/drawingml/2006/main">
              <a:ext uri="{FF2B5EF4-FFF2-40B4-BE49-F238E27FC236}">
                <a16:creationId xmlns:a16="http://schemas.microsoft.com/office/drawing/2014/main" id="{BCABFB6F-73C2-4636-9CCA-79012BE3A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450" y="5905500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262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05</a:t>
            </a:r>
          </a:p>
        </p:txBody>
      </p:sp>
      <p:sp>
        <p:nvSpPr>
          <p:cNvPr id="39" name="worked-rule-4">
            <a:extLst xmlns:a="http://schemas.openxmlformats.org/drawingml/2006/main">
              <a:ext uri="{FF2B5EF4-FFF2-40B4-BE49-F238E27FC236}">
                <a16:creationId xmlns:a16="http://schemas.microsoft.com/office/drawing/2014/main" id="{E2B1F27E-AAFA-4FBD-8F41-CCC4E4BE1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775450" y="6534150"/>
            <a:ext cx="473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111111"/>
            </a:solidFill>
            <a:prstDash val="solid"/>
          </a:ln>
        </p:spPr>
      </p:sp>
      <p:sp>
        <p:nvSpPr>
          <p:cNvPr id="40" name="worked-head-4">
            <a:extLst xmlns:a="http://schemas.openxmlformats.org/drawingml/2006/main">
              <a:ext uri="{FF2B5EF4-FFF2-40B4-BE49-F238E27FC236}">
                <a16:creationId xmlns:a16="http://schemas.microsoft.com/office/drawing/2014/main" id="{18237252-D667-4122-B5F0-28DB3ADA1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450" y="6648450"/>
            <a:ext cx="4737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8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Título</a:t>
            </a:r>
          </a:p>
        </p:txBody>
      </p:sp>
      <p:sp>
        <p:nvSpPr>
          <p:cNvPr id="41" name="worked-body-4">
            <a:extLst xmlns:a="http://schemas.openxmlformats.org/drawingml/2006/main">
              <a:ext uri="{FF2B5EF4-FFF2-40B4-BE49-F238E27FC236}">
                <a16:creationId xmlns:a16="http://schemas.microsoft.com/office/drawing/2014/main" id="{866D87B4-B5AB-4A0C-B602-DBC7E163E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450" y="7296150"/>
            <a:ext cx="4737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9127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575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La cola logística empeoró en Patagonia</a:t>
            </a:r>
          </a:p>
        </p:txBody>
      </p:sp>
      <p:sp>
        <p:nvSpPr>
          <p:cNvPr id="42" name="worked-caption">
            <a:extLst xmlns:a="http://schemas.openxmlformats.org/drawingml/2006/main">
              <a:ext uri="{FF2B5EF4-FFF2-40B4-BE49-F238E27FC236}">
                <a16:creationId xmlns:a16="http://schemas.microsoft.com/office/drawing/2014/main" id="{82B4E9E7-E9F5-4497-A31F-4E495317B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8096250"/>
            <a:ext cx="1447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F497D"/>
                </a:solidFill>
                <a:latin typeface="Telegraf"/>
                <a:ea typeface="Telegraf"/>
                <a:cs typeface="Telegraf"/>
              </a:defRPr>
            </a:pPr>
            <a:r>
              <a:rPr sz="1650" b="0">
                <a:solidFill>
                  <a:srgbClr val="1F497D"/>
                </a:solidFill>
                <a:latin typeface="Telegraf"/>
                <a:ea typeface="Telegraf"/>
                <a:cs typeface="Telegraf"/>
              </a:rPr>
              <a:t>El subtítulo conserva definición, período y fuente.</a:t>
            </a:r>
          </a:p>
        </p:txBody>
      </p:sp>
    </p:spTree>
    <p:extLst>
      <p:ext uri="{BB962C8B-B14F-4D97-AF65-F5344CB8AC3E}">
        <p14:creationId xmlns:p14="http://schemas.microsoft.com/office/powerpoint/2010/main" val="193607265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515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visual-dark-rail">
            <a:extLst xmlns:a="http://schemas.openxmlformats.org/drawingml/2006/main">
              <a:ext uri="{FF2B5EF4-FFF2-40B4-BE49-F238E27FC236}">
                <a16:creationId xmlns:a16="http://schemas.microsoft.com/office/drawing/2014/main" id="{BFA8DFF6-0241-45DC-BCEC-856282500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0"/>
            <a:ext cx="3048000" cy="102870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0B2745"/>
          </a:solidFill>
          <a:ln xmlns:a="http://schemas.openxmlformats.org/drawingml/2006/main" w="0">
            <a:noFill/>
          </a:ln>
        </p:spPr>
      </p:sp>
      <p:sp>
        <p:nvSpPr>
          <p:cNvPr id="2" name="visual-dark-rail-2">
            <a:extLst xmlns:a="http://schemas.openxmlformats.org/drawingml/2006/main">
              <a:ext uri="{FF2B5EF4-FFF2-40B4-BE49-F238E27FC236}">
                <a16:creationId xmlns:a16="http://schemas.microsoft.com/office/drawing/2014/main" id="{5D51B821-A42B-4D02-9CDB-4AE43119F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0"/>
            <a:ext cx="1714500" cy="102870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173A61"/>
          </a:solidFill>
          <a:ln xmlns:a="http://schemas.openxmlformats.org/drawingml/2006/main" w="0">
            <a:noFill/>
          </a:ln>
        </p:spPr>
      </p:sp>
      <p:sp>
        <p:nvSpPr>
          <p:cNvPr id="3" name="visual-dark-tab">
            <a:extLst xmlns:a="http://schemas.openxmlformats.org/drawingml/2006/main">
              <a:ext uri="{FF2B5EF4-FFF2-40B4-BE49-F238E27FC236}">
                <a16:creationId xmlns:a16="http://schemas.microsoft.com/office/drawing/2014/main" id="{6AA9EB38-409E-46BB-81E3-7261F539F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95750" cy="1333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48bea4673f447f"/>
          <a:stretch xmlns:a="http://schemas.openxmlformats.org/drawingml/2006/main"/>
        </p:blipFill>
        <p:spPr>
          <a:xfrm xmlns:a="http://schemas.openxmlformats.org/drawingml/2006/main">
            <a:off x="704850" y="531238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5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D22DADE9-17CA-49D8-8CFB-72DFB4FE0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0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Universidad Tecnológica Nacional</a:t>
            </a:r>
          </a:p>
        </p:txBody>
      </p:sp>
      <p:sp>
        <p:nvSpPr>
          <p:cNvPr id="6" name="visual-program">
            <a:extLst xmlns:a="http://schemas.openxmlformats.org/drawingml/2006/main">
              <a:ext uri="{FF2B5EF4-FFF2-40B4-BE49-F238E27FC236}">
                <a16:creationId xmlns:a16="http://schemas.microsoft.com/office/drawing/2014/main" id="{F8EA8AD2-E0FB-4B6C-AB7A-C5F7804D9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9535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90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INGENIERÍA INDUSTRIAL</a:t>
            </a:r>
          </a:p>
        </p:txBody>
      </p:sp>
      <p:sp>
        <p:nvSpPr>
          <p:cNvPr id="7" name="visual-year">
            <a:extLst xmlns:a="http://schemas.openxmlformats.org/drawingml/2006/main">
              <a:ext uri="{FF2B5EF4-FFF2-40B4-BE49-F238E27FC236}">
                <a16:creationId xmlns:a16="http://schemas.microsoft.com/office/drawing/2014/main" id="{DB974D3C-D520-4CEB-9105-25B19141A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63817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10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2026</a:t>
            </a:r>
          </a:p>
        </p:txBody>
      </p:sp>
      <p:sp>
        <p:nvSpPr>
          <p:cNvPr id="8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FBAA5B3F-7A38-42F6-A291-7454CBDC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85900"/>
            <a:ext cx="138112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36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El storyboard ordena una recomendación verificable</a:t>
            </a:r>
          </a:p>
        </p:txBody>
      </p:sp>
      <p:sp>
        <p:nvSpPr>
          <p:cNvPr id="9" name="visual-title-tab">
            <a:extLst xmlns:a="http://schemas.openxmlformats.org/drawingml/2006/main">
              <a:ext uri="{FF2B5EF4-FFF2-40B4-BE49-F238E27FC236}">
                <a16:creationId xmlns:a16="http://schemas.microsoft.com/office/drawing/2014/main" id="{CA9C2A21-7AD6-4968-8E93-FC03EC5ED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67050"/>
            <a:ext cx="16002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sp>
        <p:nvSpPr>
          <p:cNvPr id="10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2D5B0837-0FAA-4B98-AC4D-1F85EB97A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71800" y="3114675"/>
            <a:ext cx="569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5A5A5A"/>
            </a:solidFill>
            <a:prstDash val="solid"/>
          </a:ln>
        </p:spPr>
      </p:sp>
      <p:sp>
        <p:nvSpPr>
          <p:cNvPr id="11" name="visual-footer-rule">
            <a:extLst xmlns:a="http://schemas.openxmlformats.org/drawingml/2006/main">
              <a:ext uri="{FF2B5EF4-FFF2-40B4-BE49-F238E27FC236}">
                <a16:creationId xmlns:a16="http://schemas.microsoft.com/office/drawing/2014/main" id="{7CCCBAC7-9829-4820-A1C8-1861C6CC5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0" y="954405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2" name="visual-footer-pill">
            <a:extLst xmlns:a="http://schemas.openxmlformats.org/drawingml/2006/main">
              <a:ext uri="{FF2B5EF4-FFF2-40B4-BE49-F238E27FC236}">
                <a16:creationId xmlns:a16="http://schemas.microsoft.com/office/drawing/2014/main" id="{97B4540D-9DFA-4344-8099-F3B809768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8048625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13" name="visual-footer-brand-pill">
            <a:extLst xmlns:a="http://schemas.openxmlformats.org/drawingml/2006/main">
              <a:ext uri="{FF2B5EF4-FFF2-40B4-BE49-F238E27FC236}">
                <a16:creationId xmlns:a16="http://schemas.microsoft.com/office/drawing/2014/main" id="{1858F292-51E9-4581-B4F0-ED2817F53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272415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sp>
        <p:nvSpPr>
          <p:cNvPr id="14" name="visual-footer-brand">
            <a:extLst xmlns:a="http://schemas.openxmlformats.org/drawingml/2006/main">
              <a:ext uri="{FF2B5EF4-FFF2-40B4-BE49-F238E27FC236}">
                <a16:creationId xmlns:a16="http://schemas.microsoft.com/office/drawing/2014/main" id="{322D2F5A-E11F-4676-8E0E-BE7EF3306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93345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Análisis de Datos</a:t>
            </a:r>
          </a:p>
        </p:txBody>
      </p:sp>
      <p:sp>
        <p:nvSpPr>
          <p:cNvPr id="15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19CF7F8C-D5AF-464F-863D-8E1579D52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334500"/>
            <a:ext cx="490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STORYTELLING · SECUENCIA</a:t>
            </a:r>
          </a:p>
        </p:txBody>
      </p:sp>
      <p:sp>
        <p:nvSpPr>
          <p:cNvPr id="16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0757B267-54AC-4F93-B250-2264F624B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9820275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D1D1D1"/>
                </a:solidFill>
                <a:latin typeface="Telegraf"/>
                <a:ea typeface="Telegraf"/>
                <a:cs typeface="Telegraf"/>
              </a:defRPr>
            </a:pPr>
            <a:r>
              <a:rPr sz="975" b="0">
                <a:solidFill>
                  <a:srgbClr val="D1D1D1"/>
                </a:solidFill>
                <a:latin typeface="Telegraf"/>
                <a:ea typeface="Telegraf"/>
                <a:cs typeface="Telegraf"/>
              </a:rPr>
              <a:t>Ingeniería Industrial · UTN FRC</a:t>
            </a:r>
          </a:p>
        </p:txBody>
      </p:sp>
      <p:sp>
        <p:nvSpPr>
          <p:cNvPr id="17" name="flow-arrow-0">
            <a:extLst xmlns:a="http://schemas.openxmlformats.org/drawingml/2006/main">
              <a:ext uri="{FF2B5EF4-FFF2-40B4-BE49-F238E27FC236}">
                <a16:creationId xmlns:a16="http://schemas.microsoft.com/office/drawing/2014/main" id="{75077684-BD36-4148-8CF4-8CCE19AB4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122420" y="4933950"/>
            <a:ext cx="314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FFFF33"/>
            </a:solidFill>
            <a:prstDash val="solid"/>
          </a:ln>
        </p:spPr>
      </p:sp>
      <p:sp>
        <p:nvSpPr>
          <p:cNvPr id="18" name="flow-step-0">
            <a:extLst xmlns:a="http://schemas.openxmlformats.org/drawingml/2006/main">
              <a:ext uri="{FF2B5EF4-FFF2-40B4-BE49-F238E27FC236}">
                <a16:creationId xmlns:a16="http://schemas.microsoft.com/office/drawing/2014/main" id="{B8269812-94C2-44A9-BD95-2356FE9DD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14750"/>
            <a:ext cx="290322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52525"/>
          </a:solidFill>
          <a:ln xmlns:a="http://schemas.openxmlformats.org/drawingml/2006/main" w="11430">
            <a:solidFill>
              <a:srgbClr val="555555"/>
            </a:solidFill>
            <a:prstDash val="solid"/>
          </a:ln>
        </p:spPr>
      </p:sp>
      <p:sp>
        <p:nvSpPr>
          <p:cNvPr id="19" name="flow-index-0">
            <a:extLst xmlns:a="http://schemas.openxmlformats.org/drawingml/2006/main">
              <a:ext uri="{FF2B5EF4-FFF2-40B4-BE49-F238E27FC236}">
                <a16:creationId xmlns:a16="http://schemas.microsoft.com/office/drawing/2014/main" id="{EB717AED-D080-43AA-B302-47F07CBFD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810000"/>
            <a:ext cx="256032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28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01</a:t>
            </a:r>
          </a:p>
        </p:txBody>
      </p:sp>
      <p:sp>
        <p:nvSpPr>
          <p:cNvPr id="20" name="flow-card-rule-0">
            <a:extLst xmlns:a="http://schemas.openxmlformats.org/drawingml/2006/main">
              <a:ext uri="{FF2B5EF4-FFF2-40B4-BE49-F238E27FC236}">
                <a16:creationId xmlns:a16="http://schemas.microsoft.com/office/drawing/2014/main" id="{38809E2B-A682-4B07-932B-FAA96D3F9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28750" y="4495800"/>
            <a:ext cx="25222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666666"/>
            </a:solidFill>
            <a:prstDash val="solid"/>
          </a:ln>
        </p:spPr>
      </p:sp>
      <p:sp>
        <p:nvSpPr>
          <p:cNvPr id="21" name="flow-head-0">
            <a:extLst xmlns:a="http://schemas.openxmlformats.org/drawingml/2006/main">
              <a:ext uri="{FF2B5EF4-FFF2-40B4-BE49-F238E27FC236}">
                <a16:creationId xmlns:a16="http://schemas.microsoft.com/office/drawing/2014/main" id="{DC562053-1A48-4086-9725-E1D3FB9AA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10100"/>
            <a:ext cx="252222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9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Contexto</a:t>
            </a:r>
          </a:p>
        </p:txBody>
      </p:sp>
      <p:sp>
        <p:nvSpPr>
          <p:cNvPr id="22" name="flow-body-0">
            <a:extLst xmlns:a="http://schemas.openxmlformats.org/drawingml/2006/main">
              <a:ext uri="{FF2B5EF4-FFF2-40B4-BE49-F238E27FC236}">
                <a16:creationId xmlns:a16="http://schemas.microsoft.com/office/drawing/2014/main" id="{5E5D431F-3BDA-438F-A642-E19EF4872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67325"/>
            <a:ext cx="252222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7D7D7"/>
                </a:solidFill>
                <a:latin typeface="Telegraf"/>
                <a:ea typeface="Telegraf"/>
                <a:cs typeface="Telegraf"/>
              </a:defRPr>
            </a:pPr>
            <a:r>
              <a:rPr sz="1425" b="0">
                <a:solidFill>
                  <a:srgbClr val="D7D7D7"/>
                </a:solidFill>
                <a:latin typeface="Telegraf"/>
                <a:ea typeface="Telegraf"/>
                <a:cs typeface="Telegraf"/>
              </a:rPr>
              <a:t>promesa de servicio</a:t>
            </a:r>
          </a:p>
        </p:txBody>
      </p:sp>
      <p:sp>
        <p:nvSpPr>
          <p:cNvPr id="23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EF021513-D3FA-4EB1-AD22-BC8C710CB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349490" y="4933950"/>
            <a:ext cx="314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FFFF33"/>
            </a:solidFill>
            <a:prstDash val="solid"/>
          </a:ln>
        </p:spPr>
      </p:sp>
      <p:sp>
        <p:nvSpPr>
          <p:cNvPr id="24" name="flow-step-1">
            <a:extLst xmlns:a="http://schemas.openxmlformats.org/drawingml/2006/main">
              <a:ext uri="{FF2B5EF4-FFF2-40B4-BE49-F238E27FC236}">
                <a16:creationId xmlns:a16="http://schemas.microsoft.com/office/drawing/2014/main" id="{21664735-5F87-40F2-90AC-4B71BA63F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5320" y="3714750"/>
            <a:ext cx="290322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52525"/>
          </a:solidFill>
          <a:ln xmlns:a="http://schemas.openxmlformats.org/drawingml/2006/main" w="11430">
            <a:solidFill>
              <a:srgbClr val="555555"/>
            </a:solidFill>
            <a:prstDash val="solid"/>
          </a:ln>
        </p:spPr>
      </p:sp>
      <p:sp>
        <p:nvSpPr>
          <p:cNvPr id="25" name="flow-index-1">
            <a:extLst xmlns:a="http://schemas.openxmlformats.org/drawingml/2006/main">
              <a:ext uri="{FF2B5EF4-FFF2-40B4-BE49-F238E27FC236}">
                <a16:creationId xmlns:a16="http://schemas.microsoft.com/office/drawing/2014/main" id="{1FBFCA38-942B-4780-AA26-A50800244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770" y="3810000"/>
            <a:ext cx="256032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28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02</a:t>
            </a:r>
          </a:p>
        </p:txBody>
      </p:sp>
      <p:sp>
        <p:nvSpPr>
          <p:cNvPr id="26" name="flow-card-rule-1">
            <a:extLst xmlns:a="http://schemas.openxmlformats.org/drawingml/2006/main">
              <a:ext uri="{FF2B5EF4-FFF2-40B4-BE49-F238E27FC236}">
                <a16:creationId xmlns:a16="http://schemas.microsoft.com/office/drawing/2014/main" id="{6D2B523D-4111-4FCB-9FD6-059DE0147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655820" y="4495800"/>
            <a:ext cx="25222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666666"/>
            </a:solidFill>
            <a:prstDash val="solid"/>
          </a:ln>
        </p:spPr>
      </p:sp>
      <p:sp>
        <p:nvSpPr>
          <p:cNvPr id="27" name="flow-head-1">
            <a:extLst xmlns:a="http://schemas.openxmlformats.org/drawingml/2006/main">
              <a:ext uri="{FF2B5EF4-FFF2-40B4-BE49-F238E27FC236}">
                <a16:creationId xmlns:a16="http://schemas.microsoft.com/office/drawing/2014/main" id="{C7F1F1B1-9CC0-4CAE-B399-0A1B93D47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5820" y="4610100"/>
            <a:ext cx="252222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9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Tensión</a:t>
            </a:r>
          </a:p>
        </p:txBody>
      </p:sp>
      <p:sp>
        <p:nvSpPr>
          <p:cNvPr id="28" name="flow-body-1">
            <a:extLst xmlns:a="http://schemas.openxmlformats.org/drawingml/2006/main">
              <a:ext uri="{FF2B5EF4-FFF2-40B4-BE49-F238E27FC236}">
                <a16:creationId xmlns:a16="http://schemas.microsoft.com/office/drawing/2014/main" id="{94719CFB-A54C-4880-9CA2-76CDA299C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5820" y="5267325"/>
            <a:ext cx="252222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7D7D7"/>
                </a:solidFill>
                <a:latin typeface="Telegraf"/>
                <a:ea typeface="Telegraf"/>
                <a:cs typeface="Telegraf"/>
              </a:defRPr>
            </a:pPr>
            <a:r>
              <a:rPr sz="1425" b="0">
                <a:solidFill>
                  <a:srgbClr val="D7D7D7"/>
                </a:solidFill>
                <a:latin typeface="Telegraf"/>
                <a:ea typeface="Telegraf"/>
                <a:cs typeface="Telegraf"/>
              </a:rPr>
              <a:t>P90 aumenta</a:t>
            </a:r>
          </a:p>
        </p:txBody>
      </p:sp>
      <p:sp>
        <p:nvSpPr>
          <p:cNvPr id="29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4DB5409E-05AC-41A5-9BB4-83589964E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576560" y="4933950"/>
            <a:ext cx="314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FFFF33"/>
            </a:solidFill>
            <a:prstDash val="solid"/>
          </a:ln>
        </p:spPr>
      </p:sp>
      <p:sp>
        <p:nvSpPr>
          <p:cNvPr id="30" name="flow-step-2">
            <a:extLst xmlns:a="http://schemas.openxmlformats.org/drawingml/2006/main">
              <a:ext uri="{FF2B5EF4-FFF2-40B4-BE49-F238E27FC236}">
                <a16:creationId xmlns:a16="http://schemas.microsoft.com/office/drawing/2014/main" id="{84311480-D638-480E-A0C0-EF5A63C1B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2390" y="3714750"/>
            <a:ext cx="290322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52525"/>
          </a:solidFill>
          <a:ln xmlns:a="http://schemas.openxmlformats.org/drawingml/2006/main" w="11430">
            <a:solidFill>
              <a:srgbClr val="555555"/>
            </a:solidFill>
            <a:prstDash val="solid"/>
          </a:ln>
        </p:spPr>
      </p:sp>
      <p:sp>
        <p:nvSpPr>
          <p:cNvPr id="31" name="flow-index-2">
            <a:extLst xmlns:a="http://schemas.openxmlformats.org/drawingml/2006/main">
              <a:ext uri="{FF2B5EF4-FFF2-40B4-BE49-F238E27FC236}">
                <a16:creationId xmlns:a16="http://schemas.microsoft.com/office/drawing/2014/main" id="{AAE41E5C-ECAF-4BE4-BE7C-8C41D2FC3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3810000"/>
            <a:ext cx="256032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28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03</a:t>
            </a:r>
          </a:p>
        </p:txBody>
      </p:sp>
      <p:sp>
        <p:nvSpPr>
          <p:cNvPr id="32" name="flow-card-rule-2">
            <a:extLst xmlns:a="http://schemas.openxmlformats.org/drawingml/2006/main">
              <a:ext uri="{FF2B5EF4-FFF2-40B4-BE49-F238E27FC236}">
                <a16:creationId xmlns:a16="http://schemas.microsoft.com/office/drawing/2014/main" id="{61DFD1F7-B6C2-41B0-A225-7B004DD68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882890" y="4495800"/>
            <a:ext cx="25222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666666"/>
            </a:solidFill>
            <a:prstDash val="solid"/>
          </a:ln>
        </p:spPr>
      </p:sp>
      <p:sp>
        <p:nvSpPr>
          <p:cNvPr id="33" name="flow-head-2">
            <a:extLst xmlns:a="http://schemas.openxmlformats.org/drawingml/2006/main">
              <a:ext uri="{FF2B5EF4-FFF2-40B4-BE49-F238E27FC236}">
                <a16:creationId xmlns:a16="http://schemas.microsoft.com/office/drawing/2014/main" id="{0714AA9F-DE74-48E7-8D55-D64CFF4BB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890" y="4610100"/>
            <a:ext cx="252222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9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Evidencia</a:t>
            </a:r>
          </a:p>
        </p:txBody>
      </p:sp>
      <p:sp>
        <p:nvSpPr>
          <p:cNvPr id="34" name="flow-body-2">
            <a:extLst xmlns:a="http://schemas.openxmlformats.org/drawingml/2006/main">
              <a:ext uri="{FF2B5EF4-FFF2-40B4-BE49-F238E27FC236}">
                <a16:creationId xmlns:a16="http://schemas.microsoft.com/office/drawing/2014/main" id="{5A642C9D-8DF0-4543-9EEA-5E4D55CB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890" y="5267325"/>
            <a:ext cx="252222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7D7D7"/>
                </a:solidFill>
                <a:latin typeface="Telegraf"/>
                <a:ea typeface="Telegraf"/>
                <a:cs typeface="Telegraf"/>
              </a:defRPr>
            </a:pPr>
            <a:r>
              <a:rPr sz="1425" b="0">
                <a:solidFill>
                  <a:srgbClr val="D7D7D7"/>
                </a:solidFill>
                <a:latin typeface="Telegraf"/>
                <a:ea typeface="Telegraf"/>
                <a:cs typeface="Telegraf"/>
              </a:rPr>
              <a:t>región y causa</a:t>
            </a:r>
          </a:p>
        </p:txBody>
      </p:sp>
      <p:sp>
        <p:nvSpPr>
          <p:cNvPr id="35" name="flow-arrow-3">
            <a:extLst xmlns:a="http://schemas.openxmlformats.org/drawingml/2006/main">
              <a:ext uri="{FF2B5EF4-FFF2-40B4-BE49-F238E27FC236}">
                <a16:creationId xmlns:a16="http://schemas.microsoft.com/office/drawing/2014/main" id="{2AA335FF-7B7E-45F6-9FA7-10530F49C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803630" y="4933950"/>
            <a:ext cx="314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FFFF33"/>
            </a:solidFill>
            <a:prstDash val="solid"/>
          </a:ln>
        </p:spPr>
      </p:sp>
      <p:sp>
        <p:nvSpPr>
          <p:cNvPr id="36" name="flow-step-3">
            <a:extLst xmlns:a="http://schemas.openxmlformats.org/drawingml/2006/main">
              <a:ext uri="{FF2B5EF4-FFF2-40B4-BE49-F238E27FC236}">
                <a16:creationId xmlns:a16="http://schemas.microsoft.com/office/drawing/2014/main" id="{B47B19B8-57A1-4B05-B703-EA94A1778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9460" y="3714750"/>
            <a:ext cx="290322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52525"/>
          </a:solidFill>
          <a:ln xmlns:a="http://schemas.openxmlformats.org/drawingml/2006/main" w="11430">
            <a:solidFill>
              <a:srgbClr val="555555"/>
            </a:solidFill>
            <a:prstDash val="solid"/>
          </a:ln>
        </p:spPr>
      </p:sp>
      <p:sp>
        <p:nvSpPr>
          <p:cNvPr id="37" name="flow-index-3">
            <a:extLst xmlns:a="http://schemas.openxmlformats.org/drawingml/2006/main">
              <a:ext uri="{FF2B5EF4-FFF2-40B4-BE49-F238E27FC236}">
                <a16:creationId xmlns:a16="http://schemas.microsoft.com/office/drawing/2014/main" id="{4AF334D1-7191-4C55-9705-C8732DE35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0910" y="3810000"/>
            <a:ext cx="256032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28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04</a:t>
            </a:r>
          </a:p>
        </p:txBody>
      </p:sp>
      <p:sp>
        <p:nvSpPr>
          <p:cNvPr id="38" name="flow-card-rule-3">
            <a:extLst xmlns:a="http://schemas.openxmlformats.org/drawingml/2006/main">
              <a:ext uri="{FF2B5EF4-FFF2-40B4-BE49-F238E27FC236}">
                <a16:creationId xmlns:a16="http://schemas.microsoft.com/office/drawing/2014/main" id="{4309141D-D1E9-40D6-9F87-ED4CCD2E4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109960" y="4495800"/>
            <a:ext cx="25222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666666"/>
            </a:solidFill>
            <a:prstDash val="solid"/>
          </a:ln>
        </p:spPr>
      </p:sp>
      <p:sp>
        <p:nvSpPr>
          <p:cNvPr id="39" name="flow-head-3">
            <a:extLst xmlns:a="http://schemas.openxmlformats.org/drawingml/2006/main">
              <a:ext uri="{FF2B5EF4-FFF2-40B4-BE49-F238E27FC236}">
                <a16:creationId xmlns:a16="http://schemas.microsoft.com/office/drawing/2014/main" id="{32940668-D87D-4EA2-B7FE-36E54B8AA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4610100"/>
            <a:ext cx="252222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9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Recomendación</a:t>
            </a:r>
          </a:p>
        </p:txBody>
      </p:sp>
      <p:sp>
        <p:nvSpPr>
          <p:cNvPr id="40" name="flow-body-3">
            <a:extLst xmlns:a="http://schemas.openxmlformats.org/drawingml/2006/main">
              <a:ext uri="{FF2B5EF4-FFF2-40B4-BE49-F238E27FC236}">
                <a16:creationId xmlns:a16="http://schemas.microsoft.com/office/drawing/2014/main" id="{8A44D227-C038-49D7-9CC3-9B6BE5725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5267325"/>
            <a:ext cx="252222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7D7D7"/>
                </a:solidFill>
                <a:latin typeface="Telegraf"/>
                <a:ea typeface="Telegraf"/>
                <a:cs typeface="Telegraf"/>
              </a:defRPr>
            </a:pPr>
            <a:r>
              <a:rPr sz="1425" b="0">
                <a:solidFill>
                  <a:srgbClr val="D7D7D7"/>
                </a:solidFill>
                <a:latin typeface="Telegraf"/>
                <a:ea typeface="Telegraf"/>
                <a:cs typeface="Telegraf"/>
              </a:rPr>
              <a:t>acción y responsable</a:t>
            </a:r>
          </a:p>
        </p:txBody>
      </p:sp>
      <p:sp>
        <p:nvSpPr>
          <p:cNvPr id="41" name="flow-step-4">
            <a:extLst xmlns:a="http://schemas.openxmlformats.org/drawingml/2006/main">
              <a:ext uri="{FF2B5EF4-FFF2-40B4-BE49-F238E27FC236}">
                <a16:creationId xmlns:a16="http://schemas.microsoft.com/office/drawing/2014/main" id="{8B9ED5EC-EBE2-4F1F-AA0D-4EA9C3600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6530" y="3714750"/>
            <a:ext cx="290322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555555"/>
            </a:solidFill>
            <a:prstDash val="solid"/>
          </a:ln>
        </p:spPr>
      </p:sp>
      <p:sp>
        <p:nvSpPr>
          <p:cNvPr id="42" name="flow-index-4">
            <a:extLst xmlns:a="http://schemas.openxmlformats.org/drawingml/2006/main">
              <a:ext uri="{FF2B5EF4-FFF2-40B4-BE49-F238E27FC236}">
                <a16:creationId xmlns:a16="http://schemas.microsoft.com/office/drawing/2014/main" id="{BC506F16-A62C-40FB-BE0F-A3C799787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7980" y="3810000"/>
            <a:ext cx="256032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28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05</a:t>
            </a:r>
          </a:p>
        </p:txBody>
      </p:sp>
      <p:sp>
        <p:nvSpPr>
          <p:cNvPr id="43" name="flow-card-rule-4">
            <a:extLst xmlns:a="http://schemas.openxmlformats.org/drawingml/2006/main">
              <a:ext uri="{FF2B5EF4-FFF2-40B4-BE49-F238E27FC236}">
                <a16:creationId xmlns:a16="http://schemas.microsoft.com/office/drawing/2014/main" id="{F66F37E8-24E6-470F-9476-4058299E8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337030" y="4495800"/>
            <a:ext cx="25222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44" name="flow-head-4">
            <a:extLst xmlns:a="http://schemas.openxmlformats.org/drawingml/2006/main">
              <a:ext uri="{FF2B5EF4-FFF2-40B4-BE49-F238E27FC236}">
                <a16:creationId xmlns:a16="http://schemas.microsoft.com/office/drawing/2014/main" id="{DF36EB17-4E66-4EE0-9E43-5E1F26299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7030" y="4610100"/>
            <a:ext cx="252222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9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Límite</a:t>
            </a:r>
          </a:p>
        </p:txBody>
      </p:sp>
      <p:sp>
        <p:nvSpPr>
          <p:cNvPr id="45" name="flow-body-4">
            <a:extLst xmlns:a="http://schemas.openxmlformats.org/drawingml/2006/main">
              <a:ext uri="{FF2B5EF4-FFF2-40B4-BE49-F238E27FC236}">
                <a16:creationId xmlns:a16="http://schemas.microsoft.com/office/drawing/2014/main" id="{AEB24A8E-C1C8-409E-85FD-260DB2387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7030" y="5267325"/>
            <a:ext cx="252222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425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datos aún faltantes</a:t>
            </a:r>
          </a:p>
        </p:txBody>
      </p:sp>
      <p:sp>
        <p:nvSpPr>
          <p:cNvPr id="46" name="flow-callout-panel">
            <a:extLst xmlns:a="http://schemas.openxmlformats.org/drawingml/2006/main">
              <a:ext uri="{FF2B5EF4-FFF2-40B4-BE49-F238E27FC236}">
                <a16:creationId xmlns:a16="http://schemas.microsoft.com/office/drawing/2014/main" id="{BDCFF236-0A87-4C8F-9972-C4695DA11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7124700"/>
            <a:ext cx="12001500" cy="914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2525"/>
          </a:solidFill>
          <a:ln xmlns:a="http://schemas.openxmlformats.org/drawingml/2006/main" w="11430">
            <a:solidFill>
              <a:srgbClr val="555555"/>
            </a:solidFill>
            <a:prstDash val="solid"/>
          </a:ln>
        </p:spPr>
      </p:sp>
      <p:sp>
        <p:nvSpPr>
          <p:cNvPr id="47" name="flow-callout">
            <a:extLst xmlns:a="http://schemas.openxmlformats.org/drawingml/2006/main">
              <a:ext uri="{FF2B5EF4-FFF2-40B4-BE49-F238E27FC236}">
                <a16:creationId xmlns:a16="http://schemas.microsoft.com/office/drawing/2014/main" id="{C8EEE4E1-157D-4D33-B6B6-73CBC8715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7239000"/>
            <a:ext cx="1123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FFFF33"/>
                </a:solidFill>
                <a:latin typeface="Telegraf"/>
                <a:ea typeface="Telegraf"/>
                <a:cs typeface="Telegraf"/>
              </a:defRPr>
            </a:pPr>
            <a:r>
              <a:rPr sz="1725" b="0">
                <a:solidFill>
                  <a:srgbClr val="FFFF33"/>
                </a:solidFill>
                <a:latin typeface="Telegraf"/>
                <a:ea typeface="Telegraf"/>
                <a:cs typeface="Telegraf"/>
              </a:rPr>
              <a:t>Cada tarjeta puede transformarse luego en una página o sección del informe.</a:t>
            </a:r>
          </a:p>
        </p:txBody>
      </p:sp>
    </p:spTree>
    <p:extLst>
      <p:ext uri="{BB962C8B-B14F-4D97-AF65-F5344CB8AC3E}">
        <p14:creationId xmlns:p14="http://schemas.microsoft.com/office/powerpoint/2010/main" val="40815855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515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close-phot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e5bc34d3c942d8"/>
          <a:srcRect xmlns:a="http://schemas.openxmlformats.org/drawingml/2006/main" l="29926" t="0" r="2992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6191250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close-photo-rule">
            <a:extLst xmlns:a="http://schemas.openxmlformats.org/drawingml/2006/main">
              <a:ext uri="{FF2B5EF4-FFF2-40B4-BE49-F238E27FC236}">
                <a16:creationId xmlns:a16="http://schemas.microsoft.com/office/drawing/2014/main" id="{B1CA9827-39AF-45D5-BD5C-E5270D6B8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0"/>
            <a:ext cx="171450" cy="1028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3" name="close-photo-tab">
            <a:extLst xmlns:a="http://schemas.openxmlformats.org/drawingml/2006/main">
              <a:ext uri="{FF2B5EF4-FFF2-40B4-BE49-F238E27FC236}">
                <a16:creationId xmlns:a16="http://schemas.microsoft.com/office/drawing/2014/main" id="{AE1253AD-DE91-4323-9939-5754837B7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382000"/>
            <a:ext cx="1952625" cy="2286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sp>
        <p:nvSpPr>
          <p:cNvPr id="4" name="close-rail">
            <a:extLst xmlns:a="http://schemas.openxmlformats.org/drawingml/2006/main">
              <a:ext uri="{FF2B5EF4-FFF2-40B4-BE49-F238E27FC236}">
                <a16:creationId xmlns:a16="http://schemas.microsoft.com/office/drawing/2014/main" id="{D327E63A-9932-41A4-8ADE-5D8619F62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0" y="0"/>
            <a:ext cx="2952750" cy="102870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0B2745"/>
          </a:solidFill>
          <a:ln xmlns:a="http://schemas.openxmlformats.org/drawingml/2006/main" w="0">
            <a:noFill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0eb7d68246414e"/>
          <a:stretch xmlns:a="http://schemas.openxmlformats.org/drawingml/2006/main"/>
        </p:blipFill>
        <p:spPr>
          <a:xfrm xmlns:a="http://schemas.openxmlformats.org/drawingml/2006/main">
            <a:off x="7000875" y="607438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6" name="close-label">
            <a:extLst xmlns:a="http://schemas.openxmlformats.org/drawingml/2006/main">
              <a:ext uri="{FF2B5EF4-FFF2-40B4-BE49-F238E27FC236}">
                <a16:creationId xmlns:a16="http://schemas.microsoft.com/office/drawing/2014/main" id="{CC1B8EBC-F3E8-4F23-89EC-E2E6AEEDF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68580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CIERRE · DESCRIPCIÓN RESPONSABLE</a:t>
            </a:r>
          </a:p>
        </p:txBody>
      </p:sp>
      <p:sp>
        <p:nvSpPr>
          <p:cNvPr id="7" name="close-title">
            <a:extLst xmlns:a="http://schemas.openxmlformats.org/drawingml/2006/main">
              <a:ext uri="{FF2B5EF4-FFF2-40B4-BE49-F238E27FC236}">
                <a16:creationId xmlns:a16="http://schemas.microsoft.com/office/drawing/2014/main" id="{2A898D80-5F36-4E07-9B65-4B925F1AA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381250"/>
            <a:ext cx="10001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48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Una síntesis útil</a:t>
            </a:r>
          </a:p>
          <a:p xmlns:a="http://schemas.openxmlformats.org/drawingml/2006/main">
            <a:pPr algn="l">
              <a:defRPr sz="480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48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muestra también su </a:t>
            </a:r>
            <a:r>
              <a:rPr sz="480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variabilidad</a:t>
            </a:r>
          </a:p>
        </p:txBody>
      </p:sp>
      <p:sp>
        <p:nvSpPr>
          <p:cNvPr id="8" name="close-rule">
            <a:extLst xmlns:a="http://schemas.openxmlformats.org/drawingml/2006/main">
              <a:ext uri="{FF2B5EF4-FFF2-40B4-BE49-F238E27FC236}">
                <a16:creationId xmlns:a16="http://schemas.microsoft.com/office/drawing/2014/main" id="{97A1BD45-5583-44B7-BC01-1899AAF0E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000875" y="5600700"/>
            <a:ext cx="9286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FF33"/>
            </a:solidFill>
            <a:prstDash val="solid"/>
          </a:ln>
        </p:spPr>
      </p:sp>
      <p:sp>
        <p:nvSpPr>
          <p:cNvPr id="9" name="close-body">
            <a:extLst xmlns:a="http://schemas.openxmlformats.org/drawingml/2006/main">
              <a:ext uri="{FF2B5EF4-FFF2-40B4-BE49-F238E27FC236}">
                <a16:creationId xmlns:a16="http://schemas.microsoft.com/office/drawing/2014/main" id="{C2BCF980-6A20-424B-878E-F76F6DC69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6048375"/>
            <a:ext cx="857250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E3E3E3"/>
                </a:solidFill>
                <a:latin typeface="Telegraf"/>
                <a:ea typeface="Telegraf"/>
                <a:cs typeface="Telegraf"/>
              </a:defRPr>
            </a:pPr>
            <a:r>
              <a:rPr sz="2025" b="0">
                <a:solidFill>
                  <a:srgbClr val="E3E3E3"/>
                </a:solidFill>
                <a:latin typeface="Telegraf"/>
                <a:ea typeface="Telegraf"/>
                <a:cs typeface="Telegraf"/>
              </a:rPr>
              <a:t>Elegir población, denominador, medida y visual según la decisión que debe sostenerse.</a:t>
            </a:r>
          </a:p>
        </p:txBody>
      </p:sp>
      <p:sp>
        <p:nvSpPr>
          <p:cNvPr id="10" name="close-course">
            <a:extLst xmlns:a="http://schemas.openxmlformats.org/drawingml/2006/main">
              <a:ext uri="{FF2B5EF4-FFF2-40B4-BE49-F238E27FC236}">
                <a16:creationId xmlns:a16="http://schemas.microsoft.com/office/drawing/2014/main" id="{AB4CA91E-B5F7-428F-A233-CA7471476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8572500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8C8C8"/>
                </a:solidFill>
                <a:latin typeface="Telegraf"/>
                <a:ea typeface="Telegraf"/>
                <a:cs typeface="Telegraf"/>
              </a:defRPr>
            </a:pPr>
            <a:r>
              <a:rPr sz="1275" b="0">
                <a:solidFill>
                  <a:srgbClr val="C8C8C8"/>
                </a:solidFill>
                <a:latin typeface="Telegraf"/>
                <a:ea typeface="Telegraf"/>
                <a:cs typeface="Telegraf"/>
              </a:rPr>
              <a:t>Análisis de Datos · Ingeniería Industrial</a:t>
            </a:r>
          </a:p>
        </p:txBody>
      </p:sp>
    </p:spTree>
    <p:extLst>
      <p:ext uri="{BB962C8B-B14F-4D97-AF65-F5344CB8AC3E}">
        <p14:creationId xmlns:p14="http://schemas.microsoft.com/office/powerpoint/2010/main" val="6317866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2026-08-12T16:40:05.2880000Z</dcterms:created>
  <dcterms:modified xsi:type="dcterms:W3CDTF">2026-08-12T16:40:05.2880000Z</dcterms:modified>
</coreProperties>
</file>