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eba3cf99464a1d" /><Relationship Type="http://schemas.openxmlformats.org/officeDocument/2006/relationships/extended-properties" Target="/docProps/app.xml" Id="R9896262948e34113" /><Relationship Type="http://schemas.openxmlformats.org/officeDocument/2006/relationships/officeDocument" Target="/ppt/presentation.xml" Id="Rf62512809ca745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8a6b7e5aee4a61"/>
  </p:sldMasterIdLst>
  <p:sldIdLst>
    <p:sldId xmlns:r="http://schemas.openxmlformats.org/officeDocument/2006/relationships" id="256" r:id="Re2178a8642024dbc"/>
    <p:sldId xmlns:r="http://schemas.openxmlformats.org/officeDocument/2006/relationships" id="257" r:id="R4a3642df8eeb481c"/>
    <p:sldId xmlns:r="http://schemas.openxmlformats.org/officeDocument/2006/relationships" id="258" r:id="R90b025b2f1f849ae"/>
    <p:sldId xmlns:r="http://schemas.openxmlformats.org/officeDocument/2006/relationships" id="259" r:id="Rd919c6ba414b4672"/>
    <p:sldId xmlns:r="http://schemas.openxmlformats.org/officeDocument/2006/relationships" id="260" r:id="R0b71571e3ec04428"/>
    <p:sldId xmlns:r="http://schemas.openxmlformats.org/officeDocument/2006/relationships" id="261" r:id="R9d7f01c073c74a13"/>
    <p:sldId xmlns:r="http://schemas.openxmlformats.org/officeDocument/2006/relationships" id="262" r:id="Rc40d1a5bc76c4502"/>
    <p:sldId xmlns:r="http://schemas.openxmlformats.org/officeDocument/2006/relationships" id="263" r:id="R46e8acaa7a824939"/>
    <p:sldId xmlns:r="http://schemas.openxmlformats.org/officeDocument/2006/relationships" id="264" r:id="R1636b66c99524eb1"/>
    <p:sldId xmlns:r="http://schemas.openxmlformats.org/officeDocument/2006/relationships" id="265" r:id="Rb7d337deb6dd470a"/>
    <p:sldId xmlns:r="http://schemas.openxmlformats.org/officeDocument/2006/relationships" id="266" r:id="R59974203932b4176"/>
    <p:sldId xmlns:r="http://schemas.openxmlformats.org/officeDocument/2006/relationships" id="267" r:id="Ra21670ab264145c5"/>
    <p:sldId xmlns:r="http://schemas.openxmlformats.org/officeDocument/2006/relationships" id="268" r:id="Ra2b537bd89194664"/>
    <p:sldId xmlns:r="http://schemas.openxmlformats.org/officeDocument/2006/relationships" id="269" r:id="Rc6917509f749481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41cdce85e24fb3" /><Relationship Type="http://schemas.openxmlformats.org/officeDocument/2006/relationships/slideMaster" Target="/ppt/slideMasters/slideMaster1.xml" Id="Rb68a6b7e5aee4a61" /><Relationship Type="http://schemas.openxmlformats.org/officeDocument/2006/relationships/presProps" Target="/ppt/presProps.xml" Id="Rb34f2c9a487b4c4b" /><Relationship Type="http://schemas.openxmlformats.org/officeDocument/2006/relationships/tableStyles" Target="/ppt/tableStyles.xml" Id="R242d04555f854345" /><Relationship Type="http://schemas.openxmlformats.org/officeDocument/2006/relationships/slide" Target="/ppt/slides/slide1.xml" Id="Re2178a8642024dbc" /><Relationship Type="http://schemas.openxmlformats.org/officeDocument/2006/relationships/slide" Target="/ppt/slides/slide2.xml" Id="R4a3642df8eeb481c" /><Relationship Type="http://schemas.openxmlformats.org/officeDocument/2006/relationships/slide" Target="/ppt/slides/slide3.xml" Id="R90b025b2f1f849ae" /><Relationship Type="http://schemas.openxmlformats.org/officeDocument/2006/relationships/slide" Target="/ppt/slides/slide4.xml" Id="Rd919c6ba414b4672" /><Relationship Type="http://schemas.openxmlformats.org/officeDocument/2006/relationships/slide" Target="/ppt/slides/slide5.xml" Id="R0b71571e3ec04428" /><Relationship Type="http://schemas.openxmlformats.org/officeDocument/2006/relationships/slide" Target="/ppt/slides/slide6.xml" Id="R9d7f01c073c74a13" /><Relationship Type="http://schemas.openxmlformats.org/officeDocument/2006/relationships/slide" Target="/ppt/slides/slide7.xml" Id="Rc40d1a5bc76c4502" /><Relationship Type="http://schemas.openxmlformats.org/officeDocument/2006/relationships/slide" Target="/ppt/slides/slide8.xml" Id="R46e8acaa7a824939" /><Relationship Type="http://schemas.openxmlformats.org/officeDocument/2006/relationships/slide" Target="/ppt/slides/slide9.xml" Id="R1636b66c99524eb1" /><Relationship Type="http://schemas.openxmlformats.org/officeDocument/2006/relationships/slide" Target="/ppt/slides/slide10.xml" Id="Rb7d337deb6dd470a" /><Relationship Type="http://schemas.openxmlformats.org/officeDocument/2006/relationships/slide" Target="/ppt/slides/slide11.xml" Id="R59974203932b4176" /><Relationship Type="http://schemas.openxmlformats.org/officeDocument/2006/relationships/slide" Target="/ppt/slides/slide12.xml" Id="Ra21670ab264145c5" /><Relationship Type="http://schemas.openxmlformats.org/officeDocument/2006/relationships/slide" Target="/ppt/slides/slide13.xml" Id="Ra2b537bd89194664" /><Relationship Type="http://schemas.openxmlformats.org/officeDocument/2006/relationships/slide" Target="/ppt/slides/slide14.xml" Id="Rc6917509f749481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69cf55b4442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b25a450bf4483e" /><Relationship Type="http://schemas.openxmlformats.org/officeDocument/2006/relationships/slideLayout" Target="/ppt/slideLayouts/slideLayout1.xml" Id="R2f6ce9c39de14b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6ce9c39de14b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7355beed241c0" /><Relationship Type="http://schemas.openxmlformats.org/officeDocument/2006/relationships/image" Target="/ppt/media/image.jpeg" Id="R86a69dc29c4644ad" /><Relationship Type="http://schemas.openxmlformats.org/officeDocument/2006/relationships/image" Target="/ppt/media/image.png" Id="R559f2762cd2b4d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36cfcb2fc4d2c" /><Relationship Type="http://schemas.openxmlformats.org/officeDocument/2006/relationships/image" Target="/ppt/media/image2.png" Id="R3ffab04fee464a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d7bf255934570" /><Relationship Type="http://schemas.openxmlformats.org/officeDocument/2006/relationships/image" Target="/ppt/media/image3.png" Id="Rb76d5bdd218d4d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16cfb551c476f" /><Relationship Type="http://schemas.openxmlformats.org/officeDocument/2006/relationships/image" Target="/ppt/media/image4.png" Id="R79ed6a5e176a40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d86eedfd1402e" /><Relationship Type="http://schemas.openxmlformats.org/officeDocument/2006/relationships/image" Target="/ppt/media/image5.png" Id="R9ba3d7d29e7448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50ce01dbf497b" /><Relationship Type="http://schemas.openxmlformats.org/officeDocument/2006/relationships/image" Target="/ppt/media/image6.png" Id="Rb4ff737e8fde45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b1b6da3934b7d" /><Relationship Type="http://schemas.openxmlformats.org/officeDocument/2006/relationships/image" Target="/ppt/media/image7.png" Id="R5da1e5d1ac4442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3323767dd4335" /><Relationship Type="http://schemas.openxmlformats.org/officeDocument/2006/relationships/image" Target="/ppt/media/image8.png" Id="R923310fddb0549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646a8eded4e0d" /><Relationship Type="http://schemas.openxmlformats.org/officeDocument/2006/relationships/image" Target="/ppt/media/image9.png" Id="R358ca8db6e1546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a68779d4f456a" /><Relationship Type="http://schemas.openxmlformats.org/officeDocument/2006/relationships/image" Target="/ppt/media/image10.png" Id="R9b75c9bea68846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2fc6a8dc34ea2" /><Relationship Type="http://schemas.openxmlformats.org/officeDocument/2006/relationships/image" Target="/ppt/media/image2.jpeg" Id="R576c8c7bfea740c5" /><Relationship Type="http://schemas.openxmlformats.org/officeDocument/2006/relationships/image" Target="/ppt/media/image11.png" Id="Rc4a45cc28b724c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971755425416b" /><Relationship Type="http://schemas.openxmlformats.org/officeDocument/2006/relationships/image" Target="/ppt/media/image12.png" Id="Rc16b1a769e534b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f4c63223545b7" /><Relationship Type="http://schemas.openxmlformats.org/officeDocument/2006/relationships/image" Target="/ppt/media/image13.png" Id="R44bfd93341ec46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0fa20d5a4477e" /><Relationship Type="http://schemas.openxmlformats.org/officeDocument/2006/relationships/image" Target="/ppt/media/image3.jpeg" Id="Rc105903ddce34ce1" /><Relationship Type="http://schemas.openxmlformats.org/officeDocument/2006/relationships/image" Target="/ppt/media/image14.png" Id="R56050c6fd96e4b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cove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69dc29c4644ad"/>
          <a:srcRect xmlns:a="http://schemas.openxmlformats.org/drawingml/2006/main" l="29938" t="0" r="299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over-photo-rule">
            <a:extLst xmlns:a="http://schemas.openxmlformats.org/drawingml/2006/main">
              <a:ext uri="{FF2B5EF4-FFF2-40B4-BE49-F238E27FC236}">
                <a16:creationId xmlns:a16="http://schemas.microsoft.com/office/drawing/2014/main" id="{196D2D1B-F38F-4C3D-A5B8-CF778EBE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3" name="cover-photo-tab">
            <a:extLst xmlns:a="http://schemas.openxmlformats.org/drawingml/2006/main">
              <a:ext uri="{FF2B5EF4-FFF2-40B4-BE49-F238E27FC236}">
                <a16:creationId xmlns:a16="http://schemas.microsoft.com/office/drawing/2014/main" id="{65CE4C12-15E8-484C-8951-65FCDE6E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210550"/>
            <a:ext cx="1809750" cy="247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cover-rail">
            <a:extLst xmlns:a="http://schemas.openxmlformats.org/drawingml/2006/main">
              <a:ext uri="{FF2B5EF4-FFF2-40B4-BE49-F238E27FC236}">
                <a16:creationId xmlns:a16="http://schemas.microsoft.com/office/drawing/2014/main" id="{AF0D77F2-11BF-4B6E-B91D-2BC66EF0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0"/>
            <a:ext cx="3333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f2762cd2b4db8"/>
          <a:stretch xmlns:a="http://schemas.openxmlformats.org/drawingml/2006/main"/>
        </p:blipFill>
        <p:spPr>
          <a:xfrm xmlns:a="http://schemas.openxmlformats.org/drawingml/2006/main">
            <a:off x="7000875" y="62648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" name="cover-brand">
            <a:extLst xmlns:a="http://schemas.openxmlformats.org/drawingml/2006/main">
              <a:ext uri="{FF2B5EF4-FFF2-40B4-BE49-F238E27FC236}">
                <a16:creationId xmlns:a16="http://schemas.microsoft.com/office/drawing/2014/main" id="{1FAAF56C-105F-4596-8A6C-0C3DF0A7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66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7" name="cover-program">
            <a:extLst xmlns:a="http://schemas.openxmlformats.org/drawingml/2006/main">
              <a:ext uri="{FF2B5EF4-FFF2-40B4-BE49-F238E27FC236}">
                <a16:creationId xmlns:a16="http://schemas.microsoft.com/office/drawing/2014/main" id="{8FE672E8-599C-4EA5-9C33-3442748C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9715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 · 2026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7A19A01-D2D5-4788-BFCF-9A095717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57450"/>
            <a:ext cx="971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Python, Pandas</a:t>
            </a:r>
          </a:p>
          <a:p xmlns:a="http://schemas.openxmlformats.org/drawingml/2006/main">
            <a:pPr algn="l">
              <a:def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y </a:t>
            </a:r>
            <a:r>
              <a: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EDA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921EC367-65C1-41B2-93A2-FA1FA8D2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67375"/>
            <a:ext cx="881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10" name="cover-question-label">
            <a:extLst xmlns:a="http://schemas.openxmlformats.org/drawingml/2006/main">
              <a:ext uri="{FF2B5EF4-FFF2-40B4-BE49-F238E27FC236}">
                <a16:creationId xmlns:a16="http://schemas.microsoft.com/office/drawing/2014/main" id="{27039FE4-51D1-4AED-9833-5569035C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PREGUNTA DE APERTURA</a:t>
            </a:r>
          </a:p>
        </p:txBody>
      </p:sp>
      <p:sp>
        <p:nvSpPr>
          <p:cNvPr id="11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DD67C2DF-37FB-46CA-A30E-5D893791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4960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5E5E5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5E5E5"/>
                </a:solidFill>
                <a:latin typeface="Telegraf"/>
                <a:ea typeface="Telegraf"/>
                <a:cs typeface="Telegraf"/>
              </a:rPr>
              <a:t>¿Cómo leer, adaptar y controlar un análisis reproducible?</a:t>
            </a:r>
          </a:p>
        </p:txBody>
      </p:sp>
      <p:sp>
        <p:nvSpPr>
          <p:cNvPr id="12" name="cover-unit">
            <a:extLst xmlns:a="http://schemas.openxmlformats.org/drawingml/2006/main">
              <a:ext uri="{FF2B5EF4-FFF2-40B4-BE49-F238E27FC236}">
                <a16:creationId xmlns:a16="http://schemas.microsoft.com/office/drawing/2014/main" id="{43C4C393-6F16-4F34-8CEC-7DFB291D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3" name="cover-unit-text">
            <a:extLst xmlns:a="http://schemas.openxmlformats.org/drawingml/2006/main">
              <a:ext uri="{FF2B5EF4-FFF2-40B4-BE49-F238E27FC236}">
                <a16:creationId xmlns:a16="http://schemas.microsoft.com/office/drawing/2014/main" id="{759F514C-388A-4310-BEF5-27BDFFFD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UNIDAD 5</a:t>
            </a:r>
          </a:p>
        </p:txBody>
      </p:sp>
      <p:sp>
        <p:nvSpPr>
          <p:cNvPr id="14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CA15EFF4-928D-44A6-A93A-4A96DAE2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4486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0D0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0D0D0"/>
                </a:solidFill>
                <a:latin typeface="Telegraf"/>
                <a:ea typeface="Telegraf"/>
                <a:cs typeface="Telegraf"/>
              </a:rPr>
              <a:t>Análisis de Datos</a:t>
            </a:r>
          </a:p>
        </p:txBody>
      </p:sp>
    </p:spTree>
    <p:extLst>
      <p:ext uri="{BB962C8B-B14F-4D97-AF65-F5344CB8AC3E}">
        <p14:creationId xmlns:p14="http://schemas.microsoft.com/office/powerpoint/2010/main" val="20683053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056E1EB4-B643-4E3A-AA35-A59D2F65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EC0D30DC-1630-446D-AE8D-9CDAC660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93529C23-CBF6-4A15-8665-AF8FD5F7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ab04fee464a67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57D78F58-09E4-4CF6-9C44-DD8C6DAD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A5FABA42-DB9D-4319-8064-487213E5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F4C8578A-A746-4D08-80A8-1F08FC52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25685AF1-5F9E-4D1C-AA1D-A02E7F44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 notebook combina código, resultados y estado de ejecución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F7066B48-E641-4A5D-AC88-48A7734D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3BF88AF3-B24C-4B65-A99C-3322DCC1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BB9D2509-62FF-46EF-98B6-2D109EED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C9189492-A815-4ADD-8C9D-47E2458E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C7374B07-9F8B-48F3-91DE-688F2BAC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1BADE910-DA69-496D-980C-9E3BA866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6A15A477-B358-488F-8E82-55C7D459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ENTORNO · NOTEBOOK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83A8A64F-84CF-4943-BDB1-60BE6CAD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statement-body">
            <a:extLst xmlns:a="http://schemas.openxmlformats.org/drawingml/2006/main">
              <a:ext uri="{FF2B5EF4-FFF2-40B4-BE49-F238E27FC236}">
                <a16:creationId xmlns:a16="http://schemas.microsoft.com/office/drawing/2014/main" id="{34FDF26D-296A-4A40-8E7B-D960D168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38550"/>
            <a:ext cx="1447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30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La secuencia de celdas forma parte del análisis. Reiniciar y ejecutar desde el comienzo verifica que todas las dependencias estén declaradas.</a:t>
            </a:r>
          </a:p>
        </p:txBody>
      </p:sp>
      <p:sp>
        <p:nvSpPr>
          <p:cNvPr id="18" name="statement-callout">
            <a:extLst xmlns:a="http://schemas.openxmlformats.org/drawingml/2006/main">
              <a:ext uri="{FF2B5EF4-FFF2-40B4-BE49-F238E27FC236}">
                <a16:creationId xmlns:a16="http://schemas.microsoft.com/office/drawing/2014/main" id="{52C261BD-4666-475B-9B49-B4A39167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91250"/>
            <a:ext cx="10477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4F81BD"/>
            </a:solidFill>
            <a:prstDash val="solid"/>
          </a:ln>
        </p:spPr>
      </p:sp>
      <p:sp>
        <p:nvSpPr>
          <p:cNvPr id="19" name="statement-callout-text">
            <a:extLst xmlns:a="http://schemas.openxmlformats.org/drawingml/2006/main">
              <a:ext uri="{FF2B5EF4-FFF2-40B4-BE49-F238E27FC236}">
                <a16:creationId xmlns:a16="http://schemas.microsoft.com/office/drawing/2014/main" id="{B196DD9E-A3BC-49E2-9C2A-22315D90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34125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La última salida visible puede provenir de un estado anterior.</a:t>
            </a:r>
          </a:p>
        </p:txBody>
      </p:sp>
    </p:spTree>
    <p:extLst>
      <p:ext uri="{BB962C8B-B14F-4D97-AF65-F5344CB8AC3E}">
        <p14:creationId xmlns:p14="http://schemas.microsoft.com/office/powerpoint/2010/main" val="20374438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ACF6C6AF-E620-4FD7-AEED-A3CB0BEC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A4E67D15-3269-4676-A589-07612828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72F21765-7D26-419C-98E3-9E2BBAC5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5bdd218d4d1f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605F271F-1C55-4D9C-9A10-CB8B379D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635AC42D-79C2-459D-87C3-D11352B3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DA184FA9-481C-477D-A115-4A05FD0D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1E5C85EE-FB9D-407A-8095-8D15E009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Cada celda se trabaja con un ciclo de lectura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80F7FA5E-5A24-4A62-B192-2CB1BE0D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131ADF44-94C6-4D75-A103-6A2A1D5C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FBBE51F4-EE5F-4019-8DB0-C7187059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D770D145-7F68-4A6C-AC51-DD5E8385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3EF5A8D1-6B08-4972-A666-4D63BFC7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73E0D6C2-D535-4E71-8D40-F3307E7D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8B7B35BE-2F61-46BC-9A8C-C4697493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MÉTODO · DEMOSTRACIÓN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14AAB08B-BA63-4716-8957-FC5C9E0C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7E7DF7E1-7668-4A52-96EB-5607C2CB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7982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18" name="flow-step-0">
            <a:extLst xmlns:a="http://schemas.openxmlformats.org/drawingml/2006/main">
              <a:ext uri="{FF2B5EF4-FFF2-40B4-BE49-F238E27FC236}">
                <a16:creationId xmlns:a16="http://schemas.microsoft.com/office/drawing/2014/main" id="{556B9606-19A5-403E-8FC2-2DEF7795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9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E6279FBD-912B-470E-91AA-DECD65BA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0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BDBED312-27A8-4522-918B-E5EF0EC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1" name="flow-head-0">
            <a:extLst xmlns:a="http://schemas.openxmlformats.org/drawingml/2006/main">
              <a:ext uri="{FF2B5EF4-FFF2-40B4-BE49-F238E27FC236}">
                <a16:creationId xmlns:a16="http://schemas.microsoft.com/office/drawing/2014/main" id="{E723C4B2-43C6-476A-91ED-B163968E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Leer</a:t>
            </a:r>
          </a:p>
        </p:txBody>
      </p:sp>
      <p:sp>
        <p:nvSpPr>
          <p:cNvPr id="2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516A4113-7114-455E-AFDE-7CA2D865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identificar entradas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8F147B23-F479-4813-AAFA-31BFA5EF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50000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2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00DCFF6A-9C07-4F49-A7C2-4F6663B6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5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99533E18-BD67-412B-8C93-43D03FD6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001A3A43-45E0-4695-AE54-732085A6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9892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7" name="flow-head-1">
            <a:extLst xmlns:a="http://schemas.openxmlformats.org/drawingml/2006/main">
              <a:ext uri="{FF2B5EF4-FFF2-40B4-BE49-F238E27FC236}">
                <a16:creationId xmlns:a16="http://schemas.microsoft.com/office/drawing/2014/main" id="{FECF6F95-3124-45DA-8D49-9D8D4648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2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Predecir</a:t>
            </a:r>
          </a:p>
        </p:txBody>
      </p:sp>
      <p:sp>
        <p:nvSpPr>
          <p:cNvPr id="2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955E993C-B9BB-4B9E-8E24-FD57C036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2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anticipar salida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4EF6D533-2A78-46DF-A5FD-4E128435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2017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52402FF2-4344-45E5-A195-2205943A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1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55B14574-DBA0-4B50-98A2-1A5D2AB6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2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609A7923-CAFF-4682-8CFF-C854F5E6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910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3" name="flow-head-2">
            <a:extLst xmlns:a="http://schemas.openxmlformats.org/drawingml/2006/main">
              <a:ext uri="{FF2B5EF4-FFF2-40B4-BE49-F238E27FC236}">
                <a16:creationId xmlns:a16="http://schemas.microsoft.com/office/drawing/2014/main" id="{B611A4EF-5F27-4CAB-95D7-586F5FF6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Ejecutar</a:t>
            </a:r>
          </a:p>
        </p:txBody>
      </p:sp>
      <p:sp>
        <p:nvSpPr>
          <p:cNvPr id="3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50FAAADA-0410-4AC2-80F5-799F7FB8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observar evidencia</a:t>
            </a:r>
          </a:p>
        </p:txBody>
      </p:sp>
      <p:sp>
        <p:nvSpPr>
          <p:cNvPr id="35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622D74CE-C07A-4A95-AEF3-4011224C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690350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6" name="flow-step-3">
            <a:extLst xmlns:a="http://schemas.openxmlformats.org/drawingml/2006/main">
              <a:ext uri="{FF2B5EF4-FFF2-40B4-BE49-F238E27FC236}">
                <a16:creationId xmlns:a16="http://schemas.microsoft.com/office/drawing/2014/main" id="{BE7A7AE6-D71F-48F2-BB6E-D19998D8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7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48DB7AB6-2C1A-48B6-BC87-ACB0F040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8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FAFE6F0F-4571-48D2-B48E-7A916C60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3927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9" name="flow-head-3">
            <a:extLst xmlns:a="http://schemas.openxmlformats.org/drawingml/2006/main">
              <a:ext uri="{FF2B5EF4-FFF2-40B4-BE49-F238E27FC236}">
                <a16:creationId xmlns:a16="http://schemas.microsoft.com/office/drawing/2014/main" id="{DB84DB91-5952-4619-B0F1-51492183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Explicar</a:t>
            </a:r>
          </a:p>
        </p:txBody>
      </p:sp>
      <p:sp>
        <p:nvSpPr>
          <p:cNvPr id="4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97596F6A-7169-4546-9323-3D6AC1CE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vincular con el grano</a:t>
            </a:r>
          </a:p>
        </p:txBody>
      </p:sp>
      <p:sp>
        <p:nvSpPr>
          <p:cNvPr id="41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641B2BF9-0FAD-446C-B4AF-8559EFD5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6052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42" name="flow-step-4">
            <a:extLst xmlns:a="http://schemas.openxmlformats.org/drawingml/2006/main">
              <a:ext uri="{FF2B5EF4-FFF2-40B4-BE49-F238E27FC236}">
                <a16:creationId xmlns:a16="http://schemas.microsoft.com/office/drawing/2014/main" id="{EC6F2605-CF83-4926-B115-642F7628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3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FD30DB41-9903-4C1E-A589-C28D5602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44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400F8308-6AFD-4211-A540-4F6DF052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0945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45" name="flow-head-4">
            <a:extLst xmlns:a="http://schemas.openxmlformats.org/drawingml/2006/main">
              <a:ext uri="{FF2B5EF4-FFF2-40B4-BE49-F238E27FC236}">
                <a16:creationId xmlns:a16="http://schemas.microsoft.com/office/drawing/2014/main" id="{2AFA7E0E-9D06-4062-AA59-B8975E5D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Modificar</a:t>
            </a:r>
          </a:p>
        </p:txBody>
      </p:sp>
      <p:sp>
        <p:nvSpPr>
          <p:cNvPr id="46" name="flow-body-4">
            <a:extLst xmlns:a="http://schemas.openxmlformats.org/drawingml/2006/main">
              <a:ext uri="{FF2B5EF4-FFF2-40B4-BE49-F238E27FC236}">
                <a16:creationId xmlns:a16="http://schemas.microsoft.com/office/drawing/2014/main" id="{CFB20160-2820-4B56-A499-C9A1FF91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cambiar una regla</a:t>
            </a:r>
          </a:p>
        </p:txBody>
      </p:sp>
      <p:sp>
        <p:nvSpPr>
          <p:cNvPr id="47" name="flow-step-5">
            <a:extLst xmlns:a="http://schemas.openxmlformats.org/drawingml/2006/main">
              <a:ext uri="{FF2B5EF4-FFF2-40B4-BE49-F238E27FC236}">
                <a16:creationId xmlns:a16="http://schemas.microsoft.com/office/drawing/2014/main" id="{0080EAD5-D7B7-49A4-AE79-6E6D3B9E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912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8" name="flow-index-5">
            <a:extLst xmlns:a="http://schemas.openxmlformats.org/drawingml/2006/main">
              <a:ext uri="{FF2B5EF4-FFF2-40B4-BE49-F238E27FC236}">
                <a16:creationId xmlns:a16="http://schemas.microsoft.com/office/drawing/2014/main" id="{78EFCE57-9D5B-43FF-850E-946FEAD7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57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06</a:t>
            </a:r>
          </a:p>
        </p:txBody>
      </p:sp>
      <p:sp>
        <p:nvSpPr>
          <p:cNvPr id="49" name="flow-card-rule-5">
            <a:extLst xmlns:a="http://schemas.openxmlformats.org/drawingml/2006/main">
              <a:ext uri="{FF2B5EF4-FFF2-40B4-BE49-F238E27FC236}">
                <a16:creationId xmlns:a16="http://schemas.microsoft.com/office/drawing/2014/main" id="{A358EB84-CB49-4C11-8B55-A342F730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7962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0" name="flow-head-5">
            <a:extLst xmlns:a="http://schemas.openxmlformats.org/drawingml/2006/main">
              <a:ext uri="{FF2B5EF4-FFF2-40B4-BE49-F238E27FC236}">
                <a16:creationId xmlns:a16="http://schemas.microsoft.com/office/drawing/2014/main" id="{3CA12AFC-7B2A-433C-A96C-9CAD5120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62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Controlar</a:t>
            </a:r>
          </a:p>
        </p:txBody>
      </p:sp>
      <p:sp>
        <p:nvSpPr>
          <p:cNvPr id="51" name="flow-body-5">
            <a:extLst xmlns:a="http://schemas.openxmlformats.org/drawingml/2006/main">
              <a:ext uri="{FF2B5EF4-FFF2-40B4-BE49-F238E27FC236}">
                <a16:creationId xmlns:a16="http://schemas.microsoft.com/office/drawing/2014/main" id="{C7765F2C-A66E-4515-BAF0-2FD791A6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62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reconciliar resultado</a:t>
            </a:r>
          </a:p>
        </p:txBody>
      </p:sp>
      <p:sp>
        <p:nvSpPr>
          <p:cNvPr id="52" name="flow-cycle">
            <a:extLst xmlns:a="http://schemas.openxmlformats.org/drawingml/2006/main">
              <a:ext uri="{FF2B5EF4-FFF2-40B4-BE49-F238E27FC236}">
                <a16:creationId xmlns:a16="http://schemas.microsoft.com/office/drawing/2014/main" id="{F13BDE3A-DC83-4859-98B5-F51DDC6C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468562" y="6572250"/>
            <a:ext cx="1335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53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BF3E1AF2-986D-46F6-B013-DE622157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54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01885757-6430-487B-A30E-CF15F5DB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 error se registra y se interpreta antes de editar.</a:t>
            </a:r>
          </a:p>
        </p:txBody>
      </p:sp>
    </p:spTree>
    <p:extLst>
      <p:ext uri="{BB962C8B-B14F-4D97-AF65-F5344CB8AC3E}">
        <p14:creationId xmlns:p14="http://schemas.microsoft.com/office/powerpoint/2010/main" val="18428072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78D504F6-7B90-4058-BA8F-9A9D62A0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E12663C4-87BE-4227-8712-640531C2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0A0079B4-019E-4800-9930-A59D296B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d6a5e176a4029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1E288FE5-D82B-4A3A-B5C2-EDE203A7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541831D6-9316-4318-B98F-CC6961B1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4669969E-2E77-45ED-8706-B838E867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96191C98-513D-4018-9361-19884116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Pocas construcciones permiten leer gran parte del código analítico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7AABC9A7-D38A-4580-A736-6A5E12EB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042665D2-26EC-4647-ABA6-630EBC9E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59434329-9E2E-48DB-9872-DD91FC41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81DE6A93-65CA-4601-9772-B60BF0BA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569D43F2-C030-467F-A835-8A7E0452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A69BBF4F-B3E2-401F-A2B3-877B0D2E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BDC06355-8B01-43F3-9B78-9C991D60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PYTHON · VOCABULARIO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9F184307-1AF7-4EF5-AC71-42C48181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055BB3C0-E644-4DE8-94FA-3B9A8905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838700"/>
          </a:xfrm>
          <a:prstGeom xmlns:a="http://schemas.openxmlformats.org/drawingml/2006/main" prst="roundRect">
            <a:avLst>
              <a:gd name="adj" fmla="val 35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86912"/>
                <a:gridCol w="5388864"/>
                <a:gridCol w="6973824"/>
              </a:tblGrid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Construcción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Ejemplo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Función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variable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ventas = 1250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nombrar un valor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lista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regiones = [...]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ordenar elementos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función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calcular_margen(x)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reutilizar una regla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condición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if venta &gt; 0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elegir un camino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método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df.head()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actuar sobre un objeto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009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B6E3FC3D-D9B3-44F1-96FA-C9BA9022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A1FB9ECA-98DE-4353-A3F4-2BA4CB46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2EBA21BF-3E47-4DB2-B2F6-6031D27A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3d7d29e7448ac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B2A9AE1C-7B93-4F78-913A-DB9F2620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FC8F766E-597F-4436-A1C6-7D9E48A7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A6A5D1E1-6E38-4F91-9972-2A61E173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2AEDC887-4C2A-4F18-BEF9-E43EFD8A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Tipos distintos admiten operaciones distintas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90847195-865A-4FED-B089-5FF8DA2F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D6003ABB-014C-49AE-A5C2-6A1A830F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7021C474-E870-489B-95DF-E2B97863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2186CF30-B2E4-43C3-A831-942AE3EC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F3062382-3813-4B9A-8739-4F241578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4D27254C-76DD-4BB5-A2CD-774D540B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EF159EB9-13DA-4EC0-AA9C-64BD9E82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PYTHON · EJECUCIÓN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F5B0DE69-5D9D-45BA-91DE-85B35246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de-panel">
            <a:extLst xmlns:a="http://schemas.openxmlformats.org/drawingml/2006/main">
              <a:ext uri="{FF2B5EF4-FFF2-40B4-BE49-F238E27FC236}">
                <a16:creationId xmlns:a16="http://schemas.microsoft.com/office/drawing/2014/main" id="{A92C7D96-9645-446B-86A7-1AC868A1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8" name="code-text">
            <a:extLst xmlns:a="http://schemas.openxmlformats.org/drawingml/2006/main">
              <a:ext uri="{FF2B5EF4-FFF2-40B4-BE49-F238E27FC236}">
                <a16:creationId xmlns:a16="http://schemas.microsoft.com/office/drawing/2014/main" id="{FF199441-F7ED-4B26-961B-18DB2700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pedido = "O-1042"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unidades = 7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precio = 18450.0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entregado = True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venta = unidades * precio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print(pedido, venta)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905250"/>
              </a:tblGrid>
              <a:tr h="77390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Salida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O-1042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str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129150.0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float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bool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sult-panel">
            <a:extLst xmlns:a="http://schemas.openxmlformats.org/drawingml/2006/main">
              <a:ext uri="{FF2B5EF4-FFF2-40B4-BE49-F238E27FC236}">
                <a16:creationId xmlns:a16="http://schemas.microsoft.com/office/drawing/2014/main" id="{B9B2A95D-63BD-4C52-8C2D-522E7958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62300"/>
            <a:ext cx="8153400" cy="3438525"/>
          </a:xfrm>
          <a:prstGeom xmlns:a="http://schemas.openxmlformats.org/drawingml/2006/main" prst="roundRect">
            <a:avLst>
              <a:gd name="adj" fmla="val 49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1" name="code-note">
            <a:extLst xmlns:a="http://schemas.openxmlformats.org/drawingml/2006/main">
              <a:ext uri="{FF2B5EF4-FFF2-40B4-BE49-F238E27FC236}">
                <a16:creationId xmlns:a16="http://schemas.microsoft.com/office/drawing/2014/main" id="{5B133070-EFD8-4308-AF74-DD05ABAC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3342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Leer el tipo ayuda a anticipar conversiones y errores.</a:t>
            </a:r>
          </a:p>
        </p:txBody>
      </p:sp>
    </p:spTree>
    <p:extLst>
      <p:ext uri="{BB962C8B-B14F-4D97-AF65-F5344CB8AC3E}">
        <p14:creationId xmlns:p14="http://schemas.microsoft.com/office/powerpoint/2010/main" val="16993921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2638820F-5473-494B-9E07-BC6C1797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004C9B73-D67E-45C5-B8CC-B7596A0A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E073D1B8-62CD-4CB3-BC1E-1AC18AA2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f737e8fde4575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5D2DA26B-7722-4838-8ECE-EFF8E3AE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DD38BCB6-9B17-43D9-867E-B58849C0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33D58AC8-9362-4FFC-997C-44DC4E68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CD067DFB-20EB-4FFD-B762-7A009EC6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 DataFrame conserva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grano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, columnas y tipos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C212CE76-89CC-4B09-9196-C6F8435B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77B91294-BBB5-470F-97E7-C5304AF5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1F5EA55B-0724-470B-88C7-82FF2533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B4982F9C-D588-448B-9233-EE1DDA97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1AA9C933-BA40-4B86-9C8E-70796F65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4A8C33AE-805F-4773-9BEB-76F71293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A9999E55-7B47-45C5-9312-B26BBAA9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PANDAS · MODELO MENTAL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66663D6D-5264-46A1-AE05-5893B9FA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51E72742-D3AC-49B7-8ABB-209E7CC8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8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9E9D1788-2890-439B-9344-96FF27AC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19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6D0FC6AB-258A-4690-A127-6FC2D435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0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CAFC11E1-E746-445B-B2B3-D7382D93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Grano</a:t>
            </a:r>
          </a:p>
        </p:txBody>
      </p:sp>
      <p:sp>
        <p:nvSpPr>
          <p:cNvPr id="21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9EF74D24-2840-4A82-852C-D4F00F68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una línea de pedido</a:t>
            </a:r>
          </a:p>
        </p:txBody>
      </p:sp>
      <p:sp>
        <p:nvSpPr>
          <p:cNvPr id="22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439EBA54-F363-4AB6-AAB9-4CB4246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3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75BBED3A-8EFE-48EC-990A-B80C4815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4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E2CCCA57-4911-459F-97CA-6E724616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5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8AADC622-E275-4CB1-84DC-A84F937B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Filas</a:t>
            </a:r>
          </a:p>
        </p:txBody>
      </p:sp>
      <p:sp>
        <p:nvSpPr>
          <p:cNvPr id="26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F02F0E46-203E-4880-9941-0FD72582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observaciones</a:t>
            </a:r>
          </a:p>
        </p:txBody>
      </p:sp>
      <p:sp>
        <p:nvSpPr>
          <p:cNvPr id="27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58EE3599-FDD7-42A9-95DC-CB719DB6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8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6449BA06-D3B7-491C-A00E-13B8B1D3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29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62400E92-FD64-4557-93B9-36964643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412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0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AD749AD9-F1A8-474C-AF33-5B5B4217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Columnas</a:t>
            </a:r>
          </a:p>
        </p:txBody>
      </p:sp>
      <p:sp>
        <p:nvSpPr>
          <p:cNvPr id="31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E47F7150-8C5C-48E6-B53C-CD714DD1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atributos y medidas</a:t>
            </a:r>
          </a:p>
        </p:txBody>
      </p:sp>
      <p:sp>
        <p:nvSpPr>
          <p:cNvPr id="32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AF9373D6-1048-4DD6-A741-4D43B509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3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FD6DF811-FDF8-4706-A2D5-1AE504F0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4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B65429E8-A1AD-4489-9CC0-C6E54FDA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5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AE7F5660-8125-4184-8657-BF69CB28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Índice</a:t>
            </a:r>
          </a:p>
        </p:txBody>
      </p:sp>
      <p:sp>
        <p:nvSpPr>
          <p:cNvPr id="36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7B1197B9-040E-4116-A332-656B1797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posición o etiqueta</a:t>
            </a:r>
          </a:p>
        </p:txBody>
      </p:sp>
      <p:sp>
        <p:nvSpPr>
          <p:cNvPr id="37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C7B735E2-A52F-4C84-A3D6-360A4B58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8" name="worked-number-4">
            <a:extLst xmlns:a="http://schemas.openxmlformats.org/drawingml/2006/main">
              <a:ext uri="{FF2B5EF4-FFF2-40B4-BE49-F238E27FC236}">
                <a16:creationId xmlns:a16="http://schemas.microsoft.com/office/drawing/2014/main" id="{121225ED-B7E7-466E-B072-265AD590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39" name="worked-rule-4">
            <a:extLst xmlns:a="http://schemas.openxmlformats.org/drawingml/2006/main">
              <a:ext uri="{FF2B5EF4-FFF2-40B4-BE49-F238E27FC236}">
                <a16:creationId xmlns:a16="http://schemas.microsoft.com/office/drawing/2014/main" id="{D967BEF9-9400-4135-BD93-AF242D22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40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ED5F6116-44C8-4B55-9260-AFA3FEE6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Tipos</a:t>
            </a:r>
          </a:p>
        </p:txBody>
      </p:sp>
      <p:sp>
        <p:nvSpPr>
          <p:cNvPr id="41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AA1FB99F-F3F6-4493-B778-96E8AAA8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reglas posibles</a:t>
            </a:r>
          </a:p>
        </p:txBody>
      </p:sp>
      <p:sp>
        <p:nvSpPr>
          <p:cNvPr id="42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FE3FF255-1F3F-447C-B991-E7FA5C9D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96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La librería cambia la sintaxis; el modelo de datos conserva su importancia.</a:t>
            </a:r>
          </a:p>
        </p:txBody>
      </p:sp>
    </p:spTree>
    <p:extLst>
      <p:ext uri="{BB962C8B-B14F-4D97-AF65-F5344CB8AC3E}">
        <p14:creationId xmlns:p14="http://schemas.microsoft.com/office/powerpoint/2010/main" val="1008505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616490FA-AB77-437A-8289-B4BB3935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333BEB65-B5BB-496D-84D3-99220F2A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0D1C8397-DE96-429C-A497-FA6FCDE6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1e5d1ac444220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4514CEF-850F-4B91-A94E-54069D6F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3DD13FE2-44C0-4D7B-98FF-8991BB5B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F83D7B73-261F-43AB-B8DA-7EE99296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48A85A3F-A9B0-4178-A586-B3E12821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inspección ocurre antes de transformar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DCE7AF48-E922-4F95-A656-5D077060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B35B1961-DFAD-4661-A066-A4E4B037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F7A285EE-9B54-4AFD-96FB-5A4407AB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C4DA2139-9367-483A-A61D-19EC8AE4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C1F1FDA8-C14C-4A6D-AE2D-224801D4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780F6688-7E1A-463E-A64A-E6AABBD9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423D34AE-F12B-4F7B-A7F3-73C90946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PANDAS · PERFIL INICIAL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00914033-39E4-4226-9AFB-285CA021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de-panel">
            <a:extLst xmlns:a="http://schemas.openxmlformats.org/drawingml/2006/main">
              <a:ext uri="{FF2B5EF4-FFF2-40B4-BE49-F238E27FC236}">
                <a16:creationId xmlns:a16="http://schemas.microsoft.com/office/drawing/2014/main" id="{15413E9A-7924-4457-970B-CF76D600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8" name="code-text">
            <a:extLst xmlns:a="http://schemas.openxmlformats.org/drawingml/2006/main">
              <a:ext uri="{FF2B5EF4-FFF2-40B4-BE49-F238E27FC236}">
                <a16:creationId xmlns:a16="http://schemas.microsoft.com/office/drawing/2014/main" id="{EA155C3E-C961-469D-9FA6-E6682AD0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df.shape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df.head(3)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df.dtypes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df.isna().sum()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df.duplicated("order_line_id").sum()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905250"/>
              </a:tblGrid>
              <a:tr h="77390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shape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(8421, 14)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cost_unit nulos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227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claves duplicadas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sult-panel">
            <a:extLst xmlns:a="http://schemas.openxmlformats.org/drawingml/2006/main">
              <a:ext uri="{FF2B5EF4-FFF2-40B4-BE49-F238E27FC236}">
                <a16:creationId xmlns:a16="http://schemas.microsoft.com/office/drawing/2014/main" id="{B523EECA-6709-4828-B234-9FB71EE3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62300"/>
            <a:ext cx="8153400" cy="3438525"/>
          </a:xfrm>
          <a:prstGeom xmlns:a="http://schemas.openxmlformats.org/drawingml/2006/main" prst="roundRect">
            <a:avLst>
              <a:gd name="adj" fmla="val 49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1" name="code-note">
            <a:extLst xmlns:a="http://schemas.openxmlformats.org/drawingml/2006/main">
              <a:ext uri="{FF2B5EF4-FFF2-40B4-BE49-F238E27FC236}">
                <a16:creationId xmlns:a16="http://schemas.microsoft.com/office/drawing/2014/main" id="{BF3ABF32-7F90-4FB5-B53F-14EA0C8D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3342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Cada salida responde una pregunta sobre estructura, contenido o calidad.</a:t>
            </a:r>
          </a:p>
        </p:txBody>
      </p:sp>
    </p:spTree>
    <p:extLst>
      <p:ext uri="{BB962C8B-B14F-4D97-AF65-F5344CB8AC3E}">
        <p14:creationId xmlns:p14="http://schemas.microsoft.com/office/powerpoint/2010/main" val="181612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C3BB6830-959D-4F0F-BB17-61680574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6B28C614-B37D-4D82-9ACB-B47A60BB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13A2E023-BC69-4177-8A22-DB622137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310fddb054949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E350E1D2-2645-4CCE-8022-72847BB1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0B7B8B31-5D3F-4D0A-9A2D-F6A4CBEE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9FBB7184-5236-4614-AE5F-39FFA4FD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B8504CCE-72B5-470C-B049-FD12E990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Filtrar y derivar expresan reglas de negocio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34109781-F569-494D-B2D0-E1A596C0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26CFC3ED-E75C-4651-8B90-558DF7DB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02ED081A-4FB5-40E6-9336-690D01FD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5BF5CA53-951C-4F54-BDDE-67449AA1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272301C2-1B20-4D49-9C1E-5190E135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367107E1-B3CE-4B08-B5B2-AE8785C3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59A3D73E-0BB3-42FE-88FB-5D65849B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PANDAS · TRANSFORMACIÓN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E9B8D068-FCA8-432D-98A1-568D57A5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de-panel">
            <a:extLst xmlns:a="http://schemas.openxmlformats.org/drawingml/2006/main">
              <a:ext uri="{FF2B5EF4-FFF2-40B4-BE49-F238E27FC236}">
                <a16:creationId xmlns:a16="http://schemas.microsoft.com/office/drawing/2014/main" id="{68B41C87-E086-4DA9-A93D-DA3EA8E8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8" name="code-text">
            <a:extLst xmlns:a="http://schemas.openxmlformats.org/drawingml/2006/main">
              <a:ext uri="{FF2B5EF4-FFF2-40B4-BE49-F238E27FC236}">
                <a16:creationId xmlns:a16="http://schemas.microsoft.com/office/drawing/2014/main" id="{05A55F52-21F0-40B1-B373-F1375378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patagonia = df.loc[df["region"].eq("Patagonia")].copy()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patagonia["venta_neta"] = patagonia["cantidad"] * patagonia["precio_unitario"] * (1 - patagonia["descuento"])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3500"/>
                <a:gridCol w="2603500"/>
                <a:gridCol w="2603500"/>
              </a:tblGrid>
              <a:tr h="777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order_id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región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venta_neta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O-1042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Patagonia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$ 129.150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O-1051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Patagonia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$ 82.600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20" name="result-panel">
            <a:extLst xmlns:a="http://schemas.openxmlformats.org/drawingml/2006/main">
              <a:ext uri="{FF2B5EF4-FFF2-40B4-BE49-F238E27FC236}">
                <a16:creationId xmlns:a16="http://schemas.microsoft.com/office/drawing/2014/main" id="{E0D7B436-D7B3-4286-87D7-DADCC3DE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62300"/>
            <a:ext cx="8153400" cy="2676525"/>
          </a:xfrm>
          <a:prstGeom xmlns:a="http://schemas.openxmlformats.org/drawingml/2006/main" prst="roundRect">
            <a:avLst>
              <a:gd name="adj" fmla="val 64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1" name="code-note">
            <a:extLst xmlns:a="http://schemas.openxmlformats.org/drawingml/2006/main">
              <a:ext uri="{FF2B5EF4-FFF2-40B4-BE49-F238E27FC236}">
                <a16:creationId xmlns:a16="http://schemas.microsoft.com/office/drawing/2014/main" id="{2F98F015-51B2-4FC8-BCBB-D4368503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3342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copy() vuelve explícita la tabla que recibirá la nueva columna.</a:t>
            </a:r>
          </a:p>
        </p:txBody>
      </p:sp>
    </p:spTree>
    <p:extLst>
      <p:ext uri="{BB962C8B-B14F-4D97-AF65-F5344CB8AC3E}">
        <p14:creationId xmlns:p14="http://schemas.microsoft.com/office/powerpoint/2010/main" val="14439318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97CE1B9B-DD5F-434D-A52D-28C1C4D0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F6C20A5B-3415-43C5-8D3D-263A1792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0E25C717-13F4-449D-BD4A-F47A6F0A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ca8db6e154600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B327F0CD-8EA0-4E20-826F-7A5F1DD7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09C63619-B0AE-4F34-8835-BF0133A4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C8EE3A6F-515D-4538-B205-DCF0E82A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9AC3789B-1FB7-4764-8C5D-4FF9AD0C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groupby declara el nuevo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grano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de salida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4281B56A-FDA6-4BDE-AB64-71E55292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04131D9D-44EE-41AB-B811-EA156962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F67CEBAC-4925-4BFC-8A65-6840C939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93C0FBB9-DB8A-4CEE-AA5F-C8A75E26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9F3EE56B-88F6-4750-BD55-D6FAFB3C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5B3203EC-09DA-439B-9F87-912E0DC3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3ABC2746-B716-494B-B550-B7FE3F1A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PANDAS · AGREGACIÓN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2E259F57-8D39-4933-89A2-2DBA1355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de-panel">
            <a:extLst xmlns:a="http://schemas.openxmlformats.org/drawingml/2006/main">
              <a:ext uri="{FF2B5EF4-FFF2-40B4-BE49-F238E27FC236}">
                <a16:creationId xmlns:a16="http://schemas.microsoft.com/office/drawing/2014/main" id="{8340127B-FAA8-47E2-A85B-5F8E620F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8" name="code-text">
            <a:extLst xmlns:a="http://schemas.openxmlformats.org/drawingml/2006/main">
              <a:ext uri="{FF2B5EF4-FFF2-40B4-BE49-F238E27FC236}">
                <a16:creationId xmlns:a16="http://schemas.microsoft.com/office/drawing/2014/main" id="{BE24B3A4-4ACD-4FFC-992E-E290E9FF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resumen = (df.groupby("familia", as_index=False)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.agg(venta_neta=("venta_neta", "sum"), pedidos=("order_id", "nunique"))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.sort_values("venta_neta", ascending=False))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3500"/>
                <a:gridCol w="2603500"/>
                <a:gridCol w="2603500"/>
              </a:tblGrid>
              <a:tr h="77390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familia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venta_neta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pedidos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Bombas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$ 18,4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164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Válvulas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$ 12,1 M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231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Repuestos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$ 7,8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418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sult-panel">
            <a:extLst xmlns:a="http://schemas.openxmlformats.org/drawingml/2006/main">
              <a:ext uri="{FF2B5EF4-FFF2-40B4-BE49-F238E27FC236}">
                <a16:creationId xmlns:a16="http://schemas.microsoft.com/office/drawing/2014/main" id="{D50DAA15-88E9-4382-A1D4-137B00EE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62300"/>
            <a:ext cx="8153400" cy="3438525"/>
          </a:xfrm>
          <a:prstGeom xmlns:a="http://schemas.openxmlformats.org/drawingml/2006/main" prst="roundRect">
            <a:avLst>
              <a:gd name="adj" fmla="val 49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1" name="code-note">
            <a:extLst xmlns:a="http://schemas.openxmlformats.org/drawingml/2006/main">
              <a:ext uri="{FF2B5EF4-FFF2-40B4-BE49-F238E27FC236}">
                <a16:creationId xmlns:a16="http://schemas.microsoft.com/office/drawing/2014/main" id="{935ED076-C8F9-4A6D-9F9D-B29F47D8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3342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Una fila final representa una familia, aunque la entrada tenga una línea por producto.</a:t>
            </a:r>
          </a:p>
        </p:txBody>
      </p:sp>
    </p:spTree>
    <p:extLst>
      <p:ext uri="{BB962C8B-B14F-4D97-AF65-F5344CB8AC3E}">
        <p14:creationId xmlns:p14="http://schemas.microsoft.com/office/powerpoint/2010/main" val="15039086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ECA30947-BFF3-49A5-9600-02E7BCAE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FEBCD609-E975-45B8-90B5-B47A76ED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FBB78301-4CA2-4AAD-BD6C-206B9ADA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5c9bea688464f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91AE6B0A-6718-4552-88DA-82642F84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FC178DD8-42BE-437B-991B-4F9945DD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D91638FB-9632-42B6-BA65-270BE499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3012F2A1-113D-4598-B1F6-289A642E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Faltantes y outliers necesitan contexto de negocio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92EE934D-4BEE-4FB7-9A3B-CB84E374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612862E4-A206-45FE-ABD9-973ACC42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8511E80D-F526-4779-B7FB-18869885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22A55457-D339-4C9C-99FA-2731A147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125B000C-5F2D-40D7-B68F-56062816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4222D30A-BDED-4B1C-95B1-D29CEF45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3DBC9D6E-3C63-4527-A7BC-E3873817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EDA · INVESTIGACIÓN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2F97CB93-68B4-4153-9D71-0E989397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818982DB-3465-4837-93E1-2B9C6C2C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962400"/>
                <a:gridCol w="5864352"/>
                <a:gridCol w="6022848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Hallazgo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Pregunta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Tratamiento posible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costo nulo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¿producto nuevo o error?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imputar con fuente documentada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cantidad = 280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¿venta mayorista?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conservar y segmentar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descuento = 100 %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¿bonificación?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clasificar operación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fecha futura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¿promesa o carga?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corregir definición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22159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9E97F769-33B9-43F2-806C-2ACD94CD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FD2A8A5C-DBA4-4D2F-A7EE-C33988F2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6C0D5CEB-8309-4F49-9F7E-99887654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visual-feature-frame">
            <a:extLst xmlns:a="http://schemas.openxmlformats.org/drawingml/2006/main">
              <a:ext uri="{FF2B5EF4-FFF2-40B4-BE49-F238E27FC236}">
                <a16:creationId xmlns:a16="http://schemas.microsoft.com/office/drawing/2014/main" id="{7330283D-FBC5-40B6-AB52-31BD1C37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28625"/>
            <a:ext cx="25336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pic>
        <p:nvPicPr>
          <p:cNvPr id="44" name="visual-featur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c8c7bfea740c5"/>
          <a:srcRect xmlns:a="http://schemas.openxmlformats.org/drawingml/2006/main" l="0" t="17703" r="0" b="17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06700" y="523875"/>
            <a:ext cx="2343150" cy="100965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45cc28b724cd6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7C272523-1C6C-423A-BDA5-EB185D37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8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4950BD11-9919-48BE-950E-FE0898C1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9" name="visual-year">
            <a:extLst xmlns:a="http://schemas.openxmlformats.org/drawingml/2006/main">
              <a:ext uri="{FF2B5EF4-FFF2-40B4-BE49-F238E27FC236}">
                <a16:creationId xmlns:a16="http://schemas.microsoft.com/office/drawing/2014/main" id="{9072AA4F-25F3-400B-9227-BC96A741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1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95FC3739-FE10-440C-B0A6-FBE605B9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EDA conecta preguntas con cont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roles</a:t>
            </a:r>
          </a:p>
        </p:txBody>
      </p:sp>
      <p:sp>
        <p:nvSpPr>
          <p:cNvPr id="11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3A1716CD-ED10-43DB-804B-1AD85765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2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35576589-96B2-4BFE-A083-794B7513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3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D3B7104E-9861-4E98-80C2-58910601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4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79ED8431-0E1F-40E0-BCD1-14FA32C3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5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E44DC833-4A1B-4746-8F11-C232C837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6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B30C2C75-C9E6-4F8A-8278-ED83DBA7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7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47EAC708-F0EE-436A-A941-0EEB5104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PRÁCTICA · FARO SUR</a:t>
            </a:r>
          </a:p>
        </p:txBody>
      </p:sp>
      <p:sp>
        <p:nvSpPr>
          <p:cNvPr id="18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A2E0FD9C-2BB5-44D9-BE52-B47E01CC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9" name="case-box-0">
            <a:extLst xmlns:a="http://schemas.openxmlformats.org/drawingml/2006/main">
              <a:ext uri="{FF2B5EF4-FFF2-40B4-BE49-F238E27FC236}">
                <a16:creationId xmlns:a16="http://schemas.microsoft.com/office/drawing/2014/main" id="{4E4B41FF-4AFE-4DA3-9806-7B62C45C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0"/>
            <a:ext cx="3762375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0" name="case-index-0">
            <a:extLst xmlns:a="http://schemas.openxmlformats.org/drawingml/2006/main">
              <a:ext uri="{FF2B5EF4-FFF2-40B4-BE49-F238E27FC236}">
                <a16:creationId xmlns:a16="http://schemas.microsoft.com/office/drawing/2014/main" id="{6B4968B9-EED1-4744-8584-B5C0B103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1" name="case-rule-0">
            <a:extLst xmlns:a="http://schemas.openxmlformats.org/drawingml/2006/main">
              <a:ext uri="{FF2B5EF4-FFF2-40B4-BE49-F238E27FC236}">
                <a16:creationId xmlns:a16="http://schemas.microsoft.com/office/drawing/2014/main" id="{38602C5B-4EBC-4A63-B629-B4831E2B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7800" y="4524375"/>
            <a:ext cx="330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2" name="case-head-0">
            <a:extLst xmlns:a="http://schemas.openxmlformats.org/drawingml/2006/main">
              <a:ext uri="{FF2B5EF4-FFF2-40B4-BE49-F238E27FC236}">
                <a16:creationId xmlns:a16="http://schemas.microsoft.com/office/drawing/2014/main" id="{105CF117-EF47-40E0-8382-36825479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3305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Estructura</a:t>
            </a:r>
          </a:p>
        </p:txBody>
      </p:sp>
      <p:sp>
        <p:nvSpPr>
          <p:cNvPr id="23" name="case-body-0">
            <a:extLst xmlns:a="http://schemas.openxmlformats.org/drawingml/2006/main">
              <a:ext uri="{FF2B5EF4-FFF2-40B4-BE49-F238E27FC236}">
                <a16:creationId xmlns:a16="http://schemas.microsoft.com/office/drawing/2014/main" id="{6B65EDD2-6B66-4068-81C4-1CBB7925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24500"/>
            <a:ext cx="3305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¿qué representa una fila?</a:t>
            </a:r>
          </a:p>
        </p:txBody>
      </p:sp>
      <p:sp>
        <p:nvSpPr>
          <p:cNvPr id="24" name="case-box-1">
            <a:extLst xmlns:a="http://schemas.openxmlformats.org/drawingml/2006/main">
              <a:ext uri="{FF2B5EF4-FFF2-40B4-BE49-F238E27FC236}">
                <a16:creationId xmlns:a16="http://schemas.microsoft.com/office/drawing/2014/main" id="{450EEA75-DED6-4A68-A1B9-9ED4740A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619500"/>
            <a:ext cx="3762375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5" name="case-index-1">
            <a:extLst xmlns:a="http://schemas.openxmlformats.org/drawingml/2006/main">
              <a:ext uri="{FF2B5EF4-FFF2-40B4-BE49-F238E27FC236}">
                <a16:creationId xmlns:a16="http://schemas.microsoft.com/office/drawing/2014/main" id="{16D931BE-49C1-4D56-9003-6C1D70D5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case-rule-1">
            <a:extLst xmlns:a="http://schemas.openxmlformats.org/drawingml/2006/main">
              <a:ext uri="{FF2B5EF4-FFF2-40B4-BE49-F238E27FC236}">
                <a16:creationId xmlns:a16="http://schemas.microsoft.com/office/drawing/2014/main" id="{49B8C861-8E44-4215-9F21-83D5A742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76875" y="4524375"/>
            <a:ext cx="330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7" name="case-head-1">
            <a:extLst xmlns:a="http://schemas.openxmlformats.org/drawingml/2006/main">
              <a:ext uri="{FF2B5EF4-FFF2-40B4-BE49-F238E27FC236}">
                <a16:creationId xmlns:a16="http://schemas.microsoft.com/office/drawing/2014/main" id="{0C0E7CF0-4077-4CFF-BBAE-D0CA46D6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05350"/>
            <a:ext cx="3305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Distribución</a:t>
            </a:r>
          </a:p>
        </p:txBody>
      </p:sp>
      <p:sp>
        <p:nvSpPr>
          <p:cNvPr id="28" name="case-body-1">
            <a:extLst xmlns:a="http://schemas.openxmlformats.org/drawingml/2006/main">
              <a:ext uri="{FF2B5EF4-FFF2-40B4-BE49-F238E27FC236}">
                <a16:creationId xmlns:a16="http://schemas.microsoft.com/office/drawing/2014/main" id="{E520813E-2695-4E21-A842-D818FC86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24500"/>
            <a:ext cx="3305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¿dónde se concentra el valor?</a:t>
            </a:r>
          </a:p>
        </p:txBody>
      </p:sp>
      <p:sp>
        <p:nvSpPr>
          <p:cNvPr id="29" name="case-box-2">
            <a:extLst xmlns:a="http://schemas.openxmlformats.org/drawingml/2006/main">
              <a:ext uri="{FF2B5EF4-FFF2-40B4-BE49-F238E27FC236}">
                <a16:creationId xmlns:a16="http://schemas.microsoft.com/office/drawing/2014/main" id="{101C237B-66E9-48AF-A9FC-9DCDB9CF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19500"/>
            <a:ext cx="3762375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0" name="case-index-2">
            <a:extLst xmlns:a="http://schemas.openxmlformats.org/drawingml/2006/main">
              <a:ext uri="{FF2B5EF4-FFF2-40B4-BE49-F238E27FC236}">
                <a16:creationId xmlns:a16="http://schemas.microsoft.com/office/drawing/2014/main" id="{7722F05C-42C9-4686-8635-AA42CAB8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1" name="case-rule-2">
            <a:extLst xmlns:a="http://schemas.openxmlformats.org/drawingml/2006/main">
              <a:ext uri="{FF2B5EF4-FFF2-40B4-BE49-F238E27FC236}">
                <a16:creationId xmlns:a16="http://schemas.microsoft.com/office/drawing/2014/main" id="{229C3C61-301F-4039-967A-0567DE92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05950" y="4524375"/>
            <a:ext cx="330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2" name="case-head-2">
            <a:extLst xmlns:a="http://schemas.openxmlformats.org/drawingml/2006/main">
              <a:ext uri="{FF2B5EF4-FFF2-40B4-BE49-F238E27FC236}">
                <a16:creationId xmlns:a16="http://schemas.microsoft.com/office/drawing/2014/main" id="{A89A1C14-F48B-4026-8C80-A4A8F909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05350"/>
            <a:ext cx="3305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Calidad</a:t>
            </a:r>
          </a:p>
        </p:txBody>
      </p:sp>
      <p:sp>
        <p:nvSpPr>
          <p:cNvPr id="33" name="case-body-2">
            <a:extLst xmlns:a="http://schemas.openxmlformats.org/drawingml/2006/main">
              <a:ext uri="{FF2B5EF4-FFF2-40B4-BE49-F238E27FC236}">
                <a16:creationId xmlns:a16="http://schemas.microsoft.com/office/drawing/2014/main" id="{E3C1C1C7-A2AB-44A3-BDBA-D8BFA786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524500"/>
            <a:ext cx="3305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¿qué puede distorsionar?</a:t>
            </a:r>
          </a:p>
        </p:txBody>
      </p:sp>
      <p:sp>
        <p:nvSpPr>
          <p:cNvPr id="34" name="case-box-3">
            <a:extLst xmlns:a="http://schemas.openxmlformats.org/drawingml/2006/main">
              <a:ext uri="{FF2B5EF4-FFF2-40B4-BE49-F238E27FC236}">
                <a16:creationId xmlns:a16="http://schemas.microsoft.com/office/drawing/2014/main" id="{CCCF8846-D3E9-49F6-A0A3-6085761E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3619500"/>
            <a:ext cx="3762375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5" name="case-index-3">
            <a:extLst xmlns:a="http://schemas.openxmlformats.org/drawingml/2006/main">
              <a:ext uri="{FF2B5EF4-FFF2-40B4-BE49-F238E27FC236}">
                <a16:creationId xmlns:a16="http://schemas.microsoft.com/office/drawing/2014/main" id="{D77564D2-8B69-44F4-90AF-6A91CFF1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6" name="case-rule-3">
            <a:extLst xmlns:a="http://schemas.openxmlformats.org/drawingml/2006/main">
              <a:ext uri="{FF2B5EF4-FFF2-40B4-BE49-F238E27FC236}">
                <a16:creationId xmlns:a16="http://schemas.microsoft.com/office/drawing/2014/main" id="{C050F346-5838-46F2-8D4C-A64F2698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35025" y="4524375"/>
            <a:ext cx="330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7" name="case-head-3">
            <a:extLst xmlns:a="http://schemas.openxmlformats.org/drawingml/2006/main">
              <a:ext uri="{FF2B5EF4-FFF2-40B4-BE49-F238E27FC236}">
                <a16:creationId xmlns:a16="http://schemas.microsoft.com/office/drawing/2014/main" id="{4D6221AD-E6E8-4840-80DC-8412211E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4705350"/>
            <a:ext cx="3305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Reconciliación</a:t>
            </a:r>
          </a:p>
        </p:txBody>
      </p:sp>
      <p:sp>
        <p:nvSpPr>
          <p:cNvPr id="38" name="case-body-3">
            <a:extLst xmlns:a="http://schemas.openxmlformats.org/drawingml/2006/main">
              <a:ext uri="{FF2B5EF4-FFF2-40B4-BE49-F238E27FC236}">
                <a16:creationId xmlns:a16="http://schemas.microsoft.com/office/drawing/2014/main" id="{754CC69C-D347-416E-BAD7-E17FAA6F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5524500"/>
            <a:ext cx="3305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¿coincide con SQL?</a:t>
            </a:r>
          </a:p>
        </p:txBody>
      </p:sp>
      <p:sp>
        <p:nvSpPr>
          <p:cNvPr id="39" name="case-footer">
            <a:extLst xmlns:a="http://schemas.openxmlformats.org/drawingml/2006/main">
              <a:ext uri="{FF2B5EF4-FFF2-40B4-BE49-F238E27FC236}">
                <a16:creationId xmlns:a16="http://schemas.microsoft.com/office/drawing/2014/main" id="{A8F5B656-7CFA-40B5-B869-4FD5C47C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39000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87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 notebook entrega hallazgos acompañados por código, salida y control.</a:t>
            </a:r>
          </a:p>
        </p:txBody>
      </p:sp>
    </p:spTree>
    <p:extLst>
      <p:ext uri="{BB962C8B-B14F-4D97-AF65-F5344CB8AC3E}">
        <p14:creationId xmlns:p14="http://schemas.microsoft.com/office/powerpoint/2010/main" val="16427087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22B08277-8900-43FF-ADE2-5D92BB94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C8BCA640-E474-40B7-BB3B-16887BFA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4F791656-37F7-4D9A-80DE-1312142C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b1a769e534bff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60E30EA7-7B68-4CAF-AB76-C5157348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0FCEA59E-3D92-40FA-BA90-C0F69480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78399E57-B179-426A-A08B-D08804C6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7C1B5D1F-F032-442C-99F3-BDE6AFB7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SQL</a:t>
            </a: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 y Pandas ofrecen recorridos complementarios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BC58F81B-F962-4BA4-B63B-8301142B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BD603D53-2EC7-4E78-8659-F3768727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934DA155-4181-44B1-BF5F-892F59D9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179068E1-B704-4401-BC18-5EBACF72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B36E13F0-3ABF-4DAE-B056-F921C51F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98244A45-3685-4CF9-A592-0C0801B2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119EE961-3AB0-4F96-B655-86A7910A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HERRAMIENTAS · ELECCIÓN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4AD17F87-C7A7-4BAE-BEEC-D60F481B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mpare-stage">
            <a:extLst xmlns:a="http://schemas.openxmlformats.org/drawingml/2006/main">
              <a:ext uri="{FF2B5EF4-FFF2-40B4-BE49-F238E27FC236}">
                <a16:creationId xmlns:a16="http://schemas.microsoft.com/office/drawing/2014/main" id="{5BD2E5B9-1087-499B-B8F4-261A9CFC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58496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11430">
            <a:solidFill>
              <a:srgbClr val="4F4F4F"/>
            </a:solidFill>
            <a:prstDash val="solid"/>
          </a:ln>
        </p:spPr>
      </p:sp>
      <p:sp>
        <p:nvSpPr>
          <p:cNvPr id="18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0D248738-E2FC-4907-B2A9-1468E204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369570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19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1F2AB704-F6B9-410F-B827-419AEF31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tabla</a:t>
            </a:r>
          </a:p>
        </p:txBody>
      </p:sp>
      <p:sp>
        <p:nvSpPr>
          <p:cNvPr id="20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CD8352F6-16C5-47D3-9C94-05F1EB61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SQL</a:t>
            </a:r>
          </a:p>
        </p:txBody>
      </p:sp>
      <p:sp>
        <p:nvSpPr>
          <p:cNvPr id="21" name="compare-rule-0">
            <a:extLst xmlns:a="http://schemas.openxmlformats.org/drawingml/2006/main">
              <a:ext uri="{FF2B5EF4-FFF2-40B4-BE49-F238E27FC236}">
                <a16:creationId xmlns:a16="http://schemas.microsoft.com/office/drawing/2014/main" id="{9AE64B5A-BF27-43B3-8134-D9098D3A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2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46368748-5FDF-473D-B6B6-1D4543AD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Consulta datos donde están almacenados y expresa relaciones con precisión.</a:t>
            </a:r>
          </a:p>
        </p:txBody>
      </p:sp>
      <p:sp>
        <p:nvSpPr>
          <p:cNvPr id="23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2164D9E8-98EC-413D-B6AC-D9E4EEDA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iterar</a:t>
            </a:r>
          </a:p>
        </p:txBody>
      </p:sp>
      <p:sp>
        <p:nvSpPr>
          <p:cNvPr id="24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276F2F70-D69F-4CB5-AB31-A7A5ACE2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Pandas</a:t>
            </a:r>
          </a:p>
        </p:txBody>
      </p:sp>
      <p:sp>
        <p:nvSpPr>
          <p:cNvPr id="25" name="compare-rule-1">
            <a:extLst xmlns:a="http://schemas.openxmlformats.org/drawingml/2006/main">
              <a:ext uri="{FF2B5EF4-FFF2-40B4-BE49-F238E27FC236}">
                <a16:creationId xmlns:a16="http://schemas.microsoft.com/office/drawing/2014/main" id="{DE32F405-96F6-41D2-AEAD-1CE23EAD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82175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6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9377DE15-63B7-44BE-B6C6-301C7CFA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Facilita exploración iterativa, transformación y gráficos en un notebook.</a:t>
            </a:r>
          </a:p>
        </p:txBody>
      </p:sp>
      <p:sp>
        <p:nvSpPr>
          <p:cNvPr id="27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F6D195B0-5541-4D86-8DFB-E341014E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353300"/>
            <a:ext cx="12287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28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F52976DA-964D-4886-B1B3-DDC2E177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505700"/>
            <a:ext cx="1133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mismo KPI se ejecuta en ambos entornos y se reconcilia contra el mismo grano.</a:t>
            </a:r>
          </a:p>
        </p:txBody>
      </p:sp>
    </p:spTree>
    <p:extLst>
      <p:ext uri="{BB962C8B-B14F-4D97-AF65-F5344CB8AC3E}">
        <p14:creationId xmlns:p14="http://schemas.microsoft.com/office/powerpoint/2010/main" val="15203440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CDF6F7FC-3A5F-45A1-80A7-2BC3EAB8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A5F1FD3B-9CD5-48EC-AD5D-771ABB04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95778467-94CF-4C14-8375-A22A2429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fd93341ec46a7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2B103BF9-71B6-4D86-889E-016CE518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006793AD-A2D3-4C30-98C6-63A1EF4C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262EAC9D-8362-423B-AF75-BE64B88C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E76ACF53-C2EA-4FD6-A22B-A50BB0E4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La </a:t>
            </a:r>
            <a:r>
              <a: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IA</a:t>
            </a: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 acelera borradores dentro de un circuito verificable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0569FC5B-D44A-4E93-A603-0DEE8377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A08D8A4C-DE4B-439B-9D02-D040C272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FF88B8B8-CD37-456A-A839-5ADD0E0C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ACC3E1E1-086E-48F6-B854-BDC3803A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B2E83C4B-59E0-4D32-B14D-37216AC0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ECDF7BCB-C148-4876-A868-6436F768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A13B032D-C945-4AE0-B5F1-D0BF1934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IA · CONTROL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28F9810B-D2D2-439C-83F2-B7DE6F5B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AF44B40B-5EB8-422D-A72E-91688F66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7982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18" name="flow-step-0">
            <a:extLst xmlns:a="http://schemas.openxmlformats.org/drawingml/2006/main">
              <a:ext uri="{FF2B5EF4-FFF2-40B4-BE49-F238E27FC236}">
                <a16:creationId xmlns:a16="http://schemas.microsoft.com/office/drawing/2014/main" id="{D07DEF8E-FCD9-4D38-AB79-CAD6C05A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19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E63D26C4-768F-40D4-B0AD-843EA3B3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0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43347F24-74DF-4F97-94F0-9D875237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21" name="flow-head-0">
            <a:extLst xmlns:a="http://schemas.openxmlformats.org/drawingml/2006/main">
              <a:ext uri="{FF2B5EF4-FFF2-40B4-BE49-F238E27FC236}">
                <a16:creationId xmlns:a16="http://schemas.microsoft.com/office/drawing/2014/main" id="{CF6B2880-1D9E-49B3-9C81-F5594171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Pedir</a:t>
            </a:r>
          </a:p>
        </p:txBody>
      </p:sp>
      <p:sp>
        <p:nvSpPr>
          <p:cNvPr id="2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8816C047-6B69-4D23-9A83-4EDBA09A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objetivo y esquema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058D7856-8C6E-48A5-9948-C18E50F2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50000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2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B240BE07-1DA9-424E-8C55-E0024686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25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D84DEC13-806E-4C3D-BC04-0D671F02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BEA87C3E-EEB0-4E11-87F4-9F59EB43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9892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27" name="flow-head-1">
            <a:extLst xmlns:a="http://schemas.openxmlformats.org/drawingml/2006/main">
              <a:ext uri="{FF2B5EF4-FFF2-40B4-BE49-F238E27FC236}">
                <a16:creationId xmlns:a16="http://schemas.microsoft.com/office/drawing/2014/main" id="{A3F5F74F-EBE8-4B89-A798-89D9364D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2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Leer</a:t>
            </a:r>
          </a:p>
        </p:txBody>
      </p:sp>
      <p:sp>
        <p:nvSpPr>
          <p:cNvPr id="2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530A77F0-BD84-4F82-B1B4-E0929F99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2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explicar cada línea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FB884C40-2F90-42D2-8B00-DA35B45B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2017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3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41271AA6-0789-491C-B47A-4F3F1E53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31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375EB0DA-0383-4562-AD06-E91B575E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2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6981A801-FC0C-4DA5-B789-D768A3D0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910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33" name="flow-head-2">
            <a:extLst xmlns:a="http://schemas.openxmlformats.org/drawingml/2006/main">
              <a:ext uri="{FF2B5EF4-FFF2-40B4-BE49-F238E27FC236}">
                <a16:creationId xmlns:a16="http://schemas.microsoft.com/office/drawing/2014/main" id="{B1B26C47-2976-4C32-82AA-626E131F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Ejecutar</a:t>
            </a:r>
          </a:p>
        </p:txBody>
      </p:sp>
      <p:sp>
        <p:nvSpPr>
          <p:cNvPr id="3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D6054B49-CA02-483C-A42B-B17AD76D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usar datos reales</a:t>
            </a:r>
          </a:p>
        </p:txBody>
      </p:sp>
      <p:sp>
        <p:nvSpPr>
          <p:cNvPr id="35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E5396213-B975-4C0B-AE16-B9DB53AD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690350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36" name="flow-step-3">
            <a:extLst xmlns:a="http://schemas.openxmlformats.org/drawingml/2006/main">
              <a:ext uri="{FF2B5EF4-FFF2-40B4-BE49-F238E27FC236}">
                <a16:creationId xmlns:a16="http://schemas.microsoft.com/office/drawing/2014/main" id="{8D56BF62-7916-4C75-8B35-3144546B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37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1D7ACC7B-CACE-45AD-80DE-25756670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8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448A0E04-7707-4868-AA42-55F26FFA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3927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39" name="flow-head-3">
            <a:extLst xmlns:a="http://schemas.openxmlformats.org/drawingml/2006/main">
              <a:ext uri="{FF2B5EF4-FFF2-40B4-BE49-F238E27FC236}">
                <a16:creationId xmlns:a16="http://schemas.microsoft.com/office/drawing/2014/main" id="{4D1A8389-923D-4212-802B-27C9CD1E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Probar</a:t>
            </a:r>
          </a:p>
        </p:txBody>
      </p:sp>
      <p:sp>
        <p:nvSpPr>
          <p:cNvPr id="4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0DAE4828-722D-4AAE-804B-E00BC23B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caso conocido</a:t>
            </a:r>
          </a:p>
        </p:txBody>
      </p:sp>
      <p:sp>
        <p:nvSpPr>
          <p:cNvPr id="41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DB0E35C3-C027-46B4-97FE-8BA4DF82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6052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42" name="flow-step-4">
            <a:extLst xmlns:a="http://schemas.openxmlformats.org/drawingml/2006/main">
              <a:ext uri="{FF2B5EF4-FFF2-40B4-BE49-F238E27FC236}">
                <a16:creationId xmlns:a16="http://schemas.microsoft.com/office/drawing/2014/main" id="{D23D10C9-DF67-431C-A700-3A4F39BA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3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A444FDE2-F737-450F-B2A4-92A8548E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44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C6DE38AF-FBF6-4C71-854F-A39256AA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0945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45" name="flow-head-4">
            <a:extLst xmlns:a="http://schemas.openxmlformats.org/drawingml/2006/main">
              <a:ext uri="{FF2B5EF4-FFF2-40B4-BE49-F238E27FC236}">
                <a16:creationId xmlns:a16="http://schemas.microsoft.com/office/drawing/2014/main" id="{1DC440B0-F92A-43BA-8825-C9BE24EB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Reconciliar</a:t>
            </a:r>
          </a:p>
        </p:txBody>
      </p:sp>
      <p:sp>
        <p:nvSpPr>
          <p:cNvPr id="46" name="flow-body-4">
            <a:extLst xmlns:a="http://schemas.openxmlformats.org/drawingml/2006/main">
              <a:ext uri="{FF2B5EF4-FFF2-40B4-BE49-F238E27FC236}">
                <a16:creationId xmlns:a16="http://schemas.microsoft.com/office/drawing/2014/main" id="{57DF482A-C7E1-45AE-8B9A-7B1CE278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comparar totales</a:t>
            </a:r>
          </a:p>
        </p:txBody>
      </p:sp>
      <p:sp>
        <p:nvSpPr>
          <p:cNvPr id="47" name="flow-step-5">
            <a:extLst xmlns:a="http://schemas.openxmlformats.org/drawingml/2006/main">
              <a:ext uri="{FF2B5EF4-FFF2-40B4-BE49-F238E27FC236}">
                <a16:creationId xmlns:a16="http://schemas.microsoft.com/office/drawing/2014/main" id="{E7C5E07A-01F4-411B-B9BF-710D7F6F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912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8" name="flow-index-5">
            <a:extLst xmlns:a="http://schemas.openxmlformats.org/drawingml/2006/main">
              <a:ext uri="{FF2B5EF4-FFF2-40B4-BE49-F238E27FC236}">
                <a16:creationId xmlns:a16="http://schemas.microsoft.com/office/drawing/2014/main" id="{FB8D0650-D056-4D14-8A00-99D536C7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57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06</a:t>
            </a:r>
          </a:p>
        </p:txBody>
      </p:sp>
      <p:sp>
        <p:nvSpPr>
          <p:cNvPr id="49" name="flow-card-rule-5">
            <a:extLst xmlns:a="http://schemas.openxmlformats.org/drawingml/2006/main">
              <a:ext uri="{FF2B5EF4-FFF2-40B4-BE49-F238E27FC236}">
                <a16:creationId xmlns:a16="http://schemas.microsoft.com/office/drawing/2014/main" id="{0056C040-3341-435B-B1FB-C17C9C48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7962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0" name="flow-head-5">
            <a:extLst xmlns:a="http://schemas.openxmlformats.org/drawingml/2006/main">
              <a:ext uri="{FF2B5EF4-FFF2-40B4-BE49-F238E27FC236}">
                <a16:creationId xmlns:a16="http://schemas.microsoft.com/office/drawing/2014/main" id="{3DD2CF1D-F444-4C2A-A43B-38B12B8F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62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Registrar</a:t>
            </a:r>
          </a:p>
        </p:txBody>
      </p:sp>
      <p:sp>
        <p:nvSpPr>
          <p:cNvPr id="51" name="flow-body-5">
            <a:extLst xmlns:a="http://schemas.openxmlformats.org/drawingml/2006/main">
              <a:ext uri="{FF2B5EF4-FFF2-40B4-BE49-F238E27FC236}">
                <a16:creationId xmlns:a16="http://schemas.microsoft.com/office/drawing/2014/main" id="{11F77FFB-F66C-4B3B-99B8-F13B9D7D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62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código y decisión</a:t>
            </a:r>
          </a:p>
        </p:txBody>
      </p:sp>
      <p:sp>
        <p:nvSpPr>
          <p:cNvPr id="52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FFB7BE84-D2DA-46F8-8351-28EC6130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53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028988CE-2D2A-4B67-BE6F-803CC605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El resultado ejecutado constituye la evidencia del análisis.</a:t>
            </a:r>
          </a:p>
        </p:txBody>
      </p:sp>
    </p:spTree>
    <p:extLst>
      <p:ext uri="{BB962C8B-B14F-4D97-AF65-F5344CB8AC3E}">
        <p14:creationId xmlns:p14="http://schemas.microsoft.com/office/powerpoint/2010/main" val="14820448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clos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5903ddce34ce1"/>
          <a:srcRect xmlns:a="http://schemas.openxmlformats.org/drawingml/2006/main" l="29926" t="0" r="29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lose-photo-rule">
            <a:extLst xmlns:a="http://schemas.openxmlformats.org/drawingml/2006/main">
              <a:ext uri="{FF2B5EF4-FFF2-40B4-BE49-F238E27FC236}">
                <a16:creationId xmlns:a16="http://schemas.microsoft.com/office/drawing/2014/main" id="{7CF89975-373E-4D8D-B5B7-1393BCBF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3" name="close-photo-tab">
            <a:extLst xmlns:a="http://schemas.openxmlformats.org/drawingml/2006/main">
              <a:ext uri="{FF2B5EF4-FFF2-40B4-BE49-F238E27FC236}">
                <a16:creationId xmlns:a16="http://schemas.microsoft.com/office/drawing/2014/main" id="{1131D1F4-93AC-4140-B0C4-EAA318F3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952625" cy="228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close-rail">
            <a:extLst xmlns:a="http://schemas.openxmlformats.org/drawingml/2006/main">
              <a:ext uri="{FF2B5EF4-FFF2-40B4-BE49-F238E27FC236}">
                <a16:creationId xmlns:a16="http://schemas.microsoft.com/office/drawing/2014/main" id="{43926EC2-D693-437F-894A-AFA3BF9E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0"/>
            <a:ext cx="2952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50c6fd96e4bcf"/>
          <a:stretch xmlns:a="http://schemas.openxmlformats.org/drawingml/2006/main"/>
        </p:blipFill>
        <p:spPr>
          <a:xfrm xmlns:a="http://schemas.openxmlformats.org/drawingml/2006/main">
            <a:off x="7000875" y="6074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" name="close-label">
            <a:extLst xmlns:a="http://schemas.openxmlformats.org/drawingml/2006/main">
              <a:ext uri="{FF2B5EF4-FFF2-40B4-BE49-F238E27FC236}">
                <a16:creationId xmlns:a16="http://schemas.microsoft.com/office/drawing/2014/main" id="{27CE6201-044B-46B1-84CB-4E961827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85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CIERRE · LECTURA Y EVIDENCIA</a:t>
            </a:r>
          </a:p>
        </p:txBody>
      </p:sp>
      <p:sp>
        <p:nvSpPr>
          <p:cNvPr id="7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72C825A-22D3-4BAA-B471-109B5399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El código se comprende</a:t>
            </a:r>
          </a:p>
          <a:p xmlns:a="http://schemas.openxmlformats.org/drawingml/2006/main">
            <a:pPr algn="l">
              <a:def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cuando podemos </a:t>
            </a:r>
            <a:r>
              <a: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controlarlo</a:t>
            </a:r>
          </a:p>
        </p:txBody>
      </p:sp>
      <p:sp>
        <p:nvSpPr>
          <p:cNvPr id="8" name="close-rule">
            <a:extLst xmlns:a="http://schemas.openxmlformats.org/drawingml/2006/main">
              <a:ext uri="{FF2B5EF4-FFF2-40B4-BE49-F238E27FC236}">
                <a16:creationId xmlns:a16="http://schemas.microsoft.com/office/drawing/2014/main" id="{CBD52CD2-9D28-4B05-8EC1-B91DDDDE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007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9" name="close-body">
            <a:extLst xmlns:a="http://schemas.openxmlformats.org/drawingml/2006/main">
              <a:ext uri="{FF2B5EF4-FFF2-40B4-BE49-F238E27FC236}">
                <a16:creationId xmlns:a16="http://schemas.microsoft.com/office/drawing/2014/main" id="{1D3CA960-9CE1-4710-A654-237BAFF5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857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3E3E3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3E3E3"/>
                </a:solidFill>
                <a:latin typeface="Telegraf"/>
                <a:ea typeface="Telegraf"/>
                <a:cs typeface="Telegraf"/>
              </a:rPr>
              <a:t>Leer el grano, anticipar la salida, ejecutar el cálculo y reconciliar sus resultados.</a:t>
            </a:r>
          </a:p>
        </p:txBody>
      </p:sp>
      <p:sp>
        <p:nvSpPr>
          <p:cNvPr id="10" name="close-course">
            <a:extLst xmlns:a="http://schemas.openxmlformats.org/drawingml/2006/main">
              <a:ext uri="{FF2B5EF4-FFF2-40B4-BE49-F238E27FC236}">
                <a16:creationId xmlns:a16="http://schemas.microsoft.com/office/drawing/2014/main" id="{CBF37550-ED2B-431C-B1AE-90EE562B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572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C8C8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C8C8C8"/>
                </a:solidFill>
                <a:latin typeface="Telegraf"/>
                <a:ea typeface="Telegraf"/>
                <a:cs typeface="Telegraf"/>
              </a:rPr>
              <a:t>Análisis de Datos · Ingeniería Industrial</a:t>
            </a:r>
          </a:p>
        </p:txBody>
      </p:sp>
    </p:spTree>
    <p:extLst>
      <p:ext uri="{BB962C8B-B14F-4D97-AF65-F5344CB8AC3E}">
        <p14:creationId xmlns:p14="http://schemas.microsoft.com/office/powerpoint/2010/main" val="776478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2026-08-12T16:54:50.0890000Z</dcterms:created>
  <dcterms:modified xsi:type="dcterms:W3CDTF">2026-08-12T16:54:50.0890000Z</dcterms:modified>
</coreProperties>
</file>