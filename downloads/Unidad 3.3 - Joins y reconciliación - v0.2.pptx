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ea1c5c482a140e6" /><Relationship Type="http://schemas.openxmlformats.org/officeDocument/2006/relationships/extended-properties" Target="/docProps/app.xml" Id="R4267eb1a64434c78" /><Relationship Type="http://schemas.openxmlformats.org/officeDocument/2006/relationships/officeDocument" Target="/ppt/presentation.xml" Id="R25862a83f3184914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abd9e0f1aaaf4e2e"/>
  </p:sldMasterIdLst>
  <p:sldIdLst>
    <p:sldId xmlns:r="http://schemas.openxmlformats.org/officeDocument/2006/relationships" id="256" r:id="R567f014d8fce4121"/>
    <p:sldId xmlns:r="http://schemas.openxmlformats.org/officeDocument/2006/relationships" id="257" r:id="R4d1b61aaf74b4757"/>
    <p:sldId xmlns:r="http://schemas.openxmlformats.org/officeDocument/2006/relationships" id="258" r:id="Rf471336e3e5b420d"/>
    <p:sldId xmlns:r="http://schemas.openxmlformats.org/officeDocument/2006/relationships" id="259" r:id="Raf15b7e680d64ad6"/>
    <p:sldId xmlns:r="http://schemas.openxmlformats.org/officeDocument/2006/relationships" id="260" r:id="R64e83440707945c9"/>
    <p:sldId xmlns:r="http://schemas.openxmlformats.org/officeDocument/2006/relationships" id="261" r:id="R0cc18cd6ac1146ba"/>
    <p:sldId xmlns:r="http://schemas.openxmlformats.org/officeDocument/2006/relationships" id="262" r:id="Rc1e38b7cec5c4c57"/>
    <p:sldId xmlns:r="http://schemas.openxmlformats.org/officeDocument/2006/relationships" id="263" r:id="R4d9a51ad42b84289"/>
    <p:sldId xmlns:r="http://schemas.openxmlformats.org/officeDocument/2006/relationships" id="264" r:id="Rd5cc618e725e415b"/>
    <p:sldId xmlns:r="http://schemas.openxmlformats.org/officeDocument/2006/relationships" id="265" r:id="R3ce8ee3f8eeb436c"/>
    <p:sldId xmlns:r="http://schemas.openxmlformats.org/officeDocument/2006/relationships" id="266" r:id="R2e66ef0c5aef486c"/>
    <p:sldId xmlns:r="http://schemas.openxmlformats.org/officeDocument/2006/relationships" id="267" r:id="R5e7bd9ceecd04cfd"/>
    <p:sldId xmlns:r="http://schemas.openxmlformats.org/officeDocument/2006/relationships" id="268" r:id="R54ba166514a54abf"/>
    <p:sldId xmlns:r="http://schemas.openxmlformats.org/officeDocument/2006/relationships" id="269" r:id="R5a0f67d72508488e"/>
  </p:sldIdLst>
  <p:sldSz cx="18288000" cy="10287000"/>
  <p:notesSz cx="6858000" cy="9144000"/>
  <p:embeddedFontLst>
    <p:embeddedFont>
      <p:font typeface="Telegraf"/>
      <p:regular xmlns:r="http://schemas.openxmlformats.org/officeDocument/2006/relationships" r:id="R4414136979f943cf"/>
    </p:embeddedFont>
    <p:embeddedFont>
      <p:font typeface="Telegraf Bold"/>
      <p:regular xmlns:r="http://schemas.openxmlformats.org/officeDocument/2006/relationships" r:id="Rfd7feffaa36a459b"/>
    </p:embeddedFont>
    <p:embeddedFont>
      <p:font typeface="Telegraf Heavy"/>
      <p:regular xmlns:r="http://schemas.openxmlformats.org/officeDocument/2006/relationships" r:id="R4de81e645c0243df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5aa598518d74a4c" /><Relationship Type="http://schemas.openxmlformats.org/officeDocument/2006/relationships/slideMaster" Target="/ppt/slideMasters/slideMaster1.xml" Id="Rabd9e0f1aaaf4e2e" /><Relationship Type="http://schemas.openxmlformats.org/officeDocument/2006/relationships/presProps" Target="/ppt/presProps.xml" Id="Rfa7051fd0aec4980" /><Relationship Type="http://schemas.openxmlformats.org/officeDocument/2006/relationships/viewProps" Target="/ppt/viewProps.xml" Id="Rd0a9c06712ab4f7d" /><Relationship Type="http://schemas.openxmlformats.org/officeDocument/2006/relationships/tableStyles" Target="/ppt/tableStyles.xml" Id="R0d2a4b1eb2484ace" /><Relationship Type="http://schemas.openxmlformats.org/officeDocument/2006/relationships/font" Target="/ppt/fonts/font.dat" Id="R4414136979f943cf" /><Relationship Type="http://schemas.openxmlformats.org/officeDocument/2006/relationships/font" Target="/ppt/fonts/font2.dat" Id="Rfd7feffaa36a459b" /><Relationship Type="http://schemas.openxmlformats.org/officeDocument/2006/relationships/font" Target="/ppt/fonts/font3.dat" Id="R4de81e645c0243df" /><Relationship Type="http://schemas.openxmlformats.org/officeDocument/2006/relationships/slide" Target="/ppt/slides/slide1.xml" Id="R567f014d8fce4121" /><Relationship Type="http://schemas.openxmlformats.org/officeDocument/2006/relationships/slide" Target="/ppt/slides/slide2.xml" Id="R4d1b61aaf74b4757" /><Relationship Type="http://schemas.openxmlformats.org/officeDocument/2006/relationships/slide" Target="/ppt/slides/slide3.xml" Id="Rf471336e3e5b420d" /><Relationship Type="http://schemas.openxmlformats.org/officeDocument/2006/relationships/slide" Target="/ppt/slides/slide4.xml" Id="Raf15b7e680d64ad6" /><Relationship Type="http://schemas.openxmlformats.org/officeDocument/2006/relationships/slide" Target="/ppt/slides/slide5.xml" Id="R64e83440707945c9" /><Relationship Type="http://schemas.openxmlformats.org/officeDocument/2006/relationships/slide" Target="/ppt/slides/slide6.xml" Id="R0cc18cd6ac1146ba" /><Relationship Type="http://schemas.openxmlformats.org/officeDocument/2006/relationships/slide" Target="/ppt/slides/slide7.xml" Id="Rc1e38b7cec5c4c57" /><Relationship Type="http://schemas.openxmlformats.org/officeDocument/2006/relationships/slide" Target="/ppt/slides/slide8.xml" Id="R4d9a51ad42b84289" /><Relationship Type="http://schemas.openxmlformats.org/officeDocument/2006/relationships/slide" Target="/ppt/slides/slide9.xml" Id="Rd5cc618e725e415b" /><Relationship Type="http://schemas.openxmlformats.org/officeDocument/2006/relationships/slide" Target="/ppt/slides/slide10.xml" Id="R3ce8ee3f8eeb436c" /><Relationship Type="http://schemas.openxmlformats.org/officeDocument/2006/relationships/slide" Target="/ppt/slides/slide11.xml" Id="R2e66ef0c5aef486c" /><Relationship Type="http://schemas.openxmlformats.org/officeDocument/2006/relationships/slide" Target="/ppt/slides/slide12.xml" Id="R5e7bd9ceecd04cfd" /><Relationship Type="http://schemas.openxmlformats.org/officeDocument/2006/relationships/slide" Target="/ppt/slides/slide13.xml" Id="R54ba166514a54abf" /><Relationship Type="http://schemas.openxmlformats.org/officeDocument/2006/relationships/slide" Target="/ppt/slides/slide14.xml" Id="R5a0f67d72508488e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610078f17f4b6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883047416247a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3e272e190642c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5a1c0d847e4cd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1c95ab2d0c4ed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5144cb5a0946c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41fa5650b84bc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2ecd0ea15a4f2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d88eb3c6b74cb5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84dbc86cbb4c1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7304b9c4aa42d0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F769558-CD25-4C89-B43C-D6A75F2ED42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2FD8718D-D06D-42CD-9F46-22D3F35632F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0E5D6E4-C9CF-43C3-B173-226482B9B33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29/7/2026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2C4C9D4-15D9-4FA4-840E-0AD6975B269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58AD1BB-53F6-4232-BE35-F91450C84B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‹Nº›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789827C-94A1-46D4-A4B1-38CC1349E9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721E007-0DF8-4206-9D1E-60547E2E2B3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F16AF2D-51C1-4E6F-AB14-2F07D272178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29/7/2026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1A85A2D-52FE-45BE-931F-F42C371867F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08BFF7C-452E-4211-A427-86FAEA4964A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‹Nº›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944D279-DBCC-421F-B326-8A467D5F21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8E8EF9B-5FF1-47D0-B9EC-550E235974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54BA64C-C54B-4628-819E-EDED0459F34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29/7/2026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AF1897A-B408-417E-9609-13703590ACD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4667D90-9D32-42D3-B832-374EE2B3C15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‹Nº›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0F5BAFC-54E5-4531-BE01-950C32A961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E375AF3-C4F7-4FD0-8C67-2A54B038141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EE46A57-9117-4CF4-AEF3-E402494B803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39F5636-AD81-4E55-B599-B966FC5603F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29/7/2026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8F293DC-770F-4EC1-8C85-321B3865AC6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0D3CD38-784C-43A0-A02B-8AD16E3186A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‹Nº›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B173C6C-B8A4-431A-B1A0-2916B19A47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8D5A41D-8436-4C53-A43E-8A56FB10319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32449A5-3149-49B2-9687-7A9CDFDE4B9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BB6061B-2C0D-43E5-BF3C-05DFEE430DD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7720B4FF-0B58-4E83-A827-23BCD1B800E0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4BA2B273-F5C7-44E5-8190-0F6B1200F37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29/7/2026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8071971A-278A-4665-A641-F850E2CD31D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0606B6DE-F4D1-4D9C-9CAE-A64D87568A7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‹Nº›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1B58863-E8F8-4D83-9DA9-5084484C28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DCC181AB-1BB4-493C-BEF4-961CED214B3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29/7/2026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2BE2FEFC-EFDF-4726-B574-3805840DB16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8C0AF4B9-A159-421C-B585-9B2BED282F3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‹Nº›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8D28FB3E-6D21-4122-92ED-8B190611590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29/7/2026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CE633666-791C-493E-82E4-5E604448B49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E696BDCF-7DBF-4234-B895-2F9299D5B9C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‹Nº›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CC6FF2F-64DC-4348-9495-9A7EA2530F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5420FE7-DFE3-458D-8F9A-2F4781343A8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D63DBBBD-5FE3-4671-B2B0-6000CCF7D77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8B84822-3065-4776-8AD5-8A288DB9C9C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29/7/2026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DB512A7-E414-4733-A553-2A4657A76CF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976EE4A-3E42-4962-9C8E-B577D8E31A6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‹Nº›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E057BAB-10B0-43C8-A4F5-73563DF4FE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52B72343-8F89-4AC2-86EF-EA637CAF74F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57A4223-F595-4F72-A36C-ED59184722C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9935067-5341-4033-84F3-B8E164C4CD4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29/7/2026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BB3718F-0AE3-41A9-A405-44509F98E84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7934B46-77C1-4F74-800A-08776E777C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‹Nº›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82F7064-5872-43A5-A0A7-FCF61F8D9B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456540E-C9DA-4747-B04F-1A0D80C68C4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F2DD6F1-B912-4885-9EE1-A86B739BE26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29/7/2026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7620850-28BF-48EB-B48D-BCCEFF2ECFF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FDE6B40-205E-4CCF-9852-34240973335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‹Nº›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E686560F-2DBE-4CB1-9FAF-2961DE173F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2479E08-504B-4525-86AA-526662E5AD7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6EFC91E-115A-4697-9E1F-65EC0E83550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29/7/2026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C099CED-A861-45CE-84C4-2A1468EBD5B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D03CF38-09EF-422C-A289-60F40EB08E9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‹Nº›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869ad92bc0c456e" /><Relationship Type="http://schemas.openxmlformats.org/officeDocument/2006/relationships/slideLayout" Target="/ppt/slideLayouts/slideLayout1.xml" Id="Re4bee7cc604e4b28" /><Relationship Type="http://schemas.openxmlformats.org/officeDocument/2006/relationships/slideLayout" Target="/ppt/slideLayouts/slideLayout2.xml" Id="R996cb57f48a34fe9" /><Relationship Type="http://schemas.openxmlformats.org/officeDocument/2006/relationships/slideLayout" Target="/ppt/slideLayouts/slideLayout3.xml" Id="R9c5aa6f3363f4d60" /><Relationship Type="http://schemas.openxmlformats.org/officeDocument/2006/relationships/slideLayout" Target="/ppt/slideLayouts/slideLayout4.xml" Id="R16f9855ca5d541be" /><Relationship Type="http://schemas.openxmlformats.org/officeDocument/2006/relationships/slideLayout" Target="/ppt/slideLayouts/slideLayout5.xml" Id="R43acea471abe4d83" /><Relationship Type="http://schemas.openxmlformats.org/officeDocument/2006/relationships/slideLayout" Target="/ppt/slideLayouts/slideLayout6.xml" Id="R49b1949d17974bf5" /><Relationship Type="http://schemas.openxmlformats.org/officeDocument/2006/relationships/slideLayout" Target="/ppt/slideLayouts/slideLayout7.xml" Id="Rad29c07d32964f75" /><Relationship Type="http://schemas.openxmlformats.org/officeDocument/2006/relationships/slideLayout" Target="/ppt/slideLayouts/slideLayout8.xml" Id="R47a3e4ba6ae544fc" /><Relationship Type="http://schemas.openxmlformats.org/officeDocument/2006/relationships/slideLayout" Target="/ppt/slideLayouts/slideLayout9.xml" Id="Re10802fe4d474b1a" /><Relationship Type="http://schemas.openxmlformats.org/officeDocument/2006/relationships/slideLayout" Target="/ppt/slideLayouts/slideLayout10.xml" Id="R492ea00caa6245f8" /><Relationship Type="http://schemas.openxmlformats.org/officeDocument/2006/relationships/slideLayout" Target="/ppt/slideLayouts/slideLayout11.xml" Id="Re2a9441671ea4fc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A3A34E8C-B695-4E58-A35F-F1068576EE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CA03D92-C314-4265-A6B6-A5F86EB326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FB30FD8-E987-4F43-A3D3-5D5030174E4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29/7/2026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F0E75E3-BE45-4C2C-9D3F-CEE39E52838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A495CB1-0E80-4CBC-912D-F1C6689A98E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4bee7cc604e4b28"/>
    <p:sldLayoutId xmlns:r="http://schemas.openxmlformats.org/officeDocument/2006/relationships" id="2147483650" r:id="R996cb57f48a34fe9"/>
    <p:sldLayoutId xmlns:r="http://schemas.openxmlformats.org/officeDocument/2006/relationships" id="2147483651" r:id="R9c5aa6f3363f4d60"/>
    <p:sldLayoutId xmlns:r="http://schemas.openxmlformats.org/officeDocument/2006/relationships" id="2147483652" r:id="R16f9855ca5d541be"/>
    <p:sldLayoutId xmlns:r="http://schemas.openxmlformats.org/officeDocument/2006/relationships" id="2147483653" r:id="R43acea471abe4d83"/>
    <p:sldLayoutId xmlns:r="http://schemas.openxmlformats.org/officeDocument/2006/relationships" id="2147483654" r:id="R49b1949d17974bf5"/>
    <p:sldLayoutId xmlns:r="http://schemas.openxmlformats.org/officeDocument/2006/relationships" id="2147483655" r:id="Rad29c07d32964f75"/>
    <p:sldLayoutId xmlns:r="http://schemas.openxmlformats.org/officeDocument/2006/relationships" id="2147483656" r:id="R47a3e4ba6ae544fc"/>
    <p:sldLayoutId xmlns:r="http://schemas.openxmlformats.org/officeDocument/2006/relationships" id="2147483657" r:id="Re10802fe4d474b1a"/>
    <p:sldLayoutId xmlns:r="http://schemas.openxmlformats.org/officeDocument/2006/relationships" id="2147483658" r:id="R492ea00caa6245f8"/>
    <p:sldLayoutId xmlns:r="http://schemas.openxmlformats.org/officeDocument/2006/relationships" id="2147483659" r:id="Re2a9441671ea4fca"/>
  </p:sldLayoutIdLst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b51bab55d1749ab" /><Relationship Type="http://schemas.openxmlformats.org/officeDocument/2006/relationships/image" Target="/ppt/media/image.jpeg" Id="R65f4c287564847bf" /><Relationship Type="http://schemas.openxmlformats.org/officeDocument/2006/relationships/image" Target="/ppt/media/image.png" Id="R2c7de9a1e91f45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8faf38371a24550" /><Relationship Type="http://schemas.openxmlformats.org/officeDocument/2006/relationships/image" Target="/ppt/media/image2.png" Id="R98b8ce2dcbc14d2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62372d622364a61" /><Relationship Type="http://schemas.openxmlformats.org/officeDocument/2006/relationships/image" Target="/ppt/media/image2.jpeg" Id="Recc9053339e14bc4" /><Relationship Type="http://schemas.openxmlformats.org/officeDocument/2006/relationships/image" Target="/ppt/media/image3.jpeg" Id="R1f3df7e550cd4286" /><Relationship Type="http://schemas.openxmlformats.org/officeDocument/2006/relationships/image" Target="/ppt/media/image3.png" Id="Rc67e232b213346d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c88240da4fe45e2" /><Relationship Type="http://schemas.openxmlformats.org/officeDocument/2006/relationships/image" Target="/ppt/media/image4.jpeg" Id="R82b5c8d54e58442a" /><Relationship Type="http://schemas.openxmlformats.org/officeDocument/2006/relationships/image" Target="/ppt/media/image5.jpeg" Id="R7b1597a148164bde" /><Relationship Type="http://schemas.openxmlformats.org/officeDocument/2006/relationships/image" Target="/ppt/media/image4.png" Id="Rca0305bf2ff349a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8f59c81384345de" /><Relationship Type="http://schemas.openxmlformats.org/officeDocument/2006/relationships/image" Target="/ppt/media/image6.jpeg" Id="R0991750ba9694573" /><Relationship Type="http://schemas.openxmlformats.org/officeDocument/2006/relationships/image" Target="/ppt/media/image3.jpeg" Id="R71e134ccc637419c" /><Relationship Type="http://schemas.openxmlformats.org/officeDocument/2006/relationships/image" Target="/ppt/media/image5.png" Id="Rd0910e5e559845b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bffea4fead94618" /><Relationship Type="http://schemas.openxmlformats.org/officeDocument/2006/relationships/image" Target="/ppt/media/image6.png" Id="R762358ee56eb4f5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cc4642ab607416b" /><Relationship Type="http://schemas.openxmlformats.org/officeDocument/2006/relationships/image" Target="/ppt/media/image2.jpeg" Id="R01381bdeaac8438e" /><Relationship Type="http://schemas.openxmlformats.org/officeDocument/2006/relationships/image" Target="/ppt/media/image7.jpeg" Id="Re0b69ba27a244a5f" /><Relationship Type="http://schemas.openxmlformats.org/officeDocument/2006/relationships/image" Target="/ppt/media/image7.png" Id="R7532d49ac57842f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6a12a9a8df541ba" /><Relationship Type="http://schemas.openxmlformats.org/officeDocument/2006/relationships/image" Target="/ppt/media/image8.jpeg" Id="R1d17060f6299429e" /><Relationship Type="http://schemas.openxmlformats.org/officeDocument/2006/relationships/image" Target="/ppt/media/image9.jpeg" Id="R5993174651404441" /><Relationship Type="http://schemas.openxmlformats.org/officeDocument/2006/relationships/image" Target="/ppt/media/image8.png" Id="R771a12f1aac8425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0a8528c529e4bd4" /><Relationship Type="http://schemas.openxmlformats.org/officeDocument/2006/relationships/image" Target="/ppt/media/image9.png" Id="R40a81c72780940d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cd6433988344fdb" /><Relationship Type="http://schemas.openxmlformats.org/officeDocument/2006/relationships/image" Target="/ppt/media/image9.jpeg" Id="R6369b06cc58f45d3" /><Relationship Type="http://schemas.openxmlformats.org/officeDocument/2006/relationships/image" Target="/ppt/media/image10.jpeg" Id="R940e5204929646d1" /><Relationship Type="http://schemas.openxmlformats.org/officeDocument/2006/relationships/image" Target="/ppt/media/image10.png" Id="Ra56a36edda9b457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23f2089813f4659" /><Relationship Type="http://schemas.openxmlformats.org/officeDocument/2006/relationships/image" Target="/ppt/media/image6.jpeg" Id="Rae68a410b60e4b47" /><Relationship Type="http://schemas.openxmlformats.org/officeDocument/2006/relationships/image" Target="/ppt/media/image3.jpeg" Id="R5f91d574410d4158" /><Relationship Type="http://schemas.openxmlformats.org/officeDocument/2006/relationships/image" Target="/ppt/media/image11.png" Id="Ra8dc5a507c96428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0bbb8c8a2674005" /><Relationship Type="http://schemas.openxmlformats.org/officeDocument/2006/relationships/image" Target="/ppt/media/image12.png" Id="Rc2d022a483b14e0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5384ae0f3b94801" /><Relationship Type="http://schemas.openxmlformats.org/officeDocument/2006/relationships/image" Target="/ppt/media/image4.jpeg" Id="Ra5f176d014f344cb" /><Relationship Type="http://schemas.openxmlformats.org/officeDocument/2006/relationships/image" Target="/ppt/media/image11.jpeg" Id="Rba18f44713664eac" /><Relationship Type="http://schemas.openxmlformats.org/officeDocument/2006/relationships/image" Target="/ppt/media/image13.png" Id="R6289630872cc447f" /><Relationship Type="http://schemas.openxmlformats.org/officeDocument/2006/relationships/image" Target="/ppt/media/image14.png" Id="R4d127e842a71412c" /><Relationship Type="http://schemas.openxmlformats.org/officeDocument/2006/relationships/image" Target="/ppt/media/image15.png" Id="R5efebae9c88e4fa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04bba3eb5d64dd4" /><Relationship Type="http://schemas.openxmlformats.org/officeDocument/2006/relationships/image" Target="/ppt/media/image2.jpeg" Id="R23b083e9b8854e1d" /><Relationship Type="http://schemas.openxmlformats.org/officeDocument/2006/relationships/image" Target="/ppt/media/image16.png" Id="Re0974c7ea82b449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Imagen 73">
            <a:extLst xmlns:a="http://schemas.openxmlformats.org/drawingml/2006/main">
              <a:ext uri="{FF2B5EF4-FFF2-40B4-BE49-F238E27FC236}">
                <a16:creationId xmlns:a16="http://schemas.microsoft.com/office/drawing/2014/main" id="{F5F95262-0454-4120-830B-C37668732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61" name="Imagen 7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f4c287564847bf"/>
          <a:srcRect xmlns:a="http://schemas.openxmlformats.org/drawingml/2006/main" l="27778" t="0" r="277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5492"/>
            </a:avLst>
          </a:prstGeom>
        </p:spPr>
      </p:pic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7F5F62B3-F84F-4153-B279-04350AFF7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774006" h="182238">
                <a:moveTo>
                  <a:pt x="22567" y="0"/>
                </a:moveTo>
                <a:lnTo>
                  <a:pt x="751439" y="0"/>
                </a:lnTo>
                <a:cubicBezTo>
                  <a:pt x="763903" y="0"/>
                  <a:pt x="774006" y="10104"/>
                  <a:pt x="774006" y="22567"/>
                </a:cubicBezTo>
                <a:lnTo>
                  <a:pt x="774006" y="159671"/>
                </a:lnTo>
                <a:cubicBezTo>
                  <a:pt x="774006" y="165656"/>
                  <a:pt x="771629" y="171396"/>
                  <a:pt x="767396" y="175628"/>
                </a:cubicBezTo>
                <a:cubicBezTo>
                  <a:pt x="763164" y="179861"/>
                  <a:pt x="757424" y="182238"/>
                  <a:pt x="751439" y="182238"/>
                </a:cubicBezTo>
                <a:lnTo>
                  <a:pt x="22567" y="182238"/>
                </a:lnTo>
                <a:cubicBezTo>
                  <a:pt x="10104" y="182238"/>
                  <a:pt x="0" y="172135"/>
                  <a:pt x="0" y="159671"/>
                </a:cubicBezTo>
                <a:lnTo>
                  <a:pt x="0" y="22567"/>
                </a:lnTo>
                <a:cubicBezTo>
                  <a:pt x="0" y="10104"/>
                  <a:pt x="10104" y="0"/>
                  <a:pt x="22567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B53724D0-9C3B-4C22-A623-60FD93C36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564678E5-48A3-472E-A813-58C2E8287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79984" y="0"/>
                </a:moveTo>
                <a:lnTo>
                  <a:pt x="287523" y="0"/>
                </a:lnTo>
                <a:cubicBezTo>
                  <a:pt x="308736" y="0"/>
                  <a:pt x="329081" y="8427"/>
                  <a:pt x="344081" y="23427"/>
                </a:cubicBezTo>
                <a:cubicBezTo>
                  <a:pt x="359080" y="38427"/>
                  <a:pt x="367507" y="58771"/>
                  <a:pt x="367507" y="79984"/>
                </a:cubicBezTo>
                <a:lnTo>
                  <a:pt x="367507" y="304788"/>
                </a:lnTo>
                <a:cubicBezTo>
                  <a:pt x="367507" y="348962"/>
                  <a:pt x="331697" y="384772"/>
                  <a:pt x="287523" y="384772"/>
                </a:cubicBezTo>
                <a:lnTo>
                  <a:pt x="79984" y="384772"/>
                </a:lnTo>
                <a:cubicBezTo>
                  <a:pt x="58771" y="384772"/>
                  <a:pt x="38427" y="376345"/>
                  <a:pt x="23427" y="361345"/>
                </a:cubicBezTo>
                <a:cubicBezTo>
                  <a:pt x="8427" y="346346"/>
                  <a:pt x="0" y="326001"/>
                  <a:pt x="0" y="304788"/>
                </a:cubicBezTo>
                <a:lnTo>
                  <a:pt x="0" y="79984"/>
                </a:lnTo>
                <a:cubicBezTo>
                  <a:pt x="0" y="58771"/>
                  <a:pt x="8427" y="38427"/>
                  <a:pt x="23427" y="23427"/>
                </a:cubicBezTo>
                <a:cubicBezTo>
                  <a:pt x="38427" y="8427"/>
                  <a:pt x="58771" y="0"/>
                  <a:pt x="79984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566E8966-A412-411A-8729-3789C90F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C5146AB1-E671-4464-A213-49B0D9FAF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EA7D4C51-A4E3-49A0-809C-9F63351A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989F7E7A-69FF-43DB-8D39-AF070A598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29A85F48-37A2-4038-A2F8-9E2BD8E0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84C851B3-0647-4286-AA9F-B9BDE191E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731B4A31-D8A2-4B0B-BA5B-3E1316C5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81E1ADD0-8DD9-429F-9899-AA0B0460F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231195" h="406400">
                <a:moveTo>
                  <a:pt x="3027995" y="0"/>
                </a:moveTo>
                <a:cubicBezTo>
                  <a:pt x="3140220" y="0"/>
                  <a:pt x="3231195" y="90976"/>
                  <a:pt x="3231195" y="203200"/>
                </a:cubicBezTo>
                <a:cubicBezTo>
                  <a:pt x="3231195" y="315424"/>
                  <a:pt x="3140220" y="406400"/>
                  <a:pt x="3027995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8639B345-5C1E-4E7C-A987-87C57A376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ED8CF195-CA26-4E09-AF27-4F05B793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761692" h="406400">
                <a:moveTo>
                  <a:pt x="1558492" y="0"/>
                </a:moveTo>
                <a:cubicBezTo>
                  <a:pt x="1670717" y="0"/>
                  <a:pt x="1761692" y="90976"/>
                  <a:pt x="1761692" y="203200"/>
                </a:cubicBezTo>
                <a:cubicBezTo>
                  <a:pt x="1761692" y="315424"/>
                  <a:pt x="1670717" y="406400"/>
                  <a:pt x="1558492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B4B9D9E6-2B09-46E5-8753-D045605BE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06FB87C0-9F1F-47DC-B660-6AA62A915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806506" h="406400">
                <a:moveTo>
                  <a:pt x="1603306" y="0"/>
                </a:moveTo>
                <a:cubicBezTo>
                  <a:pt x="1715530" y="0"/>
                  <a:pt x="1806506" y="90976"/>
                  <a:pt x="1806506" y="203200"/>
                </a:cubicBezTo>
                <a:cubicBezTo>
                  <a:pt x="1806506" y="315424"/>
                  <a:pt x="1715530" y="406400"/>
                  <a:pt x="1603306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993D8D62-EF10-44EC-8A2B-004C808DC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8" name="AutoShape 28">
            <a:extLst xmlns:a="http://schemas.openxmlformats.org/drawingml/2006/main">
              <a:ext uri="{FF2B5EF4-FFF2-40B4-BE49-F238E27FC236}">
                <a16:creationId xmlns:a16="http://schemas.microsoft.com/office/drawing/2014/main" id="{D9710FB2-485C-43BD-9DC6-2F867D11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ACD5A629-BE31-475C-9C5D-9EAD53828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79984" y="0"/>
                </a:moveTo>
                <a:lnTo>
                  <a:pt x="287523" y="0"/>
                </a:lnTo>
                <a:cubicBezTo>
                  <a:pt x="308736" y="0"/>
                  <a:pt x="329081" y="8427"/>
                  <a:pt x="344081" y="23427"/>
                </a:cubicBezTo>
                <a:cubicBezTo>
                  <a:pt x="359080" y="38427"/>
                  <a:pt x="367507" y="58771"/>
                  <a:pt x="367507" y="79984"/>
                </a:cubicBezTo>
                <a:lnTo>
                  <a:pt x="367507" y="304788"/>
                </a:lnTo>
                <a:cubicBezTo>
                  <a:pt x="367507" y="348962"/>
                  <a:pt x="331697" y="384772"/>
                  <a:pt x="287523" y="384772"/>
                </a:cubicBezTo>
                <a:lnTo>
                  <a:pt x="79984" y="384772"/>
                </a:lnTo>
                <a:cubicBezTo>
                  <a:pt x="58771" y="384772"/>
                  <a:pt x="38427" y="376345"/>
                  <a:pt x="23427" y="361345"/>
                </a:cubicBezTo>
                <a:cubicBezTo>
                  <a:pt x="8427" y="346346"/>
                  <a:pt x="0" y="326001"/>
                  <a:pt x="0" y="304788"/>
                </a:cubicBezTo>
                <a:lnTo>
                  <a:pt x="0" y="79984"/>
                </a:lnTo>
                <a:cubicBezTo>
                  <a:pt x="0" y="58771"/>
                  <a:pt x="8427" y="38427"/>
                  <a:pt x="23427" y="23427"/>
                </a:cubicBezTo>
                <a:cubicBezTo>
                  <a:pt x="38427" y="8427"/>
                  <a:pt x="58771" y="0"/>
                  <a:pt x="79984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78AFBFA9-CBB9-40D9-80E1-AC366656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DA6229D7-FCFF-42B6-BC2A-4D56D32D2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61495" h="512772">
                <a:moveTo>
                  <a:pt x="0" y="0"/>
                </a:moveTo>
                <a:lnTo>
                  <a:pt x="461494" y="0"/>
                </a:lnTo>
                <a:lnTo>
                  <a:pt x="461494" y="512772"/>
                </a:lnTo>
                <a:lnTo>
                  <a:pt x="0" y="51277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B6CB9091-D238-4ED8-9845-616865262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20283" h="461216">
                <a:moveTo>
                  <a:pt x="0" y="0"/>
                </a:moveTo>
                <a:lnTo>
                  <a:pt x="420283" y="0"/>
                </a:lnTo>
                <a:lnTo>
                  <a:pt x="420283" y="461216"/>
                </a:lnTo>
                <a:lnTo>
                  <a:pt x="0" y="46121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5C72A90F-1114-4CC1-BD13-975BD395C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38320" h="514913">
                <a:moveTo>
                  <a:pt x="0" y="0"/>
                </a:moveTo>
                <a:lnTo>
                  <a:pt x="438320" y="0"/>
                </a:lnTo>
                <a:lnTo>
                  <a:pt x="438320" y="514914"/>
                </a:lnTo>
                <a:lnTo>
                  <a:pt x="0" y="51491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45320EE5-2F71-4DAF-90A4-7248E2FB3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125">
                <a:solidFill>
                  <a:srgbClr val="FFFFFF"/>
                </a:solidFill>
                <a:latin typeface="Telegraf"/>
                <a:ea typeface="Telegraf"/>
                <a:cs typeface="Telegraf"/>
              </a:defRPr>
            </a:pPr>
            <a:r>
              <a:rPr sz="1600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3D9B7426-D179-4E47-A1B8-25B85292E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12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600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9494C4CD-EBFD-4C8D-8B7A-363B48648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159"/>
              </a:lnSpc>
              <a:buNone/>
            </a:pPr>
            <a:r>
              <a:rPr sz="1599">
                <a:solidFill>
                  <a:srgbClr val="F6F9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D419E547-CC87-443C-BFF6-5537F948E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  <a:endParaRPr sz="1886" b="1">
              <a:solidFill>
                <a:srgbClr val="151616"/>
              </a:solidFill>
              <a:latin typeface="Telegraf Bold"/>
              <a:ea typeface="Telegraf Bold"/>
              <a:cs typeface="Telegraf Bold"/>
            </a:endParaRPr>
          </a:p>
        </p:txBody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E6DA3120-1590-4E4A-9703-2E188BF1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  <a:defRPr sz="1500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500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  <a:endParaRPr sz="1500">
              <a:solidFill>
                <a:srgbClr val="151616"/>
              </a:solidFill>
              <a:latin typeface="Telegraf"/>
              <a:ea typeface="Telegraf"/>
              <a:cs typeface="Telegraf"/>
            </a:endParaRP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2279A6B3-B644-4667-9C11-7BB778059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8400">
                <a:solidFill>
                  <a:srgbClr val="FFFF33"/>
                </a:solidFill>
                <a:latin typeface="Telegraf"/>
                <a:ea typeface="Telegraf"/>
                <a:cs typeface="Telegraf"/>
              </a:defRPr>
            </a:pPr>
            <a:r>
              <a:rPr sz="7200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  <a:endParaRPr sz="7200">
              <a:solidFill>
                <a:schemeClr val="tx1">
                  <a:lumMod val="65000"/>
                  <a:lumOff val="35000"/>
                </a:schemeClr>
              </a:solidFill>
              <a:latin typeface="Telegraf"/>
              <a:ea typeface="Telegraf"/>
              <a:cs typeface="Telegraf"/>
            </a:endParaRP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C78B9BA3-AB64-47BA-A661-F2C330D23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100">
                <a:solidFill>
                  <a:srgbClr val="FFFFFF"/>
                </a:solidFill>
                <a:latin typeface="Telegraf"/>
                <a:ea typeface="Telegraf"/>
                <a:cs typeface="Telegraf"/>
              </a:defRPr>
            </a:pPr>
            <a:r>
              <a:rPr sz="2100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C61E909E-10CA-4FD8-800A-4AC532F9E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2159"/>
              </a:lnSpc>
              <a:buNone/>
            </a:pPr>
            <a:r>
              <a:rPr sz="1599">
                <a:solidFill>
                  <a:srgbClr val="F6F9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4" name="cover-image-field">
            <a:extLst xmlns:a="http://schemas.openxmlformats.org/drawingml/2006/main">
              <a:ext uri="{FF2B5EF4-FFF2-40B4-BE49-F238E27FC236}">
                <a16:creationId xmlns:a16="http://schemas.microsoft.com/office/drawing/2014/main" id="{99E58A1F-42E6-413C-8955-25C03CC46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715000" cy="1028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B1F35"/>
          </a:solidFill>
          <a:ln xmlns:a="http://schemas.openxmlformats.org/drawingml/2006/main" w="11430">
            <a:solidFill>
              <a:srgbClr val="0B1F35"/>
            </a:solidFill>
            <a:prstDash val="solid"/>
          </a:ln>
        </p:spPr>
      </p:sp>
      <p:sp>
        <p:nvSpPr>
          <p:cNvPr id="45" name="cover-data-line-0">
            <a:extLst xmlns:a="http://schemas.openxmlformats.org/drawingml/2006/main">
              <a:ext uri="{FF2B5EF4-FFF2-40B4-BE49-F238E27FC236}">
                <a16:creationId xmlns:a16="http://schemas.microsoft.com/office/drawing/2014/main" id="{8C734B16-6CE2-45C4-8744-98D0E8629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81050" y="1009650"/>
            <a:ext cx="2647950" cy="6753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75">
            <a:solidFill>
              <a:srgbClr val="1F497D"/>
            </a:solidFill>
            <a:prstDash val="solid"/>
          </a:ln>
        </p:spPr>
      </p:sp>
      <p:sp>
        <p:nvSpPr>
          <p:cNvPr id="46" name="cover-data-line-1">
            <a:extLst xmlns:a="http://schemas.openxmlformats.org/drawingml/2006/main">
              <a:ext uri="{FF2B5EF4-FFF2-40B4-BE49-F238E27FC236}">
                <a16:creationId xmlns:a16="http://schemas.microsoft.com/office/drawing/2014/main" id="{625CF639-824C-4747-BA5A-1978FC0B1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28750" y="1009650"/>
            <a:ext cx="2247900" cy="6753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75">
            <a:solidFill>
              <a:srgbClr val="4F81BD"/>
            </a:solidFill>
            <a:prstDash val="solid"/>
          </a:ln>
        </p:spPr>
      </p:sp>
      <p:sp>
        <p:nvSpPr>
          <p:cNvPr id="47" name="cover-data-line-2">
            <a:extLst xmlns:a="http://schemas.openxmlformats.org/drawingml/2006/main">
              <a:ext uri="{FF2B5EF4-FFF2-40B4-BE49-F238E27FC236}">
                <a16:creationId xmlns:a16="http://schemas.microsoft.com/office/drawing/2014/main" id="{2C6A4DB5-9B63-4BC3-9606-2BAD9B762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076450" y="1009650"/>
            <a:ext cx="1847850" cy="6753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75">
            <a:solidFill>
              <a:srgbClr val="1F497D"/>
            </a:solidFill>
            <a:prstDash val="solid"/>
          </a:ln>
        </p:spPr>
      </p:sp>
      <p:sp>
        <p:nvSpPr>
          <p:cNvPr id="48" name="cover-data-line-3">
            <a:extLst xmlns:a="http://schemas.openxmlformats.org/drawingml/2006/main">
              <a:ext uri="{FF2B5EF4-FFF2-40B4-BE49-F238E27FC236}">
                <a16:creationId xmlns:a16="http://schemas.microsoft.com/office/drawing/2014/main" id="{EBB20AB9-6D96-482F-8909-B485774BF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724150" y="1009650"/>
            <a:ext cx="1447800" cy="6753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75">
            <a:solidFill>
              <a:srgbClr val="4F81BD"/>
            </a:solidFill>
            <a:prstDash val="solid"/>
          </a:ln>
        </p:spPr>
      </p:sp>
      <p:sp>
        <p:nvSpPr>
          <p:cNvPr id="49" name="cover-data-line-4">
            <a:extLst xmlns:a="http://schemas.openxmlformats.org/drawingml/2006/main">
              <a:ext uri="{FF2B5EF4-FFF2-40B4-BE49-F238E27FC236}">
                <a16:creationId xmlns:a16="http://schemas.microsoft.com/office/drawing/2014/main" id="{48242EE1-73F5-4213-8209-560B84E28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371850" y="1009650"/>
            <a:ext cx="1047750" cy="6753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75">
            <a:solidFill>
              <a:srgbClr val="1F497D"/>
            </a:solidFill>
            <a:prstDash val="solid"/>
          </a:ln>
        </p:spPr>
      </p:sp>
      <p:sp>
        <p:nvSpPr>
          <p:cNvPr id="50" name="cover-data-line-5">
            <a:extLst xmlns:a="http://schemas.openxmlformats.org/drawingml/2006/main">
              <a:ext uri="{FF2B5EF4-FFF2-40B4-BE49-F238E27FC236}">
                <a16:creationId xmlns:a16="http://schemas.microsoft.com/office/drawing/2014/main" id="{68F91A07-2712-4701-937E-E03A45D74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19550" y="1009650"/>
            <a:ext cx="647700" cy="6753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75">
            <a:solidFill>
              <a:srgbClr val="4F81BD"/>
            </a:solidFill>
            <a:prstDash val="solid"/>
          </a:ln>
        </p:spPr>
      </p:sp>
      <p:sp>
        <p:nvSpPr>
          <p:cNvPr id="51" name="cover-data-line-6">
            <a:extLst xmlns:a="http://schemas.openxmlformats.org/drawingml/2006/main">
              <a:ext uri="{FF2B5EF4-FFF2-40B4-BE49-F238E27FC236}">
                <a16:creationId xmlns:a16="http://schemas.microsoft.com/office/drawing/2014/main" id="{5FF1FA1A-FF74-4709-B8FD-1690A4FD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667250" y="1009650"/>
            <a:ext cx="247650" cy="6753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75">
            <a:solidFill>
              <a:srgbClr val="1F497D"/>
            </a:solidFill>
            <a:prstDash val="solid"/>
          </a:ln>
        </p:spPr>
      </p:sp>
      <p:pic>
        <p:nvPicPr>
          <p:cNvPr id="1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7de9a1e91f45d1"/>
          <a:stretch xmlns:a="http://schemas.openxmlformats.org/drawingml/2006/main"/>
        </p:blipFill>
        <p:spPr>
          <a:xfrm xmlns:a="http://schemas.openxmlformats.org/drawingml/2006/main">
            <a:off x="6667500" y="62648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3" name="cover-brand">
            <a:extLst xmlns:a="http://schemas.openxmlformats.org/drawingml/2006/main">
              <a:ext uri="{FF2B5EF4-FFF2-40B4-BE49-F238E27FC236}">
                <a16:creationId xmlns:a16="http://schemas.microsoft.com/office/drawing/2014/main" id="{E6DA7DAA-81B7-4CEF-86D8-ED2909C56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7239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Universidad Tecnológica Nacional</a:t>
            </a:r>
          </a:p>
        </p:txBody>
      </p:sp>
      <p:sp>
        <p:nvSpPr>
          <p:cNvPr id="5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FDB10E4B-9CFF-4C0D-8C08-CB9282E4E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71750"/>
            <a:ext cx="9429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2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2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SQL II y</a:t>
            </a:r>
          </a:p>
          <a:p xmlns:a="http://schemas.openxmlformats.org/drawingml/2006/main">
            <a:pPr algn="l">
              <a:defRPr sz="5250" b="0">
                <a:solidFill>
                  <a:srgbClr val="FFFF33"/>
                </a:solidFill>
                <a:latin typeface="Aptos"/>
                <a:ea typeface="Aptos"/>
                <a:cs typeface="Aptos"/>
              </a:defRPr>
            </a:pPr>
            <a:r>
              <a:rPr sz="5250" b="0">
                <a:solidFill>
                  <a:srgbClr val="FFFF33"/>
                </a:solidFill>
                <a:latin typeface="Aptos"/>
                <a:ea typeface="Aptos"/>
                <a:cs typeface="Aptos"/>
              </a:rPr>
              <a:t>joins controlados</a:t>
            </a:r>
          </a:p>
        </p:txBody>
      </p:sp>
      <p:sp>
        <p:nvSpPr>
          <p:cNvPr id="55" name="cover-rule">
            <a:extLst xmlns:a="http://schemas.openxmlformats.org/drawingml/2006/main">
              <a:ext uri="{FF2B5EF4-FFF2-40B4-BE49-F238E27FC236}">
                <a16:creationId xmlns:a16="http://schemas.microsoft.com/office/drawing/2014/main" id="{0BDA87EF-0D40-47AF-A17E-40EB0C5F6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67500" y="5257800"/>
            <a:ext cx="904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F33"/>
            </a:solidFill>
            <a:prstDash val="solid"/>
          </a:ln>
        </p:spPr>
      </p:sp>
      <p:sp>
        <p:nvSpPr>
          <p:cNvPr id="56" name="cover-question">
            <a:extLst xmlns:a="http://schemas.openxmlformats.org/drawingml/2006/main">
              <a:ext uri="{FF2B5EF4-FFF2-40B4-BE49-F238E27FC236}">
                <a16:creationId xmlns:a16="http://schemas.microsoft.com/office/drawing/2014/main" id="{6D1B625D-97AA-41DB-A4EA-B21D21EE0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619750"/>
            <a:ext cx="9048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E5E5E5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E5E5E5"/>
                </a:solidFill>
                <a:latin typeface="Aptos"/>
                <a:ea typeface="Aptos"/>
                <a:cs typeface="Aptos"/>
              </a:rPr>
              <a:t>¿Cómo combinar tablas y conservar métricas confiables?</a:t>
            </a:r>
          </a:p>
        </p:txBody>
      </p:sp>
      <p:sp>
        <p:nvSpPr>
          <p:cNvPr id="57" name="cover-unit">
            <a:extLst xmlns:a="http://schemas.openxmlformats.org/drawingml/2006/main">
              <a:ext uri="{FF2B5EF4-FFF2-40B4-BE49-F238E27FC236}">
                <a16:creationId xmlns:a16="http://schemas.microsoft.com/office/drawing/2014/main" id="{913AB56B-B1C1-40CE-9DCE-73769A34D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8001000"/>
            <a:ext cx="25717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58" name="cover-unit-text">
            <a:extLst xmlns:a="http://schemas.openxmlformats.org/drawingml/2006/main">
              <a:ext uri="{FF2B5EF4-FFF2-40B4-BE49-F238E27FC236}">
                <a16:creationId xmlns:a16="http://schemas.microsoft.com/office/drawing/2014/main" id="{51549033-0ABB-425F-998A-9B1C3B963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800100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UNIDAD 3</a:t>
            </a:r>
          </a:p>
        </p:txBody>
      </p:sp>
      <p:sp>
        <p:nvSpPr>
          <p:cNvPr id="59" name="cover-course">
            <a:extLst xmlns:a="http://schemas.openxmlformats.org/drawingml/2006/main">
              <a:ext uri="{FF2B5EF4-FFF2-40B4-BE49-F238E27FC236}">
                <a16:creationId xmlns:a16="http://schemas.microsoft.com/office/drawing/2014/main" id="{2C70C46F-B10B-44EB-A3C8-E9AC8D29D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8096250"/>
            <a:ext cx="600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0D0D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0D0D0"/>
                </a:solidFill>
                <a:latin typeface="Aptos"/>
                <a:ea typeface="Aptos"/>
                <a:cs typeface="Aptos"/>
              </a:rPr>
              <a:t>Análisis de Datos · Ingeniería Industrial</a:t>
            </a:r>
          </a:p>
        </p:txBody>
      </p:sp>
    </p:spTree>
    <p:extLst>
      <p:ext uri="{BB962C8B-B14F-4D97-AF65-F5344CB8AC3E}">
        <p14:creationId xmlns:p14="http://schemas.microsoft.com/office/powerpoint/2010/main" val="16884934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5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41599EAE-9230-46F4-8A97-7D146E9F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6350000" h="9525000">
                <a:moveTo>
                  <a:pt x="0" y="9042400"/>
                </a:moveTo>
                <a:lnTo>
                  <a:pt x="0" y="482600"/>
                </a:lnTo>
                <a:cubicBezTo>
                  <a:pt x="0" y="215900"/>
                  <a:pt x="215900" y="0"/>
                  <a:pt x="482600" y="0"/>
                </a:cubicBezTo>
                <a:lnTo>
                  <a:pt x="5867400" y="0"/>
                </a:lnTo>
                <a:cubicBezTo>
                  <a:pt x="6134100" y="0"/>
                  <a:pt x="6350000" y="217170"/>
                  <a:pt x="6350000" y="482600"/>
                </a:cubicBezTo>
                <a:lnTo>
                  <a:pt x="6350000" y="9042400"/>
                </a:lnTo>
                <a:cubicBezTo>
                  <a:pt x="6350000" y="9309100"/>
                  <a:pt x="6134100" y="9525000"/>
                  <a:pt x="5867400" y="9525000"/>
                </a:cubicBezTo>
                <a:lnTo>
                  <a:pt x="482600" y="9525000"/>
                </a:lnTo>
                <a:cubicBezTo>
                  <a:pt x="217170" y="9525000"/>
                  <a:pt x="0" y="9309100"/>
                  <a:pt x="0" y="904240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BB645A18-45DA-41BB-B67F-44E720A6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829325" h="516787">
                <a:moveTo>
                  <a:pt x="21062" y="0"/>
                </a:moveTo>
                <a:lnTo>
                  <a:pt x="808264" y="0"/>
                </a:lnTo>
                <a:cubicBezTo>
                  <a:pt x="813849" y="0"/>
                  <a:pt x="819206" y="2219"/>
                  <a:pt x="823156" y="6169"/>
                </a:cubicBezTo>
                <a:cubicBezTo>
                  <a:pt x="827106" y="10119"/>
                  <a:pt x="829325" y="15476"/>
                  <a:pt x="829325" y="21062"/>
                </a:cubicBezTo>
                <a:lnTo>
                  <a:pt x="829325" y="495726"/>
                </a:lnTo>
                <a:cubicBezTo>
                  <a:pt x="829325" y="501312"/>
                  <a:pt x="827106" y="506669"/>
                  <a:pt x="823156" y="510619"/>
                </a:cubicBezTo>
                <a:cubicBezTo>
                  <a:pt x="819206" y="514568"/>
                  <a:pt x="813849" y="516787"/>
                  <a:pt x="808264" y="516787"/>
                </a:cubicBezTo>
                <a:lnTo>
                  <a:pt x="21062" y="516787"/>
                </a:lnTo>
                <a:cubicBezTo>
                  <a:pt x="15476" y="516787"/>
                  <a:pt x="10119" y="514568"/>
                  <a:pt x="6169" y="510619"/>
                </a:cubicBezTo>
                <a:cubicBezTo>
                  <a:pt x="2219" y="506669"/>
                  <a:pt x="0" y="501312"/>
                  <a:pt x="0" y="495726"/>
                </a:cubicBezTo>
                <a:lnTo>
                  <a:pt x="0" y="21062"/>
                </a:lnTo>
                <a:cubicBezTo>
                  <a:pt x="0" y="15476"/>
                  <a:pt x="2219" y="10119"/>
                  <a:pt x="6169" y="6169"/>
                </a:cubicBezTo>
                <a:cubicBezTo>
                  <a:pt x="10119" y="2219"/>
                  <a:pt x="15476" y="0"/>
                  <a:pt x="21062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44B9B017-FA3A-4B67-B447-67CF57E5E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895E777F-304A-483E-AD78-5BAFE4373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32323" y="0"/>
                </a:moveTo>
                <a:lnTo>
                  <a:pt x="235185" y="0"/>
                </a:lnTo>
                <a:cubicBezTo>
                  <a:pt x="308264" y="0"/>
                  <a:pt x="367507" y="59243"/>
                  <a:pt x="367507" y="132323"/>
                </a:cubicBezTo>
                <a:lnTo>
                  <a:pt x="367507" y="252450"/>
                </a:lnTo>
                <a:cubicBezTo>
                  <a:pt x="367507" y="325529"/>
                  <a:pt x="308264" y="384772"/>
                  <a:pt x="235185" y="384772"/>
                </a:cubicBezTo>
                <a:lnTo>
                  <a:pt x="132323" y="384772"/>
                </a:lnTo>
                <a:cubicBezTo>
                  <a:pt x="59243" y="384772"/>
                  <a:pt x="0" y="325529"/>
                  <a:pt x="0" y="252450"/>
                </a:cubicBezTo>
                <a:lnTo>
                  <a:pt x="0" y="132323"/>
                </a:lnTo>
                <a:cubicBezTo>
                  <a:pt x="0" y="59243"/>
                  <a:pt x="59243" y="0"/>
                  <a:pt x="132323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422F67D9-C70F-43B0-9119-013334F8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8E20F117-83A3-4316-8680-A192D7462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A2456041-BEF3-4033-BC59-AE8E7FDC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D82CB605-CAA5-42CA-B507-02BFB77BF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AA16B0EF-85D9-44E6-9D81-21A0E3E21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2BD0F58A-DE3D-4287-8F03-DF04BA64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0D87C4CE-3F87-4889-8059-17D1A3AEE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D8711D01-5E9C-43ED-A715-EF2A83938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812787" h="812787">
                <a:moveTo>
                  <a:pt x="0" y="0"/>
                </a:moveTo>
                <a:lnTo>
                  <a:pt x="812786" y="0"/>
                </a:lnTo>
                <a:lnTo>
                  <a:pt x="812786" y="812787"/>
                </a:lnTo>
                <a:lnTo>
                  <a:pt x="0" y="81278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A73E0E5F-A81C-4E46-AD2D-53B3CCC29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64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64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E1AEF49F-B0A7-41FA-9696-CED7610F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0070"/>
              </a:lnSpc>
              <a:spcBef>
                <a:spcPct val="0"/>
              </a:spcBef>
              <a:buNone/>
              <a:defRPr sz="4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4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E4CD3D23-2ED3-4BD9-AEFB-B1A6A8CF0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443"/>
              </a:lnSpc>
              <a:spcBef>
                <a:spcPct val="0"/>
              </a:spcBef>
              <a:buNone/>
              <a:defRPr sz="1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  <a:endParaRPr sz="1650" b="1">
              <a:solidFill>
                <a:srgbClr val="FFFFFF"/>
              </a:solidFill>
              <a:latin typeface="Telegraf Bold"/>
              <a:ea typeface="Telegraf Bold"/>
              <a:cs typeface="Telegraf Bold"/>
            </a:endParaRP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CF87C25C-01A2-4727-B612-44373DCF4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38"/>
              </a:lnSpc>
              <a:spcBef>
                <a:spcPct val="0"/>
              </a:spcBef>
              <a:buNone/>
            </a:pPr>
            <a:r>
              <a:rPr sz="2313">
                <a:solidFill>
                  <a:srgbClr val="FFFF33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A7E5DDDB-933E-4EDB-8B45-59ABA66C7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20"/>
              </a:lnSpc>
              <a:buNone/>
            </a:pPr>
            <a:r>
              <a:rPr sz="1982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3F8E7F09-926C-491E-A20C-8170D086C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231195" h="406400">
                <a:moveTo>
                  <a:pt x="3027995" y="0"/>
                </a:moveTo>
                <a:cubicBezTo>
                  <a:pt x="3140220" y="0"/>
                  <a:pt x="3231195" y="90976"/>
                  <a:pt x="3231195" y="203200"/>
                </a:cubicBezTo>
                <a:cubicBezTo>
                  <a:pt x="3231195" y="315424"/>
                  <a:pt x="3140220" y="406400"/>
                  <a:pt x="3027995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EC9C4D18-444F-4F86-95CB-62116316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A33CE1BD-FDDF-4394-B584-278ED2424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761692" h="406400">
                <a:moveTo>
                  <a:pt x="1558492" y="0"/>
                </a:moveTo>
                <a:cubicBezTo>
                  <a:pt x="1670717" y="0"/>
                  <a:pt x="1761692" y="90976"/>
                  <a:pt x="1761692" y="203200"/>
                </a:cubicBezTo>
                <a:cubicBezTo>
                  <a:pt x="1761692" y="315424"/>
                  <a:pt x="1670717" y="406400"/>
                  <a:pt x="1558492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2C69D954-C7C9-4265-B933-11769380B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C01D160F-BB8C-4120-99EE-5308C2A43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C95C0556-9450-4183-A70F-BB23459F1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6" name="Freeform 36">
            <a:extLst xmlns:a="http://schemas.openxmlformats.org/drawingml/2006/main">
              <a:ext uri="{FF2B5EF4-FFF2-40B4-BE49-F238E27FC236}">
                <a16:creationId xmlns:a16="http://schemas.microsoft.com/office/drawing/2014/main" id="{F699D9FF-4CD4-4B20-9AF1-74CF80D59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38320" h="514913">
                <a:moveTo>
                  <a:pt x="0" y="0"/>
                </a:moveTo>
                <a:lnTo>
                  <a:pt x="438320" y="0"/>
                </a:lnTo>
                <a:lnTo>
                  <a:pt x="438320" y="514913"/>
                </a:lnTo>
                <a:lnTo>
                  <a:pt x="0" y="51491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1DD2DE10-3D86-489C-BE17-EE6AB81D7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159"/>
              </a:lnSpc>
              <a:buNone/>
            </a:pPr>
            <a:r>
              <a:rPr sz="1599">
                <a:solidFill>
                  <a:srgbClr val="F6F9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16EBDEB0-C238-487A-8BC5-675FBC81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2159"/>
              </a:lnSpc>
              <a:buNone/>
            </a:pPr>
            <a:r>
              <a:rPr sz="1599">
                <a:solidFill>
                  <a:srgbClr val="F6F9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1FA2A9ED-D814-4F81-BF6A-248A18C9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0070"/>
              </a:lnSpc>
              <a:spcBef>
                <a:spcPct val="0"/>
              </a:spcBef>
              <a:buNone/>
              <a:defRPr sz="43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43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05A9C250-80BF-4D30-90DF-77B6F38C1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443"/>
              </a:lnSpc>
              <a:spcBef>
                <a:spcPct val="0"/>
              </a:spcBef>
              <a:buNone/>
              <a:defRPr sz="1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119F38F8-3E4E-4BAE-8A7D-E9C7182B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38"/>
              </a:lnSpc>
              <a:spcBef>
                <a:spcPct val="0"/>
              </a:spcBef>
              <a:buNone/>
            </a:pPr>
            <a:r>
              <a:rPr sz="2313">
                <a:solidFill>
                  <a:srgbClr val="FFFF33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3" name="TextBox 43">
            <a:extLst xmlns:a="http://schemas.openxmlformats.org/drawingml/2006/main">
              <a:ext uri="{FF2B5EF4-FFF2-40B4-BE49-F238E27FC236}">
                <a16:creationId xmlns:a16="http://schemas.microsoft.com/office/drawing/2014/main" id="{DB75F18F-2D8F-4655-9D4E-587F65119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20"/>
              </a:lnSpc>
              <a:buNone/>
            </a:pPr>
            <a:r>
              <a:rPr sz="1982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0DC5DB04-51FC-4DDD-90C7-BDC4A3872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38"/>
              </a:lnSpc>
              <a:spcBef>
                <a:spcPct val="0"/>
              </a:spcBef>
              <a:buNone/>
            </a:pPr>
            <a:r>
              <a:rPr sz="2313">
                <a:solidFill>
                  <a:srgbClr val="FFFF33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8831C357-2367-4D26-855D-C1356995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20"/>
              </a:lnSpc>
              <a:buNone/>
            </a:pPr>
            <a:r>
              <a:rPr sz="1982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86253085-92BB-4B37-9E0B-BAF67954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38"/>
              </a:lnSpc>
              <a:spcBef>
                <a:spcPct val="0"/>
              </a:spcBef>
              <a:buNone/>
            </a:pPr>
            <a:r>
              <a:rPr sz="2313">
                <a:solidFill>
                  <a:srgbClr val="FFFF33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F1AC78EF-548D-416F-9D3B-39A1C025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20"/>
              </a:lnSpc>
              <a:buNone/>
            </a:pPr>
            <a:r>
              <a:rPr sz="1982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  <a:endParaRPr sz="1982">
              <a:solidFill>
                <a:srgbClr val="FFFFFF"/>
              </a:solidFill>
              <a:latin typeface="Telegraf"/>
              <a:ea typeface="Telegraf"/>
              <a:cs typeface="Telegraf"/>
            </a:endParaRPr>
          </a:p>
        </p:txBody>
      </p:sp>
      <p:sp>
        <p:nvSpPr>
          <p:cNvPr id="50" name="AutoShape 50">
            <a:extLst xmlns:a="http://schemas.openxmlformats.org/drawingml/2006/main">
              <a:ext uri="{FF2B5EF4-FFF2-40B4-BE49-F238E27FC236}">
                <a16:creationId xmlns:a16="http://schemas.microsoft.com/office/drawing/2014/main" id="{50360BEB-2406-4484-B3B7-98EBD2B91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51" name="TextBox 51">
            <a:extLst xmlns:a="http://schemas.openxmlformats.org/drawingml/2006/main">
              <a:ext uri="{FF2B5EF4-FFF2-40B4-BE49-F238E27FC236}">
                <a16:creationId xmlns:a16="http://schemas.microsoft.com/office/drawing/2014/main" id="{21046766-6CDD-405B-9F7F-1FEE675C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21"/>
              </a:lnSpc>
              <a:spcBef>
                <a:spcPct val="0"/>
              </a:spcBef>
              <a:buNone/>
            </a:pPr>
            <a:r>
              <a:rPr sz="1943" b="1">
                <a:solidFill>
                  <a:srgbClr val="FFFFFF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664F1534-F388-448D-89C2-C415FA37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21"/>
              </a:lnSpc>
              <a:spcBef>
                <a:spcPct val="0"/>
              </a:spcBef>
              <a:buNone/>
            </a:pPr>
            <a:r>
              <a:rPr sz="1943" b="1">
                <a:solidFill>
                  <a:srgbClr val="FFFFFF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2696FB92-092A-4DA4-9485-F731CFC1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21"/>
              </a:lnSpc>
              <a:spcBef>
                <a:spcPct val="0"/>
              </a:spcBef>
              <a:buNone/>
            </a:pPr>
            <a:r>
              <a:rPr sz="1943" b="1">
                <a:solidFill>
                  <a:srgbClr val="FFFFFF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97C44366-DEBC-4C93-B14C-8DC4DF95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21"/>
              </a:lnSpc>
              <a:spcBef>
                <a:spcPct val="0"/>
              </a:spcBef>
              <a:buNone/>
            </a:pPr>
            <a:r>
              <a:rPr sz="1943" b="1">
                <a:solidFill>
                  <a:srgbClr val="FFFFFF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55" name="visual-top-rail">
            <a:extLst xmlns:a="http://schemas.openxmlformats.org/drawingml/2006/main">
              <a:ext uri="{FF2B5EF4-FFF2-40B4-BE49-F238E27FC236}">
                <a16:creationId xmlns:a16="http://schemas.microsoft.com/office/drawing/2014/main" id="{C5BB4E0D-BFF4-4632-AFED-2B70DD10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33"/>
          </a:solidFill>
          <a:ln xmlns:a="http://schemas.openxmlformats.org/drawingml/2006/main" w="0">
            <a:noFill/>
          </a:ln>
        </p:spPr>
      </p:sp>
      <p:pic>
        <p:nvPicPr>
          <p:cNvPr id="1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b8ce2dcbc14d2d"/>
          <a:stretch xmlns:a="http://schemas.openxmlformats.org/drawingml/2006/main"/>
        </p:blipFill>
        <p:spPr>
          <a:xfrm xmlns:a="http://schemas.openxmlformats.org/drawingml/2006/main">
            <a:off x="704850" y="540763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7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AC631F1B-C7DB-4B62-BC61-FAF2DAB09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4770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D8D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8D8D8"/>
                </a:solidFill>
                <a:latin typeface="Aptos"/>
                <a:ea typeface="Aptos"/>
                <a:cs typeface="Aptos"/>
              </a:rPr>
              <a:t>Universidad Tecnológica Nacional</a:t>
            </a:r>
          </a:p>
        </p:txBody>
      </p:sp>
      <p:sp>
        <p:nvSpPr>
          <p:cNvPr id="58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3B1306F4-F09D-4C2E-BBB2-4206E64F7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19250"/>
            <a:ext cx="14382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Un join redefine el universo de filas</a:t>
            </a:r>
          </a:p>
        </p:txBody>
      </p:sp>
      <p:sp>
        <p:nvSpPr>
          <p:cNvPr id="59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75563DD5-3959-46BA-867E-FF53B2A74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19200" y="2905125"/>
            <a:ext cx="716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33"/>
            </a:solidFill>
            <a:prstDash val="solid"/>
          </a:ln>
        </p:spPr>
      </p:sp>
      <p:sp>
        <p:nvSpPr>
          <p:cNvPr id="60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1372DB1B-E251-4E9E-89BB-94F71CDBD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87249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33"/>
                </a:solidFill>
                <a:latin typeface="Aptos"/>
                <a:ea typeface="Aptos"/>
                <a:cs typeface="Aptos"/>
              </a:rPr>
              <a:t>SQL · RELACIONES</a:t>
            </a:r>
          </a:p>
        </p:txBody>
      </p:sp>
      <p:sp>
        <p:nvSpPr>
          <p:cNvPr id="61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DF33BC3A-831D-43C8-8960-70635B75E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782050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C8CDD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8CDD3"/>
                </a:solidFill>
                <a:latin typeface="Aptos"/>
                <a:ea typeface="Aptos"/>
                <a:cs typeface="Aptos"/>
              </a:rPr>
              <a:t>Análisis de Datos · Ingeniería Industrial</a:t>
            </a:r>
          </a:p>
        </p:txBody>
      </p:sp>
      <p:sp>
        <p:nvSpPr>
          <p:cNvPr id="62" name="compare-box-0">
            <a:extLst xmlns:a="http://schemas.openxmlformats.org/drawingml/2006/main">
              <a:ext uri="{FF2B5EF4-FFF2-40B4-BE49-F238E27FC236}">
                <a16:creationId xmlns:a16="http://schemas.microsoft.com/office/drawing/2014/main" id="{EA68D30A-A856-4996-829D-E333DC21C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19500"/>
            <a:ext cx="6762750" cy="3048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D1D1D"/>
          </a:solidFill>
          <a:ln xmlns:a="http://schemas.openxmlformats.org/drawingml/2006/main" w="11430">
            <a:solidFill>
              <a:srgbClr val="515151"/>
            </a:solidFill>
            <a:prstDash val="solid"/>
          </a:ln>
        </p:spPr>
      </p:sp>
      <p:sp>
        <p:nvSpPr>
          <p:cNvPr id="63" name="compare-head-0">
            <a:extLst xmlns:a="http://schemas.openxmlformats.org/drawingml/2006/main">
              <a:ext uri="{FF2B5EF4-FFF2-40B4-BE49-F238E27FC236}">
                <a16:creationId xmlns:a16="http://schemas.microsoft.com/office/drawing/2014/main" id="{9317098C-99A4-431C-BDD2-2FA877F69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57625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Antes</a:t>
            </a:r>
          </a:p>
        </p:txBody>
      </p:sp>
      <p:sp>
        <p:nvSpPr>
          <p:cNvPr id="64" name="compare-metric-0">
            <a:extLst xmlns:a="http://schemas.openxmlformats.org/drawingml/2006/main">
              <a:ext uri="{FF2B5EF4-FFF2-40B4-BE49-F238E27FC236}">
                <a16:creationId xmlns:a16="http://schemas.microsoft.com/office/drawing/2014/main" id="{0FE1CB02-BF54-4A52-A557-62AA427BB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81425"/>
            <a:ext cx="200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3600" b="1">
                <a:solidFill>
                  <a:srgbClr val="FFFF33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33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65" name="compare-body-0">
            <a:extLst xmlns:a="http://schemas.openxmlformats.org/drawingml/2006/main">
              <a:ext uri="{FF2B5EF4-FFF2-40B4-BE49-F238E27FC236}">
                <a16:creationId xmlns:a16="http://schemas.microsoft.com/office/drawing/2014/main" id="{E6D7D645-FF4B-4559-99B5-4E00381B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857750"/>
            <a:ext cx="6096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8D8D8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D8D8D8"/>
                </a:solidFill>
                <a:latin typeface="Aptos"/>
                <a:ea typeface="Aptos"/>
                <a:cs typeface="Aptos"/>
              </a:rPr>
              <a:t>Pedidos en la tabla izquierda.</a:t>
            </a:r>
          </a:p>
        </p:txBody>
      </p:sp>
      <p:sp>
        <p:nvSpPr>
          <p:cNvPr id="66" name="compare-box-1">
            <a:extLst xmlns:a="http://schemas.openxmlformats.org/drawingml/2006/main">
              <a:ext uri="{FF2B5EF4-FFF2-40B4-BE49-F238E27FC236}">
                <a16:creationId xmlns:a16="http://schemas.microsoft.com/office/drawing/2014/main" id="{9E2E9480-DF04-4C27-AB99-E3402E0B1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19500"/>
            <a:ext cx="6762750" cy="3048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232323"/>
          </a:solidFill>
          <a:ln xmlns:a="http://schemas.openxmlformats.org/drawingml/2006/main" w="11430">
            <a:solidFill>
              <a:srgbClr val="515151"/>
            </a:solidFill>
            <a:prstDash val="solid"/>
          </a:ln>
        </p:spPr>
      </p:sp>
      <p:sp>
        <p:nvSpPr>
          <p:cNvPr id="67" name="compare-head-1">
            <a:extLst xmlns:a="http://schemas.openxmlformats.org/drawingml/2006/main">
              <a:ext uri="{FF2B5EF4-FFF2-40B4-BE49-F238E27FC236}">
                <a16:creationId xmlns:a16="http://schemas.microsoft.com/office/drawing/2014/main" id="{62CA999C-DC0D-4A1B-AFDF-08EF36F2A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857625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Después</a:t>
            </a:r>
          </a:p>
        </p:txBody>
      </p:sp>
      <p:sp>
        <p:nvSpPr>
          <p:cNvPr id="68" name="compare-metric-1">
            <a:extLst xmlns:a="http://schemas.openxmlformats.org/drawingml/2006/main">
              <a:ext uri="{FF2B5EF4-FFF2-40B4-BE49-F238E27FC236}">
                <a16:creationId xmlns:a16="http://schemas.microsoft.com/office/drawing/2014/main" id="{34967762-4753-4F33-BD9F-BB22F640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3781425"/>
            <a:ext cx="200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7663"/>
          </a:bodyPr>
          <a:lstStyle xmlns:a="http://schemas.openxmlformats.org/drawingml/2006/main"/>
          <a:p xmlns:a="http://schemas.openxmlformats.org/drawingml/2006/main">
            <a:pPr algn="r">
              <a:defRPr sz="3600" b="1">
                <a:solidFill>
                  <a:srgbClr val="FFFF33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33"/>
                </a:solidFill>
                <a:latin typeface="Aptos"/>
                <a:ea typeface="Aptos"/>
                <a:cs typeface="Aptos"/>
              </a:rPr>
              <a:t>3 / 4 / más</a:t>
            </a:r>
          </a:p>
        </p:txBody>
      </p:sp>
      <p:sp>
        <p:nvSpPr>
          <p:cNvPr id="69" name="compare-body-1">
            <a:extLst xmlns:a="http://schemas.openxmlformats.org/drawingml/2006/main">
              <a:ext uri="{FF2B5EF4-FFF2-40B4-BE49-F238E27FC236}">
                <a16:creationId xmlns:a16="http://schemas.microsoft.com/office/drawing/2014/main" id="{7F9D21C7-A619-46D3-8667-A88E3788E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857750"/>
            <a:ext cx="6096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8D8D8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D8D8D8"/>
                </a:solidFill>
                <a:latin typeface="Aptos"/>
                <a:ea typeface="Aptos"/>
                <a:cs typeface="Aptos"/>
              </a:rPr>
              <a:t>La salida depende del tipo y la cardinalidad.</a:t>
            </a:r>
          </a:p>
        </p:txBody>
      </p:sp>
      <p:sp>
        <p:nvSpPr>
          <p:cNvPr id="70" name="compare-bridge">
            <a:extLst xmlns:a="http://schemas.openxmlformats.org/drawingml/2006/main">
              <a:ext uri="{FF2B5EF4-FFF2-40B4-BE49-F238E27FC236}">
                <a16:creationId xmlns:a16="http://schemas.microsoft.com/office/drawing/2014/main" id="{A85C81A4-E482-4FA7-815A-6B9820773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7143750"/>
            <a:ext cx="11811000" cy="1047750"/>
          </a:xfrm>
          <a:prstGeom xmlns:a="http://schemas.openxmlformats.org/drawingml/2006/main" prst="roundRect">
            <a:avLst>
              <a:gd name="adj" fmla="val 16364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71" name="compare-bridge-text">
            <a:extLst xmlns:a="http://schemas.openxmlformats.org/drawingml/2006/main">
              <a:ext uri="{FF2B5EF4-FFF2-40B4-BE49-F238E27FC236}">
                <a16:creationId xmlns:a16="http://schemas.microsoft.com/office/drawing/2014/main" id="{D56FEF46-1C11-417C-A0A2-47757D4EB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7286625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Predicción: filas que sobreviven, filas que se multiplican y nuevo grano.</a:t>
            </a:r>
          </a:p>
        </p:txBody>
      </p:sp>
    </p:spTree>
    <p:extLst>
      <p:ext uri="{BB962C8B-B14F-4D97-AF65-F5344CB8AC3E}">
        <p14:creationId xmlns:p14="http://schemas.microsoft.com/office/powerpoint/2010/main" val="6941003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E8ED7EFC-4861-4208-9610-A0C3E8C4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413468" h="406400">
                <a:moveTo>
                  <a:pt x="1210268" y="0"/>
                </a:moveTo>
                <a:cubicBezTo>
                  <a:pt x="1322492" y="0"/>
                  <a:pt x="1413468" y="90976"/>
                  <a:pt x="1413468" y="203200"/>
                </a:cubicBezTo>
                <a:cubicBezTo>
                  <a:pt x="1413468" y="315424"/>
                  <a:pt x="1322492" y="406400"/>
                  <a:pt x="1210268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52FB571E-69A8-41C2-AFDB-FC8B05B8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1650F3D9-84BE-457E-91E6-89A9DFB5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123479" h="406400">
                <a:moveTo>
                  <a:pt x="920279" y="0"/>
                </a:moveTo>
                <a:cubicBezTo>
                  <a:pt x="1032503" y="0"/>
                  <a:pt x="1123479" y="90976"/>
                  <a:pt x="1123479" y="203200"/>
                </a:cubicBezTo>
                <a:cubicBezTo>
                  <a:pt x="1123479" y="315424"/>
                  <a:pt x="1032503" y="406400"/>
                  <a:pt x="920279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B42F26B7-ED2D-4C68-8052-238F9B0A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6F2C9F5E-34C6-43A4-A373-EE158F14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06400" h="406400">
                <a:moveTo>
                  <a:pt x="203200" y="0"/>
                </a:moveTo>
                <a:cubicBezTo>
                  <a:pt x="315424" y="0"/>
                  <a:pt x="406400" y="90976"/>
                  <a:pt x="406400" y="203200"/>
                </a:cubicBezTo>
                <a:cubicBezTo>
                  <a:pt x="406400" y="315424"/>
                  <a:pt x="315424" y="406400"/>
                  <a:pt x="203200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1EB13124-A058-41FB-A525-40B530B7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1A941335-BFE7-42C2-B108-440C4D35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987114" h="812800">
                <a:moveTo>
                  <a:pt x="103302" y="0"/>
                </a:moveTo>
                <a:lnTo>
                  <a:pt x="883813" y="0"/>
                </a:lnTo>
                <a:cubicBezTo>
                  <a:pt x="940864" y="0"/>
                  <a:pt x="987114" y="46250"/>
                  <a:pt x="987114" y="103302"/>
                </a:cubicBezTo>
                <a:lnTo>
                  <a:pt x="987114" y="709499"/>
                </a:lnTo>
                <a:cubicBezTo>
                  <a:pt x="987114" y="736896"/>
                  <a:pt x="976231" y="763171"/>
                  <a:pt x="956858" y="782544"/>
                </a:cubicBezTo>
                <a:cubicBezTo>
                  <a:pt x="937485" y="801916"/>
                  <a:pt x="911210" y="812800"/>
                  <a:pt x="883813" y="812800"/>
                </a:cubicBezTo>
                <a:lnTo>
                  <a:pt x="103302" y="812800"/>
                </a:lnTo>
                <a:cubicBezTo>
                  <a:pt x="46250" y="812800"/>
                  <a:pt x="0" y="766550"/>
                  <a:pt x="0" y="709499"/>
                </a:cubicBezTo>
                <a:lnTo>
                  <a:pt x="0" y="103302"/>
                </a:lnTo>
                <a:cubicBezTo>
                  <a:pt x="0" y="46250"/>
                  <a:pt x="46250" y="0"/>
                  <a:pt x="103302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0ECC3C49-31BF-42FB-AFCF-D52CD5D4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CAA3A92D-827C-4E4D-B4A0-8A2AF866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592148" h="812800">
                <a:moveTo>
                  <a:pt x="64046" y="0"/>
                </a:moveTo>
                <a:lnTo>
                  <a:pt x="1528102" y="0"/>
                </a:lnTo>
                <a:cubicBezTo>
                  <a:pt x="1545088" y="0"/>
                  <a:pt x="1561379" y="6748"/>
                  <a:pt x="1573390" y="18759"/>
                </a:cubicBezTo>
                <a:cubicBezTo>
                  <a:pt x="1585400" y="30769"/>
                  <a:pt x="1592148" y="47060"/>
                  <a:pt x="1592148" y="64046"/>
                </a:cubicBezTo>
                <a:lnTo>
                  <a:pt x="1592148" y="748754"/>
                </a:lnTo>
                <a:cubicBezTo>
                  <a:pt x="1592148" y="765740"/>
                  <a:pt x="1585400" y="782031"/>
                  <a:pt x="1573390" y="794041"/>
                </a:cubicBezTo>
                <a:cubicBezTo>
                  <a:pt x="1561379" y="806052"/>
                  <a:pt x="1545088" y="812800"/>
                  <a:pt x="1528102" y="812800"/>
                </a:cubicBezTo>
                <a:lnTo>
                  <a:pt x="64046" y="812800"/>
                </a:lnTo>
                <a:cubicBezTo>
                  <a:pt x="47060" y="812800"/>
                  <a:pt x="30769" y="806052"/>
                  <a:pt x="18759" y="794041"/>
                </a:cubicBezTo>
                <a:cubicBezTo>
                  <a:pt x="6748" y="782031"/>
                  <a:pt x="0" y="765740"/>
                  <a:pt x="0" y="748754"/>
                </a:cubicBezTo>
                <a:lnTo>
                  <a:pt x="0" y="64046"/>
                </a:lnTo>
                <a:cubicBezTo>
                  <a:pt x="0" y="47060"/>
                  <a:pt x="6748" y="30769"/>
                  <a:pt x="18759" y="18759"/>
                </a:cubicBezTo>
                <a:cubicBezTo>
                  <a:pt x="30769" y="6748"/>
                  <a:pt x="47060" y="0"/>
                  <a:pt x="64046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3545B264-AC7A-4B9B-A50F-1A7954B9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D82805FC-500B-4AE7-9355-FAD8DA88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E6B4C127-2F54-4C58-8473-55F2C64D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3C957564-5745-4C9B-BD37-4635A6D6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37860" h="514913">
                <a:moveTo>
                  <a:pt x="0" y="0"/>
                </a:moveTo>
                <a:lnTo>
                  <a:pt x="437860" y="0"/>
                </a:lnTo>
                <a:lnTo>
                  <a:pt x="437860" y="514914"/>
                </a:lnTo>
                <a:lnTo>
                  <a:pt x="0" y="51491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BA52C16D-985B-42C6-9C6C-26B3CA7A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4350">
                <a:solidFill>
                  <a:srgbClr val="1F497D"/>
                </a:solidFill>
              </a:defRPr>
            </a:pPr>
            <a:r>
              <a:rPr sz="43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F9B53DFE-452B-4328-8E96-5CD94806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D96BB86E-6F37-4090-8F89-3D3AA6CC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A6D7007F-1CC8-46D3-8738-0469A45B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231195" h="406400">
                <a:moveTo>
                  <a:pt x="3027995" y="0"/>
                </a:moveTo>
                <a:cubicBezTo>
                  <a:pt x="3140220" y="0"/>
                  <a:pt x="3231195" y="90976"/>
                  <a:pt x="3231195" y="203200"/>
                </a:cubicBezTo>
                <a:cubicBezTo>
                  <a:pt x="3231195" y="315424"/>
                  <a:pt x="3140220" y="406400"/>
                  <a:pt x="3027995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9A015317-4EFB-4E02-B478-32DDC83F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1CA9F9CC-3926-4654-A2C4-4D3901AF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761692" h="406400">
                <a:moveTo>
                  <a:pt x="1558492" y="0"/>
                </a:moveTo>
                <a:cubicBezTo>
                  <a:pt x="1670717" y="0"/>
                  <a:pt x="1761692" y="90976"/>
                  <a:pt x="1761692" y="203200"/>
                </a:cubicBezTo>
                <a:cubicBezTo>
                  <a:pt x="1761692" y="315424"/>
                  <a:pt x="1670717" y="406400"/>
                  <a:pt x="1558492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14D4E16E-79C5-48B8-8542-996B5729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BFA94D0B-5613-4506-BC4D-41C0E0EE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A6D33542-9DFB-40C0-ABC0-18BBBCC7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  <a:defRPr sz="135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35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570CCD69-B43E-41A2-AF3F-53491DF9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61C7D868-A9F7-4449-80AB-5D71DED4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4B054B12-9FFC-486F-ACE6-18FB3A7B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7473980A-D317-4106-92E9-6641660B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2A73EE43-3E88-43A9-90CB-C5E6B308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0D4F2B56-32B6-461E-8B0D-251C4013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55E7FF0B-2E9E-4435-8417-2B76A016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95A12970-D703-44CE-8AA7-43700564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247FC02E-4717-4000-A7F2-CC5E5A77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265292C0-BAFC-4795-80A1-AAFEF981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B1ABCE18-AA0A-4E54-813E-85C645AF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94A46560-49EF-418B-8E31-82CE5B38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FB938355-2040-4A31-A71C-DD790874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08CA77FA-F327-4318-BC2D-F1C64064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5934D129-60D4-41CF-ADD9-CAE6BA1E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5" name="Imagen 95">
            <a:extLst xmlns:a="http://schemas.openxmlformats.org/drawingml/2006/main">
              <a:ext uri="{FF2B5EF4-FFF2-40B4-BE49-F238E27FC236}">
                <a16:creationId xmlns:a16="http://schemas.microsoft.com/office/drawing/2014/main" id="{EE7B9516-B170-497F-B8B5-C45EA2DAC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18" name="Imagen 9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c9053339e14bc4"/>
          <a:srcRect xmlns:a="http://schemas.openxmlformats.org/drawingml/2006/main" l="0" t="7843" r="0" b="78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8476"/>
            </a:avLst>
          </a:prstGeom>
        </p:spPr>
      </p:pic>
      <p:sp>
        <p:nvSpPr>
          <p:cNvPr id="56" name="Imagen 96">
            <a:extLst xmlns:a="http://schemas.openxmlformats.org/drawingml/2006/main">
              <a:ext uri="{FF2B5EF4-FFF2-40B4-BE49-F238E27FC236}">
                <a16:creationId xmlns:a16="http://schemas.microsoft.com/office/drawing/2014/main" id="{731B9B21-F404-42AD-9BBD-A38F5C110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20" name="Imagen 9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3df7e550cd4286"/>
          <a:srcRect xmlns:a="http://schemas.openxmlformats.org/drawingml/2006/main" l="22788" t="0" r="227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8775"/>
            </a:avLst>
          </a:prstGeom>
        </p:spPr>
      </p:pic>
      <p:sp>
        <p:nvSpPr>
          <p:cNvPr id="57" name="visual-top-rail">
            <a:extLst xmlns:a="http://schemas.openxmlformats.org/drawingml/2006/main">
              <a:ext uri="{FF2B5EF4-FFF2-40B4-BE49-F238E27FC236}">
                <a16:creationId xmlns:a16="http://schemas.microsoft.com/office/drawing/2014/main" id="{D1D2A2D7-AFD2-4570-A254-272AD63B3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97D"/>
          </a:solidFill>
          <a:ln xmlns:a="http://schemas.openxmlformats.org/drawingml/2006/main" w="0">
            <a:noFill/>
          </a:ln>
        </p:spPr>
      </p:sp>
      <p:pic>
        <p:nvPicPr>
          <p:cNvPr id="1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7e232b213346d4"/>
          <a:stretch xmlns:a="http://schemas.openxmlformats.org/drawingml/2006/main"/>
        </p:blipFill>
        <p:spPr>
          <a:xfrm xmlns:a="http://schemas.openxmlformats.org/drawingml/2006/main">
            <a:off x="704850" y="540763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9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13CF8E5A-7243-481F-AFB4-CFF9FE479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4770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Universidad Tecnológica Nacional</a:t>
            </a:r>
          </a:p>
        </p:txBody>
      </p:sp>
      <p:sp>
        <p:nvSpPr>
          <p:cNvPr id="60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C4321734-95BF-4F6F-BBFA-80BCA2F7D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19250"/>
            <a:ext cx="14382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Antes de unir, predecimos el resultado</a:t>
            </a:r>
          </a:p>
        </p:txBody>
      </p:sp>
      <p:sp>
        <p:nvSpPr>
          <p:cNvPr id="61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02DE4F05-CFB0-4137-8830-7029BB5B7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19200" y="2905125"/>
            <a:ext cx="716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62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3FC6C70C-F7DE-4E4C-9528-8868CFB6F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87249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97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497D"/>
                </a:solidFill>
                <a:latin typeface="Aptos"/>
                <a:ea typeface="Aptos"/>
                <a:cs typeface="Aptos"/>
              </a:rPr>
              <a:t>JOIN · MÉTODO</a:t>
            </a:r>
          </a:p>
        </p:txBody>
      </p:sp>
      <p:sp>
        <p:nvSpPr>
          <p:cNvPr id="63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52E6E5E2-8B15-44C9-A30F-C39CE9AA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782050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Análisis de Datos · Ingeniería Industrial</a:t>
            </a:r>
          </a:p>
        </p:txBody>
      </p:sp>
      <p:sp>
        <p:nvSpPr>
          <p:cNvPr id="64" name="worked-box-0">
            <a:extLst xmlns:a="http://schemas.openxmlformats.org/drawingml/2006/main">
              <a:ext uri="{FF2B5EF4-FFF2-40B4-BE49-F238E27FC236}">
                <a16:creationId xmlns:a16="http://schemas.microsoft.com/office/drawing/2014/main" id="{21B55D9A-9ACA-49E8-B21E-CD00FCCC3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76625"/>
            <a:ext cx="5118100" cy="1952625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65" name="worked-head-0">
            <a:extLst xmlns:a="http://schemas.openxmlformats.org/drawingml/2006/main">
              <a:ext uri="{FF2B5EF4-FFF2-40B4-BE49-F238E27FC236}">
                <a16:creationId xmlns:a16="http://schemas.microsoft.com/office/drawing/2014/main" id="{A5956F99-D02C-4535-8C40-BFC62147D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48075"/>
            <a:ext cx="4737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497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F497D"/>
                </a:solidFill>
                <a:latin typeface="Aptos"/>
                <a:ea typeface="Aptos"/>
                <a:cs typeface="Aptos"/>
              </a:rPr>
              <a:t>Izquierda</a:t>
            </a:r>
          </a:p>
        </p:txBody>
      </p:sp>
      <p:sp>
        <p:nvSpPr>
          <p:cNvPr id="66" name="worked-body-0">
            <a:extLst xmlns:a="http://schemas.openxmlformats.org/drawingml/2006/main">
              <a:ext uri="{FF2B5EF4-FFF2-40B4-BE49-F238E27FC236}">
                <a16:creationId xmlns:a16="http://schemas.microsoft.com/office/drawing/2014/main" id="{21732188-4D1E-4740-BA60-7993E6D36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14825"/>
            <a:ext cx="4737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un pedido por fila</a:t>
            </a:r>
          </a:p>
        </p:txBody>
      </p:sp>
      <p:sp>
        <p:nvSpPr>
          <p:cNvPr id="67" name="worked-box-1">
            <a:extLst xmlns:a="http://schemas.openxmlformats.org/drawingml/2006/main">
              <a:ext uri="{FF2B5EF4-FFF2-40B4-BE49-F238E27FC236}">
                <a16:creationId xmlns:a16="http://schemas.microsoft.com/office/drawing/2014/main" id="{BE87555A-A6E2-48A6-83AE-750DCC968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4950" y="3476625"/>
            <a:ext cx="5118100" cy="1952625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68" name="worked-head-1">
            <a:extLst xmlns:a="http://schemas.openxmlformats.org/drawingml/2006/main">
              <a:ext uri="{FF2B5EF4-FFF2-40B4-BE49-F238E27FC236}">
                <a16:creationId xmlns:a16="http://schemas.microsoft.com/office/drawing/2014/main" id="{43A85175-E44B-4875-818A-DCC8127A9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3648075"/>
            <a:ext cx="4737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497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F497D"/>
                </a:solidFill>
                <a:latin typeface="Aptos"/>
                <a:ea typeface="Aptos"/>
                <a:cs typeface="Aptos"/>
              </a:rPr>
              <a:t>Derecha</a:t>
            </a:r>
          </a:p>
        </p:txBody>
      </p:sp>
      <p:sp>
        <p:nvSpPr>
          <p:cNvPr id="69" name="worked-body-1">
            <a:extLst xmlns:a="http://schemas.openxmlformats.org/drawingml/2006/main">
              <a:ext uri="{FF2B5EF4-FFF2-40B4-BE49-F238E27FC236}">
                <a16:creationId xmlns:a16="http://schemas.microsoft.com/office/drawing/2014/main" id="{413EEEC9-6D52-4B10-9FD4-EA1B79A04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4314825"/>
            <a:ext cx="4737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un cliente por fila</a:t>
            </a:r>
          </a:p>
        </p:txBody>
      </p:sp>
      <p:sp>
        <p:nvSpPr>
          <p:cNvPr id="70" name="worked-box-2">
            <a:extLst xmlns:a="http://schemas.openxmlformats.org/drawingml/2006/main">
              <a:ext uri="{FF2B5EF4-FFF2-40B4-BE49-F238E27FC236}">
                <a16:creationId xmlns:a16="http://schemas.microsoft.com/office/drawing/2014/main" id="{2BAF52C5-FDDD-4235-BA66-C957570F3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0700" y="3476625"/>
            <a:ext cx="5118100" cy="1952625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71" name="worked-head-2">
            <a:extLst xmlns:a="http://schemas.openxmlformats.org/drawingml/2006/main">
              <a:ext uri="{FF2B5EF4-FFF2-40B4-BE49-F238E27FC236}">
                <a16:creationId xmlns:a16="http://schemas.microsoft.com/office/drawing/2014/main" id="{503D529C-7C21-4EB8-92A7-C6B4BD14D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1200" y="3648075"/>
            <a:ext cx="4737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497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F497D"/>
                </a:solidFill>
                <a:latin typeface="Aptos"/>
                <a:ea typeface="Aptos"/>
                <a:cs typeface="Aptos"/>
              </a:rPr>
              <a:t>Cardinalidad</a:t>
            </a:r>
          </a:p>
        </p:txBody>
      </p:sp>
      <p:sp>
        <p:nvSpPr>
          <p:cNvPr id="72" name="worked-body-2">
            <a:extLst xmlns:a="http://schemas.openxmlformats.org/drawingml/2006/main">
              <a:ext uri="{FF2B5EF4-FFF2-40B4-BE49-F238E27FC236}">
                <a16:creationId xmlns:a16="http://schemas.microsoft.com/office/drawing/2014/main" id="{E64855FA-D1F5-440F-BB67-85CF11985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1200" y="4314825"/>
            <a:ext cx="4737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muchos pedidos a un cliente</a:t>
            </a:r>
          </a:p>
        </p:txBody>
      </p:sp>
      <p:sp>
        <p:nvSpPr>
          <p:cNvPr id="73" name="worked-box-3">
            <a:extLst xmlns:a="http://schemas.openxmlformats.org/drawingml/2006/main">
              <a:ext uri="{FF2B5EF4-FFF2-40B4-BE49-F238E27FC236}">
                <a16:creationId xmlns:a16="http://schemas.microsoft.com/office/drawing/2014/main" id="{D32E2972-F782-4BBD-BB1D-E31519204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676900"/>
            <a:ext cx="5118100" cy="1952625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74" name="worked-head-3">
            <a:extLst xmlns:a="http://schemas.openxmlformats.org/drawingml/2006/main">
              <a:ext uri="{FF2B5EF4-FFF2-40B4-BE49-F238E27FC236}">
                <a16:creationId xmlns:a16="http://schemas.microsoft.com/office/drawing/2014/main" id="{F51D84E8-3669-4446-B13B-0AEB283C4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848350"/>
            <a:ext cx="4737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497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F497D"/>
                </a:solidFill>
                <a:latin typeface="Aptos"/>
                <a:ea typeface="Aptos"/>
                <a:cs typeface="Aptos"/>
              </a:rPr>
              <a:t>Salida</a:t>
            </a:r>
          </a:p>
        </p:txBody>
      </p:sp>
      <p:sp>
        <p:nvSpPr>
          <p:cNvPr id="75" name="worked-body-3">
            <a:extLst xmlns:a="http://schemas.openxmlformats.org/drawingml/2006/main">
              <a:ext uri="{FF2B5EF4-FFF2-40B4-BE49-F238E27FC236}">
                <a16:creationId xmlns:a16="http://schemas.microsoft.com/office/drawing/2014/main" id="{8E2B069C-B9F3-4934-802D-224A00CF6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6515100"/>
            <a:ext cx="4737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un pedido por fila</a:t>
            </a:r>
          </a:p>
        </p:txBody>
      </p:sp>
      <p:sp>
        <p:nvSpPr>
          <p:cNvPr id="76" name="worked-box-4">
            <a:extLst xmlns:a="http://schemas.openxmlformats.org/drawingml/2006/main">
              <a:ext uri="{FF2B5EF4-FFF2-40B4-BE49-F238E27FC236}">
                <a16:creationId xmlns:a16="http://schemas.microsoft.com/office/drawing/2014/main" id="{4ADD43E5-2644-45E7-AC11-81ED818B0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4950" y="5676900"/>
            <a:ext cx="5118100" cy="1952625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77" name="worked-head-4">
            <a:extLst xmlns:a="http://schemas.openxmlformats.org/drawingml/2006/main">
              <a:ext uri="{FF2B5EF4-FFF2-40B4-BE49-F238E27FC236}">
                <a16:creationId xmlns:a16="http://schemas.microsoft.com/office/drawing/2014/main" id="{2909FA38-85F6-418F-A1F6-F09BC8093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5848350"/>
            <a:ext cx="4737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Control</a:t>
            </a:r>
          </a:p>
        </p:txBody>
      </p:sp>
      <p:sp>
        <p:nvSpPr>
          <p:cNvPr id="78" name="worked-body-4">
            <a:extLst xmlns:a="http://schemas.openxmlformats.org/drawingml/2006/main">
              <a:ext uri="{FF2B5EF4-FFF2-40B4-BE49-F238E27FC236}">
                <a16:creationId xmlns:a16="http://schemas.microsoft.com/office/drawing/2014/main" id="{0ADB5222-9FCB-4DFF-81FF-623B2A3E9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6515100"/>
            <a:ext cx="4737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3.574 filas</a:t>
            </a:r>
          </a:p>
        </p:txBody>
      </p:sp>
      <p:sp>
        <p:nvSpPr>
          <p:cNvPr id="79" name="worked-caption">
            <a:extLst xmlns:a="http://schemas.openxmlformats.org/drawingml/2006/main">
              <a:ext uri="{FF2B5EF4-FFF2-40B4-BE49-F238E27FC236}">
                <a16:creationId xmlns:a16="http://schemas.microsoft.com/office/drawing/2014/main" id="{0FB1D3F1-C192-4F9B-BD14-E5A21707E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7715250"/>
            <a:ext cx="1447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F497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497D"/>
                </a:solidFill>
                <a:latin typeface="Aptos"/>
                <a:ea typeface="Aptos"/>
                <a:cs typeface="Aptos"/>
              </a:rPr>
              <a:t>La predicción se registra antes de ejecutar.</a:t>
            </a:r>
          </a:p>
        </p:txBody>
      </p:sp>
    </p:spTree>
    <p:extLst>
      <p:ext uri="{BB962C8B-B14F-4D97-AF65-F5344CB8AC3E}">
        <p14:creationId xmlns:p14="http://schemas.microsoft.com/office/powerpoint/2010/main" val="7626627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E8ED7EFC-4861-4208-9610-A0C3E8C4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413468" h="406400">
                <a:moveTo>
                  <a:pt x="1210268" y="0"/>
                </a:moveTo>
                <a:cubicBezTo>
                  <a:pt x="1322492" y="0"/>
                  <a:pt x="1413468" y="90976"/>
                  <a:pt x="1413468" y="203200"/>
                </a:cubicBezTo>
                <a:cubicBezTo>
                  <a:pt x="1413468" y="315424"/>
                  <a:pt x="1322492" y="406400"/>
                  <a:pt x="1210268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52FB571E-69A8-41C2-AFDB-FC8B05B8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1650F3D9-84BE-457E-91E6-89A9DFB5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123479" h="406400">
                <a:moveTo>
                  <a:pt x="920279" y="0"/>
                </a:moveTo>
                <a:cubicBezTo>
                  <a:pt x="1032503" y="0"/>
                  <a:pt x="1123479" y="90976"/>
                  <a:pt x="1123479" y="203200"/>
                </a:cubicBezTo>
                <a:cubicBezTo>
                  <a:pt x="1123479" y="315424"/>
                  <a:pt x="1032503" y="406400"/>
                  <a:pt x="920279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B42F26B7-ED2D-4C68-8052-238F9B0A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6F2C9F5E-34C6-43A4-A373-EE158F14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06400" h="406400">
                <a:moveTo>
                  <a:pt x="203200" y="0"/>
                </a:moveTo>
                <a:cubicBezTo>
                  <a:pt x="315424" y="0"/>
                  <a:pt x="406400" y="90976"/>
                  <a:pt x="406400" y="203200"/>
                </a:cubicBezTo>
                <a:cubicBezTo>
                  <a:pt x="406400" y="315424"/>
                  <a:pt x="315424" y="406400"/>
                  <a:pt x="203200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1EB13124-A058-41FB-A525-40B530B7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1A941335-BFE7-42C2-B108-440C4D35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987114" h="812800">
                <a:moveTo>
                  <a:pt x="103302" y="0"/>
                </a:moveTo>
                <a:lnTo>
                  <a:pt x="883813" y="0"/>
                </a:lnTo>
                <a:cubicBezTo>
                  <a:pt x="940864" y="0"/>
                  <a:pt x="987114" y="46250"/>
                  <a:pt x="987114" y="103302"/>
                </a:cubicBezTo>
                <a:lnTo>
                  <a:pt x="987114" y="709499"/>
                </a:lnTo>
                <a:cubicBezTo>
                  <a:pt x="987114" y="736896"/>
                  <a:pt x="976231" y="763171"/>
                  <a:pt x="956858" y="782544"/>
                </a:cubicBezTo>
                <a:cubicBezTo>
                  <a:pt x="937485" y="801916"/>
                  <a:pt x="911210" y="812800"/>
                  <a:pt x="883813" y="812800"/>
                </a:cubicBezTo>
                <a:lnTo>
                  <a:pt x="103302" y="812800"/>
                </a:lnTo>
                <a:cubicBezTo>
                  <a:pt x="46250" y="812800"/>
                  <a:pt x="0" y="766550"/>
                  <a:pt x="0" y="709499"/>
                </a:cubicBezTo>
                <a:lnTo>
                  <a:pt x="0" y="103302"/>
                </a:lnTo>
                <a:cubicBezTo>
                  <a:pt x="0" y="46250"/>
                  <a:pt x="46250" y="0"/>
                  <a:pt x="103302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0ECC3C49-31BF-42FB-AFCF-D52CD5D4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CAA3A92D-827C-4E4D-B4A0-8A2AF866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592148" h="812800">
                <a:moveTo>
                  <a:pt x="64046" y="0"/>
                </a:moveTo>
                <a:lnTo>
                  <a:pt x="1528102" y="0"/>
                </a:lnTo>
                <a:cubicBezTo>
                  <a:pt x="1545088" y="0"/>
                  <a:pt x="1561379" y="6748"/>
                  <a:pt x="1573390" y="18759"/>
                </a:cubicBezTo>
                <a:cubicBezTo>
                  <a:pt x="1585400" y="30769"/>
                  <a:pt x="1592148" y="47060"/>
                  <a:pt x="1592148" y="64046"/>
                </a:cubicBezTo>
                <a:lnTo>
                  <a:pt x="1592148" y="748754"/>
                </a:lnTo>
                <a:cubicBezTo>
                  <a:pt x="1592148" y="765740"/>
                  <a:pt x="1585400" y="782031"/>
                  <a:pt x="1573390" y="794041"/>
                </a:cubicBezTo>
                <a:cubicBezTo>
                  <a:pt x="1561379" y="806052"/>
                  <a:pt x="1545088" y="812800"/>
                  <a:pt x="1528102" y="812800"/>
                </a:cubicBezTo>
                <a:lnTo>
                  <a:pt x="64046" y="812800"/>
                </a:lnTo>
                <a:cubicBezTo>
                  <a:pt x="47060" y="812800"/>
                  <a:pt x="30769" y="806052"/>
                  <a:pt x="18759" y="794041"/>
                </a:cubicBezTo>
                <a:cubicBezTo>
                  <a:pt x="6748" y="782031"/>
                  <a:pt x="0" y="765740"/>
                  <a:pt x="0" y="748754"/>
                </a:cubicBezTo>
                <a:lnTo>
                  <a:pt x="0" y="64046"/>
                </a:lnTo>
                <a:cubicBezTo>
                  <a:pt x="0" y="47060"/>
                  <a:pt x="6748" y="30769"/>
                  <a:pt x="18759" y="18759"/>
                </a:cubicBezTo>
                <a:cubicBezTo>
                  <a:pt x="30769" y="6748"/>
                  <a:pt x="47060" y="0"/>
                  <a:pt x="64046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3545B264-AC7A-4B9B-A50F-1A7954B9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D82805FC-500B-4AE7-9355-FAD8DA88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E6B4C127-2F54-4C58-8473-55F2C64D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3C957564-5745-4C9B-BD37-4635A6D6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37860" h="514913">
                <a:moveTo>
                  <a:pt x="0" y="0"/>
                </a:moveTo>
                <a:lnTo>
                  <a:pt x="437860" y="0"/>
                </a:lnTo>
                <a:lnTo>
                  <a:pt x="437860" y="514914"/>
                </a:lnTo>
                <a:lnTo>
                  <a:pt x="0" y="51491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BA52C16D-985B-42C6-9C6C-26B3CA7A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4350">
                <a:solidFill>
                  <a:srgbClr val="1F497D"/>
                </a:solidFill>
              </a:defRPr>
            </a:pPr>
            <a:r>
              <a:rPr sz="43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  <a:endParaRPr sz="4350" b="1">
              <a:solidFill>
                <a:srgbClr val="1F497D"/>
              </a:solidFill>
              <a:latin typeface="Telegraf Bold"/>
              <a:ea typeface="Telegraf Bold"/>
              <a:cs typeface="Telegraf Bold"/>
            </a:endParaRP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F9B53DFE-452B-4328-8E96-5CD94806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D96BB86E-6F37-4090-8F89-3D3AA6CC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A6D7007F-1CC8-46D3-8738-0469A45B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231195" h="406400">
                <a:moveTo>
                  <a:pt x="3027995" y="0"/>
                </a:moveTo>
                <a:cubicBezTo>
                  <a:pt x="3140220" y="0"/>
                  <a:pt x="3231195" y="90976"/>
                  <a:pt x="3231195" y="203200"/>
                </a:cubicBezTo>
                <a:cubicBezTo>
                  <a:pt x="3231195" y="315424"/>
                  <a:pt x="3140220" y="406400"/>
                  <a:pt x="3027995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9A015317-4EFB-4E02-B478-32DDC83F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1CA9F9CC-3926-4654-A2C4-4D3901AF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761692" h="406400">
                <a:moveTo>
                  <a:pt x="1558492" y="0"/>
                </a:moveTo>
                <a:cubicBezTo>
                  <a:pt x="1670717" y="0"/>
                  <a:pt x="1761692" y="90976"/>
                  <a:pt x="1761692" y="203200"/>
                </a:cubicBezTo>
                <a:cubicBezTo>
                  <a:pt x="1761692" y="315424"/>
                  <a:pt x="1670717" y="406400"/>
                  <a:pt x="1558492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14D4E16E-79C5-48B8-8542-996B5729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BFA94D0B-5613-4506-BC4D-41C0E0EE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A6D33542-9DFB-40C0-ABC0-18BBBCC7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  <a:defRPr sz="135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35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570CCD69-B43E-41A2-AF3F-53491DF9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61C7D868-A9F7-4449-80AB-5D71DED4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4B054B12-9FFC-486F-ACE6-18FB3A7B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7473980A-D317-4106-92E9-6641660B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2A73EE43-3E88-43A9-90CB-C5E6B308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0D4F2B56-32B6-461E-8B0D-251C4013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55E7FF0B-2E9E-4435-8417-2B76A016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95A12970-D703-44CE-8AA7-43700564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247FC02E-4717-4000-A7F2-CC5E5A77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265292C0-BAFC-4795-80A1-AAFEF981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B1ABCE18-AA0A-4E54-813E-85C645AF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94A46560-49EF-418B-8E31-82CE5B38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FB938355-2040-4A31-A71C-DD790874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08CA77FA-F327-4318-BC2D-F1C64064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5934D129-60D4-41CF-ADD9-CAE6BA1E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5" name="Imagen 95">
            <a:extLst xmlns:a="http://schemas.openxmlformats.org/drawingml/2006/main">
              <a:ext uri="{FF2B5EF4-FFF2-40B4-BE49-F238E27FC236}">
                <a16:creationId xmlns:a16="http://schemas.microsoft.com/office/drawing/2014/main" id="{92D4C35E-43A7-495D-956E-552B1C093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05" name="Imagen 9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b5c8d54e58442a"/>
          <a:srcRect xmlns:a="http://schemas.openxmlformats.org/drawingml/2006/main" l="0" t="7843" r="0" b="78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8476"/>
            </a:avLst>
          </a:prstGeom>
        </p:spPr>
      </p:pic>
      <p:sp>
        <p:nvSpPr>
          <p:cNvPr id="56" name="Imagen 96">
            <a:extLst xmlns:a="http://schemas.openxmlformats.org/drawingml/2006/main">
              <a:ext uri="{FF2B5EF4-FFF2-40B4-BE49-F238E27FC236}">
                <a16:creationId xmlns:a16="http://schemas.microsoft.com/office/drawing/2014/main" id="{81D40468-95E8-4107-BEB9-DC01DA3EC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07" name="Imagen 9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1597a148164bde"/>
          <a:srcRect xmlns:a="http://schemas.openxmlformats.org/drawingml/2006/main" l="17728" t="0" r="1772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8775"/>
            </a:avLst>
          </a:prstGeom>
        </p:spPr>
      </p:pic>
      <p:sp>
        <p:nvSpPr>
          <p:cNvPr id="57" name="visual-top-rail">
            <a:extLst xmlns:a="http://schemas.openxmlformats.org/drawingml/2006/main">
              <a:ext uri="{FF2B5EF4-FFF2-40B4-BE49-F238E27FC236}">
                <a16:creationId xmlns:a16="http://schemas.microsoft.com/office/drawing/2014/main" id="{CD7CBC74-F6F3-4B0E-92C5-FEA4FAA1D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97D"/>
          </a:solidFill>
          <a:ln xmlns:a="http://schemas.openxmlformats.org/drawingml/2006/main" w="0">
            <a:noFill/>
          </a:ln>
        </p:spPr>
      </p:sp>
      <p:pic>
        <p:nvPicPr>
          <p:cNvPr id="1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0305bf2ff349ab"/>
          <a:stretch xmlns:a="http://schemas.openxmlformats.org/drawingml/2006/main"/>
        </p:blipFill>
        <p:spPr>
          <a:xfrm xmlns:a="http://schemas.openxmlformats.org/drawingml/2006/main">
            <a:off x="704850" y="540763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9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D6DD9A51-3B96-4162-8336-E8BA28636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4770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Universidad Tecnológica Nacional</a:t>
            </a:r>
          </a:p>
        </p:txBody>
      </p:sp>
      <p:sp>
        <p:nvSpPr>
          <p:cNvPr id="60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728A502B-1A57-4968-8173-5F622F0CA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19250"/>
            <a:ext cx="14382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ON expresa una relación del negocio</a:t>
            </a:r>
          </a:p>
        </p:txBody>
      </p:sp>
      <p:sp>
        <p:nvSpPr>
          <p:cNvPr id="61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49D1B7E9-4AB1-44DA-BB85-F3E174B41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19200" y="2905125"/>
            <a:ext cx="716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62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03E01FDD-79F5-4704-A471-496DC2722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87249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97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497D"/>
                </a:solidFill>
                <a:latin typeface="Aptos"/>
                <a:ea typeface="Aptos"/>
                <a:cs typeface="Aptos"/>
              </a:rPr>
              <a:t>JOIN · CONDICIÓN</a:t>
            </a:r>
          </a:p>
        </p:txBody>
      </p:sp>
      <p:sp>
        <p:nvSpPr>
          <p:cNvPr id="63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F6E9C3A5-2035-4B3C-BC0E-3A5E53AEB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782050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Análisis de Datos · Ingeniería Industrial</a:t>
            </a:r>
          </a:p>
        </p:txBody>
      </p:sp>
      <p:sp>
        <p:nvSpPr>
          <p:cNvPr id="64" name="statement-body">
            <a:extLst xmlns:a="http://schemas.openxmlformats.org/drawingml/2006/main">
              <a:ext uri="{FF2B5EF4-FFF2-40B4-BE49-F238E27FC236}">
                <a16:creationId xmlns:a16="http://schemas.microsoft.com/office/drawing/2014/main" id="{E85ECAA0-8E75-415D-A99A-03511EDA9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619500"/>
            <a:ext cx="14097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45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345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o.customer_id = c.customer_id</a:t>
            </a:r>
          </a:p>
        </p:txBody>
      </p:sp>
      <p:sp>
        <p:nvSpPr>
          <p:cNvPr id="65" name="statement-callout">
            <a:extLst xmlns:a="http://schemas.openxmlformats.org/drawingml/2006/main">
              <a:ext uri="{FF2B5EF4-FFF2-40B4-BE49-F238E27FC236}">
                <a16:creationId xmlns:a16="http://schemas.microsoft.com/office/drawing/2014/main" id="{5CAC5FD6-CE00-41A7-AABE-A772AF321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191250"/>
            <a:ext cx="1047750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11430">
            <a:solidFill>
              <a:srgbClr val="4F81BD"/>
            </a:solidFill>
            <a:prstDash val="solid"/>
          </a:ln>
        </p:spPr>
      </p:sp>
      <p:sp>
        <p:nvSpPr>
          <p:cNvPr id="66" name="statement-callout-text">
            <a:extLst xmlns:a="http://schemas.openxmlformats.org/drawingml/2006/main">
              <a:ext uri="{FF2B5EF4-FFF2-40B4-BE49-F238E27FC236}">
                <a16:creationId xmlns:a16="http://schemas.microsoft.com/office/drawing/2014/main" id="{A7F0EC45-C287-46D5-BC46-1FAFCBB7B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334125"/>
            <a:ext cx="971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F497D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F497D"/>
                </a:solidFill>
                <a:latin typeface="Aptos"/>
                <a:ea typeface="Aptos"/>
                <a:cs typeface="Aptos"/>
              </a:rPr>
              <a:t>Ambos campos comparten dominio y la clave derecha debe ser única.</a:t>
            </a:r>
          </a:p>
        </p:txBody>
      </p:sp>
    </p:spTree>
    <p:extLst>
      <p:ext uri="{BB962C8B-B14F-4D97-AF65-F5344CB8AC3E}">
        <p14:creationId xmlns:p14="http://schemas.microsoft.com/office/powerpoint/2010/main" val="7626627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E8ED7EFC-4861-4208-9610-A0C3E8C4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413468" h="406400">
                <a:moveTo>
                  <a:pt x="1210268" y="0"/>
                </a:moveTo>
                <a:cubicBezTo>
                  <a:pt x="1322492" y="0"/>
                  <a:pt x="1413468" y="90976"/>
                  <a:pt x="1413468" y="203200"/>
                </a:cubicBezTo>
                <a:cubicBezTo>
                  <a:pt x="1413468" y="315424"/>
                  <a:pt x="1322492" y="406400"/>
                  <a:pt x="1210268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52FB571E-69A8-41C2-AFDB-FC8B05B8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1650F3D9-84BE-457E-91E6-89A9DFB5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123479" h="406400">
                <a:moveTo>
                  <a:pt x="920279" y="0"/>
                </a:moveTo>
                <a:cubicBezTo>
                  <a:pt x="1032503" y="0"/>
                  <a:pt x="1123479" y="90976"/>
                  <a:pt x="1123479" y="203200"/>
                </a:cubicBezTo>
                <a:cubicBezTo>
                  <a:pt x="1123479" y="315424"/>
                  <a:pt x="1032503" y="406400"/>
                  <a:pt x="920279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B42F26B7-ED2D-4C68-8052-238F9B0A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6F2C9F5E-34C6-43A4-A373-EE158F14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06400" h="406400">
                <a:moveTo>
                  <a:pt x="203200" y="0"/>
                </a:moveTo>
                <a:cubicBezTo>
                  <a:pt x="315424" y="0"/>
                  <a:pt x="406400" y="90976"/>
                  <a:pt x="406400" y="203200"/>
                </a:cubicBezTo>
                <a:cubicBezTo>
                  <a:pt x="406400" y="315424"/>
                  <a:pt x="315424" y="406400"/>
                  <a:pt x="203200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1EB13124-A058-41FB-A525-40B530B7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1A941335-BFE7-42C2-B108-440C4D35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987114" h="812800">
                <a:moveTo>
                  <a:pt x="103302" y="0"/>
                </a:moveTo>
                <a:lnTo>
                  <a:pt x="883813" y="0"/>
                </a:lnTo>
                <a:cubicBezTo>
                  <a:pt x="940864" y="0"/>
                  <a:pt x="987114" y="46250"/>
                  <a:pt x="987114" y="103302"/>
                </a:cubicBezTo>
                <a:lnTo>
                  <a:pt x="987114" y="709499"/>
                </a:lnTo>
                <a:cubicBezTo>
                  <a:pt x="987114" y="736896"/>
                  <a:pt x="976231" y="763171"/>
                  <a:pt x="956858" y="782544"/>
                </a:cubicBezTo>
                <a:cubicBezTo>
                  <a:pt x="937485" y="801916"/>
                  <a:pt x="911210" y="812800"/>
                  <a:pt x="883813" y="812800"/>
                </a:cubicBezTo>
                <a:lnTo>
                  <a:pt x="103302" y="812800"/>
                </a:lnTo>
                <a:cubicBezTo>
                  <a:pt x="46250" y="812800"/>
                  <a:pt x="0" y="766550"/>
                  <a:pt x="0" y="709499"/>
                </a:cubicBezTo>
                <a:lnTo>
                  <a:pt x="0" y="103302"/>
                </a:lnTo>
                <a:cubicBezTo>
                  <a:pt x="0" y="46250"/>
                  <a:pt x="46250" y="0"/>
                  <a:pt x="103302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0ECC3C49-31BF-42FB-AFCF-D52CD5D4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CAA3A92D-827C-4E4D-B4A0-8A2AF866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592148" h="812800">
                <a:moveTo>
                  <a:pt x="64046" y="0"/>
                </a:moveTo>
                <a:lnTo>
                  <a:pt x="1528102" y="0"/>
                </a:lnTo>
                <a:cubicBezTo>
                  <a:pt x="1545088" y="0"/>
                  <a:pt x="1561379" y="6748"/>
                  <a:pt x="1573390" y="18759"/>
                </a:cubicBezTo>
                <a:cubicBezTo>
                  <a:pt x="1585400" y="30769"/>
                  <a:pt x="1592148" y="47060"/>
                  <a:pt x="1592148" y="64046"/>
                </a:cubicBezTo>
                <a:lnTo>
                  <a:pt x="1592148" y="748754"/>
                </a:lnTo>
                <a:cubicBezTo>
                  <a:pt x="1592148" y="765740"/>
                  <a:pt x="1585400" y="782031"/>
                  <a:pt x="1573390" y="794041"/>
                </a:cubicBezTo>
                <a:cubicBezTo>
                  <a:pt x="1561379" y="806052"/>
                  <a:pt x="1545088" y="812800"/>
                  <a:pt x="1528102" y="812800"/>
                </a:cubicBezTo>
                <a:lnTo>
                  <a:pt x="64046" y="812800"/>
                </a:lnTo>
                <a:cubicBezTo>
                  <a:pt x="47060" y="812800"/>
                  <a:pt x="30769" y="806052"/>
                  <a:pt x="18759" y="794041"/>
                </a:cubicBezTo>
                <a:cubicBezTo>
                  <a:pt x="6748" y="782031"/>
                  <a:pt x="0" y="765740"/>
                  <a:pt x="0" y="748754"/>
                </a:cubicBezTo>
                <a:lnTo>
                  <a:pt x="0" y="64046"/>
                </a:lnTo>
                <a:cubicBezTo>
                  <a:pt x="0" y="47060"/>
                  <a:pt x="6748" y="30769"/>
                  <a:pt x="18759" y="18759"/>
                </a:cubicBezTo>
                <a:cubicBezTo>
                  <a:pt x="30769" y="6748"/>
                  <a:pt x="47060" y="0"/>
                  <a:pt x="64046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3545B264-AC7A-4B9B-A50F-1A7954B9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D82805FC-500B-4AE7-9355-FAD8DA88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E6B4C127-2F54-4C58-8473-55F2C64D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3C957564-5745-4C9B-BD37-4635A6D6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37860" h="514913">
                <a:moveTo>
                  <a:pt x="0" y="0"/>
                </a:moveTo>
                <a:lnTo>
                  <a:pt x="437860" y="0"/>
                </a:lnTo>
                <a:lnTo>
                  <a:pt x="437860" y="514914"/>
                </a:lnTo>
                <a:lnTo>
                  <a:pt x="0" y="51491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BA52C16D-985B-42C6-9C6C-26B3CA7A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4350">
                <a:solidFill>
                  <a:srgbClr val="1F497D"/>
                </a:solidFill>
              </a:defRPr>
            </a:pPr>
            <a:r>
              <a:rPr sz="43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F9B53DFE-452B-4328-8E96-5CD94806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D96BB86E-6F37-4090-8F89-3D3AA6CC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A6D7007F-1CC8-46D3-8738-0469A45B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231195" h="406400">
                <a:moveTo>
                  <a:pt x="3027995" y="0"/>
                </a:moveTo>
                <a:cubicBezTo>
                  <a:pt x="3140220" y="0"/>
                  <a:pt x="3231195" y="90976"/>
                  <a:pt x="3231195" y="203200"/>
                </a:cubicBezTo>
                <a:cubicBezTo>
                  <a:pt x="3231195" y="315424"/>
                  <a:pt x="3140220" y="406400"/>
                  <a:pt x="3027995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9A015317-4EFB-4E02-B478-32DDC83F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1CA9F9CC-3926-4654-A2C4-4D3901AF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761692" h="406400">
                <a:moveTo>
                  <a:pt x="1558492" y="0"/>
                </a:moveTo>
                <a:cubicBezTo>
                  <a:pt x="1670717" y="0"/>
                  <a:pt x="1761692" y="90976"/>
                  <a:pt x="1761692" y="203200"/>
                </a:cubicBezTo>
                <a:cubicBezTo>
                  <a:pt x="1761692" y="315424"/>
                  <a:pt x="1670717" y="406400"/>
                  <a:pt x="1558492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14D4E16E-79C5-48B8-8542-996B5729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BFA94D0B-5613-4506-BC4D-41C0E0EE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A6D33542-9DFB-40C0-ABC0-18BBBCC7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  <a:defRPr sz="135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35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570CCD69-B43E-41A2-AF3F-53491DF9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61C7D868-A9F7-4449-80AB-5D71DED4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4B054B12-9FFC-486F-ACE6-18FB3A7B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7473980A-D317-4106-92E9-6641660B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2A73EE43-3E88-43A9-90CB-C5E6B308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0D4F2B56-32B6-461E-8B0D-251C4013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55E7FF0B-2E9E-4435-8417-2B76A016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95A12970-D703-44CE-8AA7-43700564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247FC02E-4717-4000-A7F2-CC5E5A77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265292C0-BAFC-4795-80A1-AAFEF981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B1ABCE18-AA0A-4E54-813E-85C645AF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94A46560-49EF-418B-8E31-82CE5B38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FB938355-2040-4A31-A71C-DD790874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08CA77FA-F327-4318-BC2D-F1C64064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5934D129-60D4-41CF-ADD9-CAE6BA1E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5" name="Imagen 95">
            <a:extLst xmlns:a="http://schemas.openxmlformats.org/drawingml/2006/main">
              <a:ext uri="{FF2B5EF4-FFF2-40B4-BE49-F238E27FC236}">
                <a16:creationId xmlns:a16="http://schemas.microsoft.com/office/drawing/2014/main" id="{BD934506-3346-49A3-ACCC-93E82789C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04" name="Imagen 9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91750ba9694573"/>
          <a:srcRect xmlns:a="http://schemas.openxmlformats.org/drawingml/2006/main" l="0" t="7551" r="0" b="75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8476"/>
            </a:avLst>
          </a:prstGeom>
        </p:spPr>
      </p:pic>
      <p:sp>
        <p:nvSpPr>
          <p:cNvPr id="56" name="Imagen 96">
            <a:extLst xmlns:a="http://schemas.openxmlformats.org/drawingml/2006/main">
              <a:ext uri="{FF2B5EF4-FFF2-40B4-BE49-F238E27FC236}">
                <a16:creationId xmlns:a16="http://schemas.microsoft.com/office/drawing/2014/main" id="{18ECA90D-48CB-4E9F-9E76-D24C9B202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06" name="Imagen 9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e134ccc637419c"/>
          <a:srcRect xmlns:a="http://schemas.openxmlformats.org/drawingml/2006/main" l="22788" t="0" r="227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8775"/>
            </a:avLst>
          </a:prstGeom>
        </p:spPr>
      </p:pic>
      <p:sp>
        <p:nvSpPr>
          <p:cNvPr id="57" name="visual-top-rail">
            <a:extLst xmlns:a="http://schemas.openxmlformats.org/drawingml/2006/main">
              <a:ext uri="{FF2B5EF4-FFF2-40B4-BE49-F238E27FC236}">
                <a16:creationId xmlns:a16="http://schemas.microsoft.com/office/drawing/2014/main" id="{93444EF6-439B-45F0-93F0-46CE5274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97D"/>
          </a:solidFill>
          <a:ln xmlns:a="http://schemas.openxmlformats.org/drawingml/2006/main" w="0">
            <a:noFill/>
          </a:ln>
        </p:spPr>
      </p:sp>
      <p:pic>
        <p:nvPicPr>
          <p:cNvPr id="10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910e5e559845b5"/>
          <a:stretch xmlns:a="http://schemas.openxmlformats.org/drawingml/2006/main"/>
        </p:blipFill>
        <p:spPr>
          <a:xfrm xmlns:a="http://schemas.openxmlformats.org/drawingml/2006/main">
            <a:off x="704850" y="540763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9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DC17E8B7-D63E-437A-B2B8-837D168F5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4770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Universidad Tecnológica Nacional</a:t>
            </a:r>
          </a:p>
        </p:txBody>
      </p:sp>
      <p:sp>
        <p:nvSpPr>
          <p:cNvPr id="60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5ACACDFC-46E2-4779-8D53-8999CD5D2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19250"/>
            <a:ext cx="14382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Muchos a uno conserva el grano si el lado uno es único</a:t>
            </a:r>
          </a:p>
        </p:txBody>
      </p:sp>
      <p:sp>
        <p:nvSpPr>
          <p:cNvPr id="61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F9A53E32-4546-42E0-A6FB-A0C07B9B7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19200" y="2905125"/>
            <a:ext cx="716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62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5FE14569-C16A-44B6-A5EF-F0B662D9D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87249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97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497D"/>
                </a:solidFill>
                <a:latin typeface="Aptos"/>
                <a:ea typeface="Aptos"/>
                <a:cs typeface="Aptos"/>
              </a:rPr>
              <a:t>JOIN · CARDINALIDAD</a:t>
            </a:r>
          </a:p>
        </p:txBody>
      </p:sp>
      <p:sp>
        <p:nvSpPr>
          <p:cNvPr id="63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2033A07A-C06B-499A-9549-57B33486F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782050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Análisis de Datos · Ingeniería Industrial</a:t>
            </a:r>
          </a:p>
        </p:txBody>
      </p:sp>
      <p:graphicFrame>
        <p:nvGraphicFramePr>
          <p:cNvPr id="114" name=""/>
          <p:cNvGraphicFramePr/>
          <p:nvPr/>
        </p:nvGraphicFramePr>
        <p:xfrm>
          <a:off xmlns:a="http://schemas.openxmlformats.org/drawingml/2006/main" x="1219200" y="3429000"/>
          <a:ext xmlns:a="http://schemas.openxmlformats.org/drawingml/2006/main" cx="15849600" cy="30670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4437888"/>
                <a:gridCol w="4279392"/>
                <a:gridCol w="4279392"/>
                <a:gridCol w="2852928"/>
              </a:tblGrid>
              <a:tr h="766763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</a:rPr>
                        <a:t>Tabla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</a:rPr>
                        <a:t>Grano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</a:rPr>
                        <a:t>Clave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</a:rPr>
                        <a:t>Conteo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</a:tr>
              <a:tr h="766763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sales_orders 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un pedido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order_id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3.574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6763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customers c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un cliente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customer_id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120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</a:tr>
              <a:tr h="766763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o LEFT JOIN 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un pedido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customer_id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3.574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5" name="matrix-callout">
            <a:extLst xmlns:a="http://schemas.openxmlformats.org/drawingml/2006/main">
              <a:ext uri="{FF2B5EF4-FFF2-40B4-BE49-F238E27FC236}">
                <a16:creationId xmlns:a16="http://schemas.microsoft.com/office/drawing/2014/main" id="{4B7A425C-0EE1-49FC-9DFD-3AF57F36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8001000"/>
            <a:ext cx="1504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F497D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F497D"/>
                </a:solidFill>
                <a:latin typeface="Aptos"/>
                <a:ea typeface="Aptos"/>
                <a:cs typeface="Aptos"/>
              </a:rPr>
              <a:t>La unicidad de customers.customer_id protege el conteo.</a:t>
            </a:r>
          </a:p>
        </p:txBody>
      </p:sp>
    </p:spTree>
    <p:extLst>
      <p:ext uri="{BB962C8B-B14F-4D97-AF65-F5344CB8AC3E}">
        <p14:creationId xmlns:p14="http://schemas.microsoft.com/office/powerpoint/2010/main" val="7626627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5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41599EAE-9230-46F4-8A97-7D146E9F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6350000" h="9525000">
                <a:moveTo>
                  <a:pt x="0" y="9042400"/>
                </a:moveTo>
                <a:lnTo>
                  <a:pt x="0" y="482600"/>
                </a:lnTo>
                <a:cubicBezTo>
                  <a:pt x="0" y="215900"/>
                  <a:pt x="215900" y="0"/>
                  <a:pt x="482600" y="0"/>
                </a:cubicBezTo>
                <a:lnTo>
                  <a:pt x="5867400" y="0"/>
                </a:lnTo>
                <a:cubicBezTo>
                  <a:pt x="6134100" y="0"/>
                  <a:pt x="6350000" y="217170"/>
                  <a:pt x="6350000" y="482600"/>
                </a:cubicBezTo>
                <a:lnTo>
                  <a:pt x="6350000" y="9042400"/>
                </a:lnTo>
                <a:cubicBezTo>
                  <a:pt x="6350000" y="9309100"/>
                  <a:pt x="6134100" y="9525000"/>
                  <a:pt x="5867400" y="9525000"/>
                </a:cubicBezTo>
                <a:lnTo>
                  <a:pt x="482600" y="9525000"/>
                </a:lnTo>
                <a:cubicBezTo>
                  <a:pt x="217170" y="9525000"/>
                  <a:pt x="0" y="9309100"/>
                  <a:pt x="0" y="904240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BB645A18-45DA-41BB-B67F-44E720A6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829325" h="516787">
                <a:moveTo>
                  <a:pt x="21062" y="0"/>
                </a:moveTo>
                <a:lnTo>
                  <a:pt x="808264" y="0"/>
                </a:lnTo>
                <a:cubicBezTo>
                  <a:pt x="813849" y="0"/>
                  <a:pt x="819206" y="2219"/>
                  <a:pt x="823156" y="6169"/>
                </a:cubicBezTo>
                <a:cubicBezTo>
                  <a:pt x="827106" y="10119"/>
                  <a:pt x="829325" y="15476"/>
                  <a:pt x="829325" y="21062"/>
                </a:cubicBezTo>
                <a:lnTo>
                  <a:pt x="829325" y="495726"/>
                </a:lnTo>
                <a:cubicBezTo>
                  <a:pt x="829325" y="501312"/>
                  <a:pt x="827106" y="506669"/>
                  <a:pt x="823156" y="510619"/>
                </a:cubicBezTo>
                <a:cubicBezTo>
                  <a:pt x="819206" y="514568"/>
                  <a:pt x="813849" y="516787"/>
                  <a:pt x="808264" y="516787"/>
                </a:cubicBezTo>
                <a:lnTo>
                  <a:pt x="21062" y="516787"/>
                </a:lnTo>
                <a:cubicBezTo>
                  <a:pt x="15476" y="516787"/>
                  <a:pt x="10119" y="514568"/>
                  <a:pt x="6169" y="510619"/>
                </a:cubicBezTo>
                <a:cubicBezTo>
                  <a:pt x="2219" y="506669"/>
                  <a:pt x="0" y="501312"/>
                  <a:pt x="0" y="495726"/>
                </a:cubicBezTo>
                <a:lnTo>
                  <a:pt x="0" y="21062"/>
                </a:lnTo>
                <a:cubicBezTo>
                  <a:pt x="0" y="15476"/>
                  <a:pt x="2219" y="10119"/>
                  <a:pt x="6169" y="6169"/>
                </a:cubicBezTo>
                <a:cubicBezTo>
                  <a:pt x="10119" y="2219"/>
                  <a:pt x="15476" y="0"/>
                  <a:pt x="21062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44B9B017-FA3A-4B67-B447-67CF57E5E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895E777F-304A-483E-AD78-5BAFE4373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32323" y="0"/>
                </a:moveTo>
                <a:lnTo>
                  <a:pt x="235185" y="0"/>
                </a:lnTo>
                <a:cubicBezTo>
                  <a:pt x="308264" y="0"/>
                  <a:pt x="367507" y="59243"/>
                  <a:pt x="367507" y="132323"/>
                </a:cubicBezTo>
                <a:lnTo>
                  <a:pt x="367507" y="252450"/>
                </a:lnTo>
                <a:cubicBezTo>
                  <a:pt x="367507" y="325529"/>
                  <a:pt x="308264" y="384772"/>
                  <a:pt x="235185" y="384772"/>
                </a:cubicBezTo>
                <a:lnTo>
                  <a:pt x="132323" y="384772"/>
                </a:lnTo>
                <a:cubicBezTo>
                  <a:pt x="59243" y="384772"/>
                  <a:pt x="0" y="325529"/>
                  <a:pt x="0" y="252450"/>
                </a:cubicBezTo>
                <a:lnTo>
                  <a:pt x="0" y="132323"/>
                </a:lnTo>
                <a:cubicBezTo>
                  <a:pt x="0" y="59243"/>
                  <a:pt x="59243" y="0"/>
                  <a:pt x="132323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422F67D9-C70F-43B0-9119-013334F8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8E20F117-83A3-4316-8680-A192D7462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A2456041-BEF3-4033-BC59-AE8E7FDC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D82CB605-CAA5-42CA-B507-02BFB77BF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AA16B0EF-85D9-44E6-9D81-21A0E3E21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2BD0F58A-DE3D-4287-8F03-DF04BA64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0D87C4CE-3F87-4889-8059-17D1A3AEE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D8711D01-5E9C-43ED-A715-EF2A83938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812787" h="812787">
                <a:moveTo>
                  <a:pt x="0" y="0"/>
                </a:moveTo>
                <a:lnTo>
                  <a:pt x="812786" y="0"/>
                </a:lnTo>
                <a:lnTo>
                  <a:pt x="812786" y="812787"/>
                </a:lnTo>
                <a:lnTo>
                  <a:pt x="0" y="81278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A73E0E5F-A81C-4E46-AD2D-53B3CCC29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57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57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E1AEF49F-B0A7-41FA-9696-CED7610F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0070"/>
              </a:lnSpc>
              <a:spcBef>
                <a:spcPct val="0"/>
              </a:spcBef>
              <a:buNone/>
              <a:defRPr sz="39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39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E4CD3D23-2ED3-4BD9-AEFB-B1A6A8CF0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443"/>
              </a:lnSpc>
              <a:spcBef>
                <a:spcPct val="0"/>
              </a:spcBef>
              <a:buNone/>
              <a:defRPr sz="1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E1F9248F-9376-4788-ADAD-0D780A7F9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66"/>
              </a:lnSpc>
              <a:spcBef>
                <a:spcPct val="0"/>
              </a:spcBef>
              <a:buNone/>
            </a:pPr>
            <a:r>
              <a:rPr sz="2047" b="1">
                <a:solidFill>
                  <a:srgbClr val="FFFFFF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69B5A1B1-7A28-495A-A632-03F6F6C7F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56"/>
              </a:lnSpc>
              <a:spcBef>
                <a:spcPct val="0"/>
              </a:spcBef>
              <a:buNone/>
            </a:pPr>
            <a:r>
              <a:rPr sz="1754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CF87C25C-01A2-4727-B612-44373DCF4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38"/>
              </a:lnSpc>
              <a:spcBef>
                <a:spcPct val="0"/>
              </a:spcBef>
              <a:buNone/>
            </a:pPr>
            <a:r>
              <a:rPr sz="2313">
                <a:solidFill>
                  <a:srgbClr val="FFFF33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A7E5DDDB-933E-4EDB-8B45-59ABA66C7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20"/>
              </a:lnSpc>
              <a:buNone/>
            </a:pPr>
            <a:r>
              <a:rPr sz="1982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3F8E7F09-926C-491E-A20C-8170D086C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231195" h="406400">
                <a:moveTo>
                  <a:pt x="3027995" y="0"/>
                </a:moveTo>
                <a:cubicBezTo>
                  <a:pt x="3140220" y="0"/>
                  <a:pt x="3231195" y="90976"/>
                  <a:pt x="3231195" y="203200"/>
                </a:cubicBezTo>
                <a:cubicBezTo>
                  <a:pt x="3231195" y="315424"/>
                  <a:pt x="3140220" y="406400"/>
                  <a:pt x="3027995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EC9C4D18-444F-4F86-95CB-62116316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A33CE1BD-FDDF-4394-B584-278ED2424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761692" h="406400">
                <a:moveTo>
                  <a:pt x="1558492" y="0"/>
                </a:moveTo>
                <a:cubicBezTo>
                  <a:pt x="1670717" y="0"/>
                  <a:pt x="1761692" y="90976"/>
                  <a:pt x="1761692" y="203200"/>
                </a:cubicBezTo>
                <a:cubicBezTo>
                  <a:pt x="1761692" y="315424"/>
                  <a:pt x="1670717" y="406400"/>
                  <a:pt x="1558492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2C69D954-C7C9-4265-B933-11769380B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C01D160F-BB8C-4120-99EE-5308C2A43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C95C0556-9450-4183-A70F-BB23459F1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6" name="Freeform 36">
            <a:extLst xmlns:a="http://schemas.openxmlformats.org/drawingml/2006/main">
              <a:ext uri="{FF2B5EF4-FFF2-40B4-BE49-F238E27FC236}">
                <a16:creationId xmlns:a16="http://schemas.microsoft.com/office/drawing/2014/main" id="{F699D9FF-4CD4-4B20-9AF1-74CF80D59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38320" h="514913">
                <a:moveTo>
                  <a:pt x="0" y="0"/>
                </a:moveTo>
                <a:lnTo>
                  <a:pt x="438320" y="0"/>
                </a:lnTo>
                <a:lnTo>
                  <a:pt x="438320" y="514913"/>
                </a:lnTo>
                <a:lnTo>
                  <a:pt x="0" y="51491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1DD2DE10-3D86-489C-BE17-EE6AB81D7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159"/>
              </a:lnSpc>
              <a:buNone/>
            </a:pPr>
            <a:r>
              <a:rPr sz="1599">
                <a:solidFill>
                  <a:srgbClr val="F6F9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16EBDEB0-C238-487A-8BC5-675FBC81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2159"/>
              </a:lnSpc>
              <a:buNone/>
            </a:pPr>
            <a:r>
              <a:rPr sz="1599">
                <a:solidFill>
                  <a:srgbClr val="F6F9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1FA2A9ED-D814-4F81-BF6A-248A18C9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0070"/>
              </a:lnSpc>
              <a:spcBef>
                <a:spcPct val="0"/>
              </a:spcBef>
              <a:buNone/>
              <a:defRPr sz="4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4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05A9C250-80BF-4D30-90DF-77B6F38C1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443"/>
              </a:lnSpc>
              <a:spcBef>
                <a:spcPct val="0"/>
              </a:spcBef>
              <a:buNone/>
              <a:defRPr sz="1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119F38F8-3E4E-4BAE-8A7D-E9C7182B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38"/>
              </a:lnSpc>
              <a:spcBef>
                <a:spcPct val="0"/>
              </a:spcBef>
              <a:buNone/>
            </a:pPr>
            <a:r>
              <a:rPr sz="2313">
                <a:solidFill>
                  <a:srgbClr val="FFFF33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3" name="TextBox 43">
            <a:extLst xmlns:a="http://schemas.openxmlformats.org/drawingml/2006/main">
              <a:ext uri="{FF2B5EF4-FFF2-40B4-BE49-F238E27FC236}">
                <a16:creationId xmlns:a16="http://schemas.microsoft.com/office/drawing/2014/main" id="{DB75F18F-2D8F-4655-9D4E-587F65119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20"/>
              </a:lnSpc>
              <a:buNone/>
            </a:pPr>
            <a:r>
              <a:rPr sz="1982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0DC5DB04-51FC-4DDD-90C7-BDC4A3872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38"/>
              </a:lnSpc>
              <a:spcBef>
                <a:spcPct val="0"/>
              </a:spcBef>
              <a:buNone/>
            </a:pPr>
            <a:r>
              <a:rPr sz="2313">
                <a:solidFill>
                  <a:srgbClr val="FFFF33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8831C357-2367-4D26-855D-C1356995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20"/>
              </a:lnSpc>
              <a:buNone/>
            </a:pPr>
            <a:r>
              <a:rPr sz="1982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86253085-92BB-4B37-9E0B-BAF67954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38"/>
              </a:lnSpc>
              <a:spcBef>
                <a:spcPct val="0"/>
              </a:spcBef>
              <a:buNone/>
            </a:pPr>
            <a:r>
              <a:rPr sz="2313">
                <a:solidFill>
                  <a:srgbClr val="FFFF33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F1AC78EF-548D-416F-9D3B-39A1C025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20"/>
              </a:lnSpc>
              <a:buNone/>
            </a:pPr>
            <a:r>
              <a:rPr sz="1982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0" name="AutoShape 50">
            <a:extLst xmlns:a="http://schemas.openxmlformats.org/drawingml/2006/main">
              <a:ext uri="{FF2B5EF4-FFF2-40B4-BE49-F238E27FC236}">
                <a16:creationId xmlns:a16="http://schemas.microsoft.com/office/drawing/2014/main" id="{50360BEB-2406-4484-B3B7-98EBD2B91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51" name="TextBox 51">
            <a:extLst xmlns:a="http://schemas.openxmlformats.org/drawingml/2006/main">
              <a:ext uri="{FF2B5EF4-FFF2-40B4-BE49-F238E27FC236}">
                <a16:creationId xmlns:a16="http://schemas.microsoft.com/office/drawing/2014/main" id="{21046766-6CDD-405B-9F7F-1FEE675C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21"/>
              </a:lnSpc>
              <a:spcBef>
                <a:spcPct val="0"/>
              </a:spcBef>
              <a:buNone/>
            </a:pPr>
            <a:r>
              <a:rPr sz="1943" b="1">
                <a:solidFill>
                  <a:srgbClr val="FFFFFF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664F1534-F388-448D-89C2-C415FA37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21"/>
              </a:lnSpc>
              <a:spcBef>
                <a:spcPct val="0"/>
              </a:spcBef>
              <a:buNone/>
            </a:pPr>
            <a:r>
              <a:rPr sz="1943" b="1">
                <a:solidFill>
                  <a:srgbClr val="FFFFFF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2696FB92-092A-4DA4-9485-F731CFC1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21"/>
              </a:lnSpc>
              <a:spcBef>
                <a:spcPct val="0"/>
              </a:spcBef>
              <a:buNone/>
            </a:pPr>
            <a:r>
              <a:rPr sz="1943" b="1">
                <a:solidFill>
                  <a:srgbClr val="FFFFFF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97C44366-DEBC-4C93-B14C-8DC4DF95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21"/>
              </a:lnSpc>
              <a:spcBef>
                <a:spcPct val="0"/>
              </a:spcBef>
              <a:buNone/>
            </a:pPr>
            <a:r>
              <a:rPr sz="1943" b="1">
                <a:solidFill>
                  <a:srgbClr val="FFFFFF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55" name="TextBox 55">
            <a:extLst xmlns:a="http://schemas.openxmlformats.org/drawingml/2006/main">
              <a:ext uri="{FF2B5EF4-FFF2-40B4-BE49-F238E27FC236}">
                <a16:creationId xmlns:a16="http://schemas.microsoft.com/office/drawing/2014/main" id="{E60621AD-D025-43C4-9806-5D6C20C85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66"/>
              </a:lnSpc>
              <a:spcBef>
                <a:spcPct val="0"/>
              </a:spcBef>
              <a:buNone/>
            </a:pPr>
            <a:r>
              <a:rPr sz="2047" b="1">
                <a:solidFill>
                  <a:srgbClr val="FFFFFF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56" name="TextBox 56">
            <a:extLst xmlns:a="http://schemas.openxmlformats.org/drawingml/2006/main">
              <a:ext uri="{FF2B5EF4-FFF2-40B4-BE49-F238E27FC236}">
                <a16:creationId xmlns:a16="http://schemas.microsoft.com/office/drawing/2014/main" id="{7897EC55-B0A7-4D70-8CB3-ADCCF0FAE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56"/>
              </a:lnSpc>
              <a:spcBef>
                <a:spcPct val="0"/>
              </a:spcBef>
              <a:buNone/>
            </a:pPr>
            <a:r>
              <a:rPr sz="1754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7" name="visual-top-rail">
            <a:extLst xmlns:a="http://schemas.openxmlformats.org/drawingml/2006/main">
              <a:ext uri="{FF2B5EF4-FFF2-40B4-BE49-F238E27FC236}">
                <a16:creationId xmlns:a16="http://schemas.microsoft.com/office/drawing/2014/main" id="{C9A858A4-EAE4-45F2-BF0D-58AF1D758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33"/>
          </a:solidFill>
          <a:ln xmlns:a="http://schemas.openxmlformats.org/drawingml/2006/main" w="0">
            <a:noFill/>
          </a:ln>
        </p:spPr>
      </p:sp>
      <p:pic>
        <p:nvPicPr>
          <p:cNvPr id="1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2358ee56eb4f55"/>
          <a:stretch xmlns:a="http://schemas.openxmlformats.org/drawingml/2006/main"/>
        </p:blipFill>
        <p:spPr>
          <a:xfrm xmlns:a="http://schemas.openxmlformats.org/drawingml/2006/main">
            <a:off x="704850" y="540763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9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B6CB4FF4-B672-448A-9B7D-CD798BE2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4770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D8D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8D8D8"/>
                </a:solidFill>
                <a:latin typeface="Aptos"/>
                <a:ea typeface="Aptos"/>
                <a:cs typeface="Aptos"/>
              </a:rPr>
              <a:t>Universidad Tecnológica Nacional</a:t>
            </a:r>
          </a:p>
        </p:txBody>
      </p:sp>
      <p:sp>
        <p:nvSpPr>
          <p:cNvPr id="60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88CB8747-4B4E-422C-BD61-484267DB1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19250"/>
            <a:ext cx="14382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INNER JOIN conserva coincidencias</a:t>
            </a:r>
          </a:p>
        </p:txBody>
      </p:sp>
      <p:sp>
        <p:nvSpPr>
          <p:cNvPr id="61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921C5310-A510-4924-BDF4-7B2FDF7AD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19200" y="2905125"/>
            <a:ext cx="716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33"/>
            </a:solidFill>
            <a:prstDash val="solid"/>
          </a:ln>
        </p:spPr>
      </p:sp>
      <p:sp>
        <p:nvSpPr>
          <p:cNvPr id="62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5D4BAAFD-E6E2-4F19-8F1C-213152D31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87249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33"/>
                </a:solidFill>
                <a:latin typeface="Aptos"/>
                <a:ea typeface="Aptos"/>
                <a:cs typeface="Aptos"/>
              </a:rPr>
              <a:t>JOIN · INNER</a:t>
            </a:r>
          </a:p>
        </p:txBody>
      </p:sp>
      <p:sp>
        <p:nvSpPr>
          <p:cNvPr id="63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5AF6735F-A494-4A89-B771-10ACC8A99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782050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C8CDD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8CDD3"/>
                </a:solidFill>
                <a:latin typeface="Aptos"/>
                <a:ea typeface="Aptos"/>
                <a:cs typeface="Aptos"/>
              </a:rPr>
              <a:t>Análisis de Datos · Ingeniería Industrial</a:t>
            </a:r>
          </a:p>
        </p:txBody>
      </p:sp>
      <p:sp>
        <p:nvSpPr>
          <p:cNvPr id="64" name="code-panel">
            <a:extLst xmlns:a="http://schemas.openxmlformats.org/drawingml/2006/main">
              <a:ext uri="{FF2B5EF4-FFF2-40B4-BE49-F238E27FC236}">
                <a16:creationId xmlns:a16="http://schemas.microsoft.com/office/drawing/2014/main" id="{425C6DA4-110E-427A-8BD7-631DF6478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33750"/>
            <a:ext cx="7524750" cy="4762500"/>
          </a:xfrm>
          <a:prstGeom xmlns:a="http://schemas.openxmlformats.org/drawingml/2006/main" prst="roundRect">
            <a:avLst>
              <a:gd name="adj" fmla="val 2800"/>
            </a:avLst>
          </a:prstGeom>
          <a:solidFill xmlns:a="http://schemas.openxmlformats.org/drawingml/2006/main">
            <a:srgbClr val="0E2438"/>
          </a:solidFill>
          <a:ln xmlns:a="http://schemas.openxmlformats.org/drawingml/2006/main" w="11430">
            <a:solidFill>
              <a:srgbClr val="31546F"/>
            </a:solidFill>
            <a:prstDash val="solid"/>
          </a:ln>
        </p:spPr>
      </p:sp>
      <p:sp>
        <p:nvSpPr>
          <p:cNvPr id="65" name="code-text">
            <a:extLst xmlns:a="http://schemas.openxmlformats.org/drawingml/2006/main">
              <a:ext uri="{FF2B5EF4-FFF2-40B4-BE49-F238E27FC236}">
                <a16:creationId xmlns:a16="http://schemas.microsoft.com/office/drawing/2014/main" id="{FF3704E5-8D32-45D6-9B61-DE9FBC690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71875"/>
            <a:ext cx="6953250" cy="423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95250" rIns="95250" bIns="952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SELECT</a:t>
            </a:r>
          </a:p>
          <a:p xmlns:a="http://schemas.openxmlformats.org/drawingml/2006/main">
            <a:pPr algn="l">
              <a:defRPr sz="1725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  o.order_id, c.customer_name, o.importe_usd</a:t>
            </a:r>
          </a:p>
          <a:p xmlns:a="http://schemas.openxmlformats.org/drawingml/2006/main">
            <a:pPr algn="l">
              <a:defRPr sz="1725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FROM pedidos_demo AS o</a:t>
            </a:r>
          </a:p>
          <a:p xmlns:a="http://schemas.openxmlformats.org/drawingml/2006/main">
            <a:pPr algn="l">
              <a:defRPr sz="1725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INNER JOIN clientes_demo AS c</a:t>
            </a:r>
          </a:p>
          <a:p xmlns:a="http://schemas.openxmlformats.org/drawingml/2006/main">
            <a:pPr algn="l">
              <a:defRPr sz="1725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  ON o.customer_id = c.customer_id</a:t>
            </a:r>
          </a:p>
          <a:p xmlns:a="http://schemas.openxmlformats.org/drawingml/2006/main">
            <a:pPr algn="l">
              <a:defRPr sz="1725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ORDER BY o.order_id;</a:t>
            </a:r>
          </a:p>
        </p:txBody>
      </p:sp>
      <p:graphicFrame>
        <p:nvGraphicFramePr>
          <p:cNvPr id="120" name=""/>
          <p:cNvGraphicFramePr/>
          <p:nvPr/>
        </p:nvGraphicFramePr>
        <p:xfrm>
          <a:off xmlns:a="http://schemas.openxmlformats.org/drawingml/2006/main" x="9239250" y="3333750"/>
          <a:ext xmlns:a="http://schemas.openxmlformats.org/drawingml/2006/main" cx="7810500" cy="3095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03500"/>
                <a:gridCol w="2603500"/>
                <a:gridCol w="2603500"/>
              </a:tblGrid>
              <a:tr h="773906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111"/>
                          </a:solidFill>
                        </a:rPr>
                        <a:t>order_id</a:t>
                      </a:r>
                    </a:p>
                  </a:txBody>
                  <a:tcPr marL="91440" marR="91440" marT="45720" marB="45720">
                    <a:solidFill>
                      <a:srgbClr val="FFF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111"/>
                          </a:solidFill>
                        </a:rPr>
                        <a:t>cliente</a:t>
                      </a:r>
                    </a:p>
                  </a:txBody>
                  <a:tcPr marL="91440" marR="91440" marT="45720" marB="45720">
                    <a:solidFill>
                      <a:srgbClr val="FFF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111"/>
                          </a:solidFill>
                        </a:rPr>
                        <a:t>importe</a:t>
                      </a:r>
                    </a:p>
                  </a:txBody>
                  <a:tcPr marL="91440" marR="91440" marT="45720" marB="45720">
                    <a:solidFill>
                      <a:srgbClr val="FFFF33"/>
                    </a:solidFill>
                  </a:tcPr>
                </a:tc>
              </a:tr>
              <a:tr h="773906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FFFF"/>
                          </a:solidFill>
                        </a:rPr>
                        <a:t>O101</a:t>
                      </a:r>
                    </a:p>
                  </a:txBody>
                  <a:tcPr marL="91440" marR="91440" marT="45720" marB="45720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FFFF"/>
                          </a:solidFill>
                        </a:rPr>
                        <a:t>Andina</a:t>
                      </a:r>
                    </a:p>
                  </a:txBody>
                  <a:tcPr marL="91440" marR="91440" marT="45720" marB="45720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FFFF"/>
                          </a:solidFill>
                        </a:rPr>
                        <a:t>800</a:t>
                      </a:r>
                    </a:p>
                  </a:txBody>
                  <a:tcPr marL="91440" marR="91440" marT="45720" marB="45720">
                    <a:solidFill>
                      <a:srgbClr val="252525"/>
                    </a:solidFill>
                  </a:tcPr>
                </a:tc>
              </a:tr>
              <a:tr h="773906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FFFF"/>
                          </a:solidFill>
                        </a:rPr>
                        <a:t>O102</a:t>
                      </a:r>
                    </a:p>
                  </a:txBody>
                  <a:tcPr marL="91440" marR="91440" marT="45720" marB="45720"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FFFF"/>
                          </a:solidFill>
                        </a:rPr>
                        <a:t>Delta</a:t>
                      </a:r>
                    </a:p>
                  </a:txBody>
                  <a:tcPr marL="91440" marR="91440" marT="45720" marB="45720"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FFFF"/>
                          </a:solidFill>
                        </a:rPr>
                        <a:t>1.200</a:t>
                      </a:r>
                    </a:p>
                  </a:txBody>
                  <a:tcPr marL="91440" marR="91440" marT="45720" marB="45720">
                    <a:solidFill>
                      <a:srgbClr val="303030"/>
                    </a:solidFill>
                  </a:tcPr>
                </a:tc>
              </a:tr>
              <a:tr h="773906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FFFF"/>
                          </a:solidFill>
                        </a:rPr>
                        <a:t>O103</a:t>
                      </a:r>
                    </a:p>
                  </a:txBody>
                  <a:tcPr marL="91440" marR="91440" marT="45720" marB="45720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FFFF"/>
                          </a:solidFill>
                        </a:rPr>
                        <a:t>Delta</a:t>
                      </a:r>
                    </a:p>
                  </a:txBody>
                  <a:tcPr marL="91440" marR="91440" marT="45720" marB="45720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FFFF"/>
                          </a:solidFill>
                        </a:rPr>
                        <a:t>500</a:t>
                      </a:r>
                    </a:p>
                  </a:txBody>
                  <a:tcPr marL="91440" marR="91440" marT="45720" marB="45720">
                    <a:solidFill>
                      <a:srgbClr val="252525"/>
                    </a:solidFill>
                  </a:tcPr>
                </a:tc>
              </a:tr>
            </a:tbl>
          </a:graphicData>
        </a:graphic>
      </p:graphicFrame>
      <p:sp>
        <p:nvSpPr>
          <p:cNvPr id="67" name="code-note">
            <a:extLst xmlns:a="http://schemas.openxmlformats.org/drawingml/2006/main">
              <a:ext uri="{FF2B5EF4-FFF2-40B4-BE49-F238E27FC236}">
                <a16:creationId xmlns:a16="http://schemas.microsoft.com/office/drawing/2014/main" id="{DBB5DC0D-40CE-47B9-BBDB-008C8CFA0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7334250"/>
            <a:ext cx="742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33"/>
                </a:solidFill>
                <a:latin typeface="Aptos"/>
                <a:ea typeface="Aptos"/>
                <a:cs typeface="Aptos"/>
              </a:rPr>
              <a:t>O104 desaparece porque CLI99 carece de coincidencia.</a:t>
            </a:r>
          </a:p>
        </p:txBody>
      </p:sp>
    </p:spTree>
    <p:extLst>
      <p:ext uri="{BB962C8B-B14F-4D97-AF65-F5344CB8AC3E}">
        <p14:creationId xmlns:p14="http://schemas.microsoft.com/office/powerpoint/2010/main" val="6941003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5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E8ED7EFC-4861-4208-9610-A0C3E8C4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413468" h="406400">
                <a:moveTo>
                  <a:pt x="1210268" y="0"/>
                </a:moveTo>
                <a:cubicBezTo>
                  <a:pt x="1322492" y="0"/>
                  <a:pt x="1413468" y="90976"/>
                  <a:pt x="1413468" y="203200"/>
                </a:cubicBezTo>
                <a:cubicBezTo>
                  <a:pt x="1413468" y="315424"/>
                  <a:pt x="1322492" y="406400"/>
                  <a:pt x="1210268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52FB571E-69A8-41C2-AFDB-FC8B05B8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1650F3D9-84BE-457E-91E6-89A9DFB5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123479" h="406400">
                <a:moveTo>
                  <a:pt x="920279" y="0"/>
                </a:moveTo>
                <a:cubicBezTo>
                  <a:pt x="1032503" y="0"/>
                  <a:pt x="1123479" y="90976"/>
                  <a:pt x="1123479" y="203200"/>
                </a:cubicBezTo>
                <a:cubicBezTo>
                  <a:pt x="1123479" y="315424"/>
                  <a:pt x="1032503" y="406400"/>
                  <a:pt x="920279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B42F26B7-ED2D-4C68-8052-238F9B0A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6F2C9F5E-34C6-43A4-A373-EE158F14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06400" h="406400">
                <a:moveTo>
                  <a:pt x="203200" y="0"/>
                </a:moveTo>
                <a:cubicBezTo>
                  <a:pt x="315424" y="0"/>
                  <a:pt x="406400" y="90976"/>
                  <a:pt x="406400" y="203200"/>
                </a:cubicBezTo>
                <a:cubicBezTo>
                  <a:pt x="406400" y="315424"/>
                  <a:pt x="315424" y="406400"/>
                  <a:pt x="203200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1EB13124-A058-41FB-A525-40B530B7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1A941335-BFE7-42C2-B108-440C4D35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987114" h="812800">
                <a:moveTo>
                  <a:pt x="103302" y="0"/>
                </a:moveTo>
                <a:lnTo>
                  <a:pt x="883813" y="0"/>
                </a:lnTo>
                <a:cubicBezTo>
                  <a:pt x="940864" y="0"/>
                  <a:pt x="987114" y="46250"/>
                  <a:pt x="987114" y="103302"/>
                </a:cubicBezTo>
                <a:lnTo>
                  <a:pt x="987114" y="709499"/>
                </a:lnTo>
                <a:cubicBezTo>
                  <a:pt x="987114" y="736896"/>
                  <a:pt x="976231" y="763171"/>
                  <a:pt x="956858" y="782544"/>
                </a:cubicBezTo>
                <a:cubicBezTo>
                  <a:pt x="937485" y="801916"/>
                  <a:pt x="911210" y="812800"/>
                  <a:pt x="883813" y="812800"/>
                </a:cubicBezTo>
                <a:lnTo>
                  <a:pt x="103302" y="812800"/>
                </a:lnTo>
                <a:cubicBezTo>
                  <a:pt x="46250" y="812800"/>
                  <a:pt x="0" y="766550"/>
                  <a:pt x="0" y="709499"/>
                </a:cubicBezTo>
                <a:lnTo>
                  <a:pt x="0" y="103302"/>
                </a:lnTo>
                <a:cubicBezTo>
                  <a:pt x="0" y="46250"/>
                  <a:pt x="46250" y="0"/>
                  <a:pt x="103302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0ECC3C49-31BF-42FB-AFCF-D52CD5D4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CAA3A92D-827C-4E4D-B4A0-8A2AF866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592148" h="812800">
                <a:moveTo>
                  <a:pt x="64046" y="0"/>
                </a:moveTo>
                <a:lnTo>
                  <a:pt x="1528102" y="0"/>
                </a:lnTo>
                <a:cubicBezTo>
                  <a:pt x="1545088" y="0"/>
                  <a:pt x="1561379" y="6748"/>
                  <a:pt x="1573390" y="18759"/>
                </a:cubicBezTo>
                <a:cubicBezTo>
                  <a:pt x="1585400" y="30769"/>
                  <a:pt x="1592148" y="47060"/>
                  <a:pt x="1592148" y="64046"/>
                </a:cubicBezTo>
                <a:lnTo>
                  <a:pt x="1592148" y="748754"/>
                </a:lnTo>
                <a:cubicBezTo>
                  <a:pt x="1592148" y="765740"/>
                  <a:pt x="1585400" y="782031"/>
                  <a:pt x="1573390" y="794041"/>
                </a:cubicBezTo>
                <a:cubicBezTo>
                  <a:pt x="1561379" y="806052"/>
                  <a:pt x="1545088" y="812800"/>
                  <a:pt x="1528102" y="812800"/>
                </a:cubicBezTo>
                <a:lnTo>
                  <a:pt x="64046" y="812800"/>
                </a:lnTo>
                <a:cubicBezTo>
                  <a:pt x="47060" y="812800"/>
                  <a:pt x="30769" y="806052"/>
                  <a:pt x="18759" y="794041"/>
                </a:cubicBezTo>
                <a:cubicBezTo>
                  <a:pt x="6748" y="782031"/>
                  <a:pt x="0" y="765740"/>
                  <a:pt x="0" y="748754"/>
                </a:cubicBezTo>
                <a:lnTo>
                  <a:pt x="0" y="64046"/>
                </a:lnTo>
                <a:cubicBezTo>
                  <a:pt x="0" y="47060"/>
                  <a:pt x="6748" y="30769"/>
                  <a:pt x="18759" y="18759"/>
                </a:cubicBezTo>
                <a:cubicBezTo>
                  <a:pt x="30769" y="6748"/>
                  <a:pt x="47060" y="0"/>
                  <a:pt x="64046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3545B264-AC7A-4B9B-A50F-1A7954B9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D82805FC-500B-4AE7-9355-FAD8DA88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E6B4C127-2F54-4C58-8473-55F2C64D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3C957564-5745-4C9B-BD37-4635A6D6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37860" h="514913">
                <a:moveTo>
                  <a:pt x="0" y="0"/>
                </a:moveTo>
                <a:lnTo>
                  <a:pt x="437860" y="0"/>
                </a:lnTo>
                <a:lnTo>
                  <a:pt x="437860" y="514914"/>
                </a:lnTo>
                <a:lnTo>
                  <a:pt x="0" y="51491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BA52C16D-985B-42C6-9C6C-26B3CA7A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4350">
                <a:solidFill>
                  <a:srgbClr val="1F497D"/>
                </a:solidFill>
              </a:defRPr>
            </a:pPr>
            <a:r>
              <a:rPr sz="43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F9B53DFE-452B-4328-8E96-5CD94806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D96BB86E-6F37-4090-8F89-3D3AA6CC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A6D7007F-1CC8-46D3-8738-0469A45B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231195" h="406400">
                <a:moveTo>
                  <a:pt x="3027995" y="0"/>
                </a:moveTo>
                <a:cubicBezTo>
                  <a:pt x="3140220" y="0"/>
                  <a:pt x="3231195" y="90976"/>
                  <a:pt x="3231195" y="203200"/>
                </a:cubicBezTo>
                <a:cubicBezTo>
                  <a:pt x="3231195" y="315424"/>
                  <a:pt x="3140220" y="406400"/>
                  <a:pt x="3027995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9A015317-4EFB-4E02-B478-32DDC83F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1CA9F9CC-3926-4654-A2C4-4D3901AF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761692" h="406400">
                <a:moveTo>
                  <a:pt x="1558492" y="0"/>
                </a:moveTo>
                <a:cubicBezTo>
                  <a:pt x="1670717" y="0"/>
                  <a:pt x="1761692" y="90976"/>
                  <a:pt x="1761692" y="203200"/>
                </a:cubicBezTo>
                <a:cubicBezTo>
                  <a:pt x="1761692" y="315424"/>
                  <a:pt x="1670717" y="406400"/>
                  <a:pt x="1558492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14D4E16E-79C5-48B8-8542-996B5729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BFA94D0B-5613-4506-BC4D-41C0E0EE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A6D33542-9DFB-40C0-ABC0-18BBBCC7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  <a:defRPr sz="135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35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570CCD69-B43E-41A2-AF3F-53491DF9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61C7D868-A9F7-4449-80AB-5D71DED4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4B054B12-9FFC-486F-ACE6-18FB3A7B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7473980A-D317-4106-92E9-6641660B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2A73EE43-3E88-43A9-90CB-C5E6B308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0D4F2B56-32B6-461E-8B0D-251C4013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55E7FF0B-2E9E-4435-8417-2B76A016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95A12970-D703-44CE-8AA7-43700564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247FC02E-4717-4000-A7F2-CC5E5A77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265292C0-BAFC-4795-80A1-AAFEF981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B1ABCE18-AA0A-4E54-813E-85C645AF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94A46560-49EF-418B-8E31-82CE5B38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FB938355-2040-4A31-A71C-DD790874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08CA77FA-F327-4318-BC2D-F1C64064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5934D129-60D4-41CF-ADD9-CAE6BA1E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5" name="Imagen 95">
            <a:extLst xmlns:a="http://schemas.openxmlformats.org/drawingml/2006/main">
              <a:ext uri="{FF2B5EF4-FFF2-40B4-BE49-F238E27FC236}">
                <a16:creationId xmlns:a16="http://schemas.microsoft.com/office/drawing/2014/main" id="{0FF05641-8208-4F4F-9D50-6FC20379F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05" name="Imagen 9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381bdeaac8438e"/>
          <a:srcRect xmlns:a="http://schemas.openxmlformats.org/drawingml/2006/main" l="0" t="7843" r="0" b="78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8476"/>
            </a:avLst>
          </a:prstGeom>
        </p:spPr>
      </p:pic>
      <p:sp>
        <p:nvSpPr>
          <p:cNvPr id="56" name="Imagen 96">
            <a:extLst xmlns:a="http://schemas.openxmlformats.org/drawingml/2006/main">
              <a:ext uri="{FF2B5EF4-FFF2-40B4-BE49-F238E27FC236}">
                <a16:creationId xmlns:a16="http://schemas.microsoft.com/office/drawing/2014/main" id="{434A0BEA-0BFC-4FBD-8037-A55BB2802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07" name="Imagen 9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b69ba27a244a5f"/>
          <a:srcRect xmlns:a="http://schemas.openxmlformats.org/drawingml/2006/main" l="17748" t="0" r="1774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8775"/>
            </a:avLst>
          </a:prstGeom>
        </p:spPr>
      </p:pic>
      <p:sp>
        <p:nvSpPr>
          <p:cNvPr id="57" name="visual-top-rail">
            <a:extLst xmlns:a="http://schemas.openxmlformats.org/drawingml/2006/main">
              <a:ext uri="{FF2B5EF4-FFF2-40B4-BE49-F238E27FC236}">
                <a16:creationId xmlns:a16="http://schemas.microsoft.com/office/drawing/2014/main" id="{2A3384F6-8B2C-431A-B345-F1D6B307A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33"/>
          </a:solidFill>
          <a:ln xmlns:a="http://schemas.openxmlformats.org/drawingml/2006/main" w="0">
            <a:noFill/>
          </a:ln>
        </p:spPr>
      </p:sp>
      <p:pic>
        <p:nvPicPr>
          <p:cNvPr id="1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32d49ac57842ff"/>
          <a:stretch xmlns:a="http://schemas.openxmlformats.org/drawingml/2006/main"/>
        </p:blipFill>
        <p:spPr>
          <a:xfrm xmlns:a="http://schemas.openxmlformats.org/drawingml/2006/main">
            <a:off x="704850" y="540763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9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BF8104C3-F5F6-48A5-8E30-2321EC692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4770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D8D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8D8D8"/>
                </a:solidFill>
                <a:latin typeface="Aptos"/>
                <a:ea typeface="Aptos"/>
                <a:cs typeface="Aptos"/>
              </a:rPr>
              <a:t>Universidad Tecnológica Nacional</a:t>
            </a:r>
          </a:p>
        </p:txBody>
      </p:sp>
      <p:sp>
        <p:nvSpPr>
          <p:cNvPr id="60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1CE8BBAB-97B5-4114-BEBA-97A6996E1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19250"/>
            <a:ext cx="14382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LEFT JOIN convierte la ausencia en evidencia</a:t>
            </a:r>
          </a:p>
        </p:txBody>
      </p:sp>
      <p:sp>
        <p:nvSpPr>
          <p:cNvPr id="61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600DA660-B50F-46D8-BC9D-08AA9B159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19200" y="2905125"/>
            <a:ext cx="716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33"/>
            </a:solidFill>
            <a:prstDash val="solid"/>
          </a:ln>
        </p:spPr>
      </p:sp>
      <p:sp>
        <p:nvSpPr>
          <p:cNvPr id="62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7B68A527-3F75-486D-AF69-003FD480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87249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33"/>
                </a:solidFill>
                <a:latin typeface="Aptos"/>
                <a:ea typeface="Aptos"/>
                <a:cs typeface="Aptos"/>
              </a:rPr>
              <a:t>JOIN · LEFT</a:t>
            </a:r>
          </a:p>
        </p:txBody>
      </p:sp>
      <p:sp>
        <p:nvSpPr>
          <p:cNvPr id="63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048BE3F6-7FE5-4AE1-8CD1-675AA20F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782050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C8CDD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8CDD3"/>
                </a:solidFill>
                <a:latin typeface="Aptos"/>
                <a:ea typeface="Aptos"/>
                <a:cs typeface="Aptos"/>
              </a:rPr>
              <a:t>Análisis de Datos · Ingeniería Industrial</a:t>
            </a:r>
          </a:p>
        </p:txBody>
      </p:sp>
      <p:sp>
        <p:nvSpPr>
          <p:cNvPr id="64" name="code-panel">
            <a:extLst xmlns:a="http://schemas.openxmlformats.org/drawingml/2006/main">
              <a:ext uri="{FF2B5EF4-FFF2-40B4-BE49-F238E27FC236}">
                <a16:creationId xmlns:a16="http://schemas.microsoft.com/office/drawing/2014/main" id="{D4898BF2-05FA-4481-AAD7-7B787DD59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33750"/>
            <a:ext cx="7524750" cy="4762500"/>
          </a:xfrm>
          <a:prstGeom xmlns:a="http://schemas.openxmlformats.org/drawingml/2006/main" prst="roundRect">
            <a:avLst>
              <a:gd name="adj" fmla="val 2800"/>
            </a:avLst>
          </a:prstGeom>
          <a:solidFill xmlns:a="http://schemas.openxmlformats.org/drawingml/2006/main">
            <a:srgbClr val="0E2438"/>
          </a:solidFill>
          <a:ln xmlns:a="http://schemas.openxmlformats.org/drawingml/2006/main" w="11430">
            <a:solidFill>
              <a:srgbClr val="31546F"/>
            </a:solidFill>
            <a:prstDash val="solid"/>
          </a:ln>
        </p:spPr>
      </p:sp>
      <p:sp>
        <p:nvSpPr>
          <p:cNvPr id="65" name="code-text">
            <a:extLst xmlns:a="http://schemas.openxmlformats.org/drawingml/2006/main">
              <a:ext uri="{FF2B5EF4-FFF2-40B4-BE49-F238E27FC236}">
                <a16:creationId xmlns:a16="http://schemas.microsoft.com/office/drawing/2014/main" id="{BB2F2E07-C53D-4AF2-B768-5B921EFEF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71875"/>
            <a:ext cx="6953250" cy="423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95250" rIns="95250" bIns="952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SELECT</a:t>
            </a:r>
          </a:p>
          <a:p xmlns:a="http://schemas.openxmlformats.org/drawingml/2006/main">
            <a:pPr algn="l">
              <a:defRPr sz="1725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  o.order_id, o.customer_id, c.customer_name</a:t>
            </a:r>
          </a:p>
          <a:p xmlns:a="http://schemas.openxmlformats.org/drawingml/2006/main">
            <a:pPr algn="l">
              <a:defRPr sz="1725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FROM pedidos_demo AS o</a:t>
            </a:r>
          </a:p>
          <a:p xmlns:a="http://schemas.openxmlformats.org/drawingml/2006/main">
            <a:pPr algn="l">
              <a:defRPr sz="1725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LEFT JOIN clientes_demo AS c</a:t>
            </a:r>
          </a:p>
          <a:p xmlns:a="http://schemas.openxmlformats.org/drawingml/2006/main">
            <a:pPr algn="l">
              <a:defRPr sz="1725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  ON o.customer_id = c.customer_id</a:t>
            </a:r>
          </a:p>
          <a:p xmlns:a="http://schemas.openxmlformats.org/drawingml/2006/main">
            <a:pPr algn="l">
              <a:defRPr sz="1725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ORDER BY o.order_id;</a:t>
            </a:r>
          </a:p>
        </p:txBody>
      </p:sp>
      <p:graphicFrame>
        <p:nvGraphicFramePr>
          <p:cNvPr id="117" name=""/>
          <p:cNvGraphicFramePr/>
          <p:nvPr/>
        </p:nvGraphicFramePr>
        <p:xfrm>
          <a:off xmlns:a="http://schemas.openxmlformats.org/drawingml/2006/main" x="9239250" y="3333750"/>
          <a:ext xmlns:a="http://schemas.openxmlformats.org/drawingml/2006/main" cx="7810500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03500"/>
                <a:gridCol w="2603500"/>
                <a:gridCol w="2603500"/>
              </a:tblGrid>
              <a:tr h="7715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111"/>
                          </a:solidFill>
                        </a:rPr>
                        <a:t>order_id</a:t>
                      </a:r>
                    </a:p>
                  </a:txBody>
                  <a:tcPr marL="91440" marR="91440" marT="45720" marB="45720">
                    <a:solidFill>
                      <a:srgbClr val="FFF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111"/>
                          </a:solidFill>
                        </a:rPr>
                        <a:t>customer_id</a:t>
                      </a:r>
                    </a:p>
                  </a:txBody>
                  <a:tcPr marL="91440" marR="91440" marT="45720" marB="45720">
                    <a:solidFill>
                      <a:srgbClr val="FFF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111"/>
                          </a:solidFill>
                        </a:rPr>
                        <a:t>cliente</a:t>
                      </a:r>
                    </a:p>
                  </a:txBody>
                  <a:tcPr marL="91440" marR="91440" marT="45720" marB="45720">
                    <a:solidFill>
                      <a:srgbClr val="FFFF33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FFFF"/>
                          </a:solidFill>
                        </a:rPr>
                        <a:t>O101</a:t>
                      </a:r>
                    </a:p>
                  </a:txBody>
                  <a:tcPr marL="91440" marR="91440" marT="45720" marB="45720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FFFF"/>
                          </a:solidFill>
                        </a:rPr>
                        <a:t>CLI01</a:t>
                      </a:r>
                    </a:p>
                  </a:txBody>
                  <a:tcPr marL="91440" marR="91440" marT="45720" marB="45720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FFFF"/>
                          </a:solidFill>
                        </a:rPr>
                        <a:t>Andina</a:t>
                      </a:r>
                    </a:p>
                  </a:txBody>
                  <a:tcPr marL="91440" marR="91440" marT="45720" marB="45720">
                    <a:solidFill>
                      <a:srgbClr val="252525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FFFF"/>
                          </a:solidFill>
                        </a:rPr>
                        <a:t>O102</a:t>
                      </a:r>
                    </a:p>
                  </a:txBody>
                  <a:tcPr marL="91440" marR="91440" marT="45720" marB="45720"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FFFF"/>
                          </a:solidFill>
                        </a:rPr>
                        <a:t>CLI02</a:t>
                      </a:r>
                    </a:p>
                  </a:txBody>
                  <a:tcPr marL="91440" marR="91440" marT="45720" marB="45720"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FFFF"/>
                          </a:solidFill>
                        </a:rPr>
                        <a:t>Delta</a:t>
                      </a:r>
                    </a:p>
                  </a:txBody>
                  <a:tcPr marL="91440" marR="91440" marT="45720" marB="45720">
                    <a:solidFill>
                      <a:srgbClr val="303030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FFFF"/>
                          </a:solidFill>
                        </a:rPr>
                        <a:t>O103</a:t>
                      </a:r>
                    </a:p>
                  </a:txBody>
                  <a:tcPr marL="91440" marR="91440" marT="45720" marB="45720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FFFF"/>
                          </a:solidFill>
                        </a:rPr>
                        <a:t>CLI02</a:t>
                      </a:r>
                    </a:p>
                  </a:txBody>
                  <a:tcPr marL="91440" marR="91440" marT="45720" marB="45720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FFFF"/>
                          </a:solidFill>
                        </a:rPr>
                        <a:t>Delta</a:t>
                      </a:r>
                    </a:p>
                  </a:txBody>
                  <a:tcPr marL="91440" marR="91440" marT="45720" marB="45720">
                    <a:solidFill>
                      <a:srgbClr val="252525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FFFF"/>
                          </a:solidFill>
                        </a:rPr>
                        <a:t>O104</a:t>
                      </a:r>
                    </a:p>
                  </a:txBody>
                  <a:tcPr marL="91440" marR="91440" marT="45720" marB="45720"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FFFF"/>
                          </a:solidFill>
                        </a:rPr>
                        <a:t>CLI99</a:t>
                      </a:r>
                    </a:p>
                  </a:txBody>
                  <a:tcPr marL="91440" marR="91440" marT="45720" marB="45720"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FFFF"/>
                          </a:solidFill>
                        </a:rPr>
                        <a:t>NULL</a:t>
                      </a:r>
                    </a:p>
                  </a:txBody>
                  <a:tcPr marL="91440" marR="91440" marT="45720" marB="45720">
                    <a:solidFill>
                      <a:srgbClr val="30303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26627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E8ED7EFC-4861-4208-9610-A0C3E8C4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413468" h="406400">
                <a:moveTo>
                  <a:pt x="1210268" y="0"/>
                </a:moveTo>
                <a:cubicBezTo>
                  <a:pt x="1322492" y="0"/>
                  <a:pt x="1413468" y="90976"/>
                  <a:pt x="1413468" y="203200"/>
                </a:cubicBezTo>
                <a:cubicBezTo>
                  <a:pt x="1413468" y="315424"/>
                  <a:pt x="1322492" y="406400"/>
                  <a:pt x="1210268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52FB571E-69A8-41C2-AFDB-FC8B05B8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1650F3D9-84BE-457E-91E6-89A9DFB5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123479" h="406400">
                <a:moveTo>
                  <a:pt x="920279" y="0"/>
                </a:moveTo>
                <a:cubicBezTo>
                  <a:pt x="1032503" y="0"/>
                  <a:pt x="1123479" y="90976"/>
                  <a:pt x="1123479" y="203200"/>
                </a:cubicBezTo>
                <a:cubicBezTo>
                  <a:pt x="1123479" y="315424"/>
                  <a:pt x="1032503" y="406400"/>
                  <a:pt x="920279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B42F26B7-ED2D-4C68-8052-238F9B0A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6F2C9F5E-34C6-43A4-A373-EE158F14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06400" h="406400">
                <a:moveTo>
                  <a:pt x="203200" y="0"/>
                </a:moveTo>
                <a:cubicBezTo>
                  <a:pt x="315424" y="0"/>
                  <a:pt x="406400" y="90976"/>
                  <a:pt x="406400" y="203200"/>
                </a:cubicBezTo>
                <a:cubicBezTo>
                  <a:pt x="406400" y="315424"/>
                  <a:pt x="315424" y="406400"/>
                  <a:pt x="203200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1EB13124-A058-41FB-A525-40B530B7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1A941335-BFE7-42C2-B108-440C4D35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987114" h="812800">
                <a:moveTo>
                  <a:pt x="103302" y="0"/>
                </a:moveTo>
                <a:lnTo>
                  <a:pt x="883813" y="0"/>
                </a:lnTo>
                <a:cubicBezTo>
                  <a:pt x="940864" y="0"/>
                  <a:pt x="987114" y="46250"/>
                  <a:pt x="987114" y="103302"/>
                </a:cubicBezTo>
                <a:lnTo>
                  <a:pt x="987114" y="709499"/>
                </a:lnTo>
                <a:cubicBezTo>
                  <a:pt x="987114" y="736896"/>
                  <a:pt x="976231" y="763171"/>
                  <a:pt x="956858" y="782544"/>
                </a:cubicBezTo>
                <a:cubicBezTo>
                  <a:pt x="937485" y="801916"/>
                  <a:pt x="911210" y="812800"/>
                  <a:pt x="883813" y="812800"/>
                </a:cubicBezTo>
                <a:lnTo>
                  <a:pt x="103302" y="812800"/>
                </a:lnTo>
                <a:cubicBezTo>
                  <a:pt x="46250" y="812800"/>
                  <a:pt x="0" y="766550"/>
                  <a:pt x="0" y="709499"/>
                </a:cubicBezTo>
                <a:lnTo>
                  <a:pt x="0" y="103302"/>
                </a:lnTo>
                <a:cubicBezTo>
                  <a:pt x="0" y="46250"/>
                  <a:pt x="46250" y="0"/>
                  <a:pt x="103302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0ECC3C49-31BF-42FB-AFCF-D52CD5D4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CAA3A92D-827C-4E4D-B4A0-8A2AF866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592148" h="812800">
                <a:moveTo>
                  <a:pt x="64046" y="0"/>
                </a:moveTo>
                <a:lnTo>
                  <a:pt x="1528102" y="0"/>
                </a:lnTo>
                <a:cubicBezTo>
                  <a:pt x="1545088" y="0"/>
                  <a:pt x="1561379" y="6748"/>
                  <a:pt x="1573390" y="18759"/>
                </a:cubicBezTo>
                <a:cubicBezTo>
                  <a:pt x="1585400" y="30769"/>
                  <a:pt x="1592148" y="47060"/>
                  <a:pt x="1592148" y="64046"/>
                </a:cubicBezTo>
                <a:lnTo>
                  <a:pt x="1592148" y="748754"/>
                </a:lnTo>
                <a:cubicBezTo>
                  <a:pt x="1592148" y="765740"/>
                  <a:pt x="1585400" y="782031"/>
                  <a:pt x="1573390" y="794041"/>
                </a:cubicBezTo>
                <a:cubicBezTo>
                  <a:pt x="1561379" y="806052"/>
                  <a:pt x="1545088" y="812800"/>
                  <a:pt x="1528102" y="812800"/>
                </a:cubicBezTo>
                <a:lnTo>
                  <a:pt x="64046" y="812800"/>
                </a:lnTo>
                <a:cubicBezTo>
                  <a:pt x="47060" y="812800"/>
                  <a:pt x="30769" y="806052"/>
                  <a:pt x="18759" y="794041"/>
                </a:cubicBezTo>
                <a:cubicBezTo>
                  <a:pt x="6748" y="782031"/>
                  <a:pt x="0" y="765740"/>
                  <a:pt x="0" y="748754"/>
                </a:cubicBezTo>
                <a:lnTo>
                  <a:pt x="0" y="64046"/>
                </a:lnTo>
                <a:cubicBezTo>
                  <a:pt x="0" y="47060"/>
                  <a:pt x="6748" y="30769"/>
                  <a:pt x="18759" y="18759"/>
                </a:cubicBezTo>
                <a:cubicBezTo>
                  <a:pt x="30769" y="6748"/>
                  <a:pt x="47060" y="0"/>
                  <a:pt x="64046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3545B264-AC7A-4B9B-A50F-1A7954B9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D82805FC-500B-4AE7-9355-FAD8DA88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E6B4C127-2F54-4C58-8473-55F2C64D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3C957564-5745-4C9B-BD37-4635A6D6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37860" h="514913">
                <a:moveTo>
                  <a:pt x="0" y="0"/>
                </a:moveTo>
                <a:lnTo>
                  <a:pt x="437860" y="0"/>
                </a:lnTo>
                <a:lnTo>
                  <a:pt x="437860" y="514914"/>
                </a:lnTo>
                <a:lnTo>
                  <a:pt x="0" y="51491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BA52C16D-985B-42C6-9C6C-26B3CA7A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4350">
                <a:solidFill>
                  <a:srgbClr val="1F497D"/>
                </a:solidFill>
              </a:defRPr>
            </a:pPr>
            <a:r>
              <a:rPr sz="43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  <a:endParaRPr sz="4350" b="1">
              <a:solidFill>
                <a:srgbClr val="1F497D"/>
              </a:solidFill>
              <a:latin typeface="Telegraf Bold"/>
              <a:ea typeface="Telegraf Bold"/>
              <a:cs typeface="Telegraf Bold"/>
            </a:endParaRP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F9B53DFE-452B-4328-8E96-5CD94806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D96BB86E-6F37-4090-8F89-3D3AA6CC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A6D7007F-1CC8-46D3-8738-0469A45B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231195" h="406400">
                <a:moveTo>
                  <a:pt x="3027995" y="0"/>
                </a:moveTo>
                <a:cubicBezTo>
                  <a:pt x="3140220" y="0"/>
                  <a:pt x="3231195" y="90976"/>
                  <a:pt x="3231195" y="203200"/>
                </a:cubicBezTo>
                <a:cubicBezTo>
                  <a:pt x="3231195" y="315424"/>
                  <a:pt x="3140220" y="406400"/>
                  <a:pt x="3027995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9A015317-4EFB-4E02-B478-32DDC83F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1CA9F9CC-3926-4654-A2C4-4D3901AF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761692" h="406400">
                <a:moveTo>
                  <a:pt x="1558492" y="0"/>
                </a:moveTo>
                <a:cubicBezTo>
                  <a:pt x="1670717" y="0"/>
                  <a:pt x="1761692" y="90976"/>
                  <a:pt x="1761692" y="203200"/>
                </a:cubicBezTo>
                <a:cubicBezTo>
                  <a:pt x="1761692" y="315424"/>
                  <a:pt x="1670717" y="406400"/>
                  <a:pt x="1558492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14D4E16E-79C5-48B8-8542-996B5729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BFA94D0B-5613-4506-BC4D-41C0E0EE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A6D33542-9DFB-40C0-ABC0-18BBBCC7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  <a:defRPr sz="135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35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570CCD69-B43E-41A2-AF3F-53491DF9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61C7D868-A9F7-4449-80AB-5D71DED4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4B054B12-9FFC-486F-ACE6-18FB3A7B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7473980A-D317-4106-92E9-6641660B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2A73EE43-3E88-43A9-90CB-C5E6B308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0D4F2B56-32B6-461E-8B0D-251C4013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55E7FF0B-2E9E-4435-8417-2B76A016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95A12970-D703-44CE-8AA7-43700564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247FC02E-4717-4000-A7F2-CC5E5A77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265292C0-BAFC-4795-80A1-AAFEF981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B1ABCE18-AA0A-4E54-813E-85C645AF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94A46560-49EF-418B-8E31-82CE5B38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FB938355-2040-4A31-A71C-DD790874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08CA77FA-F327-4318-BC2D-F1C64064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5934D129-60D4-41CF-ADD9-CAE6BA1E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5" name="Imagen 95">
            <a:extLst xmlns:a="http://schemas.openxmlformats.org/drawingml/2006/main">
              <a:ext uri="{FF2B5EF4-FFF2-40B4-BE49-F238E27FC236}">
                <a16:creationId xmlns:a16="http://schemas.microsoft.com/office/drawing/2014/main" id="{BFF574EF-F96D-420B-9798-181EFD88B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22" name="Imagen 9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17060f6299429e"/>
          <a:srcRect xmlns:a="http://schemas.openxmlformats.org/drawingml/2006/main" l="0" t="28908" r="0" b="289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8476"/>
            </a:avLst>
          </a:prstGeom>
        </p:spPr>
      </p:pic>
      <p:sp>
        <p:nvSpPr>
          <p:cNvPr id="56" name="Imagen 96">
            <a:extLst xmlns:a="http://schemas.openxmlformats.org/drawingml/2006/main">
              <a:ext uri="{FF2B5EF4-FFF2-40B4-BE49-F238E27FC236}">
                <a16:creationId xmlns:a16="http://schemas.microsoft.com/office/drawing/2014/main" id="{D8671E7C-7BD2-482B-B9BB-4F81E84D0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24" name="Imagen 9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93174651404441"/>
          <a:srcRect xmlns:a="http://schemas.openxmlformats.org/drawingml/2006/main" l="17748" t="0" r="1774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8775"/>
            </a:avLst>
          </a:prstGeom>
        </p:spPr>
      </p:pic>
      <p:sp>
        <p:nvSpPr>
          <p:cNvPr id="57" name="visual-top-rail">
            <a:extLst xmlns:a="http://schemas.openxmlformats.org/drawingml/2006/main">
              <a:ext uri="{FF2B5EF4-FFF2-40B4-BE49-F238E27FC236}">
                <a16:creationId xmlns:a16="http://schemas.microsoft.com/office/drawing/2014/main" id="{02D7C6EE-6C39-4A3E-9394-AB9FE8D27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97D"/>
          </a:solidFill>
          <a:ln xmlns:a="http://schemas.openxmlformats.org/drawingml/2006/main" w="0">
            <a:noFill/>
          </a:ln>
        </p:spPr>
      </p:sp>
      <p:pic>
        <p:nvPicPr>
          <p:cNvPr id="1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1a12f1aac84255"/>
          <a:stretch xmlns:a="http://schemas.openxmlformats.org/drawingml/2006/main"/>
        </p:blipFill>
        <p:spPr>
          <a:xfrm xmlns:a="http://schemas.openxmlformats.org/drawingml/2006/main">
            <a:off x="704850" y="540763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9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8339F5C8-F302-4729-B660-C75D13CEA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4770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Universidad Tecnológica Nacional</a:t>
            </a:r>
          </a:p>
        </p:txBody>
      </p:sp>
      <p:sp>
        <p:nvSpPr>
          <p:cNvPr id="60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07082E10-A4F0-4236-A99D-EE8C18921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19250"/>
            <a:ext cx="14382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Uno a muchos lleva la salida al detalle</a:t>
            </a:r>
          </a:p>
        </p:txBody>
      </p:sp>
      <p:sp>
        <p:nvSpPr>
          <p:cNvPr id="61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7A488B09-686C-4270-913B-337F04591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19200" y="2905125"/>
            <a:ext cx="716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62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A88DE3F7-ACBA-49B2-90D6-813021A56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87249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97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497D"/>
                </a:solidFill>
                <a:latin typeface="Aptos"/>
                <a:ea typeface="Aptos"/>
                <a:cs typeface="Aptos"/>
              </a:rPr>
              <a:t>JOIN · CAMBIO DE GRANO</a:t>
            </a:r>
          </a:p>
        </p:txBody>
      </p:sp>
      <p:sp>
        <p:nvSpPr>
          <p:cNvPr id="63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2D577B92-E17D-4243-B523-5C133292F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782050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Análisis de Datos · Ingeniería Industrial</a:t>
            </a:r>
          </a:p>
        </p:txBody>
      </p:sp>
      <p:sp>
        <p:nvSpPr>
          <p:cNvPr id="64" name="flow-arrow-0">
            <a:extLst xmlns:a="http://schemas.openxmlformats.org/drawingml/2006/main">
              <a:ext uri="{FF2B5EF4-FFF2-40B4-BE49-F238E27FC236}">
                <a16:creationId xmlns:a16="http://schemas.microsoft.com/office/drawing/2014/main" id="{2DE035BA-304F-4F20-B5C8-AD816C915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48238" y="4905375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F497D"/>
            </a:solidFill>
            <a:prstDash val="solid"/>
          </a:ln>
        </p:spPr>
      </p:sp>
      <p:sp>
        <p:nvSpPr>
          <p:cNvPr id="65" name="flow-step-0">
            <a:extLst xmlns:a="http://schemas.openxmlformats.org/drawingml/2006/main">
              <a:ext uri="{FF2B5EF4-FFF2-40B4-BE49-F238E27FC236}">
                <a16:creationId xmlns:a16="http://schemas.microsoft.com/office/drawing/2014/main" id="{CAF09759-595A-47B6-82AC-EBA2A3078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3709988" cy="2000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66" name="flow-index-0">
            <a:extLst xmlns:a="http://schemas.openxmlformats.org/drawingml/2006/main">
              <a:ext uri="{FF2B5EF4-FFF2-40B4-BE49-F238E27FC236}">
                <a16:creationId xmlns:a16="http://schemas.microsoft.com/office/drawing/2014/main" id="{8E2634B6-F7B8-46BD-8B32-7199A2761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3860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97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497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7" name="flow-head-0">
            <a:extLst xmlns:a="http://schemas.openxmlformats.org/drawingml/2006/main">
              <a:ext uri="{FF2B5EF4-FFF2-40B4-BE49-F238E27FC236}">
                <a16:creationId xmlns:a16="http://schemas.microsoft.com/office/drawing/2014/main" id="{EF512598-DC11-4D27-96EF-A68B6615A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95800"/>
            <a:ext cx="3328988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Pedido P100</a:t>
            </a:r>
          </a:p>
        </p:txBody>
      </p:sp>
      <p:sp>
        <p:nvSpPr>
          <p:cNvPr id="68" name="flow-body-0">
            <a:extLst xmlns:a="http://schemas.openxmlformats.org/drawingml/2006/main">
              <a:ext uri="{FF2B5EF4-FFF2-40B4-BE49-F238E27FC236}">
                <a16:creationId xmlns:a16="http://schemas.microsoft.com/office/drawing/2014/main" id="{4D111E94-1D58-4DA6-93CD-7E830655A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105400"/>
            <a:ext cx="3367088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1 fila</a:t>
            </a:r>
          </a:p>
        </p:txBody>
      </p:sp>
      <p:sp>
        <p:nvSpPr>
          <p:cNvPr id="69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82F3C0A7-9A3B-45DD-A0BF-E8546C4ED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982075" y="4905375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F497D"/>
            </a:solidFill>
            <a:prstDash val="solid"/>
          </a:ln>
        </p:spPr>
      </p:sp>
      <p:sp>
        <p:nvSpPr>
          <p:cNvPr id="70" name="flow-step-1">
            <a:extLst xmlns:a="http://schemas.openxmlformats.org/drawingml/2006/main">
              <a:ext uri="{FF2B5EF4-FFF2-40B4-BE49-F238E27FC236}">
                <a16:creationId xmlns:a16="http://schemas.microsoft.com/office/drawing/2014/main" id="{12AA0295-9057-4531-80C0-B726C6745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2088" y="3905250"/>
            <a:ext cx="3709988" cy="2000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71" name="flow-index-1">
            <a:extLst xmlns:a="http://schemas.openxmlformats.org/drawingml/2006/main">
              <a:ext uri="{FF2B5EF4-FFF2-40B4-BE49-F238E27FC236}">
                <a16:creationId xmlns:a16="http://schemas.microsoft.com/office/drawing/2014/main" id="{60B96E21-9711-4B77-8865-229CF0234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4488" y="403860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97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497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2" name="flow-head-1">
            <a:extLst xmlns:a="http://schemas.openxmlformats.org/drawingml/2006/main">
              <a:ext uri="{FF2B5EF4-FFF2-40B4-BE49-F238E27FC236}">
                <a16:creationId xmlns:a16="http://schemas.microsoft.com/office/drawing/2014/main" id="{B2F6D267-619E-4E01-8727-55BC20C13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2588" y="4495800"/>
            <a:ext cx="3328988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Línea 1</a:t>
            </a:r>
          </a:p>
        </p:txBody>
      </p:sp>
      <p:sp>
        <p:nvSpPr>
          <p:cNvPr id="73" name="flow-body-1">
            <a:extLst xmlns:a="http://schemas.openxmlformats.org/drawingml/2006/main">
              <a:ext uri="{FF2B5EF4-FFF2-40B4-BE49-F238E27FC236}">
                <a16:creationId xmlns:a16="http://schemas.microsoft.com/office/drawing/2014/main" id="{155CE037-F175-42BE-A062-BF7FF7F50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3538" y="5105400"/>
            <a:ext cx="3367088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Bomba · 2</a:t>
            </a:r>
          </a:p>
        </p:txBody>
      </p:sp>
      <p:sp>
        <p:nvSpPr>
          <p:cNvPr id="74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F17EF496-0C1E-4CAD-8D3C-F8BFA5C16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015913" y="4905375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F497D"/>
            </a:solidFill>
            <a:prstDash val="solid"/>
          </a:ln>
        </p:spPr>
      </p:sp>
      <p:sp>
        <p:nvSpPr>
          <p:cNvPr id="75" name="flow-step-2">
            <a:extLst xmlns:a="http://schemas.openxmlformats.org/drawingml/2006/main">
              <a:ext uri="{FF2B5EF4-FFF2-40B4-BE49-F238E27FC236}">
                <a16:creationId xmlns:a16="http://schemas.microsoft.com/office/drawing/2014/main" id="{6C545601-C65D-44A3-A10C-6576CE3ED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905250"/>
            <a:ext cx="3709988" cy="2000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76" name="flow-index-2">
            <a:extLst xmlns:a="http://schemas.openxmlformats.org/drawingml/2006/main">
              <a:ext uri="{FF2B5EF4-FFF2-40B4-BE49-F238E27FC236}">
                <a16:creationId xmlns:a16="http://schemas.microsoft.com/office/drawing/2014/main" id="{0D97E6B1-6DF3-43D1-AB0B-5B7E521C6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403860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97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497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77" name="flow-head-2">
            <a:extLst xmlns:a="http://schemas.openxmlformats.org/drawingml/2006/main">
              <a:ext uri="{FF2B5EF4-FFF2-40B4-BE49-F238E27FC236}">
                <a16:creationId xmlns:a16="http://schemas.microsoft.com/office/drawing/2014/main" id="{25F07BC0-FF67-4CD9-9205-AAEBF8D8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4495800"/>
            <a:ext cx="3328988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Línea 2</a:t>
            </a:r>
          </a:p>
        </p:txBody>
      </p:sp>
      <p:sp>
        <p:nvSpPr>
          <p:cNvPr id="78" name="flow-body-2">
            <a:extLst xmlns:a="http://schemas.openxmlformats.org/drawingml/2006/main">
              <a:ext uri="{FF2B5EF4-FFF2-40B4-BE49-F238E27FC236}">
                <a16:creationId xmlns:a16="http://schemas.microsoft.com/office/drawing/2014/main" id="{C6D1BDD3-6DA5-4032-AF02-AE63B40D3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5105400"/>
            <a:ext cx="3367088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Válvula · 5</a:t>
            </a:r>
          </a:p>
        </p:txBody>
      </p:sp>
      <p:sp>
        <p:nvSpPr>
          <p:cNvPr id="79" name="flow-step-3">
            <a:extLst xmlns:a="http://schemas.openxmlformats.org/drawingml/2006/main">
              <a:ext uri="{FF2B5EF4-FFF2-40B4-BE49-F238E27FC236}">
                <a16:creationId xmlns:a16="http://schemas.microsoft.com/office/drawing/2014/main" id="{A8C94442-42E5-4AB9-8C99-12F68032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9763" y="3905250"/>
            <a:ext cx="3709988" cy="2000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80" name="flow-index-3">
            <a:extLst xmlns:a="http://schemas.openxmlformats.org/drawingml/2006/main">
              <a:ext uri="{FF2B5EF4-FFF2-40B4-BE49-F238E27FC236}">
                <a16:creationId xmlns:a16="http://schemas.microsoft.com/office/drawing/2014/main" id="{4886D7BB-E4C2-42F6-8C29-EABB753A9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92163" y="403860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81" name="flow-head-3">
            <a:extLst xmlns:a="http://schemas.openxmlformats.org/drawingml/2006/main">
              <a:ext uri="{FF2B5EF4-FFF2-40B4-BE49-F238E27FC236}">
                <a16:creationId xmlns:a16="http://schemas.microsoft.com/office/drawing/2014/main" id="{058A8F07-9937-42B7-A6B1-2CEE0459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0263" y="4495800"/>
            <a:ext cx="3328988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Salida</a:t>
            </a:r>
          </a:p>
        </p:txBody>
      </p:sp>
      <p:sp>
        <p:nvSpPr>
          <p:cNvPr id="82" name="flow-body-3">
            <a:extLst xmlns:a="http://schemas.openxmlformats.org/drawingml/2006/main">
              <a:ext uri="{FF2B5EF4-FFF2-40B4-BE49-F238E27FC236}">
                <a16:creationId xmlns:a16="http://schemas.microsoft.com/office/drawing/2014/main" id="{7F0095A4-40A3-408F-B42E-20629BE8F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1213" y="5105400"/>
            <a:ext cx="3367088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 filas</a:t>
            </a:r>
          </a:p>
        </p:txBody>
      </p:sp>
      <p:sp>
        <p:nvSpPr>
          <p:cNvPr id="83" name="flow-callout">
            <a:extLst xmlns:a="http://schemas.openxmlformats.org/drawingml/2006/main">
              <a:ext uri="{FF2B5EF4-FFF2-40B4-BE49-F238E27FC236}">
                <a16:creationId xmlns:a16="http://schemas.microsoft.com/office/drawing/2014/main" id="{94E024DC-E2D5-4B3A-AE15-31B00C6DD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7000875"/>
            <a:ext cx="1314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F497D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F497D"/>
                </a:solidFill>
                <a:latin typeface="Aptos"/>
                <a:ea typeface="Aptos"/>
                <a:cs typeface="Aptos"/>
              </a:rPr>
              <a:t>Los atributos del pedido se repiten; la venta de línea mantiene un grano aditivo.</a:t>
            </a:r>
          </a:p>
        </p:txBody>
      </p:sp>
    </p:spTree>
    <p:extLst>
      <p:ext uri="{BB962C8B-B14F-4D97-AF65-F5344CB8AC3E}">
        <p14:creationId xmlns:p14="http://schemas.microsoft.com/office/powerpoint/2010/main" val="76266272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5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41599EAE-9230-46F4-8A97-7D146E9F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6350000" h="9525000">
                <a:moveTo>
                  <a:pt x="0" y="9042400"/>
                </a:moveTo>
                <a:lnTo>
                  <a:pt x="0" y="482600"/>
                </a:lnTo>
                <a:cubicBezTo>
                  <a:pt x="0" y="215900"/>
                  <a:pt x="215900" y="0"/>
                  <a:pt x="482600" y="0"/>
                </a:cubicBezTo>
                <a:lnTo>
                  <a:pt x="5867400" y="0"/>
                </a:lnTo>
                <a:cubicBezTo>
                  <a:pt x="6134100" y="0"/>
                  <a:pt x="6350000" y="217170"/>
                  <a:pt x="6350000" y="482600"/>
                </a:cubicBezTo>
                <a:lnTo>
                  <a:pt x="6350000" y="9042400"/>
                </a:lnTo>
                <a:cubicBezTo>
                  <a:pt x="6350000" y="9309100"/>
                  <a:pt x="6134100" y="9525000"/>
                  <a:pt x="5867400" y="9525000"/>
                </a:cubicBezTo>
                <a:lnTo>
                  <a:pt x="482600" y="9525000"/>
                </a:lnTo>
                <a:cubicBezTo>
                  <a:pt x="217170" y="9525000"/>
                  <a:pt x="0" y="9309100"/>
                  <a:pt x="0" y="904240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BB645A18-45DA-41BB-B67F-44E720A6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829325" h="516787">
                <a:moveTo>
                  <a:pt x="21062" y="0"/>
                </a:moveTo>
                <a:lnTo>
                  <a:pt x="808264" y="0"/>
                </a:lnTo>
                <a:cubicBezTo>
                  <a:pt x="813849" y="0"/>
                  <a:pt x="819206" y="2219"/>
                  <a:pt x="823156" y="6169"/>
                </a:cubicBezTo>
                <a:cubicBezTo>
                  <a:pt x="827106" y="10119"/>
                  <a:pt x="829325" y="15476"/>
                  <a:pt x="829325" y="21062"/>
                </a:cubicBezTo>
                <a:lnTo>
                  <a:pt x="829325" y="495726"/>
                </a:lnTo>
                <a:cubicBezTo>
                  <a:pt x="829325" y="501312"/>
                  <a:pt x="827106" y="506669"/>
                  <a:pt x="823156" y="510619"/>
                </a:cubicBezTo>
                <a:cubicBezTo>
                  <a:pt x="819206" y="514568"/>
                  <a:pt x="813849" y="516787"/>
                  <a:pt x="808264" y="516787"/>
                </a:cubicBezTo>
                <a:lnTo>
                  <a:pt x="21062" y="516787"/>
                </a:lnTo>
                <a:cubicBezTo>
                  <a:pt x="15476" y="516787"/>
                  <a:pt x="10119" y="514568"/>
                  <a:pt x="6169" y="510619"/>
                </a:cubicBezTo>
                <a:cubicBezTo>
                  <a:pt x="2219" y="506669"/>
                  <a:pt x="0" y="501312"/>
                  <a:pt x="0" y="495726"/>
                </a:cubicBezTo>
                <a:lnTo>
                  <a:pt x="0" y="21062"/>
                </a:lnTo>
                <a:cubicBezTo>
                  <a:pt x="0" y="15476"/>
                  <a:pt x="2219" y="10119"/>
                  <a:pt x="6169" y="6169"/>
                </a:cubicBezTo>
                <a:cubicBezTo>
                  <a:pt x="10119" y="2219"/>
                  <a:pt x="15476" y="0"/>
                  <a:pt x="21062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44B9B017-FA3A-4B67-B447-67CF57E5E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895E777F-304A-483E-AD78-5BAFE4373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32323" y="0"/>
                </a:moveTo>
                <a:lnTo>
                  <a:pt x="235185" y="0"/>
                </a:lnTo>
                <a:cubicBezTo>
                  <a:pt x="308264" y="0"/>
                  <a:pt x="367507" y="59243"/>
                  <a:pt x="367507" y="132323"/>
                </a:cubicBezTo>
                <a:lnTo>
                  <a:pt x="367507" y="252450"/>
                </a:lnTo>
                <a:cubicBezTo>
                  <a:pt x="367507" y="325529"/>
                  <a:pt x="308264" y="384772"/>
                  <a:pt x="235185" y="384772"/>
                </a:cubicBezTo>
                <a:lnTo>
                  <a:pt x="132323" y="384772"/>
                </a:lnTo>
                <a:cubicBezTo>
                  <a:pt x="59243" y="384772"/>
                  <a:pt x="0" y="325529"/>
                  <a:pt x="0" y="252450"/>
                </a:cubicBezTo>
                <a:lnTo>
                  <a:pt x="0" y="132323"/>
                </a:lnTo>
                <a:cubicBezTo>
                  <a:pt x="0" y="59243"/>
                  <a:pt x="59243" y="0"/>
                  <a:pt x="132323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422F67D9-C70F-43B0-9119-013334F8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8E20F117-83A3-4316-8680-A192D7462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A2456041-BEF3-4033-BC59-AE8E7FDC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D82CB605-CAA5-42CA-B507-02BFB77BF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AA16B0EF-85D9-44E6-9D81-21A0E3E21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2BD0F58A-DE3D-4287-8F03-DF04BA64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0D87C4CE-3F87-4889-8059-17D1A3AEE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D8711D01-5E9C-43ED-A715-EF2A83938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812787" h="812787">
                <a:moveTo>
                  <a:pt x="0" y="0"/>
                </a:moveTo>
                <a:lnTo>
                  <a:pt x="812786" y="0"/>
                </a:lnTo>
                <a:lnTo>
                  <a:pt x="812786" y="812787"/>
                </a:lnTo>
                <a:lnTo>
                  <a:pt x="0" y="81278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A73E0E5F-A81C-4E46-AD2D-53B3CCC29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64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64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E1AEF49F-B0A7-41FA-9696-CED7610F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0070"/>
              </a:lnSpc>
              <a:spcBef>
                <a:spcPct val="0"/>
              </a:spcBef>
              <a:buNone/>
              <a:defRPr sz="4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4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E4CD3D23-2ED3-4BD9-AEFB-B1A6A8CF0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443"/>
              </a:lnSpc>
              <a:spcBef>
                <a:spcPct val="0"/>
              </a:spcBef>
              <a:buNone/>
              <a:defRPr sz="1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  <a:endParaRPr sz="1650" b="1">
              <a:solidFill>
                <a:srgbClr val="FFFFFF"/>
              </a:solidFill>
              <a:latin typeface="Telegraf Bold"/>
              <a:ea typeface="Telegraf Bold"/>
              <a:cs typeface="Telegraf Bold"/>
            </a:endParaRP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CF87C25C-01A2-4727-B612-44373DCF4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38"/>
              </a:lnSpc>
              <a:spcBef>
                <a:spcPct val="0"/>
              </a:spcBef>
              <a:buNone/>
            </a:pPr>
            <a:r>
              <a:rPr sz="2313">
                <a:solidFill>
                  <a:srgbClr val="FFFF33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A7E5DDDB-933E-4EDB-8B45-59ABA66C7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20"/>
              </a:lnSpc>
              <a:buNone/>
            </a:pPr>
            <a:r>
              <a:rPr sz="1982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3F8E7F09-926C-491E-A20C-8170D086C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231195" h="406400">
                <a:moveTo>
                  <a:pt x="3027995" y="0"/>
                </a:moveTo>
                <a:cubicBezTo>
                  <a:pt x="3140220" y="0"/>
                  <a:pt x="3231195" y="90976"/>
                  <a:pt x="3231195" y="203200"/>
                </a:cubicBezTo>
                <a:cubicBezTo>
                  <a:pt x="3231195" y="315424"/>
                  <a:pt x="3140220" y="406400"/>
                  <a:pt x="3027995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EC9C4D18-444F-4F86-95CB-62116316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A33CE1BD-FDDF-4394-B584-278ED2424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761692" h="406400">
                <a:moveTo>
                  <a:pt x="1558492" y="0"/>
                </a:moveTo>
                <a:cubicBezTo>
                  <a:pt x="1670717" y="0"/>
                  <a:pt x="1761692" y="90976"/>
                  <a:pt x="1761692" y="203200"/>
                </a:cubicBezTo>
                <a:cubicBezTo>
                  <a:pt x="1761692" y="315424"/>
                  <a:pt x="1670717" y="406400"/>
                  <a:pt x="1558492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2C69D954-C7C9-4265-B933-11769380B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C01D160F-BB8C-4120-99EE-5308C2A43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C95C0556-9450-4183-A70F-BB23459F1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6" name="Freeform 36">
            <a:extLst xmlns:a="http://schemas.openxmlformats.org/drawingml/2006/main">
              <a:ext uri="{FF2B5EF4-FFF2-40B4-BE49-F238E27FC236}">
                <a16:creationId xmlns:a16="http://schemas.microsoft.com/office/drawing/2014/main" id="{F699D9FF-4CD4-4B20-9AF1-74CF80D59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38320" h="514913">
                <a:moveTo>
                  <a:pt x="0" y="0"/>
                </a:moveTo>
                <a:lnTo>
                  <a:pt x="438320" y="0"/>
                </a:lnTo>
                <a:lnTo>
                  <a:pt x="438320" y="514913"/>
                </a:lnTo>
                <a:lnTo>
                  <a:pt x="0" y="51491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1DD2DE10-3D86-489C-BE17-EE6AB81D7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159"/>
              </a:lnSpc>
              <a:buNone/>
            </a:pPr>
            <a:r>
              <a:rPr sz="1599">
                <a:solidFill>
                  <a:srgbClr val="F6F9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16EBDEB0-C238-487A-8BC5-675FBC81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2159"/>
              </a:lnSpc>
              <a:buNone/>
            </a:pPr>
            <a:r>
              <a:rPr sz="1599">
                <a:solidFill>
                  <a:srgbClr val="F6F9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1FA2A9ED-D814-4F81-BF6A-248A18C9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0070"/>
              </a:lnSpc>
              <a:spcBef>
                <a:spcPct val="0"/>
              </a:spcBef>
              <a:buNone/>
              <a:defRPr sz="43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43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05A9C250-80BF-4D30-90DF-77B6F38C1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443"/>
              </a:lnSpc>
              <a:spcBef>
                <a:spcPct val="0"/>
              </a:spcBef>
              <a:buNone/>
              <a:defRPr sz="1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119F38F8-3E4E-4BAE-8A7D-E9C7182B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38"/>
              </a:lnSpc>
              <a:spcBef>
                <a:spcPct val="0"/>
              </a:spcBef>
              <a:buNone/>
            </a:pPr>
            <a:r>
              <a:rPr sz="2313">
                <a:solidFill>
                  <a:srgbClr val="FFFF33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3" name="TextBox 43">
            <a:extLst xmlns:a="http://schemas.openxmlformats.org/drawingml/2006/main">
              <a:ext uri="{FF2B5EF4-FFF2-40B4-BE49-F238E27FC236}">
                <a16:creationId xmlns:a16="http://schemas.microsoft.com/office/drawing/2014/main" id="{DB75F18F-2D8F-4655-9D4E-587F65119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20"/>
              </a:lnSpc>
              <a:buNone/>
            </a:pPr>
            <a:r>
              <a:rPr sz="1982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0DC5DB04-51FC-4DDD-90C7-BDC4A3872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38"/>
              </a:lnSpc>
              <a:spcBef>
                <a:spcPct val="0"/>
              </a:spcBef>
              <a:buNone/>
            </a:pPr>
            <a:r>
              <a:rPr sz="2313">
                <a:solidFill>
                  <a:srgbClr val="FFFF33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8831C357-2367-4D26-855D-C1356995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20"/>
              </a:lnSpc>
              <a:buNone/>
            </a:pPr>
            <a:r>
              <a:rPr sz="1982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86253085-92BB-4B37-9E0B-BAF67954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38"/>
              </a:lnSpc>
              <a:spcBef>
                <a:spcPct val="0"/>
              </a:spcBef>
              <a:buNone/>
            </a:pPr>
            <a:r>
              <a:rPr sz="2313">
                <a:solidFill>
                  <a:srgbClr val="FFFF33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F1AC78EF-548D-416F-9D3B-39A1C025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20"/>
              </a:lnSpc>
              <a:buNone/>
            </a:pPr>
            <a:r>
              <a:rPr sz="1982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  <a:endParaRPr sz="1982">
              <a:solidFill>
                <a:srgbClr val="FFFFFF"/>
              </a:solidFill>
              <a:latin typeface="Telegraf"/>
              <a:ea typeface="Telegraf"/>
              <a:cs typeface="Telegraf"/>
            </a:endParaRPr>
          </a:p>
        </p:txBody>
      </p:sp>
      <p:sp>
        <p:nvSpPr>
          <p:cNvPr id="50" name="AutoShape 50">
            <a:extLst xmlns:a="http://schemas.openxmlformats.org/drawingml/2006/main">
              <a:ext uri="{FF2B5EF4-FFF2-40B4-BE49-F238E27FC236}">
                <a16:creationId xmlns:a16="http://schemas.microsoft.com/office/drawing/2014/main" id="{50360BEB-2406-4484-B3B7-98EBD2B91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51" name="TextBox 51">
            <a:extLst xmlns:a="http://schemas.openxmlformats.org/drawingml/2006/main">
              <a:ext uri="{FF2B5EF4-FFF2-40B4-BE49-F238E27FC236}">
                <a16:creationId xmlns:a16="http://schemas.microsoft.com/office/drawing/2014/main" id="{21046766-6CDD-405B-9F7F-1FEE675C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21"/>
              </a:lnSpc>
              <a:spcBef>
                <a:spcPct val="0"/>
              </a:spcBef>
              <a:buNone/>
            </a:pPr>
            <a:r>
              <a:rPr sz="1943" b="1">
                <a:solidFill>
                  <a:srgbClr val="FFFFFF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664F1534-F388-448D-89C2-C415FA37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21"/>
              </a:lnSpc>
              <a:spcBef>
                <a:spcPct val="0"/>
              </a:spcBef>
              <a:buNone/>
            </a:pPr>
            <a:r>
              <a:rPr sz="1943" b="1">
                <a:solidFill>
                  <a:srgbClr val="FFFFFF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2696FB92-092A-4DA4-9485-F731CFC1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21"/>
              </a:lnSpc>
              <a:spcBef>
                <a:spcPct val="0"/>
              </a:spcBef>
              <a:buNone/>
            </a:pPr>
            <a:r>
              <a:rPr sz="1943" b="1">
                <a:solidFill>
                  <a:srgbClr val="FFFFFF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97C44366-DEBC-4C93-B14C-8DC4DF95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21"/>
              </a:lnSpc>
              <a:spcBef>
                <a:spcPct val="0"/>
              </a:spcBef>
              <a:buNone/>
            </a:pPr>
            <a:r>
              <a:rPr sz="1943" b="1">
                <a:solidFill>
                  <a:srgbClr val="FFFFFF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55" name="visual-top-rail">
            <a:extLst xmlns:a="http://schemas.openxmlformats.org/drawingml/2006/main">
              <a:ext uri="{FF2B5EF4-FFF2-40B4-BE49-F238E27FC236}">
                <a16:creationId xmlns:a16="http://schemas.microsoft.com/office/drawing/2014/main" id="{032D0492-B603-4999-98AD-3F3EFA357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33"/>
          </a:solidFill>
          <a:ln xmlns:a="http://schemas.openxmlformats.org/drawingml/2006/main" w="0">
            <a:noFill/>
          </a:ln>
        </p:spPr>
      </p:sp>
      <p:pic>
        <p:nvPicPr>
          <p:cNvPr id="1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a81c72780940d6"/>
          <a:stretch xmlns:a="http://schemas.openxmlformats.org/drawingml/2006/main"/>
        </p:blipFill>
        <p:spPr>
          <a:xfrm xmlns:a="http://schemas.openxmlformats.org/drawingml/2006/main">
            <a:off x="704850" y="540763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7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B04A4040-514F-44AE-84ED-4A40DC2A7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4770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D8D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8D8D8"/>
                </a:solidFill>
                <a:latin typeface="Aptos"/>
                <a:ea typeface="Aptos"/>
                <a:cs typeface="Aptos"/>
              </a:rPr>
              <a:t>Universidad Tecnológica Nacional</a:t>
            </a:r>
          </a:p>
        </p:txBody>
      </p:sp>
      <p:sp>
        <p:nvSpPr>
          <p:cNvPr id="58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94491819-45CC-4C1C-BDE0-53D64AA45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19250"/>
            <a:ext cx="14382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Una clave repetida multiplica importes</a:t>
            </a:r>
          </a:p>
        </p:txBody>
      </p:sp>
      <p:sp>
        <p:nvSpPr>
          <p:cNvPr id="59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309FBAD7-B78A-474E-8A1F-DD65C5A1C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19200" y="2905125"/>
            <a:ext cx="716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33"/>
            </a:solidFill>
            <a:prstDash val="solid"/>
          </a:ln>
        </p:spPr>
      </p:sp>
      <p:sp>
        <p:nvSpPr>
          <p:cNvPr id="60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359F9483-1BD0-4193-9E00-DB163C597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87249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33"/>
                </a:solidFill>
                <a:latin typeface="Aptos"/>
                <a:ea typeface="Aptos"/>
                <a:cs typeface="Aptos"/>
              </a:rPr>
              <a:t>JOIN · DUPLICACIÓN</a:t>
            </a:r>
          </a:p>
        </p:txBody>
      </p:sp>
      <p:sp>
        <p:nvSpPr>
          <p:cNvPr id="61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986CB567-788E-497B-8DF3-18123B5AF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782050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C8CDD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8CDD3"/>
                </a:solidFill>
                <a:latin typeface="Aptos"/>
                <a:ea typeface="Aptos"/>
                <a:cs typeface="Aptos"/>
              </a:rPr>
              <a:t>Análisis de Datos · Ingeniería Industrial</a:t>
            </a:r>
          </a:p>
        </p:txBody>
      </p:sp>
      <p:sp>
        <p:nvSpPr>
          <p:cNvPr id="62" name="compare-box-0">
            <a:extLst xmlns:a="http://schemas.openxmlformats.org/drawingml/2006/main">
              <a:ext uri="{FF2B5EF4-FFF2-40B4-BE49-F238E27FC236}">
                <a16:creationId xmlns:a16="http://schemas.microsoft.com/office/drawing/2014/main" id="{07C1E158-308B-48AF-8032-16CD8E236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19500"/>
            <a:ext cx="6762750" cy="3048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D1D1D"/>
          </a:solidFill>
          <a:ln xmlns:a="http://schemas.openxmlformats.org/drawingml/2006/main" w="11430">
            <a:solidFill>
              <a:srgbClr val="515151"/>
            </a:solidFill>
            <a:prstDash val="solid"/>
          </a:ln>
        </p:spPr>
      </p:sp>
      <p:sp>
        <p:nvSpPr>
          <p:cNvPr id="63" name="compare-head-0">
            <a:extLst xmlns:a="http://schemas.openxmlformats.org/drawingml/2006/main">
              <a:ext uri="{FF2B5EF4-FFF2-40B4-BE49-F238E27FC236}">
                <a16:creationId xmlns:a16="http://schemas.microsoft.com/office/drawing/2014/main" id="{6BAED18D-09CB-4EFF-B187-3ECD99408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57625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Clave única</a:t>
            </a:r>
          </a:p>
        </p:txBody>
      </p:sp>
      <p:sp>
        <p:nvSpPr>
          <p:cNvPr id="64" name="compare-metric-0">
            <a:extLst xmlns:a="http://schemas.openxmlformats.org/drawingml/2006/main">
              <a:ext uri="{FF2B5EF4-FFF2-40B4-BE49-F238E27FC236}">
                <a16:creationId xmlns:a16="http://schemas.microsoft.com/office/drawing/2014/main" id="{0781DA8A-252E-4B98-83E6-AE1E6AA19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81425"/>
            <a:ext cx="200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3600" b="1">
                <a:solidFill>
                  <a:srgbClr val="FFFF33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33"/>
                </a:solidFill>
                <a:latin typeface="Aptos"/>
                <a:ea typeface="Aptos"/>
                <a:cs typeface="Aptos"/>
              </a:rPr>
              <a:t>3.574</a:t>
            </a:r>
          </a:p>
        </p:txBody>
      </p:sp>
      <p:sp>
        <p:nvSpPr>
          <p:cNvPr id="65" name="compare-body-0">
            <a:extLst xmlns:a="http://schemas.openxmlformats.org/drawingml/2006/main">
              <a:ext uri="{FF2B5EF4-FFF2-40B4-BE49-F238E27FC236}">
                <a16:creationId xmlns:a16="http://schemas.microsoft.com/office/drawing/2014/main" id="{751E6D8B-E9B8-4FBD-AFC3-66995FF17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857750"/>
            <a:ext cx="6096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8D8D8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D8D8D8"/>
                </a:solidFill>
                <a:latin typeface="Aptos"/>
                <a:ea typeface="Aptos"/>
                <a:cs typeface="Aptos"/>
              </a:rPr>
              <a:t>Una coincidencia por pedido.</a:t>
            </a:r>
          </a:p>
        </p:txBody>
      </p:sp>
      <p:sp>
        <p:nvSpPr>
          <p:cNvPr id="66" name="compare-box-1">
            <a:extLst xmlns:a="http://schemas.openxmlformats.org/drawingml/2006/main">
              <a:ext uri="{FF2B5EF4-FFF2-40B4-BE49-F238E27FC236}">
                <a16:creationId xmlns:a16="http://schemas.microsoft.com/office/drawing/2014/main" id="{E28EC2E7-4478-43CC-BD11-BD8AF9E24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19500"/>
            <a:ext cx="6762750" cy="3048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232323"/>
          </a:solidFill>
          <a:ln xmlns:a="http://schemas.openxmlformats.org/drawingml/2006/main" w="11430">
            <a:solidFill>
              <a:srgbClr val="515151"/>
            </a:solidFill>
            <a:prstDash val="solid"/>
          </a:ln>
        </p:spPr>
      </p:sp>
      <p:sp>
        <p:nvSpPr>
          <p:cNvPr id="67" name="compare-head-1">
            <a:extLst xmlns:a="http://schemas.openxmlformats.org/drawingml/2006/main">
              <a:ext uri="{FF2B5EF4-FFF2-40B4-BE49-F238E27FC236}">
                <a16:creationId xmlns:a16="http://schemas.microsoft.com/office/drawing/2014/main" id="{3BDDCA62-7722-4638-ACAD-7A7D5A947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857625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Clave duplicada</a:t>
            </a:r>
          </a:p>
        </p:txBody>
      </p:sp>
      <p:sp>
        <p:nvSpPr>
          <p:cNvPr id="68" name="compare-metric-1">
            <a:extLst xmlns:a="http://schemas.openxmlformats.org/drawingml/2006/main">
              <a:ext uri="{FF2B5EF4-FFF2-40B4-BE49-F238E27FC236}">
                <a16:creationId xmlns:a16="http://schemas.microsoft.com/office/drawing/2014/main" id="{EBE98D6D-0838-49A6-B077-16E54C0E2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3781425"/>
            <a:ext cx="200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3600" b="1">
                <a:solidFill>
                  <a:srgbClr val="FFFF33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33"/>
                </a:solidFill>
                <a:latin typeface="Aptos"/>
                <a:ea typeface="Aptos"/>
                <a:cs typeface="Aptos"/>
              </a:rPr>
              <a:t>7.500</a:t>
            </a:r>
          </a:p>
        </p:txBody>
      </p:sp>
      <p:sp>
        <p:nvSpPr>
          <p:cNvPr id="69" name="compare-body-1">
            <a:extLst xmlns:a="http://schemas.openxmlformats.org/drawingml/2006/main">
              <a:ext uri="{FF2B5EF4-FFF2-40B4-BE49-F238E27FC236}">
                <a16:creationId xmlns:a16="http://schemas.microsoft.com/office/drawing/2014/main" id="{C74221C1-62DA-4712-BDBF-F51547F93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857750"/>
            <a:ext cx="6096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8D8D8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D8D8D8"/>
                </a:solidFill>
                <a:latin typeface="Aptos"/>
                <a:ea typeface="Aptos"/>
                <a:cs typeface="Aptos"/>
              </a:rPr>
              <a:t>El total de cabecera se copia por línea.</a:t>
            </a:r>
          </a:p>
        </p:txBody>
      </p:sp>
      <p:sp>
        <p:nvSpPr>
          <p:cNvPr id="70" name="compare-bridge">
            <a:extLst xmlns:a="http://schemas.openxmlformats.org/drawingml/2006/main">
              <a:ext uri="{FF2B5EF4-FFF2-40B4-BE49-F238E27FC236}">
                <a16:creationId xmlns:a16="http://schemas.microsoft.com/office/drawing/2014/main" id="{692D008D-80CF-4F3E-BD22-49673C094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7143750"/>
            <a:ext cx="11811000" cy="1047750"/>
          </a:xfrm>
          <a:prstGeom xmlns:a="http://schemas.openxmlformats.org/drawingml/2006/main" prst="roundRect">
            <a:avLst>
              <a:gd name="adj" fmla="val 16364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71" name="compare-bridge-text">
            <a:extLst xmlns:a="http://schemas.openxmlformats.org/drawingml/2006/main">
              <a:ext uri="{FF2B5EF4-FFF2-40B4-BE49-F238E27FC236}">
                <a16:creationId xmlns:a16="http://schemas.microsoft.com/office/drawing/2014/main" id="{AC403C77-6AF6-4B6A-B08C-E823BCD1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7286625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Contar claves y reconciliar importes permite localizar la causa.</a:t>
            </a:r>
          </a:p>
        </p:txBody>
      </p:sp>
    </p:spTree>
    <p:extLst>
      <p:ext uri="{BB962C8B-B14F-4D97-AF65-F5344CB8AC3E}">
        <p14:creationId xmlns:p14="http://schemas.microsoft.com/office/powerpoint/2010/main" val="69410034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5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E8ED7EFC-4861-4208-9610-A0C3E8C4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413468" h="406400">
                <a:moveTo>
                  <a:pt x="1210268" y="0"/>
                </a:moveTo>
                <a:cubicBezTo>
                  <a:pt x="1322492" y="0"/>
                  <a:pt x="1413468" y="90976"/>
                  <a:pt x="1413468" y="203200"/>
                </a:cubicBezTo>
                <a:cubicBezTo>
                  <a:pt x="1413468" y="315424"/>
                  <a:pt x="1322492" y="406400"/>
                  <a:pt x="1210268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52FB571E-69A8-41C2-AFDB-FC8B05B8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1650F3D9-84BE-457E-91E6-89A9DFB5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123479" h="406400">
                <a:moveTo>
                  <a:pt x="920279" y="0"/>
                </a:moveTo>
                <a:cubicBezTo>
                  <a:pt x="1032503" y="0"/>
                  <a:pt x="1123479" y="90976"/>
                  <a:pt x="1123479" y="203200"/>
                </a:cubicBezTo>
                <a:cubicBezTo>
                  <a:pt x="1123479" y="315424"/>
                  <a:pt x="1032503" y="406400"/>
                  <a:pt x="920279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B42F26B7-ED2D-4C68-8052-238F9B0A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6F2C9F5E-34C6-43A4-A373-EE158F14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06400" h="406400">
                <a:moveTo>
                  <a:pt x="203200" y="0"/>
                </a:moveTo>
                <a:cubicBezTo>
                  <a:pt x="315424" y="0"/>
                  <a:pt x="406400" y="90976"/>
                  <a:pt x="406400" y="203200"/>
                </a:cubicBezTo>
                <a:cubicBezTo>
                  <a:pt x="406400" y="315424"/>
                  <a:pt x="315424" y="406400"/>
                  <a:pt x="203200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1EB13124-A058-41FB-A525-40B530B7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1A941335-BFE7-42C2-B108-440C4D35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987114" h="812800">
                <a:moveTo>
                  <a:pt x="103302" y="0"/>
                </a:moveTo>
                <a:lnTo>
                  <a:pt x="883813" y="0"/>
                </a:lnTo>
                <a:cubicBezTo>
                  <a:pt x="940864" y="0"/>
                  <a:pt x="987114" y="46250"/>
                  <a:pt x="987114" y="103302"/>
                </a:cubicBezTo>
                <a:lnTo>
                  <a:pt x="987114" y="709499"/>
                </a:lnTo>
                <a:cubicBezTo>
                  <a:pt x="987114" y="736896"/>
                  <a:pt x="976231" y="763171"/>
                  <a:pt x="956858" y="782544"/>
                </a:cubicBezTo>
                <a:cubicBezTo>
                  <a:pt x="937485" y="801916"/>
                  <a:pt x="911210" y="812800"/>
                  <a:pt x="883813" y="812800"/>
                </a:cubicBezTo>
                <a:lnTo>
                  <a:pt x="103302" y="812800"/>
                </a:lnTo>
                <a:cubicBezTo>
                  <a:pt x="46250" y="812800"/>
                  <a:pt x="0" y="766550"/>
                  <a:pt x="0" y="709499"/>
                </a:cubicBezTo>
                <a:lnTo>
                  <a:pt x="0" y="103302"/>
                </a:lnTo>
                <a:cubicBezTo>
                  <a:pt x="0" y="46250"/>
                  <a:pt x="46250" y="0"/>
                  <a:pt x="103302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0ECC3C49-31BF-42FB-AFCF-D52CD5D4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CAA3A92D-827C-4E4D-B4A0-8A2AF866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592148" h="812800">
                <a:moveTo>
                  <a:pt x="64046" y="0"/>
                </a:moveTo>
                <a:lnTo>
                  <a:pt x="1528102" y="0"/>
                </a:lnTo>
                <a:cubicBezTo>
                  <a:pt x="1545088" y="0"/>
                  <a:pt x="1561379" y="6748"/>
                  <a:pt x="1573390" y="18759"/>
                </a:cubicBezTo>
                <a:cubicBezTo>
                  <a:pt x="1585400" y="30769"/>
                  <a:pt x="1592148" y="47060"/>
                  <a:pt x="1592148" y="64046"/>
                </a:cubicBezTo>
                <a:lnTo>
                  <a:pt x="1592148" y="748754"/>
                </a:lnTo>
                <a:cubicBezTo>
                  <a:pt x="1592148" y="765740"/>
                  <a:pt x="1585400" y="782031"/>
                  <a:pt x="1573390" y="794041"/>
                </a:cubicBezTo>
                <a:cubicBezTo>
                  <a:pt x="1561379" y="806052"/>
                  <a:pt x="1545088" y="812800"/>
                  <a:pt x="1528102" y="812800"/>
                </a:cubicBezTo>
                <a:lnTo>
                  <a:pt x="64046" y="812800"/>
                </a:lnTo>
                <a:cubicBezTo>
                  <a:pt x="47060" y="812800"/>
                  <a:pt x="30769" y="806052"/>
                  <a:pt x="18759" y="794041"/>
                </a:cubicBezTo>
                <a:cubicBezTo>
                  <a:pt x="6748" y="782031"/>
                  <a:pt x="0" y="765740"/>
                  <a:pt x="0" y="748754"/>
                </a:cubicBezTo>
                <a:lnTo>
                  <a:pt x="0" y="64046"/>
                </a:lnTo>
                <a:cubicBezTo>
                  <a:pt x="0" y="47060"/>
                  <a:pt x="6748" y="30769"/>
                  <a:pt x="18759" y="18759"/>
                </a:cubicBezTo>
                <a:cubicBezTo>
                  <a:pt x="30769" y="6748"/>
                  <a:pt x="47060" y="0"/>
                  <a:pt x="64046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3545B264-AC7A-4B9B-A50F-1A7954B9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D82805FC-500B-4AE7-9355-FAD8DA88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E6B4C127-2F54-4C58-8473-55F2C64D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3C957564-5745-4C9B-BD37-4635A6D6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37860" h="514913">
                <a:moveTo>
                  <a:pt x="0" y="0"/>
                </a:moveTo>
                <a:lnTo>
                  <a:pt x="437860" y="0"/>
                </a:lnTo>
                <a:lnTo>
                  <a:pt x="437860" y="514914"/>
                </a:lnTo>
                <a:lnTo>
                  <a:pt x="0" y="51491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BA52C16D-985B-42C6-9C6C-26B3CA7A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4350">
                <a:solidFill>
                  <a:srgbClr val="1F497D"/>
                </a:solidFill>
              </a:defRPr>
            </a:pPr>
            <a:r>
              <a:rPr sz="43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F9B53DFE-452B-4328-8E96-5CD94806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D96BB86E-6F37-4090-8F89-3D3AA6CC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A6D7007F-1CC8-46D3-8738-0469A45B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231195" h="406400">
                <a:moveTo>
                  <a:pt x="3027995" y="0"/>
                </a:moveTo>
                <a:cubicBezTo>
                  <a:pt x="3140220" y="0"/>
                  <a:pt x="3231195" y="90976"/>
                  <a:pt x="3231195" y="203200"/>
                </a:cubicBezTo>
                <a:cubicBezTo>
                  <a:pt x="3231195" y="315424"/>
                  <a:pt x="3140220" y="406400"/>
                  <a:pt x="3027995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9A015317-4EFB-4E02-B478-32DDC83F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1CA9F9CC-3926-4654-A2C4-4D3901AF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761692" h="406400">
                <a:moveTo>
                  <a:pt x="1558492" y="0"/>
                </a:moveTo>
                <a:cubicBezTo>
                  <a:pt x="1670717" y="0"/>
                  <a:pt x="1761692" y="90976"/>
                  <a:pt x="1761692" y="203200"/>
                </a:cubicBezTo>
                <a:cubicBezTo>
                  <a:pt x="1761692" y="315424"/>
                  <a:pt x="1670717" y="406400"/>
                  <a:pt x="1558492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14D4E16E-79C5-48B8-8542-996B5729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BFA94D0B-5613-4506-BC4D-41C0E0EE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A6D33542-9DFB-40C0-ABC0-18BBBCC7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  <a:defRPr sz="135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35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570CCD69-B43E-41A2-AF3F-53491DF9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61C7D868-A9F7-4449-80AB-5D71DED4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4B054B12-9FFC-486F-ACE6-18FB3A7B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7473980A-D317-4106-92E9-6641660B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2A73EE43-3E88-43A9-90CB-C5E6B308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0D4F2B56-32B6-461E-8B0D-251C4013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55E7FF0B-2E9E-4435-8417-2B76A016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95A12970-D703-44CE-8AA7-43700564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247FC02E-4717-4000-A7F2-CC5E5A77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265292C0-BAFC-4795-80A1-AAFEF981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B1ABCE18-AA0A-4E54-813E-85C645AF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94A46560-49EF-418B-8E31-82CE5B38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FB938355-2040-4A31-A71C-DD790874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08CA77FA-F327-4318-BC2D-F1C64064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5934D129-60D4-41CF-ADD9-CAE6BA1E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5" name="Imagen 95">
            <a:extLst xmlns:a="http://schemas.openxmlformats.org/drawingml/2006/main">
              <a:ext uri="{FF2B5EF4-FFF2-40B4-BE49-F238E27FC236}">
                <a16:creationId xmlns:a16="http://schemas.microsoft.com/office/drawing/2014/main" id="{D981CAD3-E706-4DDF-8AE7-C0348F16A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05" name="Imagen 9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69b06cc58f45d3"/>
          <a:srcRect xmlns:a="http://schemas.openxmlformats.org/drawingml/2006/main" l="0" t="7817" r="0" b="78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8476"/>
            </a:avLst>
          </a:prstGeom>
        </p:spPr>
      </p:pic>
      <p:sp>
        <p:nvSpPr>
          <p:cNvPr id="56" name="Imagen 96">
            <a:extLst xmlns:a="http://schemas.openxmlformats.org/drawingml/2006/main">
              <a:ext uri="{FF2B5EF4-FFF2-40B4-BE49-F238E27FC236}">
                <a16:creationId xmlns:a16="http://schemas.microsoft.com/office/drawing/2014/main" id="{6EE1913F-72DB-4FF9-A5DD-877525EC6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07" name="Imagen 9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0e5204929646d1"/>
          <a:srcRect xmlns:a="http://schemas.openxmlformats.org/drawingml/2006/main" l="17728" t="0" r="1772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8775"/>
            </a:avLst>
          </a:prstGeom>
        </p:spPr>
      </p:pic>
      <p:sp>
        <p:nvSpPr>
          <p:cNvPr id="57" name="visual-top-rail">
            <a:extLst xmlns:a="http://schemas.openxmlformats.org/drawingml/2006/main">
              <a:ext uri="{FF2B5EF4-FFF2-40B4-BE49-F238E27FC236}">
                <a16:creationId xmlns:a16="http://schemas.microsoft.com/office/drawing/2014/main" id="{A520F90E-9C43-4603-92C5-0CD7199E8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33"/>
          </a:solidFill>
          <a:ln xmlns:a="http://schemas.openxmlformats.org/drawingml/2006/main" w="0">
            <a:noFill/>
          </a:ln>
        </p:spPr>
      </p:sp>
      <p:pic>
        <p:nvPicPr>
          <p:cNvPr id="1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6a36edda9b457f"/>
          <a:stretch xmlns:a="http://schemas.openxmlformats.org/drawingml/2006/main"/>
        </p:blipFill>
        <p:spPr>
          <a:xfrm xmlns:a="http://schemas.openxmlformats.org/drawingml/2006/main">
            <a:off x="704850" y="540763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9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573310EA-3BD9-4075-BDD3-10F2FD502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4770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D8D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8D8D8"/>
                </a:solidFill>
                <a:latin typeface="Aptos"/>
                <a:ea typeface="Aptos"/>
                <a:cs typeface="Aptos"/>
              </a:rPr>
              <a:t>Universidad Tecnológica Nacional</a:t>
            </a:r>
          </a:p>
        </p:txBody>
      </p:sp>
      <p:sp>
        <p:nvSpPr>
          <p:cNvPr id="60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A8AC72B3-03E2-43FC-B770-87494E764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19250"/>
            <a:ext cx="14382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Una CTE nombra una etapa controlable</a:t>
            </a:r>
          </a:p>
        </p:txBody>
      </p:sp>
      <p:sp>
        <p:nvSpPr>
          <p:cNvPr id="61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FF613B82-D257-4C6E-AC1E-1BCF5939D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19200" y="2905125"/>
            <a:ext cx="716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33"/>
            </a:solidFill>
            <a:prstDash val="solid"/>
          </a:ln>
        </p:spPr>
      </p:sp>
      <p:sp>
        <p:nvSpPr>
          <p:cNvPr id="62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3C1E4BA8-386C-47CA-A052-E730EA836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87249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33"/>
                </a:solidFill>
                <a:latin typeface="Aptos"/>
                <a:ea typeface="Aptos"/>
                <a:cs typeface="Aptos"/>
              </a:rPr>
              <a:t>SQL · LEGIBILIDAD</a:t>
            </a:r>
          </a:p>
        </p:txBody>
      </p:sp>
      <p:sp>
        <p:nvSpPr>
          <p:cNvPr id="63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C9C63CD3-2DD2-4043-8DB6-F62F8613C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782050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C8CDD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8CDD3"/>
                </a:solidFill>
                <a:latin typeface="Aptos"/>
                <a:ea typeface="Aptos"/>
                <a:cs typeface="Aptos"/>
              </a:rPr>
              <a:t>Análisis de Datos · Ingeniería Industrial</a:t>
            </a:r>
          </a:p>
        </p:txBody>
      </p:sp>
      <p:sp>
        <p:nvSpPr>
          <p:cNvPr id="64" name="code-panel">
            <a:extLst xmlns:a="http://schemas.openxmlformats.org/drawingml/2006/main">
              <a:ext uri="{FF2B5EF4-FFF2-40B4-BE49-F238E27FC236}">
                <a16:creationId xmlns:a16="http://schemas.microsoft.com/office/drawing/2014/main" id="{EC548173-6F63-4D8F-8240-0C38AC97C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33750"/>
            <a:ext cx="7524750" cy="4762500"/>
          </a:xfrm>
          <a:prstGeom xmlns:a="http://schemas.openxmlformats.org/drawingml/2006/main" prst="roundRect">
            <a:avLst>
              <a:gd name="adj" fmla="val 2800"/>
            </a:avLst>
          </a:prstGeom>
          <a:solidFill xmlns:a="http://schemas.openxmlformats.org/drawingml/2006/main">
            <a:srgbClr val="0E2438"/>
          </a:solidFill>
          <a:ln xmlns:a="http://schemas.openxmlformats.org/drawingml/2006/main" w="11430">
            <a:solidFill>
              <a:srgbClr val="31546F"/>
            </a:solidFill>
            <a:prstDash val="solid"/>
          </a:ln>
        </p:spPr>
      </p:sp>
      <p:sp>
        <p:nvSpPr>
          <p:cNvPr id="65" name="code-text">
            <a:extLst xmlns:a="http://schemas.openxmlformats.org/drawingml/2006/main">
              <a:ext uri="{FF2B5EF4-FFF2-40B4-BE49-F238E27FC236}">
                <a16:creationId xmlns:a16="http://schemas.microsoft.com/office/drawing/2014/main" id="{50B671F9-05B1-405C-90EB-AF72139ED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71875"/>
            <a:ext cx="6953250" cy="423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95250" rIns="95250" bIns="952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WITH pedidos_con_cliente AS (</a:t>
            </a:r>
          </a:p>
          <a:p xmlns:a="http://schemas.openxmlformats.org/drawingml/2006/main">
            <a:pPr algn="l">
              <a:defRPr sz="1725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  SELECT o.order_id, o.order_date, c.region</a:t>
            </a:r>
          </a:p>
          <a:p xmlns:a="http://schemas.openxmlformats.org/drawingml/2006/main">
            <a:pPr algn="l">
              <a:defRPr sz="1725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  FROM sales_orders AS o</a:t>
            </a:r>
          </a:p>
          <a:p xmlns:a="http://schemas.openxmlformats.org/drawingml/2006/main">
            <a:pPr algn="l">
              <a:defRPr sz="1725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  LEFT JOIN customers AS c</a:t>
            </a:r>
          </a:p>
          <a:p xmlns:a="http://schemas.openxmlformats.org/drawingml/2006/main">
            <a:pPr algn="l">
              <a:defRPr sz="1725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    ON o.customer_id = c.customer_id</a:t>
            </a:r>
          </a:p>
          <a:p xmlns:a="http://schemas.openxmlformats.org/drawingml/2006/main">
            <a:pPr algn="l">
              <a:defRPr sz="1725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)</a:t>
            </a:r>
          </a:p>
          <a:p xmlns:a="http://schemas.openxmlformats.org/drawingml/2006/main">
            <a:pPr algn="l">
              <a:defRPr sz="1725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SELECT region, COUNT(*) AS pedidos</a:t>
            </a:r>
          </a:p>
          <a:p xmlns:a="http://schemas.openxmlformats.org/drawingml/2006/main">
            <a:pPr algn="l">
              <a:defRPr sz="1725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FROM pedidos_con_cliente</a:t>
            </a:r>
          </a:p>
          <a:p xmlns:a="http://schemas.openxmlformats.org/drawingml/2006/main">
            <a:pPr algn="l">
              <a:defRPr sz="1725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GROUP BY region;</a:t>
            </a:r>
          </a:p>
        </p:txBody>
      </p:sp>
      <p:graphicFrame>
        <p:nvGraphicFramePr>
          <p:cNvPr id="117" name=""/>
          <p:cNvGraphicFramePr/>
          <p:nvPr/>
        </p:nvGraphicFramePr>
        <p:xfrm>
          <a:off xmlns:a="http://schemas.openxmlformats.org/drawingml/2006/main" x="9239250" y="3333750"/>
          <a:ext xmlns:a="http://schemas.openxmlformats.org/drawingml/2006/main" cx="7810500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3905250"/>
              </a:tblGrid>
              <a:tr h="7715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111"/>
                          </a:solidFill>
                        </a:rPr>
                        <a:t>región</a:t>
                      </a:r>
                    </a:p>
                  </a:txBody>
                  <a:tcPr marL="91440" marR="91440" marT="45720" marB="45720">
                    <a:solidFill>
                      <a:srgbClr val="FFF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111"/>
                          </a:solidFill>
                        </a:rPr>
                        <a:t>pedidos</a:t>
                      </a:r>
                    </a:p>
                  </a:txBody>
                  <a:tcPr marL="91440" marR="91440" marT="45720" marB="45720">
                    <a:solidFill>
                      <a:srgbClr val="FFFF33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FFFF"/>
                          </a:solidFill>
                        </a:rPr>
                        <a:t>Centro</a:t>
                      </a:r>
                    </a:p>
                  </a:txBody>
                  <a:tcPr marL="91440" marR="91440" marT="45720" marB="45720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FFFF"/>
                          </a:solidFill>
                        </a:rPr>
                        <a:t>918</a:t>
                      </a:r>
                    </a:p>
                  </a:txBody>
                  <a:tcPr marL="91440" marR="91440" marT="45720" marB="45720">
                    <a:solidFill>
                      <a:srgbClr val="252525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FFFF"/>
                          </a:solidFill>
                        </a:rPr>
                        <a:t>Norte</a:t>
                      </a:r>
                    </a:p>
                  </a:txBody>
                  <a:tcPr marL="91440" marR="91440" marT="45720" marB="45720"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FFFF"/>
                          </a:solidFill>
                        </a:rPr>
                        <a:t>866</a:t>
                      </a:r>
                    </a:p>
                  </a:txBody>
                  <a:tcPr marL="91440" marR="91440" marT="45720" marB="45720">
                    <a:solidFill>
                      <a:srgbClr val="303030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FFFF"/>
                          </a:solidFill>
                        </a:rPr>
                        <a:t>Patagonia</a:t>
                      </a:r>
                    </a:p>
                  </a:txBody>
                  <a:tcPr marL="91440" marR="91440" marT="45720" marB="45720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FFFF"/>
                          </a:solidFill>
                        </a:rPr>
                        <a:t>902</a:t>
                      </a:r>
                    </a:p>
                  </a:txBody>
                  <a:tcPr marL="91440" marR="91440" marT="45720" marB="45720">
                    <a:solidFill>
                      <a:srgbClr val="252525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FFFF"/>
                          </a:solidFill>
                        </a:rPr>
                        <a:t>Cuyo</a:t>
                      </a:r>
                    </a:p>
                  </a:txBody>
                  <a:tcPr marL="91440" marR="91440" marT="45720" marB="45720"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FFFF"/>
                          </a:solidFill>
                        </a:rPr>
                        <a:t>888</a:t>
                      </a:r>
                    </a:p>
                  </a:txBody>
                  <a:tcPr marL="91440" marR="91440" marT="45720" marB="45720">
                    <a:solidFill>
                      <a:srgbClr val="30303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266272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E8ED7EFC-4861-4208-9610-A0C3E8C4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413468" h="406400">
                <a:moveTo>
                  <a:pt x="1210268" y="0"/>
                </a:moveTo>
                <a:cubicBezTo>
                  <a:pt x="1322492" y="0"/>
                  <a:pt x="1413468" y="90976"/>
                  <a:pt x="1413468" y="203200"/>
                </a:cubicBezTo>
                <a:cubicBezTo>
                  <a:pt x="1413468" y="315424"/>
                  <a:pt x="1322492" y="406400"/>
                  <a:pt x="1210268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52FB571E-69A8-41C2-AFDB-FC8B05B8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1650F3D9-84BE-457E-91E6-89A9DFB5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123479" h="406400">
                <a:moveTo>
                  <a:pt x="920279" y="0"/>
                </a:moveTo>
                <a:cubicBezTo>
                  <a:pt x="1032503" y="0"/>
                  <a:pt x="1123479" y="90976"/>
                  <a:pt x="1123479" y="203200"/>
                </a:cubicBezTo>
                <a:cubicBezTo>
                  <a:pt x="1123479" y="315424"/>
                  <a:pt x="1032503" y="406400"/>
                  <a:pt x="920279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B42F26B7-ED2D-4C68-8052-238F9B0A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6F2C9F5E-34C6-43A4-A373-EE158F14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06400" h="406400">
                <a:moveTo>
                  <a:pt x="203200" y="0"/>
                </a:moveTo>
                <a:cubicBezTo>
                  <a:pt x="315424" y="0"/>
                  <a:pt x="406400" y="90976"/>
                  <a:pt x="406400" y="203200"/>
                </a:cubicBezTo>
                <a:cubicBezTo>
                  <a:pt x="406400" y="315424"/>
                  <a:pt x="315424" y="406400"/>
                  <a:pt x="203200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1EB13124-A058-41FB-A525-40B530B7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1A941335-BFE7-42C2-B108-440C4D35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987114" h="812800">
                <a:moveTo>
                  <a:pt x="103302" y="0"/>
                </a:moveTo>
                <a:lnTo>
                  <a:pt x="883813" y="0"/>
                </a:lnTo>
                <a:cubicBezTo>
                  <a:pt x="940864" y="0"/>
                  <a:pt x="987114" y="46250"/>
                  <a:pt x="987114" y="103302"/>
                </a:cubicBezTo>
                <a:lnTo>
                  <a:pt x="987114" y="709499"/>
                </a:lnTo>
                <a:cubicBezTo>
                  <a:pt x="987114" y="736896"/>
                  <a:pt x="976231" y="763171"/>
                  <a:pt x="956858" y="782544"/>
                </a:cubicBezTo>
                <a:cubicBezTo>
                  <a:pt x="937485" y="801916"/>
                  <a:pt x="911210" y="812800"/>
                  <a:pt x="883813" y="812800"/>
                </a:cubicBezTo>
                <a:lnTo>
                  <a:pt x="103302" y="812800"/>
                </a:lnTo>
                <a:cubicBezTo>
                  <a:pt x="46250" y="812800"/>
                  <a:pt x="0" y="766550"/>
                  <a:pt x="0" y="709499"/>
                </a:cubicBezTo>
                <a:lnTo>
                  <a:pt x="0" y="103302"/>
                </a:lnTo>
                <a:cubicBezTo>
                  <a:pt x="0" y="46250"/>
                  <a:pt x="46250" y="0"/>
                  <a:pt x="103302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0ECC3C49-31BF-42FB-AFCF-D52CD5D4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CAA3A92D-827C-4E4D-B4A0-8A2AF866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592148" h="812800">
                <a:moveTo>
                  <a:pt x="64046" y="0"/>
                </a:moveTo>
                <a:lnTo>
                  <a:pt x="1528102" y="0"/>
                </a:lnTo>
                <a:cubicBezTo>
                  <a:pt x="1545088" y="0"/>
                  <a:pt x="1561379" y="6748"/>
                  <a:pt x="1573390" y="18759"/>
                </a:cubicBezTo>
                <a:cubicBezTo>
                  <a:pt x="1585400" y="30769"/>
                  <a:pt x="1592148" y="47060"/>
                  <a:pt x="1592148" y="64046"/>
                </a:cubicBezTo>
                <a:lnTo>
                  <a:pt x="1592148" y="748754"/>
                </a:lnTo>
                <a:cubicBezTo>
                  <a:pt x="1592148" y="765740"/>
                  <a:pt x="1585400" y="782031"/>
                  <a:pt x="1573390" y="794041"/>
                </a:cubicBezTo>
                <a:cubicBezTo>
                  <a:pt x="1561379" y="806052"/>
                  <a:pt x="1545088" y="812800"/>
                  <a:pt x="1528102" y="812800"/>
                </a:cubicBezTo>
                <a:lnTo>
                  <a:pt x="64046" y="812800"/>
                </a:lnTo>
                <a:cubicBezTo>
                  <a:pt x="47060" y="812800"/>
                  <a:pt x="30769" y="806052"/>
                  <a:pt x="18759" y="794041"/>
                </a:cubicBezTo>
                <a:cubicBezTo>
                  <a:pt x="6748" y="782031"/>
                  <a:pt x="0" y="765740"/>
                  <a:pt x="0" y="748754"/>
                </a:cubicBezTo>
                <a:lnTo>
                  <a:pt x="0" y="64046"/>
                </a:lnTo>
                <a:cubicBezTo>
                  <a:pt x="0" y="47060"/>
                  <a:pt x="6748" y="30769"/>
                  <a:pt x="18759" y="18759"/>
                </a:cubicBezTo>
                <a:cubicBezTo>
                  <a:pt x="30769" y="6748"/>
                  <a:pt x="47060" y="0"/>
                  <a:pt x="64046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3545B264-AC7A-4B9B-A50F-1A7954B9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D82805FC-500B-4AE7-9355-FAD8DA88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E6B4C127-2F54-4C58-8473-55F2C64D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3C957564-5745-4C9B-BD37-4635A6D6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37860" h="514913">
                <a:moveTo>
                  <a:pt x="0" y="0"/>
                </a:moveTo>
                <a:lnTo>
                  <a:pt x="437860" y="0"/>
                </a:lnTo>
                <a:lnTo>
                  <a:pt x="437860" y="514914"/>
                </a:lnTo>
                <a:lnTo>
                  <a:pt x="0" y="51491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BA52C16D-985B-42C6-9C6C-26B3CA7A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4350">
                <a:solidFill>
                  <a:srgbClr val="1F497D"/>
                </a:solidFill>
              </a:defRPr>
            </a:pPr>
            <a:r>
              <a:rPr sz="43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F9B53DFE-452B-4328-8E96-5CD94806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D96BB86E-6F37-4090-8F89-3D3AA6CC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A6D7007F-1CC8-46D3-8738-0469A45B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231195" h="406400">
                <a:moveTo>
                  <a:pt x="3027995" y="0"/>
                </a:moveTo>
                <a:cubicBezTo>
                  <a:pt x="3140220" y="0"/>
                  <a:pt x="3231195" y="90976"/>
                  <a:pt x="3231195" y="203200"/>
                </a:cubicBezTo>
                <a:cubicBezTo>
                  <a:pt x="3231195" y="315424"/>
                  <a:pt x="3140220" y="406400"/>
                  <a:pt x="3027995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9A015317-4EFB-4E02-B478-32DDC83F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1CA9F9CC-3926-4654-A2C4-4D3901AF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761692" h="406400">
                <a:moveTo>
                  <a:pt x="1558492" y="0"/>
                </a:moveTo>
                <a:cubicBezTo>
                  <a:pt x="1670717" y="0"/>
                  <a:pt x="1761692" y="90976"/>
                  <a:pt x="1761692" y="203200"/>
                </a:cubicBezTo>
                <a:cubicBezTo>
                  <a:pt x="1761692" y="315424"/>
                  <a:pt x="1670717" y="406400"/>
                  <a:pt x="1558492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14D4E16E-79C5-48B8-8542-996B5729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BFA94D0B-5613-4506-BC4D-41C0E0EE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A6D33542-9DFB-40C0-ABC0-18BBBCC7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  <a:defRPr sz="135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35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570CCD69-B43E-41A2-AF3F-53491DF9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61C7D868-A9F7-4449-80AB-5D71DED4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4B054B12-9FFC-486F-ACE6-18FB3A7B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7473980A-D317-4106-92E9-6641660B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2A73EE43-3E88-43A9-90CB-C5E6B308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0D4F2B56-32B6-461E-8B0D-251C4013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55E7FF0B-2E9E-4435-8417-2B76A016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95A12970-D703-44CE-8AA7-43700564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247FC02E-4717-4000-A7F2-CC5E5A77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265292C0-BAFC-4795-80A1-AAFEF981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B1ABCE18-AA0A-4E54-813E-85C645AF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94A46560-49EF-418B-8E31-82CE5B38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FB938355-2040-4A31-A71C-DD790874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08CA77FA-F327-4318-BC2D-F1C64064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5934D129-60D4-41CF-ADD9-CAE6BA1E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5" name="Imagen 95">
            <a:extLst xmlns:a="http://schemas.openxmlformats.org/drawingml/2006/main">
              <a:ext uri="{FF2B5EF4-FFF2-40B4-BE49-F238E27FC236}">
                <a16:creationId xmlns:a16="http://schemas.microsoft.com/office/drawing/2014/main" id="{504FD046-F964-40CB-89B5-23FC1D898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03" name="Imagen 9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68a410b60e4b47"/>
          <a:srcRect xmlns:a="http://schemas.openxmlformats.org/drawingml/2006/main" l="0" t="7551" r="0" b="75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8476"/>
            </a:avLst>
          </a:prstGeom>
        </p:spPr>
      </p:pic>
      <p:sp>
        <p:nvSpPr>
          <p:cNvPr id="56" name="Imagen 96">
            <a:extLst xmlns:a="http://schemas.openxmlformats.org/drawingml/2006/main">
              <a:ext uri="{FF2B5EF4-FFF2-40B4-BE49-F238E27FC236}">
                <a16:creationId xmlns:a16="http://schemas.microsoft.com/office/drawing/2014/main" id="{07DBB05F-87AB-43C1-8D23-6B2960062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05" name="Imagen 9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91d574410d4158"/>
          <a:srcRect xmlns:a="http://schemas.openxmlformats.org/drawingml/2006/main" l="22788" t="0" r="227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8775"/>
            </a:avLst>
          </a:prstGeom>
        </p:spPr>
      </p:pic>
      <p:sp>
        <p:nvSpPr>
          <p:cNvPr id="57" name="visual-top-rail">
            <a:extLst xmlns:a="http://schemas.openxmlformats.org/drawingml/2006/main">
              <a:ext uri="{FF2B5EF4-FFF2-40B4-BE49-F238E27FC236}">
                <a16:creationId xmlns:a16="http://schemas.microsoft.com/office/drawing/2014/main" id="{ADF79C99-F0EA-465E-81F5-EF2021593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97D"/>
          </a:solidFill>
          <a:ln xmlns:a="http://schemas.openxmlformats.org/drawingml/2006/main" w="0">
            <a:noFill/>
          </a:ln>
        </p:spPr>
      </p:sp>
      <p:pic>
        <p:nvPicPr>
          <p:cNvPr id="1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dc5a507c964281"/>
          <a:stretch xmlns:a="http://schemas.openxmlformats.org/drawingml/2006/main"/>
        </p:blipFill>
        <p:spPr>
          <a:xfrm xmlns:a="http://schemas.openxmlformats.org/drawingml/2006/main">
            <a:off x="704850" y="540763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9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D69588B2-E018-4E29-AA98-A9C0DE6D3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4770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Universidad Tecnológica Nacional</a:t>
            </a:r>
          </a:p>
        </p:txBody>
      </p:sp>
      <p:sp>
        <p:nvSpPr>
          <p:cNvPr id="60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D89D2A56-02CF-4CBE-A3ED-2D37BEFF4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19250"/>
            <a:ext cx="14382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Reconciliar después de cada join localiza errores</a:t>
            </a:r>
          </a:p>
        </p:txBody>
      </p:sp>
      <p:sp>
        <p:nvSpPr>
          <p:cNvPr id="61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2C7F6758-B025-481D-9892-98F0FB698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19200" y="2905125"/>
            <a:ext cx="716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62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2085F206-F741-4463-8749-78C8B423A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87249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97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497D"/>
                </a:solidFill>
                <a:latin typeface="Aptos"/>
                <a:ea typeface="Aptos"/>
                <a:cs typeface="Aptos"/>
              </a:rPr>
              <a:t>JOIN · CONTROL INCREMENTAL</a:t>
            </a:r>
          </a:p>
        </p:txBody>
      </p:sp>
      <p:sp>
        <p:nvSpPr>
          <p:cNvPr id="63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6302EE93-5760-4B72-980B-055561887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782050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Análisis de Datos · Ingeniería Industrial</a:t>
            </a:r>
          </a:p>
        </p:txBody>
      </p:sp>
      <p:graphicFrame>
        <p:nvGraphicFramePr>
          <p:cNvPr id="113" name=""/>
          <p:cNvGraphicFramePr/>
          <p:nvPr/>
        </p:nvGraphicFramePr>
        <p:xfrm>
          <a:off xmlns:a="http://schemas.openxmlformats.org/drawingml/2006/main" x="1219200" y="3429000"/>
          <a:ext xmlns:a="http://schemas.openxmlformats.org/drawingml/2006/main" cx="15849600" cy="3810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962400"/>
                <a:gridCol w="3169920"/>
                <a:gridCol w="3169920"/>
                <a:gridCol w="5547360"/>
              </a:tblGrid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</a:rPr>
                        <a:t>Antes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</a:rPr>
                        <a:t>Después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</a:rPr>
                        <a:t>Lectura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Filas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3.574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3.574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grano conservado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Pedidos distintos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3.574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3.574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sin pérdida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Cliente NULL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relación completa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Venta neta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32.825.861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32.825.861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importe reconciliado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266272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41599EAE-9230-46F4-8A97-7D146E9F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6350000" h="9525000">
                <a:moveTo>
                  <a:pt x="0" y="9042400"/>
                </a:moveTo>
                <a:lnTo>
                  <a:pt x="0" y="482600"/>
                </a:lnTo>
                <a:cubicBezTo>
                  <a:pt x="0" y="215900"/>
                  <a:pt x="215900" y="0"/>
                  <a:pt x="482600" y="0"/>
                </a:cubicBezTo>
                <a:lnTo>
                  <a:pt x="5867400" y="0"/>
                </a:lnTo>
                <a:cubicBezTo>
                  <a:pt x="6134100" y="0"/>
                  <a:pt x="6350000" y="217170"/>
                  <a:pt x="6350000" y="482600"/>
                </a:cubicBezTo>
                <a:lnTo>
                  <a:pt x="6350000" y="9042400"/>
                </a:lnTo>
                <a:cubicBezTo>
                  <a:pt x="6350000" y="9309100"/>
                  <a:pt x="6134100" y="9525000"/>
                  <a:pt x="5867400" y="9525000"/>
                </a:cubicBezTo>
                <a:lnTo>
                  <a:pt x="482600" y="9525000"/>
                </a:lnTo>
                <a:cubicBezTo>
                  <a:pt x="217170" y="9525000"/>
                  <a:pt x="0" y="9309100"/>
                  <a:pt x="0" y="904240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BB645A18-45DA-41BB-B67F-44E720A6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829325" h="516787">
                <a:moveTo>
                  <a:pt x="21062" y="0"/>
                </a:moveTo>
                <a:lnTo>
                  <a:pt x="808264" y="0"/>
                </a:lnTo>
                <a:cubicBezTo>
                  <a:pt x="813849" y="0"/>
                  <a:pt x="819206" y="2219"/>
                  <a:pt x="823156" y="6169"/>
                </a:cubicBezTo>
                <a:cubicBezTo>
                  <a:pt x="827106" y="10119"/>
                  <a:pt x="829325" y="15476"/>
                  <a:pt x="829325" y="21062"/>
                </a:cubicBezTo>
                <a:lnTo>
                  <a:pt x="829325" y="495726"/>
                </a:lnTo>
                <a:cubicBezTo>
                  <a:pt x="829325" y="501312"/>
                  <a:pt x="827106" y="506669"/>
                  <a:pt x="823156" y="510619"/>
                </a:cubicBezTo>
                <a:cubicBezTo>
                  <a:pt x="819206" y="514568"/>
                  <a:pt x="813849" y="516787"/>
                  <a:pt x="808264" y="516787"/>
                </a:cubicBezTo>
                <a:lnTo>
                  <a:pt x="21062" y="516787"/>
                </a:lnTo>
                <a:cubicBezTo>
                  <a:pt x="15476" y="516787"/>
                  <a:pt x="10119" y="514568"/>
                  <a:pt x="6169" y="510619"/>
                </a:cubicBezTo>
                <a:cubicBezTo>
                  <a:pt x="2219" y="506669"/>
                  <a:pt x="0" y="501312"/>
                  <a:pt x="0" y="495726"/>
                </a:cubicBezTo>
                <a:lnTo>
                  <a:pt x="0" y="21062"/>
                </a:lnTo>
                <a:cubicBezTo>
                  <a:pt x="0" y="15476"/>
                  <a:pt x="2219" y="10119"/>
                  <a:pt x="6169" y="6169"/>
                </a:cubicBezTo>
                <a:cubicBezTo>
                  <a:pt x="10119" y="2219"/>
                  <a:pt x="15476" y="0"/>
                  <a:pt x="21062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44B9B017-FA3A-4B67-B447-67CF57E5E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895E777F-304A-483E-AD78-5BAFE4373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32323" y="0"/>
                </a:moveTo>
                <a:lnTo>
                  <a:pt x="235185" y="0"/>
                </a:lnTo>
                <a:cubicBezTo>
                  <a:pt x="308264" y="0"/>
                  <a:pt x="367507" y="59243"/>
                  <a:pt x="367507" y="132323"/>
                </a:cubicBezTo>
                <a:lnTo>
                  <a:pt x="367507" y="252450"/>
                </a:lnTo>
                <a:cubicBezTo>
                  <a:pt x="367507" y="325529"/>
                  <a:pt x="308264" y="384772"/>
                  <a:pt x="235185" y="384772"/>
                </a:cubicBezTo>
                <a:lnTo>
                  <a:pt x="132323" y="384772"/>
                </a:lnTo>
                <a:cubicBezTo>
                  <a:pt x="59243" y="384772"/>
                  <a:pt x="0" y="325529"/>
                  <a:pt x="0" y="252450"/>
                </a:cubicBezTo>
                <a:lnTo>
                  <a:pt x="0" y="132323"/>
                </a:lnTo>
                <a:cubicBezTo>
                  <a:pt x="0" y="59243"/>
                  <a:pt x="59243" y="0"/>
                  <a:pt x="132323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422F67D9-C70F-43B0-9119-013334F8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8E20F117-83A3-4316-8680-A192D7462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A2456041-BEF3-4033-BC59-AE8E7FDC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D82CB605-CAA5-42CA-B507-02BFB77BF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AA16B0EF-85D9-44E6-9D81-21A0E3E21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2BD0F58A-DE3D-4287-8F03-DF04BA64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0D87C4CE-3F87-4889-8059-17D1A3AEE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D8711D01-5E9C-43ED-A715-EF2A83938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812787" h="812787">
                <a:moveTo>
                  <a:pt x="0" y="0"/>
                </a:moveTo>
                <a:lnTo>
                  <a:pt x="812786" y="0"/>
                </a:lnTo>
                <a:lnTo>
                  <a:pt x="812786" y="812787"/>
                </a:lnTo>
                <a:lnTo>
                  <a:pt x="0" y="81278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A73E0E5F-A81C-4E46-AD2D-53B3CCC29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57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57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E1AEF49F-B0A7-41FA-9696-CED7610F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0070"/>
              </a:lnSpc>
              <a:spcBef>
                <a:spcPct val="0"/>
              </a:spcBef>
              <a:buNone/>
              <a:defRPr sz="39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39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E4CD3D23-2ED3-4BD9-AEFB-B1A6A8CF0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443"/>
              </a:lnSpc>
              <a:spcBef>
                <a:spcPct val="0"/>
              </a:spcBef>
              <a:buNone/>
              <a:defRPr sz="1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E1F9248F-9376-4788-ADAD-0D780A7F9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66"/>
              </a:lnSpc>
              <a:spcBef>
                <a:spcPct val="0"/>
              </a:spcBef>
              <a:buNone/>
            </a:pPr>
            <a:r>
              <a:rPr sz="2047" b="1">
                <a:solidFill>
                  <a:srgbClr val="FFFFFF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69B5A1B1-7A28-495A-A632-03F6F6C7F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56"/>
              </a:lnSpc>
              <a:spcBef>
                <a:spcPct val="0"/>
              </a:spcBef>
              <a:buNone/>
            </a:pPr>
            <a:r>
              <a:rPr sz="1754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CF87C25C-01A2-4727-B612-44373DCF4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38"/>
              </a:lnSpc>
              <a:spcBef>
                <a:spcPct val="0"/>
              </a:spcBef>
              <a:buNone/>
            </a:pPr>
            <a:r>
              <a:rPr sz="2313">
                <a:solidFill>
                  <a:srgbClr val="FFFF33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A7E5DDDB-933E-4EDB-8B45-59ABA66C7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20"/>
              </a:lnSpc>
              <a:buNone/>
            </a:pPr>
            <a:r>
              <a:rPr sz="1982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3F8E7F09-926C-491E-A20C-8170D086C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231195" h="406400">
                <a:moveTo>
                  <a:pt x="3027995" y="0"/>
                </a:moveTo>
                <a:cubicBezTo>
                  <a:pt x="3140220" y="0"/>
                  <a:pt x="3231195" y="90976"/>
                  <a:pt x="3231195" y="203200"/>
                </a:cubicBezTo>
                <a:cubicBezTo>
                  <a:pt x="3231195" y="315424"/>
                  <a:pt x="3140220" y="406400"/>
                  <a:pt x="3027995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EC9C4D18-444F-4F86-95CB-62116316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A33CE1BD-FDDF-4394-B584-278ED2424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761692" h="406400">
                <a:moveTo>
                  <a:pt x="1558492" y="0"/>
                </a:moveTo>
                <a:cubicBezTo>
                  <a:pt x="1670717" y="0"/>
                  <a:pt x="1761692" y="90976"/>
                  <a:pt x="1761692" y="203200"/>
                </a:cubicBezTo>
                <a:cubicBezTo>
                  <a:pt x="1761692" y="315424"/>
                  <a:pt x="1670717" y="406400"/>
                  <a:pt x="1558492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2C69D954-C7C9-4265-B933-11769380B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C01D160F-BB8C-4120-99EE-5308C2A43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C95C0556-9450-4183-A70F-BB23459F1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6" name="Freeform 36">
            <a:extLst xmlns:a="http://schemas.openxmlformats.org/drawingml/2006/main">
              <a:ext uri="{FF2B5EF4-FFF2-40B4-BE49-F238E27FC236}">
                <a16:creationId xmlns:a16="http://schemas.microsoft.com/office/drawing/2014/main" id="{F699D9FF-4CD4-4B20-9AF1-74CF80D59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38320" h="514913">
                <a:moveTo>
                  <a:pt x="0" y="0"/>
                </a:moveTo>
                <a:lnTo>
                  <a:pt x="438320" y="0"/>
                </a:lnTo>
                <a:lnTo>
                  <a:pt x="438320" y="514913"/>
                </a:lnTo>
                <a:lnTo>
                  <a:pt x="0" y="51491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1DD2DE10-3D86-489C-BE17-EE6AB81D7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159"/>
              </a:lnSpc>
              <a:buNone/>
            </a:pPr>
            <a:r>
              <a:rPr sz="1599">
                <a:solidFill>
                  <a:srgbClr val="F6F9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16EBDEB0-C238-487A-8BC5-675FBC81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2159"/>
              </a:lnSpc>
              <a:buNone/>
            </a:pPr>
            <a:r>
              <a:rPr sz="1599">
                <a:solidFill>
                  <a:srgbClr val="F6F9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1FA2A9ED-D814-4F81-BF6A-248A18C9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0070"/>
              </a:lnSpc>
              <a:spcBef>
                <a:spcPct val="0"/>
              </a:spcBef>
              <a:buNone/>
              <a:defRPr sz="4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4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05A9C250-80BF-4D30-90DF-77B6F38C1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443"/>
              </a:lnSpc>
              <a:spcBef>
                <a:spcPct val="0"/>
              </a:spcBef>
              <a:buNone/>
              <a:defRPr sz="1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119F38F8-3E4E-4BAE-8A7D-E9C7182B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38"/>
              </a:lnSpc>
              <a:spcBef>
                <a:spcPct val="0"/>
              </a:spcBef>
              <a:buNone/>
            </a:pPr>
            <a:r>
              <a:rPr sz="2313">
                <a:solidFill>
                  <a:srgbClr val="FFFF33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3" name="TextBox 43">
            <a:extLst xmlns:a="http://schemas.openxmlformats.org/drawingml/2006/main">
              <a:ext uri="{FF2B5EF4-FFF2-40B4-BE49-F238E27FC236}">
                <a16:creationId xmlns:a16="http://schemas.microsoft.com/office/drawing/2014/main" id="{DB75F18F-2D8F-4655-9D4E-587F65119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20"/>
              </a:lnSpc>
              <a:buNone/>
            </a:pPr>
            <a:r>
              <a:rPr sz="1982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0DC5DB04-51FC-4DDD-90C7-BDC4A3872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38"/>
              </a:lnSpc>
              <a:spcBef>
                <a:spcPct val="0"/>
              </a:spcBef>
              <a:buNone/>
            </a:pPr>
            <a:r>
              <a:rPr sz="2313">
                <a:solidFill>
                  <a:srgbClr val="FFFF33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8831C357-2367-4D26-855D-C1356995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20"/>
              </a:lnSpc>
              <a:buNone/>
            </a:pPr>
            <a:r>
              <a:rPr sz="1982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86253085-92BB-4B37-9E0B-BAF67954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38"/>
              </a:lnSpc>
              <a:spcBef>
                <a:spcPct val="0"/>
              </a:spcBef>
              <a:buNone/>
            </a:pPr>
            <a:r>
              <a:rPr sz="2313">
                <a:solidFill>
                  <a:srgbClr val="FFFF33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F1AC78EF-548D-416F-9D3B-39A1C025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20"/>
              </a:lnSpc>
              <a:buNone/>
            </a:pPr>
            <a:r>
              <a:rPr sz="1982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0" name="AutoShape 50">
            <a:extLst xmlns:a="http://schemas.openxmlformats.org/drawingml/2006/main">
              <a:ext uri="{FF2B5EF4-FFF2-40B4-BE49-F238E27FC236}">
                <a16:creationId xmlns:a16="http://schemas.microsoft.com/office/drawing/2014/main" id="{50360BEB-2406-4484-B3B7-98EBD2B91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51" name="TextBox 51">
            <a:extLst xmlns:a="http://schemas.openxmlformats.org/drawingml/2006/main">
              <a:ext uri="{FF2B5EF4-FFF2-40B4-BE49-F238E27FC236}">
                <a16:creationId xmlns:a16="http://schemas.microsoft.com/office/drawing/2014/main" id="{21046766-6CDD-405B-9F7F-1FEE675C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21"/>
              </a:lnSpc>
              <a:spcBef>
                <a:spcPct val="0"/>
              </a:spcBef>
              <a:buNone/>
            </a:pPr>
            <a:r>
              <a:rPr sz="1943" b="1">
                <a:solidFill>
                  <a:srgbClr val="FFFFFF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664F1534-F388-448D-89C2-C415FA37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21"/>
              </a:lnSpc>
              <a:spcBef>
                <a:spcPct val="0"/>
              </a:spcBef>
              <a:buNone/>
            </a:pPr>
            <a:r>
              <a:rPr sz="1943" b="1">
                <a:solidFill>
                  <a:srgbClr val="FFFFFF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2696FB92-092A-4DA4-9485-F731CFC1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21"/>
              </a:lnSpc>
              <a:spcBef>
                <a:spcPct val="0"/>
              </a:spcBef>
              <a:buNone/>
            </a:pPr>
            <a:r>
              <a:rPr sz="1943" b="1">
                <a:solidFill>
                  <a:srgbClr val="FFFFFF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97C44366-DEBC-4C93-B14C-8DC4DF95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21"/>
              </a:lnSpc>
              <a:spcBef>
                <a:spcPct val="0"/>
              </a:spcBef>
              <a:buNone/>
            </a:pPr>
            <a:r>
              <a:rPr sz="1943" b="1">
                <a:solidFill>
                  <a:srgbClr val="FFFFFF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55" name="TextBox 55">
            <a:extLst xmlns:a="http://schemas.openxmlformats.org/drawingml/2006/main">
              <a:ext uri="{FF2B5EF4-FFF2-40B4-BE49-F238E27FC236}">
                <a16:creationId xmlns:a16="http://schemas.microsoft.com/office/drawing/2014/main" id="{E60621AD-D025-43C4-9806-5D6C20C85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66"/>
              </a:lnSpc>
              <a:spcBef>
                <a:spcPct val="0"/>
              </a:spcBef>
              <a:buNone/>
            </a:pPr>
            <a:r>
              <a:rPr sz="2047" b="1">
                <a:solidFill>
                  <a:srgbClr val="FFFFFF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56" name="TextBox 56">
            <a:extLst xmlns:a="http://schemas.openxmlformats.org/drawingml/2006/main">
              <a:ext uri="{FF2B5EF4-FFF2-40B4-BE49-F238E27FC236}">
                <a16:creationId xmlns:a16="http://schemas.microsoft.com/office/drawing/2014/main" id="{7897EC55-B0A7-4D70-8CB3-ADCCF0FAE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56"/>
              </a:lnSpc>
              <a:spcBef>
                <a:spcPct val="0"/>
              </a:spcBef>
              <a:buNone/>
            </a:pPr>
            <a:r>
              <a:rPr sz="1754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7" name="visual-top-rail">
            <a:extLst xmlns:a="http://schemas.openxmlformats.org/drawingml/2006/main">
              <a:ext uri="{FF2B5EF4-FFF2-40B4-BE49-F238E27FC236}">
                <a16:creationId xmlns:a16="http://schemas.microsoft.com/office/drawing/2014/main" id="{D6D8CCDD-F669-4DE0-8D6E-B705DC04F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97D"/>
          </a:solidFill>
          <a:ln xmlns:a="http://schemas.openxmlformats.org/drawingml/2006/main" w="0">
            <a:noFill/>
          </a:ln>
        </p:spPr>
      </p:sp>
      <p:pic>
        <p:nvPicPr>
          <p:cNvPr id="1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d022a483b14e0d"/>
          <a:stretch xmlns:a="http://schemas.openxmlformats.org/drawingml/2006/main"/>
        </p:blipFill>
        <p:spPr>
          <a:xfrm xmlns:a="http://schemas.openxmlformats.org/drawingml/2006/main">
            <a:off x="704850" y="540763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9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56C04191-6C17-4504-B4C5-857CA0801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4770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Universidad Tecnológica Nacional</a:t>
            </a:r>
          </a:p>
        </p:txBody>
      </p:sp>
      <p:sp>
        <p:nvSpPr>
          <p:cNvPr id="60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3E90D8DE-FC70-4397-8C20-47CC46FF7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19250"/>
            <a:ext cx="14382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Faro Sur se reconstruye una relación por vez</a:t>
            </a:r>
          </a:p>
        </p:txBody>
      </p:sp>
      <p:sp>
        <p:nvSpPr>
          <p:cNvPr id="61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B908A900-14DA-424D-9C9F-E0D952E43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19200" y="2905125"/>
            <a:ext cx="716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62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132E691F-D211-451F-81B8-D20A64EED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87249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97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497D"/>
                </a:solidFill>
                <a:latin typeface="Aptos"/>
                <a:ea typeface="Aptos"/>
                <a:cs typeface="Aptos"/>
              </a:rPr>
              <a:t>CASO · RECONCILIACIÓN</a:t>
            </a:r>
          </a:p>
        </p:txBody>
      </p:sp>
      <p:sp>
        <p:nvSpPr>
          <p:cNvPr id="63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B6AFDEF1-2987-476F-B091-C0989D735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782050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Análisis de Datos · Ingeniería Industrial</a:t>
            </a:r>
          </a:p>
        </p:txBody>
      </p:sp>
      <p:sp>
        <p:nvSpPr>
          <p:cNvPr id="64" name="case-box-0">
            <a:extLst xmlns:a="http://schemas.openxmlformats.org/drawingml/2006/main">
              <a:ext uri="{FF2B5EF4-FFF2-40B4-BE49-F238E27FC236}">
                <a16:creationId xmlns:a16="http://schemas.microsoft.com/office/drawing/2014/main" id="{1A81DD24-DC45-414D-84E2-BF49220FE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714750"/>
            <a:ext cx="376237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65" name="case-head-0">
            <a:extLst xmlns:a="http://schemas.openxmlformats.org/drawingml/2006/main">
              <a:ext uri="{FF2B5EF4-FFF2-40B4-BE49-F238E27FC236}">
                <a16:creationId xmlns:a16="http://schemas.microsoft.com/office/drawing/2014/main" id="{2A1DCE78-8FC4-40B5-9D26-646A25010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00500"/>
            <a:ext cx="33432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F497D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F497D"/>
                </a:solidFill>
                <a:latin typeface="Aptos"/>
                <a:ea typeface="Aptos"/>
                <a:cs typeface="Aptos"/>
              </a:rPr>
              <a:t>Pedidos + clientes</a:t>
            </a:r>
          </a:p>
        </p:txBody>
      </p:sp>
      <p:sp>
        <p:nvSpPr>
          <p:cNvPr id="66" name="case-body-0">
            <a:extLst xmlns:a="http://schemas.openxmlformats.org/drawingml/2006/main">
              <a:ext uri="{FF2B5EF4-FFF2-40B4-BE49-F238E27FC236}">
                <a16:creationId xmlns:a16="http://schemas.microsoft.com/office/drawing/2014/main" id="{FAF21C3F-4E58-4A40-997B-A52154D0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33432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3.574 filas · 0 faltantes</a:t>
            </a:r>
          </a:p>
        </p:txBody>
      </p:sp>
      <p:sp>
        <p:nvSpPr>
          <p:cNvPr id="67" name="case-box-1">
            <a:extLst xmlns:a="http://schemas.openxmlformats.org/drawingml/2006/main">
              <a:ext uri="{FF2B5EF4-FFF2-40B4-BE49-F238E27FC236}">
                <a16:creationId xmlns:a16="http://schemas.microsoft.com/office/drawing/2014/main" id="{8CCC0D21-550A-4B28-9E1D-A6D4E283C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3714750"/>
            <a:ext cx="376237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68" name="case-head-1">
            <a:extLst xmlns:a="http://schemas.openxmlformats.org/drawingml/2006/main">
              <a:ext uri="{FF2B5EF4-FFF2-40B4-BE49-F238E27FC236}">
                <a16:creationId xmlns:a16="http://schemas.microsoft.com/office/drawing/2014/main" id="{723C6487-07BB-47D6-A479-4026B3337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000500"/>
            <a:ext cx="33432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F497D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F497D"/>
                </a:solidFill>
                <a:latin typeface="Aptos"/>
                <a:ea typeface="Aptos"/>
                <a:cs typeface="Aptos"/>
              </a:rPr>
              <a:t>Líneas + productos</a:t>
            </a:r>
          </a:p>
        </p:txBody>
      </p:sp>
      <p:sp>
        <p:nvSpPr>
          <p:cNvPr id="69" name="case-body-1">
            <a:extLst xmlns:a="http://schemas.openxmlformats.org/drawingml/2006/main">
              <a:ext uri="{FF2B5EF4-FFF2-40B4-BE49-F238E27FC236}">
                <a16:creationId xmlns:a16="http://schemas.microsoft.com/office/drawing/2014/main" id="{02A65B2E-AF58-41AC-92D3-BBFF5006D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5095875"/>
            <a:ext cx="33432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7.500 filas · 0 faltantes</a:t>
            </a:r>
          </a:p>
        </p:txBody>
      </p:sp>
      <p:sp>
        <p:nvSpPr>
          <p:cNvPr id="70" name="case-box-2">
            <a:extLst xmlns:a="http://schemas.openxmlformats.org/drawingml/2006/main">
              <a:ext uri="{FF2B5EF4-FFF2-40B4-BE49-F238E27FC236}">
                <a16:creationId xmlns:a16="http://schemas.microsoft.com/office/drawing/2014/main" id="{6AD081D1-341F-4975-8A36-C8230AF98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714750"/>
            <a:ext cx="376237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71" name="case-head-2">
            <a:extLst xmlns:a="http://schemas.openxmlformats.org/drawingml/2006/main">
              <a:ext uri="{FF2B5EF4-FFF2-40B4-BE49-F238E27FC236}">
                <a16:creationId xmlns:a16="http://schemas.microsoft.com/office/drawing/2014/main" id="{B6DA126D-3DC9-4CC8-8C16-B5ABEAC81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000500"/>
            <a:ext cx="33432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F497D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F497D"/>
                </a:solidFill>
                <a:latin typeface="Aptos"/>
                <a:ea typeface="Aptos"/>
                <a:cs typeface="Aptos"/>
              </a:rPr>
              <a:t>Detalle integrado</a:t>
            </a:r>
          </a:p>
        </p:txBody>
      </p:sp>
      <p:sp>
        <p:nvSpPr>
          <p:cNvPr id="72" name="case-body-2">
            <a:extLst xmlns:a="http://schemas.openxmlformats.org/drawingml/2006/main">
              <a:ext uri="{FF2B5EF4-FFF2-40B4-BE49-F238E27FC236}">
                <a16:creationId xmlns:a16="http://schemas.microsoft.com/office/drawing/2014/main" id="{D4D5A4DA-D234-4D42-BA8B-B2EC5A5A5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095875"/>
            <a:ext cx="33432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una fila por línea</a:t>
            </a:r>
          </a:p>
        </p:txBody>
      </p:sp>
      <p:sp>
        <p:nvSpPr>
          <p:cNvPr id="73" name="case-box-3">
            <a:extLst xmlns:a="http://schemas.openxmlformats.org/drawingml/2006/main">
              <a:ext uri="{FF2B5EF4-FFF2-40B4-BE49-F238E27FC236}">
                <a16:creationId xmlns:a16="http://schemas.microsoft.com/office/drawing/2014/main" id="{9414E5FE-77CB-4D77-A392-AC0A9739C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6425" y="3714750"/>
            <a:ext cx="376237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74" name="case-head-3">
            <a:extLst xmlns:a="http://schemas.openxmlformats.org/drawingml/2006/main">
              <a:ext uri="{FF2B5EF4-FFF2-40B4-BE49-F238E27FC236}">
                <a16:creationId xmlns:a16="http://schemas.microsoft.com/office/drawing/2014/main" id="{0183E040-238A-4832-AA4E-6F151D508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5975" y="4000500"/>
            <a:ext cx="33432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Control</a:t>
            </a:r>
          </a:p>
        </p:txBody>
      </p:sp>
      <p:sp>
        <p:nvSpPr>
          <p:cNvPr id="75" name="case-body-3">
            <a:extLst xmlns:a="http://schemas.openxmlformats.org/drawingml/2006/main">
              <a:ext uri="{FF2B5EF4-FFF2-40B4-BE49-F238E27FC236}">
                <a16:creationId xmlns:a16="http://schemas.microsoft.com/office/drawing/2014/main" id="{6C2B5890-D63E-4915-BEFF-8525276B7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5975" y="5095875"/>
            <a:ext cx="33432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ventas y margen coinciden con vw_ventas</a:t>
            </a:r>
          </a:p>
        </p:txBody>
      </p:sp>
      <p:sp>
        <p:nvSpPr>
          <p:cNvPr id="76" name="case-footer">
            <a:extLst xmlns:a="http://schemas.openxmlformats.org/drawingml/2006/main">
              <a:ext uri="{FF2B5EF4-FFF2-40B4-BE49-F238E27FC236}">
                <a16:creationId xmlns:a16="http://schemas.microsoft.com/office/drawing/2014/main" id="{8842F96E-0C66-4C5E-AFC9-42B997297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7239000"/>
            <a:ext cx="1352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F497D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F497D"/>
                </a:solidFill>
                <a:latin typeface="Aptos"/>
                <a:ea typeface="Aptos"/>
                <a:cs typeface="Aptos"/>
              </a:rPr>
              <a:t>Cada etapa declara grano, cardinalidad y un total seguro.</a:t>
            </a:r>
          </a:p>
        </p:txBody>
      </p:sp>
    </p:spTree>
    <p:extLst>
      <p:ext uri="{BB962C8B-B14F-4D97-AF65-F5344CB8AC3E}">
        <p14:creationId xmlns:p14="http://schemas.microsoft.com/office/powerpoint/2010/main" val="69410034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5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E8ED7EFC-4861-4208-9610-A0C3E8C4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413468" h="406400">
                <a:moveTo>
                  <a:pt x="1210268" y="0"/>
                </a:moveTo>
                <a:cubicBezTo>
                  <a:pt x="1322492" y="0"/>
                  <a:pt x="1413468" y="90976"/>
                  <a:pt x="1413468" y="203200"/>
                </a:cubicBezTo>
                <a:cubicBezTo>
                  <a:pt x="1413468" y="315424"/>
                  <a:pt x="1322492" y="406400"/>
                  <a:pt x="1210268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52FB571E-69A8-41C2-AFDB-FC8B05B8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1650F3D9-84BE-457E-91E6-89A9DFB5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123479" h="406400">
                <a:moveTo>
                  <a:pt x="920279" y="0"/>
                </a:moveTo>
                <a:cubicBezTo>
                  <a:pt x="1032503" y="0"/>
                  <a:pt x="1123479" y="90976"/>
                  <a:pt x="1123479" y="203200"/>
                </a:cubicBezTo>
                <a:cubicBezTo>
                  <a:pt x="1123479" y="315424"/>
                  <a:pt x="1032503" y="406400"/>
                  <a:pt x="920279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B42F26B7-ED2D-4C68-8052-238F9B0A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6F2C9F5E-34C6-43A4-A373-EE158F14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06400" h="406400">
                <a:moveTo>
                  <a:pt x="203200" y="0"/>
                </a:moveTo>
                <a:cubicBezTo>
                  <a:pt x="315424" y="0"/>
                  <a:pt x="406400" y="90976"/>
                  <a:pt x="406400" y="203200"/>
                </a:cubicBezTo>
                <a:cubicBezTo>
                  <a:pt x="406400" y="315424"/>
                  <a:pt x="315424" y="406400"/>
                  <a:pt x="203200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1EB13124-A058-41FB-A525-40B530B7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1A941335-BFE7-42C2-B108-440C4D35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987114" h="812800">
                <a:moveTo>
                  <a:pt x="103302" y="0"/>
                </a:moveTo>
                <a:lnTo>
                  <a:pt x="883813" y="0"/>
                </a:lnTo>
                <a:cubicBezTo>
                  <a:pt x="940864" y="0"/>
                  <a:pt x="987114" y="46250"/>
                  <a:pt x="987114" y="103302"/>
                </a:cubicBezTo>
                <a:lnTo>
                  <a:pt x="987114" y="709499"/>
                </a:lnTo>
                <a:cubicBezTo>
                  <a:pt x="987114" y="736896"/>
                  <a:pt x="976231" y="763171"/>
                  <a:pt x="956858" y="782544"/>
                </a:cubicBezTo>
                <a:cubicBezTo>
                  <a:pt x="937485" y="801916"/>
                  <a:pt x="911210" y="812800"/>
                  <a:pt x="883813" y="812800"/>
                </a:cubicBezTo>
                <a:lnTo>
                  <a:pt x="103302" y="812800"/>
                </a:lnTo>
                <a:cubicBezTo>
                  <a:pt x="46250" y="812800"/>
                  <a:pt x="0" y="766550"/>
                  <a:pt x="0" y="709499"/>
                </a:cubicBezTo>
                <a:lnTo>
                  <a:pt x="0" y="103302"/>
                </a:lnTo>
                <a:cubicBezTo>
                  <a:pt x="0" y="46250"/>
                  <a:pt x="46250" y="0"/>
                  <a:pt x="103302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0ECC3C49-31BF-42FB-AFCF-D52CD5D4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CAA3A92D-827C-4E4D-B4A0-8A2AF866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592148" h="812800">
                <a:moveTo>
                  <a:pt x="64046" y="0"/>
                </a:moveTo>
                <a:lnTo>
                  <a:pt x="1528102" y="0"/>
                </a:lnTo>
                <a:cubicBezTo>
                  <a:pt x="1545088" y="0"/>
                  <a:pt x="1561379" y="6748"/>
                  <a:pt x="1573390" y="18759"/>
                </a:cubicBezTo>
                <a:cubicBezTo>
                  <a:pt x="1585400" y="30769"/>
                  <a:pt x="1592148" y="47060"/>
                  <a:pt x="1592148" y="64046"/>
                </a:cubicBezTo>
                <a:lnTo>
                  <a:pt x="1592148" y="748754"/>
                </a:lnTo>
                <a:cubicBezTo>
                  <a:pt x="1592148" y="765740"/>
                  <a:pt x="1585400" y="782031"/>
                  <a:pt x="1573390" y="794041"/>
                </a:cubicBezTo>
                <a:cubicBezTo>
                  <a:pt x="1561379" y="806052"/>
                  <a:pt x="1545088" y="812800"/>
                  <a:pt x="1528102" y="812800"/>
                </a:cubicBezTo>
                <a:lnTo>
                  <a:pt x="64046" y="812800"/>
                </a:lnTo>
                <a:cubicBezTo>
                  <a:pt x="47060" y="812800"/>
                  <a:pt x="30769" y="806052"/>
                  <a:pt x="18759" y="794041"/>
                </a:cubicBezTo>
                <a:cubicBezTo>
                  <a:pt x="6748" y="782031"/>
                  <a:pt x="0" y="765740"/>
                  <a:pt x="0" y="748754"/>
                </a:cubicBezTo>
                <a:lnTo>
                  <a:pt x="0" y="64046"/>
                </a:lnTo>
                <a:cubicBezTo>
                  <a:pt x="0" y="47060"/>
                  <a:pt x="6748" y="30769"/>
                  <a:pt x="18759" y="18759"/>
                </a:cubicBezTo>
                <a:cubicBezTo>
                  <a:pt x="30769" y="6748"/>
                  <a:pt x="47060" y="0"/>
                  <a:pt x="64046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3545B264-AC7A-4B9B-A50F-1A7954B9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D82805FC-500B-4AE7-9355-FAD8DA88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E6B4C127-2F54-4C58-8473-55F2C64D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3C957564-5745-4C9B-BD37-4635A6D6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37860" h="514913">
                <a:moveTo>
                  <a:pt x="0" y="0"/>
                </a:moveTo>
                <a:lnTo>
                  <a:pt x="437860" y="0"/>
                </a:lnTo>
                <a:lnTo>
                  <a:pt x="437860" y="514914"/>
                </a:lnTo>
                <a:lnTo>
                  <a:pt x="0" y="51491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BA52C16D-985B-42C6-9C6C-26B3CA7A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4350">
                <a:solidFill>
                  <a:srgbClr val="1F497D"/>
                </a:solidFill>
              </a:defRPr>
            </a:pPr>
            <a:r>
              <a:rPr sz="43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F9B53DFE-452B-4328-8E96-5CD94806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D96BB86E-6F37-4090-8F89-3D3AA6CC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A6D7007F-1CC8-46D3-8738-0469A45B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231195" h="406400">
                <a:moveTo>
                  <a:pt x="3027995" y="0"/>
                </a:moveTo>
                <a:cubicBezTo>
                  <a:pt x="3140220" y="0"/>
                  <a:pt x="3231195" y="90976"/>
                  <a:pt x="3231195" y="203200"/>
                </a:cubicBezTo>
                <a:cubicBezTo>
                  <a:pt x="3231195" y="315424"/>
                  <a:pt x="3140220" y="406400"/>
                  <a:pt x="3027995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9A015317-4EFB-4E02-B478-32DDC83F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1CA9F9CC-3926-4654-A2C4-4D3901AF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761692" h="406400">
                <a:moveTo>
                  <a:pt x="1558492" y="0"/>
                </a:moveTo>
                <a:cubicBezTo>
                  <a:pt x="1670717" y="0"/>
                  <a:pt x="1761692" y="90976"/>
                  <a:pt x="1761692" y="203200"/>
                </a:cubicBezTo>
                <a:cubicBezTo>
                  <a:pt x="1761692" y="315424"/>
                  <a:pt x="1670717" y="406400"/>
                  <a:pt x="1558492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14D4E16E-79C5-48B8-8542-996B5729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BFA94D0B-5613-4506-BC4D-41C0E0EE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A6D33542-9DFB-40C0-ABC0-18BBBCC7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  <a:defRPr sz="135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35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570CCD69-B43E-41A2-AF3F-53491DF9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61C7D868-A9F7-4449-80AB-5D71DED4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4B054B12-9FFC-486F-ACE6-18FB3A7B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7473980A-D317-4106-92E9-6641660B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2A73EE43-3E88-43A9-90CB-C5E6B308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0D4F2B56-32B6-461E-8B0D-251C4013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55E7FF0B-2E9E-4435-8417-2B76A016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95A12970-D703-44CE-8AA7-43700564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247FC02E-4717-4000-A7F2-CC5E5A77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265292C0-BAFC-4795-80A1-AAFEF981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B1ABCE18-AA0A-4E54-813E-85C645AF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94A46560-49EF-418B-8E31-82CE5B38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FB938355-2040-4A31-A71C-DD790874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08CA77FA-F327-4318-BC2D-F1C64064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5934D129-60D4-41CF-ADD9-CAE6BA1E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5" name="Imagen 95">
            <a:extLst xmlns:a="http://schemas.openxmlformats.org/drawingml/2006/main">
              <a:ext uri="{FF2B5EF4-FFF2-40B4-BE49-F238E27FC236}">
                <a16:creationId xmlns:a16="http://schemas.microsoft.com/office/drawing/2014/main" id="{23045FB6-49C1-4246-966E-3CC1EC13E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19" name="Imagen 9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f176d014f344cb"/>
          <a:srcRect xmlns:a="http://schemas.openxmlformats.org/drawingml/2006/main" l="0" t="7843" r="0" b="78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8476"/>
            </a:avLst>
          </a:prstGeom>
        </p:spPr>
      </p:pic>
      <p:sp>
        <p:nvSpPr>
          <p:cNvPr id="56" name="Imagen 96">
            <a:extLst xmlns:a="http://schemas.openxmlformats.org/drawingml/2006/main">
              <a:ext uri="{FF2B5EF4-FFF2-40B4-BE49-F238E27FC236}">
                <a16:creationId xmlns:a16="http://schemas.microsoft.com/office/drawing/2014/main" id="{07410CF3-21C9-4ACF-827A-3AF85B69A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21" name="Imagen 9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18f44713664eac"/>
          <a:srcRect xmlns:a="http://schemas.openxmlformats.org/drawingml/2006/main" l="17728" t="0" r="1772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8775"/>
            </a:avLst>
          </a:prstGeom>
        </p:spPr>
      </p:pic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C152A2E-0C2B-439C-95B1-DBF492C76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89630872cc447f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/>
          </a:prstGeom>
        </p:spPr>
      </p:pic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3C85569-C6EB-4BFC-8416-2415304A2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127e842a71412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/>
          </a:prstGeom>
        </p:spPr>
      </p:pic>
      <p:sp>
        <p:nvSpPr>
          <p:cNvPr id="59" name="visual-top-rail">
            <a:extLst xmlns:a="http://schemas.openxmlformats.org/drawingml/2006/main">
              <a:ext uri="{FF2B5EF4-FFF2-40B4-BE49-F238E27FC236}">
                <a16:creationId xmlns:a16="http://schemas.microsoft.com/office/drawing/2014/main" id="{5E4668C3-F5B3-4474-A983-560D2AE78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33"/>
          </a:solidFill>
          <a:ln xmlns:a="http://schemas.openxmlformats.org/drawingml/2006/main" w="0">
            <a:noFill/>
          </a:ln>
        </p:spPr>
      </p:sp>
      <p:pic>
        <p:nvPicPr>
          <p:cNvPr id="1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febae9c88e4faa"/>
          <a:stretch xmlns:a="http://schemas.openxmlformats.org/drawingml/2006/main"/>
        </p:blipFill>
        <p:spPr>
          <a:xfrm xmlns:a="http://schemas.openxmlformats.org/drawingml/2006/main">
            <a:off x="704850" y="540763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61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F4167269-5D91-4A70-A070-C3B29925C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4770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D8D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8D8D8"/>
                </a:solidFill>
                <a:latin typeface="Aptos"/>
                <a:ea typeface="Aptos"/>
                <a:cs typeface="Aptos"/>
              </a:rPr>
              <a:t>Universidad Tecnológica Nacional</a:t>
            </a:r>
          </a:p>
        </p:txBody>
      </p:sp>
      <p:sp>
        <p:nvSpPr>
          <p:cNvPr id="62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EC7D9601-517F-4FC9-A0D1-4ABAC028E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19250"/>
            <a:ext cx="14382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 IA debe explicar el join que propone</a:t>
            </a:r>
          </a:p>
        </p:txBody>
      </p:sp>
      <p:sp>
        <p:nvSpPr>
          <p:cNvPr id="63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E4B462AA-0E98-44E3-A486-25E77D97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19200" y="2905125"/>
            <a:ext cx="716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33"/>
            </a:solidFill>
            <a:prstDash val="solid"/>
          </a:ln>
        </p:spPr>
      </p:sp>
      <p:sp>
        <p:nvSpPr>
          <p:cNvPr id="64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90B3BBA2-014A-45B3-8AE6-4C66A132F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87249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33"/>
                </a:solidFill>
                <a:latin typeface="Aptos"/>
                <a:ea typeface="Aptos"/>
                <a:cs typeface="Aptos"/>
              </a:rPr>
              <a:t>IA · AUDITORÍA</a:t>
            </a:r>
          </a:p>
        </p:txBody>
      </p:sp>
      <p:sp>
        <p:nvSpPr>
          <p:cNvPr id="65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9C1A3A2D-9E6F-433F-93BA-90521A663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782050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C8CDD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8CDD3"/>
                </a:solidFill>
                <a:latin typeface="Aptos"/>
                <a:ea typeface="Aptos"/>
                <a:cs typeface="Aptos"/>
              </a:rPr>
              <a:t>Análisis de Datos · Ingeniería Industrial</a:t>
            </a:r>
          </a:p>
        </p:txBody>
      </p:sp>
      <p:sp>
        <p:nvSpPr>
          <p:cNvPr id="66" name="worked-box-0">
            <a:extLst xmlns:a="http://schemas.openxmlformats.org/drawingml/2006/main">
              <a:ext uri="{FF2B5EF4-FFF2-40B4-BE49-F238E27FC236}">
                <a16:creationId xmlns:a16="http://schemas.microsoft.com/office/drawing/2014/main" id="{10BC8C4B-41D3-4D77-A274-FD6148961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76625"/>
            <a:ext cx="5118100" cy="1952625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252525"/>
          </a:solidFill>
          <a:ln xmlns:a="http://schemas.openxmlformats.org/drawingml/2006/main" w="11430">
            <a:solidFill>
              <a:srgbClr val="505050"/>
            </a:solidFill>
            <a:prstDash val="solid"/>
          </a:ln>
        </p:spPr>
      </p:sp>
      <p:sp>
        <p:nvSpPr>
          <p:cNvPr id="67" name="worked-head-0">
            <a:extLst xmlns:a="http://schemas.openxmlformats.org/drawingml/2006/main">
              <a:ext uri="{FF2B5EF4-FFF2-40B4-BE49-F238E27FC236}">
                <a16:creationId xmlns:a16="http://schemas.microsoft.com/office/drawing/2014/main" id="{79060A4E-C9EC-4AF0-93BF-7D3EB10CA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48075"/>
            <a:ext cx="4737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Claves</a:t>
            </a:r>
          </a:p>
        </p:txBody>
      </p:sp>
      <p:sp>
        <p:nvSpPr>
          <p:cNvPr id="68" name="worked-body-0">
            <a:extLst xmlns:a="http://schemas.openxmlformats.org/drawingml/2006/main">
              <a:ext uri="{FF2B5EF4-FFF2-40B4-BE49-F238E27FC236}">
                <a16:creationId xmlns:a16="http://schemas.microsoft.com/office/drawing/2014/main" id="{8F20F7D4-8117-4C28-ABD4-2D0B5623D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14825"/>
            <a:ext cx="4737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7D7D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7D7D7"/>
                </a:solidFill>
                <a:latin typeface="Aptos"/>
                <a:ea typeface="Aptos"/>
                <a:cs typeface="Aptos"/>
              </a:rPr>
              <a:t>¿Qué conceptos vincula?</a:t>
            </a:r>
          </a:p>
        </p:txBody>
      </p:sp>
      <p:sp>
        <p:nvSpPr>
          <p:cNvPr id="69" name="worked-box-1">
            <a:extLst xmlns:a="http://schemas.openxmlformats.org/drawingml/2006/main">
              <a:ext uri="{FF2B5EF4-FFF2-40B4-BE49-F238E27FC236}">
                <a16:creationId xmlns:a16="http://schemas.microsoft.com/office/drawing/2014/main" id="{510DF42E-FE2E-44AD-88CA-E78184F79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4950" y="3476625"/>
            <a:ext cx="5118100" cy="1952625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252525"/>
          </a:solidFill>
          <a:ln xmlns:a="http://schemas.openxmlformats.org/drawingml/2006/main" w="11430">
            <a:solidFill>
              <a:srgbClr val="505050"/>
            </a:solidFill>
            <a:prstDash val="solid"/>
          </a:ln>
        </p:spPr>
      </p:sp>
      <p:sp>
        <p:nvSpPr>
          <p:cNvPr id="70" name="worked-head-1">
            <a:extLst xmlns:a="http://schemas.openxmlformats.org/drawingml/2006/main">
              <a:ext uri="{FF2B5EF4-FFF2-40B4-BE49-F238E27FC236}">
                <a16:creationId xmlns:a16="http://schemas.microsoft.com/office/drawing/2014/main" id="{8DC80FBC-0D5F-48C0-8403-E810B7526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3648075"/>
            <a:ext cx="4737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Cardinalidad</a:t>
            </a:r>
          </a:p>
        </p:txBody>
      </p:sp>
      <p:sp>
        <p:nvSpPr>
          <p:cNvPr id="71" name="worked-body-1">
            <a:extLst xmlns:a="http://schemas.openxmlformats.org/drawingml/2006/main">
              <a:ext uri="{FF2B5EF4-FFF2-40B4-BE49-F238E27FC236}">
                <a16:creationId xmlns:a16="http://schemas.microsoft.com/office/drawing/2014/main" id="{905EA750-589A-498A-92C7-36662DA5B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4314825"/>
            <a:ext cx="4737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7D7D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7D7D7"/>
                </a:solidFill>
                <a:latin typeface="Aptos"/>
                <a:ea typeface="Aptos"/>
                <a:cs typeface="Aptos"/>
              </a:rPr>
              <a:t>¿Cuántas coincidencias espera?</a:t>
            </a:r>
          </a:p>
        </p:txBody>
      </p:sp>
      <p:sp>
        <p:nvSpPr>
          <p:cNvPr id="72" name="worked-box-2">
            <a:extLst xmlns:a="http://schemas.openxmlformats.org/drawingml/2006/main">
              <a:ext uri="{FF2B5EF4-FFF2-40B4-BE49-F238E27FC236}">
                <a16:creationId xmlns:a16="http://schemas.microsoft.com/office/drawing/2014/main" id="{399AF61A-A336-44DE-B84A-5635E942A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0700" y="3476625"/>
            <a:ext cx="5118100" cy="1952625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252525"/>
          </a:solidFill>
          <a:ln xmlns:a="http://schemas.openxmlformats.org/drawingml/2006/main" w="11430">
            <a:solidFill>
              <a:srgbClr val="505050"/>
            </a:solidFill>
            <a:prstDash val="solid"/>
          </a:ln>
        </p:spPr>
      </p:sp>
      <p:sp>
        <p:nvSpPr>
          <p:cNvPr id="73" name="worked-head-2">
            <a:extLst xmlns:a="http://schemas.openxmlformats.org/drawingml/2006/main">
              <a:ext uri="{FF2B5EF4-FFF2-40B4-BE49-F238E27FC236}">
                <a16:creationId xmlns:a16="http://schemas.microsoft.com/office/drawing/2014/main" id="{2E425260-42C6-4C69-B317-AB75B05F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1200" y="3648075"/>
            <a:ext cx="4737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Grano final</a:t>
            </a:r>
          </a:p>
        </p:txBody>
      </p:sp>
      <p:sp>
        <p:nvSpPr>
          <p:cNvPr id="74" name="worked-body-2">
            <a:extLst xmlns:a="http://schemas.openxmlformats.org/drawingml/2006/main">
              <a:ext uri="{FF2B5EF4-FFF2-40B4-BE49-F238E27FC236}">
                <a16:creationId xmlns:a16="http://schemas.microsoft.com/office/drawing/2014/main" id="{20BB2B4A-0DC8-4F00-BA27-30205584B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1200" y="4314825"/>
            <a:ext cx="4737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7D7D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7D7D7"/>
                </a:solidFill>
                <a:latin typeface="Aptos"/>
                <a:ea typeface="Aptos"/>
                <a:cs typeface="Aptos"/>
              </a:rPr>
              <a:t>¿Qué representa una fila?</a:t>
            </a:r>
          </a:p>
        </p:txBody>
      </p:sp>
      <p:sp>
        <p:nvSpPr>
          <p:cNvPr id="75" name="worked-box-3">
            <a:extLst xmlns:a="http://schemas.openxmlformats.org/drawingml/2006/main">
              <a:ext uri="{FF2B5EF4-FFF2-40B4-BE49-F238E27FC236}">
                <a16:creationId xmlns:a16="http://schemas.microsoft.com/office/drawing/2014/main" id="{2E49BA1C-1B1E-4121-9B9B-3B1998E5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676900"/>
            <a:ext cx="5118100" cy="1952625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252525"/>
          </a:solidFill>
          <a:ln xmlns:a="http://schemas.openxmlformats.org/drawingml/2006/main" w="11430">
            <a:solidFill>
              <a:srgbClr val="505050"/>
            </a:solidFill>
            <a:prstDash val="solid"/>
          </a:ln>
        </p:spPr>
      </p:sp>
      <p:sp>
        <p:nvSpPr>
          <p:cNvPr id="76" name="worked-head-3">
            <a:extLst xmlns:a="http://schemas.openxmlformats.org/drawingml/2006/main">
              <a:ext uri="{FF2B5EF4-FFF2-40B4-BE49-F238E27FC236}">
                <a16:creationId xmlns:a16="http://schemas.microsoft.com/office/drawing/2014/main" id="{60FE678E-F138-4A1A-8A2D-69E5A5C92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848350"/>
            <a:ext cx="4737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Pérdidas</a:t>
            </a:r>
          </a:p>
        </p:txBody>
      </p:sp>
      <p:sp>
        <p:nvSpPr>
          <p:cNvPr id="77" name="worked-body-3">
            <a:extLst xmlns:a="http://schemas.openxmlformats.org/drawingml/2006/main">
              <a:ext uri="{FF2B5EF4-FFF2-40B4-BE49-F238E27FC236}">
                <a16:creationId xmlns:a16="http://schemas.microsoft.com/office/drawing/2014/main" id="{32D1DCF1-BF8B-4D66-874A-0F759D9DF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6515100"/>
            <a:ext cx="4737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7D7D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7D7D7"/>
                </a:solidFill>
                <a:latin typeface="Aptos"/>
                <a:ea typeface="Aptos"/>
                <a:cs typeface="Aptos"/>
              </a:rPr>
              <a:t>¿Qué registros desaparecen?</a:t>
            </a:r>
          </a:p>
        </p:txBody>
      </p:sp>
      <p:sp>
        <p:nvSpPr>
          <p:cNvPr id="78" name="worked-box-4">
            <a:extLst xmlns:a="http://schemas.openxmlformats.org/drawingml/2006/main">
              <a:ext uri="{FF2B5EF4-FFF2-40B4-BE49-F238E27FC236}">
                <a16:creationId xmlns:a16="http://schemas.microsoft.com/office/drawing/2014/main" id="{E027BE92-37A2-428C-A11F-1CE16D27C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4950" y="5676900"/>
            <a:ext cx="5118100" cy="1952625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505050"/>
            </a:solidFill>
            <a:prstDash val="solid"/>
          </a:ln>
        </p:spPr>
      </p:sp>
      <p:sp>
        <p:nvSpPr>
          <p:cNvPr id="79" name="worked-head-4">
            <a:extLst xmlns:a="http://schemas.openxmlformats.org/drawingml/2006/main">
              <a:ext uri="{FF2B5EF4-FFF2-40B4-BE49-F238E27FC236}">
                <a16:creationId xmlns:a16="http://schemas.microsoft.com/office/drawing/2014/main" id="{A5368DEF-9078-4484-A89B-CB70B6C51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5848350"/>
            <a:ext cx="4737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Reconciliación</a:t>
            </a:r>
          </a:p>
        </p:txBody>
      </p:sp>
      <p:sp>
        <p:nvSpPr>
          <p:cNvPr id="80" name="worked-body-4">
            <a:extLst xmlns:a="http://schemas.openxmlformats.org/drawingml/2006/main">
              <a:ext uri="{FF2B5EF4-FFF2-40B4-BE49-F238E27FC236}">
                <a16:creationId xmlns:a16="http://schemas.microsoft.com/office/drawing/2014/main" id="{38FDA29D-D565-4832-B97E-054C96B3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6515100"/>
            <a:ext cx="4737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¿Qué total debe coincidir?</a:t>
            </a:r>
          </a:p>
        </p:txBody>
      </p:sp>
    </p:spTree>
    <p:extLst>
      <p:ext uri="{BB962C8B-B14F-4D97-AF65-F5344CB8AC3E}">
        <p14:creationId xmlns:p14="http://schemas.microsoft.com/office/powerpoint/2010/main" val="76266272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5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Imagen 73">
            <a:extLst xmlns:a="http://schemas.openxmlformats.org/drawingml/2006/main">
              <a:ext uri="{FF2B5EF4-FFF2-40B4-BE49-F238E27FC236}">
                <a16:creationId xmlns:a16="http://schemas.microsoft.com/office/drawing/2014/main" id="{4BF0CB9D-E34A-4704-BFFB-2375BF7C9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58" name="Imagen 7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b083e9b8854e1d"/>
          <a:srcRect xmlns:a="http://schemas.openxmlformats.org/drawingml/2006/main" l="27764" t="0" r="2776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5492"/>
            </a:avLst>
          </a:prstGeom>
        </p:spPr>
      </p:pic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7F5F62B3-F84F-4153-B279-04350AFF7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774006" h="182238">
                <a:moveTo>
                  <a:pt x="22567" y="0"/>
                </a:moveTo>
                <a:lnTo>
                  <a:pt x="751439" y="0"/>
                </a:lnTo>
                <a:cubicBezTo>
                  <a:pt x="763903" y="0"/>
                  <a:pt x="774006" y="10104"/>
                  <a:pt x="774006" y="22567"/>
                </a:cubicBezTo>
                <a:lnTo>
                  <a:pt x="774006" y="159671"/>
                </a:lnTo>
                <a:cubicBezTo>
                  <a:pt x="774006" y="165656"/>
                  <a:pt x="771629" y="171396"/>
                  <a:pt x="767396" y="175628"/>
                </a:cubicBezTo>
                <a:cubicBezTo>
                  <a:pt x="763164" y="179861"/>
                  <a:pt x="757424" y="182238"/>
                  <a:pt x="751439" y="182238"/>
                </a:cubicBezTo>
                <a:lnTo>
                  <a:pt x="22567" y="182238"/>
                </a:lnTo>
                <a:cubicBezTo>
                  <a:pt x="10104" y="182238"/>
                  <a:pt x="0" y="172135"/>
                  <a:pt x="0" y="159671"/>
                </a:cubicBezTo>
                <a:lnTo>
                  <a:pt x="0" y="22567"/>
                </a:lnTo>
                <a:cubicBezTo>
                  <a:pt x="0" y="10104"/>
                  <a:pt x="10104" y="0"/>
                  <a:pt x="22567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B53724D0-9C3B-4C22-A623-60FD93C36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564678E5-48A3-472E-A813-58C2E8287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79984" y="0"/>
                </a:moveTo>
                <a:lnTo>
                  <a:pt x="287523" y="0"/>
                </a:lnTo>
                <a:cubicBezTo>
                  <a:pt x="308736" y="0"/>
                  <a:pt x="329081" y="8427"/>
                  <a:pt x="344081" y="23427"/>
                </a:cubicBezTo>
                <a:cubicBezTo>
                  <a:pt x="359080" y="38427"/>
                  <a:pt x="367507" y="58771"/>
                  <a:pt x="367507" y="79984"/>
                </a:cubicBezTo>
                <a:lnTo>
                  <a:pt x="367507" y="304788"/>
                </a:lnTo>
                <a:cubicBezTo>
                  <a:pt x="367507" y="348962"/>
                  <a:pt x="331697" y="384772"/>
                  <a:pt x="287523" y="384772"/>
                </a:cubicBezTo>
                <a:lnTo>
                  <a:pt x="79984" y="384772"/>
                </a:lnTo>
                <a:cubicBezTo>
                  <a:pt x="58771" y="384772"/>
                  <a:pt x="38427" y="376345"/>
                  <a:pt x="23427" y="361345"/>
                </a:cubicBezTo>
                <a:cubicBezTo>
                  <a:pt x="8427" y="346346"/>
                  <a:pt x="0" y="326001"/>
                  <a:pt x="0" y="304788"/>
                </a:cubicBezTo>
                <a:lnTo>
                  <a:pt x="0" y="79984"/>
                </a:lnTo>
                <a:cubicBezTo>
                  <a:pt x="0" y="58771"/>
                  <a:pt x="8427" y="38427"/>
                  <a:pt x="23427" y="23427"/>
                </a:cubicBezTo>
                <a:cubicBezTo>
                  <a:pt x="38427" y="8427"/>
                  <a:pt x="58771" y="0"/>
                  <a:pt x="79984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566E8966-A412-411A-8729-3789C90F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C5146AB1-E671-4464-A213-49B0D9FAF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EA7D4C51-A4E3-49A0-809C-9F63351A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989F7E7A-69FF-43DB-8D39-AF070A598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29A85F48-37A2-4038-A2F8-9E2BD8E0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84C851B3-0647-4286-AA9F-B9BDE191E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731B4A31-D8A2-4B0B-BA5B-3E1316C5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81E1ADD0-8DD9-429F-9899-AA0B0460F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231195" h="406400">
                <a:moveTo>
                  <a:pt x="3027995" y="0"/>
                </a:moveTo>
                <a:cubicBezTo>
                  <a:pt x="3140220" y="0"/>
                  <a:pt x="3231195" y="90976"/>
                  <a:pt x="3231195" y="203200"/>
                </a:cubicBezTo>
                <a:cubicBezTo>
                  <a:pt x="3231195" y="315424"/>
                  <a:pt x="3140220" y="406400"/>
                  <a:pt x="3027995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8639B345-5C1E-4E7C-A987-87C57A376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ED8CF195-CA26-4E09-AF27-4F05B793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761692" h="406400">
                <a:moveTo>
                  <a:pt x="1558492" y="0"/>
                </a:moveTo>
                <a:cubicBezTo>
                  <a:pt x="1670717" y="0"/>
                  <a:pt x="1761692" y="90976"/>
                  <a:pt x="1761692" y="203200"/>
                </a:cubicBezTo>
                <a:cubicBezTo>
                  <a:pt x="1761692" y="315424"/>
                  <a:pt x="1670717" y="406400"/>
                  <a:pt x="1558492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B4B9D9E6-2B09-46E5-8753-D045605BE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06FB87C0-9F1F-47DC-B660-6AA62A915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806506" h="406400">
                <a:moveTo>
                  <a:pt x="1603306" y="0"/>
                </a:moveTo>
                <a:cubicBezTo>
                  <a:pt x="1715530" y="0"/>
                  <a:pt x="1806506" y="90976"/>
                  <a:pt x="1806506" y="203200"/>
                </a:cubicBezTo>
                <a:cubicBezTo>
                  <a:pt x="1806506" y="315424"/>
                  <a:pt x="1715530" y="406400"/>
                  <a:pt x="1603306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993D8D62-EF10-44EC-8A2B-004C808DC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8" name="AutoShape 28">
            <a:extLst xmlns:a="http://schemas.openxmlformats.org/drawingml/2006/main">
              <a:ext uri="{FF2B5EF4-FFF2-40B4-BE49-F238E27FC236}">
                <a16:creationId xmlns:a16="http://schemas.microsoft.com/office/drawing/2014/main" id="{D9710FB2-485C-43BD-9DC6-2F867D11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ACD5A629-BE31-475C-9C5D-9EAD53828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79984" y="0"/>
                </a:moveTo>
                <a:lnTo>
                  <a:pt x="287523" y="0"/>
                </a:lnTo>
                <a:cubicBezTo>
                  <a:pt x="308736" y="0"/>
                  <a:pt x="329081" y="8427"/>
                  <a:pt x="344081" y="23427"/>
                </a:cubicBezTo>
                <a:cubicBezTo>
                  <a:pt x="359080" y="38427"/>
                  <a:pt x="367507" y="58771"/>
                  <a:pt x="367507" y="79984"/>
                </a:cubicBezTo>
                <a:lnTo>
                  <a:pt x="367507" y="304788"/>
                </a:lnTo>
                <a:cubicBezTo>
                  <a:pt x="367507" y="348962"/>
                  <a:pt x="331697" y="384772"/>
                  <a:pt x="287523" y="384772"/>
                </a:cubicBezTo>
                <a:lnTo>
                  <a:pt x="79984" y="384772"/>
                </a:lnTo>
                <a:cubicBezTo>
                  <a:pt x="58771" y="384772"/>
                  <a:pt x="38427" y="376345"/>
                  <a:pt x="23427" y="361345"/>
                </a:cubicBezTo>
                <a:cubicBezTo>
                  <a:pt x="8427" y="346346"/>
                  <a:pt x="0" y="326001"/>
                  <a:pt x="0" y="304788"/>
                </a:cubicBezTo>
                <a:lnTo>
                  <a:pt x="0" y="79984"/>
                </a:lnTo>
                <a:cubicBezTo>
                  <a:pt x="0" y="58771"/>
                  <a:pt x="8427" y="38427"/>
                  <a:pt x="23427" y="23427"/>
                </a:cubicBezTo>
                <a:cubicBezTo>
                  <a:pt x="38427" y="8427"/>
                  <a:pt x="58771" y="0"/>
                  <a:pt x="79984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78AFBFA9-CBB9-40D9-80E1-AC366656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DA6229D7-FCFF-42B6-BC2A-4D56D32D2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61495" h="512772">
                <a:moveTo>
                  <a:pt x="0" y="0"/>
                </a:moveTo>
                <a:lnTo>
                  <a:pt x="461494" y="0"/>
                </a:lnTo>
                <a:lnTo>
                  <a:pt x="461494" y="512772"/>
                </a:lnTo>
                <a:lnTo>
                  <a:pt x="0" y="51277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B6CB9091-D238-4ED8-9845-616865262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20283" h="461216">
                <a:moveTo>
                  <a:pt x="0" y="0"/>
                </a:moveTo>
                <a:lnTo>
                  <a:pt x="420283" y="0"/>
                </a:lnTo>
                <a:lnTo>
                  <a:pt x="420283" y="461216"/>
                </a:lnTo>
                <a:lnTo>
                  <a:pt x="0" y="46121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5C72A90F-1114-4CC1-BD13-975BD395C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38320" h="514913">
                <a:moveTo>
                  <a:pt x="0" y="0"/>
                </a:moveTo>
                <a:lnTo>
                  <a:pt x="438320" y="0"/>
                </a:lnTo>
                <a:lnTo>
                  <a:pt x="438320" y="514914"/>
                </a:lnTo>
                <a:lnTo>
                  <a:pt x="0" y="51491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45320EE5-2F71-4DAF-90A4-7248E2FB3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975">
                <a:solidFill>
                  <a:srgbClr val="FFFFFF"/>
                </a:solidFill>
                <a:latin typeface="Telegraf"/>
                <a:ea typeface="Telegraf"/>
                <a:cs typeface="Telegraf"/>
              </a:defRPr>
            </a:pPr>
            <a:r>
              <a:rPr sz="2000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3D9B7426-D179-4E47-A1B8-25B85292E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9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20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9494C4CD-EBFD-4C8D-8B7A-363B48648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159"/>
              </a:lnSpc>
              <a:buNone/>
            </a:pPr>
            <a:r>
              <a:rPr sz="1599">
                <a:solidFill>
                  <a:srgbClr val="F6F9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D419E547-CC87-443C-BFF6-5537F948E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E6DA3120-1590-4E4A-9703-2E188BF1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  <a:defRPr sz="1500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500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2279A6B3-B644-4667-9C11-7BB778059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5700">
                <a:solidFill>
                  <a:srgbClr val="FFFFFF"/>
                </a:solidFill>
                <a:latin typeface="Telegraf"/>
                <a:ea typeface="Telegraf"/>
                <a:cs typeface="Telegraf"/>
              </a:defRPr>
            </a:pPr>
            <a:r>
              <a:rPr sz="5700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C78B9BA3-AB64-47BA-A661-F2C330D23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500">
                <a:solidFill>
                  <a:srgbClr val="FFFFFF"/>
                </a:solidFill>
                <a:latin typeface="Telegraf"/>
                <a:ea typeface="Telegraf"/>
                <a:cs typeface="Telegraf"/>
              </a:defRPr>
            </a:pPr>
            <a:r>
              <a:rPr sz="1500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  <a:endParaRPr sz="1500">
              <a:solidFill>
                <a:srgbClr val="FFFFFF"/>
              </a:solidFill>
              <a:latin typeface="Telegraf"/>
              <a:ea typeface="Telegraf"/>
              <a:cs typeface="Telegraf"/>
            </a:endParaRP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C61E909E-10CA-4FD8-800A-4AC532F9E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2159"/>
              </a:lnSpc>
              <a:buNone/>
            </a:pPr>
            <a:r>
              <a:rPr sz="1599">
                <a:solidFill>
                  <a:srgbClr val="F6F9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4" name="close-band">
            <a:extLst xmlns:a="http://schemas.openxmlformats.org/drawingml/2006/main">
              <a:ext uri="{FF2B5EF4-FFF2-40B4-BE49-F238E27FC236}">
                <a16:creationId xmlns:a16="http://schemas.microsoft.com/office/drawing/2014/main" id="{B2FEE075-415E-4D6B-B0ED-EDC5A4A0F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334000" cy="1028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B1F35"/>
          </a:solidFill>
          <a:ln xmlns:a="http://schemas.openxmlformats.org/drawingml/2006/main" w="11430">
            <a:solidFill>
              <a:srgbClr val="0B1F35"/>
            </a:solidFill>
            <a:prstDash val="solid"/>
          </a:ln>
        </p:spPr>
      </p:sp>
      <p:sp>
        <p:nvSpPr>
          <p:cNvPr id="45" name="close-line-0">
            <a:extLst xmlns:a="http://schemas.openxmlformats.org/drawingml/2006/main">
              <a:ext uri="{FF2B5EF4-FFF2-40B4-BE49-F238E27FC236}">
                <a16:creationId xmlns:a16="http://schemas.microsoft.com/office/drawing/2014/main" id="{FBA27225-B794-4E5E-9F2F-AC2DBFD8A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66750" y="1143000"/>
            <a:ext cx="381000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0">
            <a:solidFill>
              <a:srgbClr val="1F497D"/>
            </a:solidFill>
            <a:prstDash val="solid"/>
          </a:ln>
        </p:spPr>
      </p:sp>
      <p:sp>
        <p:nvSpPr>
          <p:cNvPr id="46" name="close-line-1">
            <a:extLst xmlns:a="http://schemas.openxmlformats.org/drawingml/2006/main">
              <a:ext uri="{FF2B5EF4-FFF2-40B4-BE49-F238E27FC236}">
                <a16:creationId xmlns:a16="http://schemas.microsoft.com/office/drawing/2014/main" id="{67EBD90E-EE55-424D-A0D1-CEDDA036F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66750" y="2333625"/>
            <a:ext cx="381000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0">
            <a:solidFill>
              <a:srgbClr val="4F81BD"/>
            </a:solidFill>
            <a:prstDash val="solid"/>
          </a:ln>
        </p:spPr>
      </p:sp>
      <p:sp>
        <p:nvSpPr>
          <p:cNvPr id="47" name="close-line-2">
            <a:extLst xmlns:a="http://schemas.openxmlformats.org/drawingml/2006/main">
              <a:ext uri="{FF2B5EF4-FFF2-40B4-BE49-F238E27FC236}">
                <a16:creationId xmlns:a16="http://schemas.microsoft.com/office/drawing/2014/main" id="{3C3BA1ED-E315-445E-A762-0A520D487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66750" y="3524250"/>
            <a:ext cx="381000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0">
            <a:solidFill>
              <a:srgbClr val="1F497D"/>
            </a:solidFill>
            <a:prstDash val="solid"/>
          </a:ln>
        </p:spPr>
      </p:sp>
      <p:sp>
        <p:nvSpPr>
          <p:cNvPr id="48" name="close-line-3">
            <a:extLst xmlns:a="http://schemas.openxmlformats.org/drawingml/2006/main">
              <a:ext uri="{FF2B5EF4-FFF2-40B4-BE49-F238E27FC236}">
                <a16:creationId xmlns:a16="http://schemas.microsoft.com/office/drawing/2014/main" id="{02007857-F9BD-4539-8948-4719151A5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66750" y="4714875"/>
            <a:ext cx="381000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0">
            <a:solidFill>
              <a:srgbClr val="4F81BD"/>
            </a:solidFill>
            <a:prstDash val="solid"/>
          </a:ln>
        </p:spPr>
      </p:sp>
      <p:sp>
        <p:nvSpPr>
          <p:cNvPr id="49" name="close-line-4">
            <a:extLst xmlns:a="http://schemas.openxmlformats.org/drawingml/2006/main">
              <a:ext uri="{FF2B5EF4-FFF2-40B4-BE49-F238E27FC236}">
                <a16:creationId xmlns:a16="http://schemas.microsoft.com/office/drawing/2014/main" id="{99823A1E-EDEB-43F1-96C5-168BC3F6B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66750" y="5905500"/>
            <a:ext cx="381000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0">
            <a:solidFill>
              <a:srgbClr val="1F497D"/>
            </a:solidFill>
            <a:prstDash val="solid"/>
          </a:ln>
        </p:spPr>
      </p:sp>
      <p:sp>
        <p:nvSpPr>
          <p:cNvPr id="50" name="close-line-5">
            <a:extLst xmlns:a="http://schemas.openxmlformats.org/drawingml/2006/main">
              <a:ext uri="{FF2B5EF4-FFF2-40B4-BE49-F238E27FC236}">
                <a16:creationId xmlns:a16="http://schemas.microsoft.com/office/drawing/2014/main" id="{268417D1-658D-46CA-861C-594603FEB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6750" y="7096125"/>
            <a:ext cx="381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0">
            <a:solidFill>
              <a:srgbClr val="4F81BD"/>
            </a:solidFill>
            <a:prstDash val="solid"/>
          </a:ln>
        </p:spPr>
      </p:sp>
      <p:pic>
        <p:nvPicPr>
          <p:cNvPr id="9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974c7ea82b449a"/>
          <a:stretch xmlns:a="http://schemas.openxmlformats.org/drawingml/2006/main"/>
        </p:blipFill>
        <p:spPr>
          <a:xfrm xmlns:a="http://schemas.openxmlformats.org/drawingml/2006/main">
            <a:off x="6191250" y="6074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2" name="close-label">
            <a:extLst xmlns:a="http://schemas.openxmlformats.org/drawingml/2006/main">
              <a:ext uri="{FF2B5EF4-FFF2-40B4-BE49-F238E27FC236}">
                <a16:creationId xmlns:a16="http://schemas.microsoft.com/office/drawing/2014/main" id="{0F05BC2A-2919-4928-B8AA-F293A1842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7239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33"/>
                </a:solidFill>
                <a:latin typeface="Aptos"/>
                <a:ea typeface="Aptos"/>
                <a:cs typeface="Aptos"/>
              </a:rPr>
              <a:t>CIERRE · TRANSFERENCIA</a:t>
            </a:r>
          </a:p>
        </p:txBody>
      </p:sp>
      <p:sp>
        <p:nvSpPr>
          <p:cNvPr id="53" name="close-title">
            <a:extLst xmlns:a="http://schemas.openxmlformats.org/drawingml/2006/main">
              <a:ext uri="{FF2B5EF4-FFF2-40B4-BE49-F238E27FC236}">
                <a16:creationId xmlns:a16="http://schemas.microsoft.com/office/drawing/2014/main" id="{07ED8E3E-0924-464F-9835-0B5D9B3F9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76500"/>
            <a:ext cx="10287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El hito defiende</a:t>
            </a:r>
          </a:p>
          <a:p xmlns:a="http://schemas.openxmlformats.org/drawingml/2006/main">
            <a:pPr algn="l">
              <a:defRPr sz="4650" b="0">
                <a:solidFill>
                  <a:srgbClr val="FFFF33"/>
                </a:solidFill>
                <a:latin typeface="Aptos"/>
                <a:ea typeface="Aptos"/>
                <a:cs typeface="Aptos"/>
              </a:defRPr>
            </a:pPr>
            <a:r>
              <a:rPr sz="4650" b="0">
                <a:solidFill>
                  <a:srgbClr val="FFFF33"/>
                </a:solidFill>
                <a:latin typeface="Aptos"/>
                <a:ea typeface="Aptos"/>
                <a:cs typeface="Aptos"/>
              </a:rPr>
              <a:t>grano, control</a:t>
            </a:r>
            <a:r>
              <a:rPr sz="4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y trade-offs</a:t>
            </a:r>
          </a:p>
        </p:txBody>
      </p:sp>
      <p:sp>
        <p:nvSpPr>
          <p:cNvPr id="54" name="close-rule">
            <a:extLst xmlns:a="http://schemas.openxmlformats.org/drawingml/2006/main">
              <a:ext uri="{FF2B5EF4-FFF2-40B4-BE49-F238E27FC236}">
                <a16:creationId xmlns:a16="http://schemas.microsoft.com/office/drawing/2014/main" id="{5F24DF8F-682D-4CDC-BD73-B7E3A15C9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91250" y="528637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F33"/>
            </a:solidFill>
            <a:prstDash val="solid"/>
          </a:ln>
        </p:spPr>
      </p:sp>
      <p:sp>
        <p:nvSpPr>
          <p:cNvPr id="55" name="close-body">
            <a:extLst xmlns:a="http://schemas.openxmlformats.org/drawingml/2006/main">
              <a:ext uri="{FF2B5EF4-FFF2-40B4-BE49-F238E27FC236}">
                <a16:creationId xmlns:a16="http://schemas.microsoft.com/office/drawing/2014/main" id="{265201E2-DE22-4248-BF89-028FF1052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810250"/>
            <a:ext cx="9620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E3E3E3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E3E3E3"/>
                </a:solidFill>
                <a:latin typeface="Aptos"/>
                <a:ea typeface="Aptos"/>
                <a:cs typeface="Aptos"/>
              </a:rPr>
              <a:t>Aplicar una regla de unión al caso del equipo y mostrar un control que detecte pérdida o duplicación.</a:t>
            </a:r>
          </a:p>
        </p:txBody>
      </p:sp>
      <p:sp>
        <p:nvSpPr>
          <p:cNvPr id="56" name="close-course">
            <a:extLst xmlns:a="http://schemas.openxmlformats.org/drawingml/2006/main">
              <a:ext uri="{FF2B5EF4-FFF2-40B4-BE49-F238E27FC236}">
                <a16:creationId xmlns:a16="http://schemas.microsoft.com/office/drawing/2014/main" id="{D8E80782-A5D2-4B2E-B715-05723C0BA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847725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8C8C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8C8C8"/>
                </a:solidFill>
                <a:latin typeface="Aptos"/>
                <a:ea typeface="Aptos"/>
                <a:cs typeface="Aptos"/>
              </a:rPr>
              <a:t>Análisis de Datos · Ingeniería Industrial</a:t>
            </a:r>
          </a:p>
        </p:txBody>
      </p:sp>
    </p:spTree>
    <p:extLst>
      <p:ext uri="{BB962C8B-B14F-4D97-AF65-F5344CB8AC3E}">
        <p14:creationId xmlns:p14="http://schemas.microsoft.com/office/powerpoint/2010/main" val="168849346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2026-08-12T01:40:29.2250000Z</dcterms:created>
  <dcterms:modified xsi:type="dcterms:W3CDTF">2026-08-12T01:40:29.2250000Z</dcterms:modified>
</coreProperties>
</file>