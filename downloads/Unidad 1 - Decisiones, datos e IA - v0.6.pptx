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fd3fb3fbc47d0" /><Relationship Type="http://schemas.openxmlformats.org/officeDocument/2006/relationships/extended-properties" Target="/docProps/app.xml" Id="R71bf670aa1f64de1" /><Relationship Type="http://schemas.openxmlformats.org/officeDocument/2006/relationships/officeDocument" Target="/ppt/presentation.xml" Id="R95b0842492f044d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1e6a9d6526a40e1"/>
  </p:sldMasterIdLst>
  <p:sldIdLst>
    <p:sldId xmlns:r="http://schemas.openxmlformats.org/officeDocument/2006/relationships" id="256" r:id="Rc35c3db6ef3a4d98"/>
    <p:sldId xmlns:r="http://schemas.openxmlformats.org/officeDocument/2006/relationships" id="257" r:id="Rb59fb185de2a47bd"/>
    <p:sldId xmlns:r="http://schemas.openxmlformats.org/officeDocument/2006/relationships" id="258" r:id="Ra75170f146e64437"/>
    <p:sldId xmlns:r="http://schemas.openxmlformats.org/officeDocument/2006/relationships" id="259" r:id="R4da84f5f8e454437"/>
    <p:sldId xmlns:r="http://schemas.openxmlformats.org/officeDocument/2006/relationships" id="260" r:id="R0dbaa52c32f24675"/>
    <p:sldId xmlns:r="http://schemas.openxmlformats.org/officeDocument/2006/relationships" id="261" r:id="R8d30dd54e87f4db3"/>
    <p:sldId xmlns:r="http://schemas.openxmlformats.org/officeDocument/2006/relationships" id="262" r:id="Re0b544f4ae804bcc"/>
    <p:sldId xmlns:r="http://schemas.openxmlformats.org/officeDocument/2006/relationships" id="263" r:id="R0c2b2eabc6174a27"/>
    <p:sldId xmlns:r="http://schemas.openxmlformats.org/officeDocument/2006/relationships" id="264" r:id="R24efad21eb1b44bd"/>
    <p:sldId xmlns:r="http://schemas.openxmlformats.org/officeDocument/2006/relationships" id="265" r:id="R7c1c8c94f7f64e99"/>
    <p:sldId xmlns:r="http://schemas.openxmlformats.org/officeDocument/2006/relationships" id="266" r:id="R5a167e8b8df944f3"/>
    <p:sldId xmlns:r="http://schemas.openxmlformats.org/officeDocument/2006/relationships" id="267" r:id="R2fc2797e19ef4268"/>
    <p:sldId xmlns:r="http://schemas.openxmlformats.org/officeDocument/2006/relationships" id="268" r:id="Rd6aff00f88bd4248"/>
    <p:sldId xmlns:r="http://schemas.openxmlformats.org/officeDocument/2006/relationships" id="269" r:id="Re7e732868ea544a0"/>
  </p:sldIdLst>
  <p:sldSz cx="18288000" cy="10287000"/>
  <p:notesSz cx="6858000" cy="9144000"/>
  <p:embeddedFontLst>
    <p:embeddedFont>
      <p:font typeface="Telegraf"/>
      <p:regular xmlns:r="http://schemas.openxmlformats.org/officeDocument/2006/relationships" r:id="Rf4ca2e1dad1a4606"/>
    </p:embeddedFont>
    <p:embeddedFont>
      <p:font typeface="Telegraf Bold"/>
      <p:regular xmlns:r="http://schemas.openxmlformats.org/officeDocument/2006/relationships" r:id="R4987afffb5a04c3d"/>
    </p:embeddedFont>
    <p:embeddedFont>
      <p:font typeface="Telegraf Heavy"/>
      <p:regular xmlns:r="http://schemas.openxmlformats.org/officeDocument/2006/relationships" r:id="Rd970df3297ce406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9d81e3915444f" /><Relationship Type="http://schemas.openxmlformats.org/officeDocument/2006/relationships/slideMaster" Target="/ppt/slideMasters/slideMaster1.xml" Id="R51e6a9d6526a40e1" /><Relationship Type="http://schemas.openxmlformats.org/officeDocument/2006/relationships/presProps" Target="/ppt/presProps.xml" Id="Ref838746469f4eb8" /><Relationship Type="http://schemas.openxmlformats.org/officeDocument/2006/relationships/viewProps" Target="/ppt/viewProps.xml" Id="R72095c791f954b40" /><Relationship Type="http://schemas.openxmlformats.org/officeDocument/2006/relationships/tableStyles" Target="/ppt/tableStyles.xml" Id="R741aab9d213f4d8b" /><Relationship Type="http://schemas.openxmlformats.org/officeDocument/2006/relationships/font" Target="/ppt/fonts/font.dat" Id="Rf4ca2e1dad1a4606" /><Relationship Type="http://schemas.openxmlformats.org/officeDocument/2006/relationships/font" Target="/ppt/fonts/font2.dat" Id="R4987afffb5a04c3d" /><Relationship Type="http://schemas.openxmlformats.org/officeDocument/2006/relationships/font" Target="/ppt/fonts/font3.dat" Id="Rd970df3297ce4062" /><Relationship Type="http://schemas.openxmlformats.org/officeDocument/2006/relationships/slide" Target="/ppt/slides/slide1.xml" Id="Rc35c3db6ef3a4d98" /><Relationship Type="http://schemas.openxmlformats.org/officeDocument/2006/relationships/slide" Target="/ppt/slides/slide2.xml" Id="Rb59fb185de2a47bd" /><Relationship Type="http://schemas.openxmlformats.org/officeDocument/2006/relationships/slide" Target="/ppt/slides/slide3.xml" Id="Ra75170f146e64437" /><Relationship Type="http://schemas.openxmlformats.org/officeDocument/2006/relationships/slide" Target="/ppt/slides/slide4.xml" Id="R4da84f5f8e454437" /><Relationship Type="http://schemas.openxmlformats.org/officeDocument/2006/relationships/slide" Target="/ppt/slides/slide5.xml" Id="R0dbaa52c32f24675" /><Relationship Type="http://schemas.openxmlformats.org/officeDocument/2006/relationships/slide" Target="/ppt/slides/slide6.xml" Id="R8d30dd54e87f4db3" /><Relationship Type="http://schemas.openxmlformats.org/officeDocument/2006/relationships/slide" Target="/ppt/slides/slide7.xml" Id="Re0b544f4ae804bcc" /><Relationship Type="http://schemas.openxmlformats.org/officeDocument/2006/relationships/slide" Target="/ppt/slides/slide8.xml" Id="R0c2b2eabc6174a27" /><Relationship Type="http://schemas.openxmlformats.org/officeDocument/2006/relationships/slide" Target="/ppt/slides/slide9.xml" Id="R24efad21eb1b44bd" /><Relationship Type="http://schemas.openxmlformats.org/officeDocument/2006/relationships/slide" Target="/ppt/slides/slide10.xml" Id="R7c1c8c94f7f64e99" /><Relationship Type="http://schemas.openxmlformats.org/officeDocument/2006/relationships/slide" Target="/ppt/slides/slide11.xml" Id="R5a167e8b8df944f3" /><Relationship Type="http://schemas.openxmlformats.org/officeDocument/2006/relationships/slide" Target="/ppt/slides/slide12.xml" Id="R2fc2797e19ef4268" /><Relationship Type="http://schemas.openxmlformats.org/officeDocument/2006/relationships/slide" Target="/ppt/slides/slide13.xml" Id="Rd6aff00f88bd4248" /><Relationship Type="http://schemas.openxmlformats.org/officeDocument/2006/relationships/slide" Target="/ppt/slides/slide14.xml" Id="Re7e732868ea544a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76fa999254b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6782bf5941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088449fa242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6b0c2b31a43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94fa886484f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3c7319b5b4f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8aec8a0de48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20fc3df7245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a90b6d6aa41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864b769eb4c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f6f603b74470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769558-CD25-4C89-B43C-D6A75F2ED4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FD8718D-D06D-42CD-9F46-22D3F35632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E5D6E4-C9CF-43C3-B173-226482B9B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C4C9D4-15D9-4FA4-840E-0AD6975B26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D1BB-53F6-4232-BE35-F91450C84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9827C-94A1-46D4-A4B1-38CC1349E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21E007-0DF8-4206-9D1E-60547E2E2B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16AF2D-51C1-4E6F-AB14-2F07D2721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A85A2D-52FE-45BE-931F-F42C371867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8BFF7C-452E-4211-A427-86FAEA496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4D279-DBCC-421F-B326-8A467D5F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8EF9B-5FF1-47D0-B9EC-550E235974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4BA64C-C54B-4628-819E-EDED0459F3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1897A-B408-417E-9609-13703590AC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67D90-9D32-42D3-B832-374EE2B3C1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F5BAFC-54E5-4531-BE01-950C32A96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375AF3-C4F7-4FD0-8C67-2A54B03814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E46A57-9117-4CF4-AEF3-E402494B80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F5636-AD81-4E55-B599-B966FC560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F293DC-770F-4EC1-8C85-321B3865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0D3CD38-784C-43A0-A02B-8AD16E3186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173C6C-B8A4-431A-B1A0-2916B19A4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D5A41D-8436-4C53-A43E-8A56FB1031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2449A5-3149-49B2-9687-7A9CDFDE4B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B6061B-2C0D-43E5-BF3C-05DFEE430D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720B4FF-0B58-4E83-A827-23BCD1B800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BA2B273-F5C7-44E5-8190-0F6B1200F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71971A-278A-4665-A641-F850E2CD31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606B6DE-F4D1-4D9C-9CAE-A64D87568A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B58863-E8F8-4D83-9DA9-5084484C2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C181AB-1BB4-493C-BEF4-961CED214B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E2FEFC-EFDF-4726-B574-3805840DB1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C0AF4B9-A159-421C-B585-9B2BED282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D28FB3E-6D21-4122-92ED-8B1906115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633666-791C-493E-82E4-5E604448B4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96BDCF-7DBF-4234-B895-2F9299D5B9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6FF2F-64DC-4348-9495-9A7EA2530F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420FE7-DFE3-458D-8F9A-2F4781343A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3DBBBD-5FE3-4671-B2B0-6000CCF7D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B84822-3065-4776-8AD5-8A288DB9C9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DB512A7-E414-4733-A553-2A4657A76C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76EE4A-3E42-4962-9C8E-B577D8E31A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057BAB-10B0-43C8-A4F5-73563DF4F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B72343-8F89-4AC2-86EF-EA637CAF74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57A4223-F595-4F72-A36C-ED5918472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9935067-5341-4033-84F3-B8E164C4C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B3718F-0AE3-41A9-A405-44509F98E8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934B46-77C1-4F74-800A-08776E777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F7064-5872-43A5-A0A7-FCF61F8D9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56540E-C9DA-4747-B04F-1A0D80C68C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2DD6F1-B912-4885-9EE1-A86B739BE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620850-28BF-48EB-B48D-BCCEFF2EC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DE6B40-205E-4CCF-9852-3424097333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86560F-2DBE-4CB1-9FAF-2961DE173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79E08-504B-4525-86AA-526662E5A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EFC91E-115A-4697-9E1F-65EC0E835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099CED-A861-45CE-84C4-2A1468EBD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03CF38-09EF-422C-A289-60F40EB08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6ca88e27834b4c" /><Relationship Type="http://schemas.openxmlformats.org/officeDocument/2006/relationships/slideLayout" Target="/ppt/slideLayouts/slideLayout1.xml" Id="R578a85c877384dbb" /><Relationship Type="http://schemas.openxmlformats.org/officeDocument/2006/relationships/slideLayout" Target="/ppt/slideLayouts/slideLayout2.xml" Id="R7e6777a1f4a642e5" /><Relationship Type="http://schemas.openxmlformats.org/officeDocument/2006/relationships/slideLayout" Target="/ppt/slideLayouts/slideLayout3.xml" Id="R766f9be664d743fd" /><Relationship Type="http://schemas.openxmlformats.org/officeDocument/2006/relationships/slideLayout" Target="/ppt/slideLayouts/slideLayout4.xml" Id="R495d5c9621d04eca" /><Relationship Type="http://schemas.openxmlformats.org/officeDocument/2006/relationships/slideLayout" Target="/ppt/slideLayouts/slideLayout5.xml" Id="Rb61f92aec73a4ca7" /><Relationship Type="http://schemas.openxmlformats.org/officeDocument/2006/relationships/slideLayout" Target="/ppt/slideLayouts/slideLayout6.xml" Id="Ra200750ef6ca4177" /><Relationship Type="http://schemas.openxmlformats.org/officeDocument/2006/relationships/slideLayout" Target="/ppt/slideLayouts/slideLayout7.xml" Id="R9d603868b1bc4494" /><Relationship Type="http://schemas.openxmlformats.org/officeDocument/2006/relationships/slideLayout" Target="/ppt/slideLayouts/slideLayout8.xml" Id="R280b0200b73640cb" /><Relationship Type="http://schemas.openxmlformats.org/officeDocument/2006/relationships/slideLayout" Target="/ppt/slideLayouts/slideLayout9.xml" Id="Rbbf39720bd45444a" /><Relationship Type="http://schemas.openxmlformats.org/officeDocument/2006/relationships/slideLayout" Target="/ppt/slideLayouts/slideLayout10.xml" Id="R78de6c6ec4214d66" /><Relationship Type="http://schemas.openxmlformats.org/officeDocument/2006/relationships/slideLayout" Target="/ppt/slideLayouts/slideLayout11.xml" Id="R260272034b4c451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A34E8C-B695-4E58-A35F-F1068576E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A03D92-C314-4265-A6B6-A5F86EB326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B30FD8-E987-4F43-A3D3-5D5030174E4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29/7/2026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0E75E3-BE45-4C2C-9D3F-CEE39E5283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95CB1-0E80-4CBC-912D-F1C6689A98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a85c877384dbb"/>
    <p:sldLayoutId xmlns:r="http://schemas.openxmlformats.org/officeDocument/2006/relationships" id="2147483650" r:id="R7e6777a1f4a642e5"/>
    <p:sldLayoutId xmlns:r="http://schemas.openxmlformats.org/officeDocument/2006/relationships" id="2147483651" r:id="R766f9be664d743fd"/>
    <p:sldLayoutId xmlns:r="http://schemas.openxmlformats.org/officeDocument/2006/relationships" id="2147483652" r:id="R495d5c9621d04eca"/>
    <p:sldLayoutId xmlns:r="http://schemas.openxmlformats.org/officeDocument/2006/relationships" id="2147483653" r:id="Rb61f92aec73a4ca7"/>
    <p:sldLayoutId xmlns:r="http://schemas.openxmlformats.org/officeDocument/2006/relationships" id="2147483654" r:id="Ra200750ef6ca4177"/>
    <p:sldLayoutId xmlns:r="http://schemas.openxmlformats.org/officeDocument/2006/relationships" id="2147483655" r:id="R9d603868b1bc4494"/>
    <p:sldLayoutId xmlns:r="http://schemas.openxmlformats.org/officeDocument/2006/relationships" id="2147483656" r:id="R280b0200b73640cb"/>
    <p:sldLayoutId xmlns:r="http://schemas.openxmlformats.org/officeDocument/2006/relationships" id="2147483657" r:id="Rbbf39720bd45444a"/>
    <p:sldLayoutId xmlns:r="http://schemas.openxmlformats.org/officeDocument/2006/relationships" id="2147483658" r:id="R78de6c6ec4214d66"/>
    <p:sldLayoutId xmlns:r="http://schemas.openxmlformats.org/officeDocument/2006/relationships" id="2147483659" r:id="R260272034b4c451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076d6a8eea49e4" /><Relationship Type="http://schemas.openxmlformats.org/officeDocument/2006/relationships/image" Target="/ppt/media/image.jpeg" Id="R10732c639be44072" /><Relationship Type="http://schemas.openxmlformats.org/officeDocument/2006/relationships/image" Target="/ppt/media/image2.jpeg" Id="R73333c700c034b55" /><Relationship Type="http://schemas.openxmlformats.org/officeDocument/2006/relationships/image" Target="/ppt/media/image.png" Id="R1acaa09ecf17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331b38af524fe4" /><Relationship Type="http://schemas.openxmlformats.org/officeDocument/2006/relationships/image" Target="/ppt/media/image3.jpeg" Id="R65ad758e8cdf46cb" /><Relationship Type="http://schemas.openxmlformats.org/officeDocument/2006/relationships/image" Target="/ppt/media/image4.jpeg" Id="Ra53addf6a7e44554" /><Relationship Type="http://schemas.openxmlformats.org/officeDocument/2006/relationships/image" Target="/ppt/media/image5.jpeg" Id="R3653ee47b3424665" /><Relationship Type="http://schemas.openxmlformats.org/officeDocument/2006/relationships/image" Target="/ppt/media/image2.png" Id="R14c57cf72e254d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76e4d33be949da" /><Relationship Type="http://schemas.openxmlformats.org/officeDocument/2006/relationships/image" Target="/ppt/media/image6.jpeg" Id="R05a1098bd87b4885" /><Relationship Type="http://schemas.openxmlformats.org/officeDocument/2006/relationships/image" Target="/ppt/media/image7.jpeg" Id="R8c6ac8d7780e4c5a" /><Relationship Type="http://schemas.openxmlformats.org/officeDocument/2006/relationships/image" Target="/ppt/media/image3.png" Id="Rc106bce74f63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ae91bb329c4084" /><Relationship Type="http://schemas.openxmlformats.org/officeDocument/2006/relationships/image" Target="/ppt/media/image8.jpeg" Id="Ra97af790fe454bda" /><Relationship Type="http://schemas.openxmlformats.org/officeDocument/2006/relationships/image" Target="/ppt/media/image9.jpeg" Id="R28683f4330904d7c" /><Relationship Type="http://schemas.openxmlformats.org/officeDocument/2006/relationships/image" Target="/ppt/media/image4.png" Id="R618df20e3a6940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28df72b31e4415" /><Relationship Type="http://schemas.openxmlformats.org/officeDocument/2006/relationships/image" Target="/ppt/media/image10.jpeg" Id="R327dc020800a4909" /><Relationship Type="http://schemas.openxmlformats.org/officeDocument/2006/relationships/image" Target="/ppt/media/image4.jpeg" Id="Re8eea02a8a5641f3" /><Relationship Type="http://schemas.openxmlformats.org/officeDocument/2006/relationships/image" Target="/ppt/media/image5.png" Id="Rf70f5f2de82744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fe67842a484de6" /><Relationship Type="http://schemas.openxmlformats.org/officeDocument/2006/relationships/image" Target="/ppt/media/image3.jpeg" Id="R60ab6615a5cb4372" /><Relationship Type="http://schemas.openxmlformats.org/officeDocument/2006/relationships/image" Target="/ppt/media/image11.jpeg" Id="R999f5c43f2314e67" /><Relationship Type="http://schemas.openxmlformats.org/officeDocument/2006/relationships/image" Target="/ppt/media/image6.png" Id="Re1b4225c7ca140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23fc1173544c0d" /><Relationship Type="http://schemas.openxmlformats.org/officeDocument/2006/relationships/image" Target="/ppt/media/image9.jpeg" Id="R127762b85a314dfc" /><Relationship Type="http://schemas.openxmlformats.org/officeDocument/2006/relationships/image" Target="/ppt/media/image12.jpeg" Id="R839be06d5f0a43b1" /><Relationship Type="http://schemas.openxmlformats.org/officeDocument/2006/relationships/image" Target="/ppt/media/image7.png" Id="R0c8a7878e12f48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9003d41203419f" /><Relationship Type="http://schemas.openxmlformats.org/officeDocument/2006/relationships/image" Target="/ppt/media/image13.jpeg" Id="Rdd007fea3c7f4c08" /><Relationship Type="http://schemas.openxmlformats.org/officeDocument/2006/relationships/image" Target="/ppt/media/image8.png" Id="R3af7a233e4de41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98f43d42f64206" /><Relationship Type="http://schemas.openxmlformats.org/officeDocument/2006/relationships/image" Target="/ppt/media/image14.jpeg" Id="Rd9ef4ebe1d244af4" /><Relationship Type="http://schemas.openxmlformats.org/officeDocument/2006/relationships/image" Target="/ppt/media/image9.png" Id="R7f3bbdaf5c7c4b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63ee77a07b4da2" /><Relationship Type="http://schemas.openxmlformats.org/officeDocument/2006/relationships/image" Target="/ppt/media/image10.png" Id="R846ce3fecd994e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3c7dca31604e37" /><Relationship Type="http://schemas.openxmlformats.org/officeDocument/2006/relationships/image" Target="/ppt/media/image15.jpeg" Id="Re55eaf3ff4124055" /><Relationship Type="http://schemas.openxmlformats.org/officeDocument/2006/relationships/image" Target="/ppt/media/image16.jpeg" Id="R8369c7b60daf42c9" /><Relationship Type="http://schemas.openxmlformats.org/officeDocument/2006/relationships/image" Target="/ppt/media/image17.jpeg" Id="R2af9aa562c56497e" /><Relationship Type="http://schemas.openxmlformats.org/officeDocument/2006/relationships/image" Target="/ppt/media/image11.png" Id="R168f7d2e7aca4e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0ef31c33c4886" /><Relationship Type="http://schemas.openxmlformats.org/officeDocument/2006/relationships/image" Target="/ppt/media/image6.jpeg" Id="R2417a18037de4ced" /><Relationship Type="http://schemas.openxmlformats.org/officeDocument/2006/relationships/image" Target="/ppt/media/image18.jpeg" Id="R1d5c699d5c7e4d78" /><Relationship Type="http://schemas.openxmlformats.org/officeDocument/2006/relationships/image" Target="/ppt/media/image12.png" Id="Rc8732cc02f51486d" /><Relationship Type="http://schemas.openxmlformats.org/officeDocument/2006/relationships/image" Target="/ppt/media/image13.png" Id="Re31a320f8ea845e9" /><Relationship Type="http://schemas.openxmlformats.org/officeDocument/2006/relationships/image" Target="/ppt/media/image14.png" Id="R535da566237f4c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a2a19893e044ef" /><Relationship Type="http://schemas.openxmlformats.org/officeDocument/2006/relationships/image" Target="/ppt/media/image19.jpeg" Id="Rb13cf80f83374b2a" /><Relationship Type="http://schemas.openxmlformats.org/officeDocument/2006/relationships/image" Target="/ppt/media/image7.jpeg" Id="R89f32d7923f84b53" /><Relationship Type="http://schemas.openxmlformats.org/officeDocument/2006/relationships/image" Target="/ppt/media/image15.png" Id="R290c04c8f8e44a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20120ec4c943e6" /><Relationship Type="http://schemas.openxmlformats.org/officeDocument/2006/relationships/image" Target="/ppt/media/image3.jpeg" Id="R1d5a597f70d34318" /><Relationship Type="http://schemas.openxmlformats.org/officeDocument/2006/relationships/image" Target="/ppt/media/image20.jpeg" Id="Ree087b0465dc4cc1" /><Relationship Type="http://schemas.openxmlformats.org/officeDocument/2006/relationships/image" Target="/ppt/media/image16.png" Id="R700ba56260c54c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99B273DF-DA61-4D09-A36F-2A486C4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9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32c639be44072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1886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151616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840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72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7200">
              <a:solidFill>
                <a:schemeClr val="tx1">
                  <a:lumMod val="65000"/>
                  <a:lumOff val="35000"/>
                </a:schemeClr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1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pic>
        <p:nvPicPr>
          <p:cNvPr id="90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33c700c034b55"/>
          <a:srcRect xmlns:a="http://schemas.openxmlformats.org/drawingml/2006/main" l="29938" t="0" r="29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45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F569F40B-EFC9-4CFE-8F8C-E47BEC50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46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CA9388D0-CEA4-4335-B9EC-A7782E7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7" name="cover-rail">
            <a:extLst xmlns:a="http://schemas.openxmlformats.org/drawingml/2006/main">
              <a:ext uri="{FF2B5EF4-FFF2-40B4-BE49-F238E27FC236}">
                <a16:creationId xmlns:a16="http://schemas.microsoft.com/office/drawing/2014/main" id="{7EE25392-A357-49DD-A47A-D75A6E2B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aa09ecf174cb6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49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B568EB5-01C3-452F-BF80-97EF9506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50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1EAEE19B-4340-4B46-8B12-261DAB37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5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47064C5-44B1-4C64-9A15-5174907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Decisiones,</a:t>
            </a:r>
          </a:p>
          <a:p xmlns:a="http://schemas.openxmlformats.org/drawingml/2006/main">
            <a:pPr algn="l"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datos e IA</a:t>
            </a:r>
          </a:p>
        </p:txBody>
      </p:sp>
      <p:sp>
        <p:nvSpPr>
          <p:cNvPr id="52" name="cover-rule">
            <a:extLst xmlns:a="http://schemas.openxmlformats.org/drawingml/2006/main">
              <a:ext uri="{FF2B5EF4-FFF2-40B4-BE49-F238E27FC236}">
                <a16:creationId xmlns:a16="http://schemas.microsoft.com/office/drawing/2014/main" id="{9229CEBA-38BA-4E0A-AB6F-79B00D2D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3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32F2BCFE-364C-4934-8C04-3CCDCB9C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5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91B97516-AE72-4EFB-B3A5-DADD74A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¿Qué tiene que ocurrir para que un dato cambie una decisión?</a:t>
            </a:r>
          </a:p>
        </p:txBody>
      </p:sp>
      <p:sp>
        <p:nvSpPr>
          <p:cNvPr id="55" name="cover-unit">
            <a:extLst xmlns:a="http://schemas.openxmlformats.org/drawingml/2006/main">
              <a:ext uri="{FF2B5EF4-FFF2-40B4-BE49-F238E27FC236}">
                <a16:creationId xmlns:a16="http://schemas.microsoft.com/office/drawing/2014/main" id="{693C26E7-3588-4214-BE84-E18BC4A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6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68A335CA-2E42-47C5-B1D8-F26BB92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1</a:t>
            </a:r>
          </a:p>
        </p:txBody>
      </p:sp>
      <p:sp>
        <p:nvSpPr>
          <p:cNvPr id="57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500A5E8C-F118-4642-B9DA-058D4C95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8BDF3532-13CF-4DFC-BB75-E987BBA7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d758e8cdf46cb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E5BCBD31-280D-4FE5-9B00-82CB6E51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6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addf6a7e44554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15D2CBC5-FDF7-4186-9F19-DAA50252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824D2F9-8811-4F17-87B8-8C5AAEC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328281B-BBBB-4661-9407-17DBB74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0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FBA98E57-492A-4939-923B-13C815B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141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3ee47b3424665"/>
          <a:srcRect xmlns:a="http://schemas.openxmlformats.org/drawingml/2006/main" l="0" t="21274" r="0" b="212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57cf72e254de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3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446B8C0-049A-494D-AE42-1434FB8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4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0E55438-FE47-4BE6-AC1A-B4C46532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5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723E82D-0DAE-4CD7-984F-0D91A820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A59CC94-57A0-4328-BFF7-08B68B0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registro se convierte en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cuando conserva contexto</a:t>
            </a:r>
          </a:p>
        </p:txBody>
      </p:sp>
      <p:sp>
        <p:nvSpPr>
          <p:cNvPr id="67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D652FA1-204D-4D39-A3BC-1C83FDC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5156E72-4CAE-4856-A948-134D314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9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B6D79936-FDE0-46C7-B101-1E35224E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70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AC94719-6A4C-4D69-9D6A-9DEAD23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1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9C6DC40-C92E-4529-9DC6-F86515E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2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6F19BD3-5F30-40EE-8270-6954F39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3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3909378-3A1C-4F82-A8FB-8B4A98C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APERTURA · CADENA DE EVIDENCIA</a:t>
            </a:r>
          </a:p>
        </p:txBody>
      </p:sp>
      <p:sp>
        <p:nvSpPr>
          <p:cNvPr id="74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B3C17D7-6E8B-4513-B6B1-C159F8AB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5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33646D3F-A0D2-40AD-8BFE-44C8EB2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5E5E5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F6777720-C0A5-4DE5-8C53-8F81E49E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7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46DC7C0-E5F9-413D-9480-2AA2F79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78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948A6A09-9456-4368-A972-881345CF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Registro</a:t>
            </a:r>
          </a:p>
        </p:txBody>
      </p:sp>
      <p:sp>
        <p:nvSpPr>
          <p:cNvPr id="79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88685A1F-093A-4934-86A3-9D7F25B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1250</a:t>
            </a:r>
          </a:p>
        </p:txBody>
      </p:sp>
      <p:sp>
        <p:nvSpPr>
          <p:cNvPr id="80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91A78062-6CF9-4393-AF86-3176A655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1FD5CB3A-52A6-40A3-B821-F2027A83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24C63E2E-4825-43FC-AC08-DE1BE60D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3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E189111D-7B8A-428D-BCF8-91D85E7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Dato contextualizado</a:t>
            </a:r>
          </a:p>
        </p:txBody>
      </p:sp>
      <p:sp>
        <p:nvSpPr>
          <p:cNvPr id="84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10899DD5-C8CE-4AB5-9E12-FEE5F13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$ 1.250 de venta neta · línea de pedido</a:t>
            </a:r>
          </a:p>
        </p:txBody>
      </p:sp>
      <p:sp>
        <p:nvSpPr>
          <p:cNvPr id="85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D35A5FF2-4B59-48A6-9164-FDA9F52E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6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1C4DD87B-684E-4EFE-AE51-E4722ED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7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EF1B5B18-AA43-4227-8299-1F2D82C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8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EAB36B44-6C87-4387-A49B-E4A49E5B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89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27B016D3-0715-45F6-9A33-29C0DFE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resultado pertinente y controlado</a:t>
            </a:r>
          </a:p>
        </p:txBody>
      </p:sp>
      <p:sp>
        <p:nvSpPr>
          <p:cNvPr id="90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16E470AC-1416-4C0B-ACDB-7561D7A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1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47A2083E-5FFE-4362-AA5C-C823889A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2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35193116-42E0-4DFC-9656-8CEF785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3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D2320895-9091-4154-83A5-89F8C172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94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9A855FC9-01FD-44A2-BB70-E95D3E8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revisar descuentos y mezcla</a:t>
            </a:r>
          </a:p>
        </p:txBody>
      </p:sp>
      <p:sp>
        <p:nvSpPr>
          <p:cNvPr id="95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DB777FA8-A5EA-434F-AC95-DB66C5E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Definición, unidad, período, origen y grano preservan el significado.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B0B120F5-FFA5-4E8D-9E13-BA05015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9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1098bd87b4885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E81B5F4F-B9C1-47B5-A066-502846E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51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ac8d7780e4c5a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A3B39716-CFB8-427E-8317-349F987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D5D4EC49-C768-46D5-A143-8DF7CED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25933C9-84FA-4F69-B767-975A95C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6bce74f634fc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FC4EF7C-63D8-4A13-86A6-DAF490F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9B15227-BC29-4CFC-A8DF-3182265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B350E5B3-9F5C-48A7-A64F-3A8597DB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360B8BB-0B1E-42DB-ACC1-A363949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pipeline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organiza el recorrido desde la fuente hasta la decisión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8C5BC61D-A4DE-4A17-9053-4F93786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6EC5364-126F-4249-BD72-AE19CF83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CC2AFB7-3467-4A5B-B4E7-4503504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7EDBBEB-5232-4D2C-BAFD-B363117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D203FC4-222F-405B-A170-51903914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B7A6DF31-403D-496D-BA1F-3136C1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FD01631-BAD1-49EF-BD49-1154102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MODELO MENTAL · PIPELINE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E303F25-143C-4205-B9A7-B5FEAE5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005FF237-B609-4E45-A608-ED7FA4DB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E4814A9C-B086-42E6-8ACA-6457EB19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38211EBD-4FFD-4C76-84E3-2CBB6843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6EF99451-5BC5-42EF-8246-D65E56D8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BB52321D-2A6A-43B7-89FF-F0BA1523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1A90AC3-8CAE-4462-9698-0085E301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Hechos del proceso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B8E7735-4DC6-416F-B9EC-53FF175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F493597D-955B-4369-AF80-6384D576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7CC15755-11C8-4EA2-AD3F-73A29E71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5A0C146E-B357-4671-A4E1-23817CF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4D313E3F-1B68-4E45-9407-0BE130B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Captura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2B93DE69-FF68-447F-8F0B-51B39BB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Ingreso identificado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64BDAAD-5250-4782-A6D2-41A8B120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CAE45E5F-74B1-45DF-8D02-A596CD9F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EF7C17AA-18D6-494F-BEBD-F015B5F9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B6B92C18-4F35-4A03-86D4-A99C580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6A65F4A-86AA-4993-B0BA-4C33ED2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Almacén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B45EC84E-0075-4372-AB14-EA43575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Historia disponible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9B4A6FA2-DC99-46E4-BB9F-8FFDDEF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202A000C-C89C-4809-A2C2-AF8AB857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20082F20-C379-4E59-9499-F59299E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49B35B1D-933F-4B55-8825-BD5D7426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5AC47848-05F1-463C-ABE2-721B41E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Transformación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DFF77D0-070D-4B45-8890-BFF7560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Reglas y controles</a:t>
            </a:r>
          </a:p>
        </p:txBody>
      </p:sp>
      <p:sp>
        <p:nvSpPr>
          <p:cNvPr id="97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E6453D86-C108-48FC-96F2-0C4AA044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8" name="flow-step-4">
            <a:extLst xmlns:a="http://schemas.openxmlformats.org/drawingml/2006/main">
              <a:ext uri="{FF2B5EF4-FFF2-40B4-BE49-F238E27FC236}">
                <a16:creationId xmlns:a16="http://schemas.microsoft.com/office/drawing/2014/main" id="{A1EDF699-1170-4AE3-8551-DF24E793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9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778FD8BC-3C7F-40AA-A73A-8A3B6B9A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100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BF5C9C7B-14DD-4CE7-A63C-8940B989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101" name="flow-head-4">
            <a:extLst xmlns:a="http://schemas.openxmlformats.org/drawingml/2006/main">
              <a:ext uri="{FF2B5EF4-FFF2-40B4-BE49-F238E27FC236}">
                <a16:creationId xmlns:a16="http://schemas.microsoft.com/office/drawing/2014/main" id="{FA81A0C2-1A9E-418C-9818-17F59C24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</a:t>
            </a:r>
          </a:p>
        </p:txBody>
      </p:sp>
      <p:sp>
        <p:nvSpPr>
          <p:cNvPr id="102" name="flow-body-4">
            <a:extLst xmlns:a="http://schemas.openxmlformats.org/drawingml/2006/main">
              <a:ext uri="{FF2B5EF4-FFF2-40B4-BE49-F238E27FC236}">
                <a16:creationId xmlns:a16="http://schemas.microsoft.com/office/drawing/2014/main" id="{EB9C8C4C-6403-4A53-87F4-B1DD4131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Métrica e interpretación</a:t>
            </a:r>
          </a:p>
        </p:txBody>
      </p:sp>
      <p:sp>
        <p:nvSpPr>
          <p:cNvPr id="103" name="flow-step-5">
            <a:extLst xmlns:a="http://schemas.openxmlformats.org/drawingml/2006/main">
              <a:ext uri="{FF2B5EF4-FFF2-40B4-BE49-F238E27FC236}">
                <a16:creationId xmlns:a16="http://schemas.microsoft.com/office/drawing/2014/main" id="{010E0418-0A43-4C5E-BC3B-416DB099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4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328F03B7-C8CC-4033-AC1D-F11FB63F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105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B28D84B2-9DB8-4F9B-BFE4-FE00F1D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6" name="flow-head-5">
            <a:extLst xmlns:a="http://schemas.openxmlformats.org/drawingml/2006/main">
              <a:ext uri="{FF2B5EF4-FFF2-40B4-BE49-F238E27FC236}">
                <a16:creationId xmlns:a16="http://schemas.microsoft.com/office/drawing/2014/main" id="{C39518E6-8D7D-42D0-89C3-92331DC8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107" name="flow-body-5">
            <a:extLst xmlns:a="http://schemas.openxmlformats.org/drawingml/2006/main">
              <a:ext uri="{FF2B5EF4-FFF2-40B4-BE49-F238E27FC236}">
                <a16:creationId xmlns:a16="http://schemas.microsoft.com/office/drawing/2014/main" id="{85AE79C8-343B-492D-B946-623B96D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Acción y aprendizaje</a:t>
            </a:r>
          </a:p>
        </p:txBody>
      </p:sp>
      <p:sp>
        <p:nvSpPr>
          <p:cNvPr id="108" name="flow-cycle">
            <a:extLst xmlns:a="http://schemas.openxmlformats.org/drawingml/2006/main">
              <a:ext uri="{FF2B5EF4-FFF2-40B4-BE49-F238E27FC236}">
                <a16:creationId xmlns:a16="http://schemas.microsoft.com/office/drawing/2014/main" id="{BD4620FF-E7B3-40BD-B9C4-E7525391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68562" y="6572250"/>
            <a:ext cx="1335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09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D830B10D-ECCC-4A50-9E5E-7927732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10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615D3A58-950E-4716-83B5-A978C5F2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SQL, Python, Power BI, cloud e IA ocupan etapas concretas del sistema.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F497D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FAC1F061-00C7-428D-B96A-E89779A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2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af790fe454bda"/>
          <a:srcRect xmlns:a="http://schemas.openxmlformats.org/drawingml/2006/main" l="0" t="28908" r="0" b="28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FC450702-D720-4B92-BCEF-418416A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44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83f4330904d7c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AC3E1073-58E0-4FFD-9462-58B89B09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5CCAE738-8637-4DC0-92A2-BD96FDA9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979E8A92-9546-4A74-8440-C46E2F6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df20e3a6940c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84154D24-50AF-4C49-8C1F-2D80A102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6DB98B5-265F-4422-AC9B-CF17B8C5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213F8D47-6AF5-41EA-93CE-188B5A6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3CC8227-03E4-47AE-9DF0-419717B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ventaja surge de un ciclo de aprendizaje integrado al proceso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5EB4CCF-95CB-4A14-A1EF-562B7501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2877772-91D2-4DA4-986D-C03EF71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C9059A9-58A6-4CB1-B8E6-02C3E34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D7EF6AF-86BE-408F-B20C-F5C5AAC2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0F24A35C-B4FC-4A02-A776-CBA8489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EC1CEF6-17D3-4B81-9281-62B35127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2194E8B-AEE4-4742-8398-F91C2BC3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DATOS · VENTAJA COMPETITIVA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B719D71-868A-4059-BBFC-FCCC2E7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A6D87FD3-3AA2-4C6C-984A-C525456A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74" name="flow-step-0">
            <a:extLst xmlns:a="http://schemas.openxmlformats.org/drawingml/2006/main">
              <a:ext uri="{FF2B5EF4-FFF2-40B4-BE49-F238E27FC236}">
                <a16:creationId xmlns:a16="http://schemas.microsoft.com/office/drawing/2014/main" id="{E60E7ED4-92DD-420C-81F5-0A1FDB7C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5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C4B53D9-0EBF-4EF5-81C1-F1EBF6A0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6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AB0FF1FF-F288-4DBE-9782-BB946F69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7" name="flow-head-0">
            <a:extLst xmlns:a="http://schemas.openxmlformats.org/drawingml/2006/main">
              <a:ext uri="{FF2B5EF4-FFF2-40B4-BE49-F238E27FC236}">
                <a16:creationId xmlns:a16="http://schemas.microsoft.com/office/drawing/2014/main" id="{F49F2F37-A494-40B2-853F-08646BFD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Capturar</a:t>
            </a:r>
          </a:p>
        </p:txBody>
      </p:sp>
      <p:sp>
        <p:nvSpPr>
          <p:cNvPr id="7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6862CC01-F8F9-4CB7-A912-387CAEBF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Señal relevante</a:t>
            </a:r>
          </a:p>
        </p:txBody>
      </p:sp>
      <p:sp>
        <p:nvSpPr>
          <p:cNvPr id="7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B81F54D-C456-4359-8027-08FEAB72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04744148-1FEE-40D3-BCCF-0C4BA967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06DB9DF3-9514-47AE-A4DC-2E0E7F42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083A546-C52F-4571-947A-5A529F0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flow-head-1">
            <a:extLst xmlns:a="http://schemas.openxmlformats.org/drawingml/2006/main">
              <a:ext uri="{FF2B5EF4-FFF2-40B4-BE49-F238E27FC236}">
                <a16:creationId xmlns:a16="http://schemas.microsoft.com/office/drawing/2014/main" id="{9950C302-F982-4079-89DF-DB379333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Comprender</a:t>
            </a:r>
          </a:p>
        </p:txBody>
      </p:sp>
      <p:sp>
        <p:nvSpPr>
          <p:cNvPr id="8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8F1B0C5-B19D-41F8-859D-8229F93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Proceso y contexto</a:t>
            </a:r>
          </a:p>
        </p:txBody>
      </p:sp>
      <p:sp>
        <p:nvSpPr>
          <p:cNvPr id="8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AAA99E45-AEDF-4169-886F-DA7B338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86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2CEF80B-589A-4680-9EEC-7C08B194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7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B6E734BF-4BD0-4933-97EF-65F8CF01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8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D467C7EF-88B2-4F33-BDEE-DBD060B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9" name="flow-head-2">
            <a:extLst xmlns:a="http://schemas.openxmlformats.org/drawingml/2006/main">
              <a:ext uri="{FF2B5EF4-FFF2-40B4-BE49-F238E27FC236}">
                <a16:creationId xmlns:a16="http://schemas.microsoft.com/office/drawing/2014/main" id="{C70CEED0-2203-4151-A9E2-36BC1EA7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Actuar</a:t>
            </a:r>
          </a:p>
        </p:txBody>
      </p:sp>
      <p:sp>
        <p:nvSpPr>
          <p:cNvPr id="90" name="flow-body-2">
            <a:extLst xmlns:a="http://schemas.openxmlformats.org/drawingml/2006/main">
              <a:ext uri="{FF2B5EF4-FFF2-40B4-BE49-F238E27FC236}">
                <a16:creationId xmlns:a16="http://schemas.microsoft.com/office/drawing/2014/main" id="{79ECF0D4-F20D-4658-96A3-C233AD2D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Menor demora</a:t>
            </a:r>
          </a:p>
        </p:txBody>
      </p:sp>
      <p:sp>
        <p:nvSpPr>
          <p:cNvPr id="91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AF0ABD2E-D83A-4AE9-B2B0-15DD0810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9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2C32DD16-F050-4257-A769-421A577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3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6EBCE1B0-612C-4CC6-89FD-EBA3C3B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4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9642F31F-F584-4971-8515-69DAFB7E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95" name="flow-head-3">
            <a:extLst xmlns:a="http://schemas.openxmlformats.org/drawingml/2006/main">
              <a:ext uri="{FF2B5EF4-FFF2-40B4-BE49-F238E27FC236}">
                <a16:creationId xmlns:a16="http://schemas.microsoft.com/office/drawing/2014/main" id="{F12E995A-F9BC-4782-A10C-D3847F8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Observar</a:t>
            </a:r>
          </a:p>
        </p:txBody>
      </p:sp>
      <p:sp>
        <p:nvSpPr>
          <p:cNvPr id="96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690D478-6B6D-4846-AAE3-8DB3050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Efecto producido</a:t>
            </a:r>
          </a:p>
        </p:txBody>
      </p:sp>
      <p:sp>
        <p:nvSpPr>
          <p:cNvPr id="97" name="flow-step-4">
            <a:extLst xmlns:a="http://schemas.openxmlformats.org/drawingml/2006/main">
              <a:ext uri="{FF2B5EF4-FFF2-40B4-BE49-F238E27FC236}">
                <a16:creationId xmlns:a16="http://schemas.microsoft.com/office/drawing/2014/main" id="{5FDF2FBA-9862-4C96-B2FB-5E570147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8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06B1DCBE-A41B-423E-9705-88ED75F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9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72BAABA0-8BA5-47C0-8608-2141229E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0" name="flow-head-4">
            <a:extLst xmlns:a="http://schemas.openxmlformats.org/drawingml/2006/main">
              <a:ext uri="{FF2B5EF4-FFF2-40B4-BE49-F238E27FC236}">
                <a16:creationId xmlns:a16="http://schemas.microsoft.com/office/drawing/2014/main" id="{01600BF2-4DD4-47FC-8987-33483FAD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Ajustar</a:t>
            </a:r>
          </a:p>
        </p:txBody>
      </p:sp>
      <p:sp>
        <p:nvSpPr>
          <p:cNvPr id="101" name="flow-body-4">
            <a:extLst xmlns:a="http://schemas.openxmlformats.org/drawingml/2006/main">
              <a:ext uri="{FF2B5EF4-FFF2-40B4-BE49-F238E27FC236}">
                <a16:creationId xmlns:a16="http://schemas.microsoft.com/office/drawing/2014/main" id="{0BA0D655-7DC4-4696-B1A8-66B0F4BD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Mejor decisión siguiente</a:t>
            </a:r>
          </a:p>
        </p:txBody>
      </p:sp>
      <p:sp>
        <p:nvSpPr>
          <p:cNvPr id="102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25EF565C-3775-401B-9531-78564A4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0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57B1F725-DC03-4999-8A34-46665FCC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Definiciones compartidas, permisos y responsables sostienen el ciclo.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1B674C70-E009-4FD7-B140-AD8F716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dc020800a4909"/>
          <a:srcRect xmlns:a="http://schemas.openxmlformats.org/drawingml/2006/main" l="0" t="7551" r="0" b="7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C86DFCE-8885-43C2-B805-1EDEBA37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ea02a8a5641f3"/>
          <a:srcRect xmlns:a="http://schemas.openxmlformats.org/drawingml/2006/main" l="22788" t="0" r="22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1701484-69C4-4027-9AF5-641A39B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790DCE2-CC5D-4415-B553-99C53C33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03495B7-811F-4E22-B12F-AB73C1B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f5f2de827444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20567435-7555-455B-AEE1-272FDD11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67846C8-D57C-4F06-9E5F-659E85B1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20B592A-9EC3-43C8-94FE-809B33C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C50CA57-C68B-47C3-9607-97C214B6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bien formulada puede evaluarse antes de calcular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4C28BD8-1ADB-40C4-872B-09CA7644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355D0CD-51FB-4C74-A9F9-82376DC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7DE4610A-0D47-4C1A-9955-973E37B0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B4CDE8D-C3CB-4471-9AFA-99E4A182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B0EFCB6-696B-4751-AA24-9C9E91E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5515193-BA77-43BF-A513-498962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6A11BA3-5A83-45F6-B264-C4DAF889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CONCEPTO · ANATOMÍA DE LA DECISIÓN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5639FDF-DC39-49B6-9D5D-0D94D143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41AE1E78-664E-4B19-8FB2-4FC03B4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5388864"/>
                <a:gridCol w="7290816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Pieza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 Faro Sur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Responsable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¿Quién puede actuar?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Gerencia Comercial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Objeto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se elige?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Descuentos por familia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Alternativas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opciones existen?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Conservar, reducir o focalizar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Restricciones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limita?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Margen, servicio y abastecimiento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Acción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cambia?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Condición comercial del mes siguiente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3914C0D9-146E-4752-9C19-A3C7012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4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b6615a5cb4372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C666E8AD-A77B-454E-BA6B-FE95E880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6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f5c43f2314e67"/>
          <a:srcRect xmlns:a="http://schemas.openxmlformats.org/drawingml/2006/main" l="17748" t="0" r="1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380B1D4-911F-4CB3-8748-C8A938B9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B3FED8ED-AC1C-4CC4-BCAF-7B8BF94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319104B-4C4B-4B69-AECE-9BD2721F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4225c7ca14070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E2C3C5E3-253E-4FE5-B6F0-027D2601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D107991-B429-4814-8D37-BF5EEFB2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798F35D5-E63B-497B-BFAB-76C97DC1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813C6B7-6006-4CD0-8421-A863B2A4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 KPI funciona como un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contrato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de significado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8DD4624-4FEC-482B-BD16-CB1C1E4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AFD007B-E392-4CEB-A645-31DA63DB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35120CA1-5EDE-41E5-95E2-144466B6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2D1D93D-6299-4313-8C99-61791FB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9EC9863-3A8D-4524-8889-A27CE3FE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3A9A265-6FB5-4E20-B74B-DAA909B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5342812-9F48-4FE1-B373-A761A7CB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HERRAMIENTA · FICHA DE KPI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8E32726-9E7E-47B6-AFB9-29504B2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3A1C85E8-90E0-4C40-8B16-CF3EBD7C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4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7607808"/>
                <a:gridCol w="5071872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Elemento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Definición Faro Sur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Uso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Propósito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Detectar deterioro de rentabilidad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orienta la lectura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Fórmula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margen / venta neta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permite reproducir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Grano y fecha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de pedido · fecha de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define población y período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Filtros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pedidos válidos · venta positiva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delimita casos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Umbral y acción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−2 pp · revisar descuentos y mezcla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activa una respuesta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0E7BB19C-022A-4544-BBA0-B0170553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ficha se completa con frecuencia y responsable de la definición.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8308451B-05C6-46CF-BB54-BC04540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3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762b85a314dfc"/>
          <a:srcRect xmlns:a="http://schemas.openxmlformats.org/drawingml/2006/main" l="0" t="7817" r="0" b="7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89511878-4EF6-4EFE-BFD1-8C3104A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5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be06d5f0a43b1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425F6583-D5D0-4332-BDEC-EE8D011F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58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003FE035-E114-428D-B1F7-FD5BF284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59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3433DC7E-A284-42C3-A022-FDF4A489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a7878e12f488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32BD60B-F322-4250-AAC2-6CB0E939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C667B650-304D-450B-8CE0-78ACB82D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0B07CCE-E40F-4B54-9DD4-B762B753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BD6F123-B571-430D-802C-98138CE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métrica modifica la conducta del sistema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EC08B26-9202-4921-8949-9E57A5D1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8200433-EABF-4EC5-B1A6-2E8E7592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42CD669-89C5-45DA-A7F4-B18925B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4574FBD9-37B8-4C5E-B98C-9A7D8ED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9DFDA04B-E3F7-45D7-A781-91C172C7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639426C-D7EB-4639-85CB-A927DD73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D93D4678-AE09-409B-B8D9-0712BBA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ADVERTENCIA · INCENTIVOS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FD0F0DF-E703-4A8E-BE20-C815E3C9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DA77FD9E-79CD-4192-8EE7-A7FA082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7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EE186C68-A647-419F-A956-3421F904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75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AC23E716-D449-474D-B5A6-4C10814E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+14 %</a:t>
            </a:r>
          </a:p>
        </p:txBody>
      </p:sp>
      <p:sp>
        <p:nvSpPr>
          <p:cNvPr id="76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4C0973D2-3550-4400-B7A5-0729683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Ventas</a:t>
            </a:r>
          </a:p>
        </p:txBody>
      </p:sp>
      <p:sp>
        <p:nvSpPr>
          <p:cNvPr id="77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EF0E89BD-E137-4C82-A712-4C125AC3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78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42384224-7A5F-4437-89DC-C79DA5A5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Premiar facturación puede elevar descuentos.</a:t>
            </a:r>
          </a:p>
        </p:txBody>
      </p:sp>
      <p:sp>
        <p:nvSpPr>
          <p:cNvPr id="79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3AD183E8-11A2-4745-8A62-E92C3519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−3,2 pp</a:t>
            </a:r>
          </a:p>
        </p:txBody>
      </p:sp>
      <p:sp>
        <p:nvSpPr>
          <p:cNvPr id="80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1269BB3C-DD76-4A3B-84F7-8DAB5E5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Margen</a:t>
            </a:r>
          </a:p>
        </p:txBody>
      </p:sp>
      <p:sp>
        <p:nvSpPr>
          <p:cNvPr id="81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DAB566CB-5EB8-4FC9-B381-59103C9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82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AC8352B7-4122-4FFE-BD39-1D0E4D0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La rentabilidad revela el costo desplazado.</a:t>
            </a:r>
          </a:p>
        </p:txBody>
      </p:sp>
      <p:sp>
        <p:nvSpPr>
          <p:cNvPr id="83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8A765F31-C492-45A4-A453-E52B72F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84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8844CB9A-6C0F-45FA-A0B9-108A22B7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indicador necesita una métrica de balance y una decisión asociada.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4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64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  <a:endParaRPr sz="1650" b="1">
              <a:solidFill>
                <a:srgbClr val="FFFFFF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3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982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72F270CF-C33D-4328-9E64-E47188CE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56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55EE7DB1-9E50-40AC-A43A-8FB40F5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57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2F65C941-7754-4202-8069-C55E4388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58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AFEEFA27-52E6-4781-AE2C-73316880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18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07fea3c7f4c08"/>
          <a:srcRect xmlns:a="http://schemas.openxmlformats.org/drawingml/2006/main" l="0" t="17703" r="0" b="17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7a233e4de415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6458A83-8653-4D8E-ACFC-CBC8FFF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8204AB9-FB01-4137-941D-7369F85C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B100138-EB9A-4F59-90FE-276561B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F140E44-02AC-434E-900F-FC6BA79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aporta borradores; cada actividad conserva un control observable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8291F9D-2462-4D42-8DD1-584A4A4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6F5839E-D6BC-4FBB-8DD1-36023D39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EAE79FA-C94B-4C40-8429-1F2B95D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8F4F88E-EB32-4B0E-8B90-43E69F6E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1CD6280-9C48-4FB9-8A3B-0DE084E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53B7DD3-1721-4828-BAD8-7E5F3640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0DDA032-62F7-442C-9ADB-3FECC3D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IA · USO INTEGRADO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7BF84B4-06F6-498E-A990-016779AD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340AE974-F482-43FE-88B1-4B16DFA1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11430">
            <a:solidFill>
              <a:srgbClr val="4B4B4B"/>
            </a:solidFill>
            <a:prstDash val="solid"/>
          </a:ln>
        </p:spPr>
      </p:sp>
      <p:graphicFrame>
        <p:nvGraphicFramePr>
          <p:cNvPr id="133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5388864"/>
                <a:gridCol w="6973824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Actividad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Aporte posible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11111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 requerido</a:t>
                      </a:r>
                    </a:p>
                  </a:txBody>
                  <a:tcPr marL="91440" marR="91440" marT="45720" marB="45720">
                    <a:solidFill>
                      <a:srgbClr val="FFFF33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Formular preguntas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segmentos o hipótesis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contrastar con decisión y proceso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Consultar datos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borrador de SQL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ejecutar, revisar grano y reconciliar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Programar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explicar o adaptar Python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leer y probar casos conocidos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Analizar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patrones o anomalías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confirmar con cálculo reproducible</a:t>
                      </a:r>
                    </a:p>
                  </a:txBody>
                  <a:tcPr marL="91440" marR="91440" marT="45720" marB="45720">
                    <a:solidFill>
                      <a:srgbClr val="303030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Comunicar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resumen o crítica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FFFFFF"/>
                          </a:solidFill>
                          <a:latin typeface="Telegraf"/>
                          <a:ea typeface="Telegraf"/>
                          <a:cs typeface="Telegraf"/>
                        </a:rPr>
                        <a:t>verificar cifras, alcance y audiencia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5CA34F5-4DBC-4F95-82BA-CD36497E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4AB0F1E-2565-420A-9D37-747BEC60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AFD192D-FA6D-43E2-BE58-D783E96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422DC-EF62-410D-8B5D-B064BF3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3F2F301-87AC-411C-8834-188D891B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31BBC-5581-48F2-9421-BCEEE0C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4FB136C3-F667-4D85-9BCE-E2A5946F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7E7AD1-74E9-4925-AE0A-E2F6D53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75F3A3-20E8-42E8-B898-B9A43C26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44596" h="795761">
                <a:moveTo>
                  <a:pt x="120733" y="0"/>
                </a:moveTo>
                <a:lnTo>
                  <a:pt x="723863" y="0"/>
                </a:lnTo>
                <a:cubicBezTo>
                  <a:pt x="790542" y="0"/>
                  <a:pt x="844596" y="54054"/>
                  <a:pt x="844596" y="120733"/>
                </a:cubicBezTo>
                <a:lnTo>
                  <a:pt x="844596" y="675028"/>
                </a:lnTo>
                <a:cubicBezTo>
                  <a:pt x="844596" y="707049"/>
                  <a:pt x="831876" y="737758"/>
                  <a:pt x="809234" y="760399"/>
                </a:cubicBezTo>
                <a:cubicBezTo>
                  <a:pt x="786592" y="783041"/>
                  <a:pt x="755884" y="795761"/>
                  <a:pt x="723863" y="795761"/>
                </a:cubicBezTo>
                <a:lnTo>
                  <a:pt x="120733" y="795761"/>
                </a:lnTo>
                <a:cubicBezTo>
                  <a:pt x="88712" y="795761"/>
                  <a:pt x="58004" y="783041"/>
                  <a:pt x="35362" y="760399"/>
                </a:cubicBezTo>
                <a:cubicBezTo>
                  <a:pt x="12720" y="737758"/>
                  <a:pt x="0" y="707049"/>
                  <a:pt x="0" y="675028"/>
                </a:cubicBezTo>
                <a:lnTo>
                  <a:pt x="0" y="120733"/>
                </a:lnTo>
                <a:cubicBezTo>
                  <a:pt x="0" y="88712"/>
                  <a:pt x="12720" y="58004"/>
                  <a:pt x="35362" y="35362"/>
                </a:cubicBezTo>
                <a:cubicBezTo>
                  <a:pt x="58004" y="12720"/>
                  <a:pt x="88712" y="0"/>
                  <a:pt x="120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497B226-79C3-44C4-A621-B4A9D2FA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355FE4C-4790-45BF-9D9F-40FA4FA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41945" h="808283">
                <a:moveTo>
                  <a:pt x="158846" y="0"/>
                </a:moveTo>
                <a:lnTo>
                  <a:pt x="483098" y="0"/>
                </a:lnTo>
                <a:cubicBezTo>
                  <a:pt x="570827" y="0"/>
                  <a:pt x="641945" y="71118"/>
                  <a:pt x="641945" y="158846"/>
                </a:cubicBezTo>
                <a:lnTo>
                  <a:pt x="641945" y="649437"/>
                </a:lnTo>
                <a:cubicBezTo>
                  <a:pt x="641945" y="691565"/>
                  <a:pt x="625209" y="731968"/>
                  <a:pt x="595420" y="761758"/>
                </a:cubicBezTo>
                <a:cubicBezTo>
                  <a:pt x="565630" y="791547"/>
                  <a:pt x="525227" y="808283"/>
                  <a:pt x="483098" y="808283"/>
                </a:cubicBezTo>
                <a:lnTo>
                  <a:pt x="158846" y="808283"/>
                </a:lnTo>
                <a:cubicBezTo>
                  <a:pt x="71118" y="808283"/>
                  <a:pt x="0" y="737165"/>
                  <a:pt x="0" y="649437"/>
                </a:cubicBezTo>
                <a:lnTo>
                  <a:pt x="0" y="158846"/>
                </a:lnTo>
                <a:cubicBezTo>
                  <a:pt x="0" y="116717"/>
                  <a:pt x="16736" y="76314"/>
                  <a:pt x="46525" y="46525"/>
                </a:cubicBezTo>
                <a:cubicBezTo>
                  <a:pt x="76314" y="16736"/>
                  <a:pt x="116717" y="0"/>
                  <a:pt x="1588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D36B6EB-24D9-4538-8DD1-BF086BB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87079-3B56-4EE5-B5E0-37FC9E89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91F065C-5747-499F-A9AE-D87EF1A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2BD61B6-36E2-4D26-9490-B2886A48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ABACF5B-CE61-4E6E-9E12-B3DB68C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9A89D72-A050-4FA1-B176-EB9B884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7563615-4656-4A13-A7F8-7D6F9742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2C19130-9608-43E0-8A2E-F4092E6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3C28233-1725-44E6-B5D7-329E69FD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55428" h="714183">
                <a:moveTo>
                  <a:pt x="0" y="0"/>
                </a:moveTo>
                <a:lnTo>
                  <a:pt x="955428" y="0"/>
                </a:lnTo>
                <a:lnTo>
                  <a:pt x="955428" y="714183"/>
                </a:lnTo>
                <a:lnTo>
                  <a:pt x="0" y="7141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FF148B4-8F7B-4477-BACE-0EADA2C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85221" h="816616">
                <a:moveTo>
                  <a:pt x="0" y="0"/>
                </a:moveTo>
                <a:lnTo>
                  <a:pt x="885221" y="0"/>
                </a:lnTo>
                <a:lnTo>
                  <a:pt x="885221" y="816617"/>
                </a:lnTo>
                <a:lnTo>
                  <a:pt x="0" y="816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9EAB80-2129-4CA0-AF83-827CDFF0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97597" h="824293">
                <a:moveTo>
                  <a:pt x="130379" y="0"/>
                </a:moveTo>
                <a:lnTo>
                  <a:pt x="667218" y="0"/>
                </a:lnTo>
                <a:cubicBezTo>
                  <a:pt x="701796" y="0"/>
                  <a:pt x="734959" y="13736"/>
                  <a:pt x="759410" y="38187"/>
                </a:cubicBezTo>
                <a:cubicBezTo>
                  <a:pt x="783861" y="62638"/>
                  <a:pt x="797597" y="95801"/>
                  <a:pt x="797597" y="130379"/>
                </a:cubicBezTo>
                <a:lnTo>
                  <a:pt x="797597" y="693914"/>
                </a:lnTo>
                <a:cubicBezTo>
                  <a:pt x="797597" y="728493"/>
                  <a:pt x="783861" y="761655"/>
                  <a:pt x="759410" y="786106"/>
                </a:cubicBezTo>
                <a:cubicBezTo>
                  <a:pt x="734959" y="810557"/>
                  <a:pt x="701796" y="824293"/>
                  <a:pt x="667218" y="824293"/>
                </a:cubicBezTo>
                <a:lnTo>
                  <a:pt x="130379" y="824293"/>
                </a:lnTo>
                <a:cubicBezTo>
                  <a:pt x="95801" y="824293"/>
                  <a:pt x="62638" y="810557"/>
                  <a:pt x="38187" y="786106"/>
                </a:cubicBezTo>
                <a:cubicBezTo>
                  <a:pt x="13736" y="761655"/>
                  <a:pt x="0" y="728493"/>
                  <a:pt x="0" y="693914"/>
                </a:cubicBezTo>
                <a:lnTo>
                  <a:pt x="0" y="130379"/>
                </a:lnTo>
                <a:cubicBezTo>
                  <a:pt x="0" y="95801"/>
                  <a:pt x="13736" y="62638"/>
                  <a:pt x="38187" y="38187"/>
                </a:cubicBezTo>
                <a:cubicBezTo>
                  <a:pt x="62638" y="13736"/>
                  <a:pt x="95801" y="0"/>
                  <a:pt x="13037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D4D8900-E18C-4ADE-A944-48B149A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AAECBF9-3013-4570-B093-A066D5F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3912" h="772604">
                <a:moveTo>
                  <a:pt x="0" y="0"/>
                </a:moveTo>
                <a:lnTo>
                  <a:pt x="763912" y="0"/>
                </a:lnTo>
                <a:lnTo>
                  <a:pt x="763912" y="772604"/>
                </a:lnTo>
                <a:lnTo>
                  <a:pt x="0" y="772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4A08805D-932F-4647-B6D8-09FFBA07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68668" h="724470">
                <a:moveTo>
                  <a:pt x="0" y="0"/>
                </a:moveTo>
                <a:lnTo>
                  <a:pt x="768668" y="0"/>
                </a:lnTo>
                <a:lnTo>
                  <a:pt x="768668" y="724470"/>
                </a:lnTo>
                <a:lnTo>
                  <a:pt x="0" y="724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A81109E-2AFE-4860-827B-63CAE0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23802" h="823673">
                <a:moveTo>
                  <a:pt x="0" y="0"/>
                </a:moveTo>
                <a:lnTo>
                  <a:pt x="723802" y="0"/>
                </a:lnTo>
                <a:lnTo>
                  <a:pt x="723802" y="823673"/>
                </a:lnTo>
                <a:lnTo>
                  <a:pt x="0" y="8236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BE351C9-C9CC-4817-B011-17E4E3C4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300"/>
              </a:lnSpc>
              <a:buNone/>
              <a:defRPr>
                <a:solidFill>
                  <a:srgbClr val="FFFF33"/>
                </a:solidFill>
              </a:defRPr>
            </a:pPr>
            <a:r>
              <a:rPr sz="430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B5F0A71-346D-42E8-BBA6-5936B4B6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BA30B48-2377-412E-9BB6-C6E5479C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5649AF-9B41-4038-8713-71A945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F62990D-6B5A-43AB-B034-5C40FD3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FF80110-0A51-4AD7-A975-50AE7C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2B85D2-1392-4CE5-B88B-3DCF851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ED7EDECD-8E58-4C11-8F9C-C78DD6B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BF27DD5D-8663-4B48-A3CE-7DB580B9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A22412A-A7CA-4AE5-BCB2-383D3C2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7"/>
              </a:lnSpc>
              <a:spcBef>
                <a:spcPct val="0"/>
              </a:spcBef>
              <a:buNone/>
            </a:pPr>
            <a:r>
              <a:rPr sz="2105" b="1">
                <a:solidFill>
                  <a:srgbClr val="151616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65311EE-4C12-4337-B1D8-33699F7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79"/>
              </a:lnSpc>
              <a:buNone/>
            </a:pPr>
            <a:r>
              <a:rPr sz="1342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0744AD71-D274-46CC-968C-D88A235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359B128-FC21-45FE-8BBA-5362ABE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7995F44-8E0D-46EA-AD8B-B6757120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17ABC8A-7ACE-41E4-9DD2-DF8E835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038733CB-BF01-489F-98D1-3187B31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2D5876EF-C5CF-42AF-8D75-1114D9D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B8DAE403-0B56-4549-A38F-19114A8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215BA60-70AB-41C5-970B-97A5BE9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D65A21E-AAA6-43AB-B0EB-A5F764E4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62" name="Imagen 108">
            <a:extLst xmlns:a="http://schemas.openxmlformats.org/drawingml/2006/main">
              <a:ext uri="{FF2B5EF4-FFF2-40B4-BE49-F238E27FC236}">
                <a16:creationId xmlns:a16="http://schemas.microsoft.com/office/drawing/2014/main" id="{259543ED-5AE4-4B2E-9EDF-8714CB2B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52" name="Imagen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f4ebe1d244af4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9455"/>
            </a:avLst>
          </a:prstGeom>
        </p:spPr>
      </p:pic>
      <p:sp>
        <p:nvSpPr>
          <p:cNvPr id="63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388067F1-756E-475B-A3C4-8E40E864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64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A1EB3DE7-98E3-4AD6-B863-2D4264D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65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74870056-520D-41C0-816B-FAD32BE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bbdaf5c7c4b1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C4007836-4084-47A2-9A69-FC8AB082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4BC6B30-F6AE-431C-9C90-E053F3CD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6F1C795-69BD-4BE9-8018-FF621B3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7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6523DF1-ECE2-40BB-8B60-C7B2769B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Toda respuesta asistida atraviesa un protocolo de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verificación</a:t>
            </a:r>
          </a:p>
        </p:txBody>
      </p:sp>
      <p:sp>
        <p:nvSpPr>
          <p:cNvPr id="7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A4520E3-22D7-428E-9E37-7870C0D9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705C32E-CD06-41F0-AB17-075234C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7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367E049D-5DF8-4085-8F8C-3B0B8B1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3C15A9CF-A0B2-4AB7-B4F6-644FF00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779ED0B6-5FD9-48CD-920B-E25CD2FF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7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55C5599-84F8-42C3-9F57-F6528208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9CEE502-A84F-4BC6-9D77-EFCEFFB5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IA · TRAZABILIDAD</a:t>
            </a:r>
          </a:p>
        </p:txBody>
      </p:sp>
      <p:sp>
        <p:nvSpPr>
          <p:cNvPr id="7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6EB5795-2A5A-4200-989C-D299A11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9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BBC42660-C69C-440A-B6A6-4A6279E4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0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E1D27B59-4E31-46A0-AEE9-97FE365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81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273816F6-5515-489A-9814-D381FA76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82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FD405DFC-8E9D-4C6D-9B98-D1062725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Intención</a:t>
            </a:r>
          </a:p>
        </p:txBody>
      </p:sp>
      <p:sp>
        <p:nvSpPr>
          <p:cNvPr id="83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1BD64BEF-D679-4EFE-B4F8-2712E0E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registrar la tarea y su propósito</a:t>
            </a:r>
          </a:p>
        </p:txBody>
      </p:sp>
      <p:sp>
        <p:nvSpPr>
          <p:cNvPr id="84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2EB91762-37AA-4A66-AB71-722445E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85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EF8A23F0-09A4-4812-9E5F-857A78F2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6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6B05CB5E-465E-4D04-9292-82BEC16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87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8A417B39-E558-48E2-BA39-F2F7C15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Entrada</a:t>
            </a:r>
          </a:p>
        </p:txBody>
      </p:sp>
      <p:sp>
        <p:nvSpPr>
          <p:cNvPr id="88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F69E6EDE-5F70-4FB4-9114-FF6AC724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proteger información sensible</a:t>
            </a:r>
          </a:p>
        </p:txBody>
      </p:sp>
      <p:sp>
        <p:nvSpPr>
          <p:cNvPr id="89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2782D746-2C75-4503-B6F5-79F33D3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90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E0CCF591-073C-4F70-BB3E-D566B8F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91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E9E6053C-8C66-4344-B15F-472D925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92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6AF8EE8F-8E9D-401B-A0C5-21B41C1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Ejecución</a:t>
            </a:r>
          </a:p>
        </p:txBody>
      </p:sp>
      <p:sp>
        <p:nvSpPr>
          <p:cNvPr id="93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F83E97EA-227F-47B4-9C2C-7F9932EE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probar sobre la fuente identificada</a:t>
            </a:r>
          </a:p>
        </p:txBody>
      </p:sp>
      <p:sp>
        <p:nvSpPr>
          <p:cNvPr id="94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2F78D66B-8F44-4521-A5A7-5BF902B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95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0838DBDC-85D0-40AB-90E1-2B00A188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6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6BD11DF1-B953-470F-94F1-60DD96BF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97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BAA8D01F-9CCA-4AA6-8910-A6A1279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Reconciliación</a:t>
            </a:r>
          </a:p>
        </p:txBody>
      </p:sp>
      <p:sp>
        <p:nvSpPr>
          <p:cNvPr id="98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F8222AAF-584B-4C34-B5C8-AE7C2C53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comparar filas, totales y casos límite</a:t>
            </a:r>
          </a:p>
        </p:txBody>
      </p:sp>
      <p:sp>
        <p:nvSpPr>
          <p:cNvPr id="99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8FCDC187-246F-4E98-8B62-108C88D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100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8A7681A0-4022-4802-B267-4EB501A5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101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6307B17B-E03A-409B-99D6-70BC4182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02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B7D32197-E13B-429C-B487-48ECEC39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Interpretación</a:t>
            </a:r>
          </a:p>
        </p:txBody>
      </p:sp>
      <p:sp>
        <p:nvSpPr>
          <p:cNvPr id="103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AAFDC99A-FA16-4F5B-A67A-D4FCF4CC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separar resultado, hipótesis y límite</a:t>
            </a:r>
          </a:p>
        </p:txBody>
      </p:sp>
      <p:sp>
        <p:nvSpPr>
          <p:cNvPr id="104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02D75DD9-3398-4866-9D9D-76D651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El registro conserva aporte, control, corrección y responsable.</a:t>
            </a:r>
          </a:p>
        </p:txBody>
      </p:sp>
    </p:spTree>
    <p:extLst>
      <p:ext uri="{BB962C8B-B14F-4D97-AF65-F5344CB8AC3E}">
        <p14:creationId xmlns:p14="http://schemas.microsoft.com/office/powerpoint/2010/main" val="9582169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1599EAE-9230-46F4-8A97-7D146E9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6350000" h="9525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B645A18-45DA-41BB-B67F-44E720A6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29325" h="516787">
                <a:moveTo>
                  <a:pt x="21062" y="0"/>
                </a:moveTo>
                <a:lnTo>
                  <a:pt x="808264" y="0"/>
                </a:lnTo>
                <a:cubicBezTo>
                  <a:pt x="813849" y="0"/>
                  <a:pt x="819206" y="2219"/>
                  <a:pt x="823156" y="6169"/>
                </a:cubicBezTo>
                <a:cubicBezTo>
                  <a:pt x="827106" y="10119"/>
                  <a:pt x="829325" y="15476"/>
                  <a:pt x="829325" y="21062"/>
                </a:cubicBezTo>
                <a:lnTo>
                  <a:pt x="829325" y="495726"/>
                </a:lnTo>
                <a:cubicBezTo>
                  <a:pt x="829325" y="501312"/>
                  <a:pt x="827106" y="506669"/>
                  <a:pt x="823156" y="510619"/>
                </a:cubicBezTo>
                <a:cubicBezTo>
                  <a:pt x="819206" y="514568"/>
                  <a:pt x="813849" y="516787"/>
                  <a:pt x="808264" y="516787"/>
                </a:cubicBezTo>
                <a:lnTo>
                  <a:pt x="21062" y="516787"/>
                </a:lnTo>
                <a:cubicBezTo>
                  <a:pt x="15476" y="516787"/>
                  <a:pt x="10119" y="514568"/>
                  <a:pt x="6169" y="510619"/>
                </a:cubicBezTo>
                <a:cubicBezTo>
                  <a:pt x="2219" y="506669"/>
                  <a:pt x="0" y="501312"/>
                  <a:pt x="0" y="495726"/>
                </a:cubicBezTo>
                <a:lnTo>
                  <a:pt x="0" y="21062"/>
                </a:lnTo>
                <a:cubicBezTo>
                  <a:pt x="0" y="15476"/>
                  <a:pt x="2219" y="10119"/>
                  <a:pt x="6169" y="6169"/>
                </a:cubicBezTo>
                <a:cubicBezTo>
                  <a:pt x="10119" y="2219"/>
                  <a:pt x="15476" y="0"/>
                  <a:pt x="210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4B9B017-FA3A-4B67-B447-67CF57E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95E777F-304A-483E-AD78-5BAFE43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32323" y="0"/>
                </a:moveTo>
                <a:lnTo>
                  <a:pt x="235185" y="0"/>
                </a:lnTo>
                <a:cubicBezTo>
                  <a:pt x="308264" y="0"/>
                  <a:pt x="367507" y="59243"/>
                  <a:pt x="367507" y="132323"/>
                </a:cubicBezTo>
                <a:lnTo>
                  <a:pt x="367507" y="252450"/>
                </a:lnTo>
                <a:cubicBezTo>
                  <a:pt x="367507" y="325529"/>
                  <a:pt x="308264" y="384772"/>
                  <a:pt x="235185" y="384772"/>
                </a:cubicBezTo>
                <a:lnTo>
                  <a:pt x="132323" y="384772"/>
                </a:lnTo>
                <a:cubicBezTo>
                  <a:pt x="59243" y="384772"/>
                  <a:pt x="0" y="325529"/>
                  <a:pt x="0" y="252450"/>
                </a:cubicBezTo>
                <a:lnTo>
                  <a:pt x="0" y="132323"/>
                </a:lnTo>
                <a:cubicBezTo>
                  <a:pt x="0" y="59243"/>
                  <a:pt x="59243" y="0"/>
                  <a:pt x="13232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2F67D9-C70F-43B0-9119-013334F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E20F117-83A3-4316-8680-A192D746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456041-BEF3-4033-BC59-AE8E7FD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82CB605-CAA5-42CA-B507-02BFB77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A16B0EF-85D9-44E6-9D81-21A0E3E2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BD0F58A-DE3D-4287-8F03-DF04BA6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87C4CE-3F87-4889-8059-17D1A3A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8711D01-5E9C-43ED-A715-EF2A8393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812787" h="812787">
                <a:moveTo>
                  <a:pt x="0" y="0"/>
                </a:moveTo>
                <a:lnTo>
                  <a:pt x="812786" y="0"/>
                </a:lnTo>
                <a:lnTo>
                  <a:pt x="812786" y="812787"/>
                </a:lnTo>
                <a:lnTo>
                  <a:pt x="0" y="8127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3E0E5F-A81C-4E46-AD2D-53B3CCC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7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AEF49F-B0A7-41FA-9696-CED7610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4CD3D23-2ED3-4BD9-AEFB-B1A6A8C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F9248F-9376-4788-ADAD-0D780A7F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9B5A1B1-7A28-495A-A632-03F6F6C7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F87C25C-01A2-4727-B612-44373DC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7E5DDDB-933E-4EDB-8B45-59ABA66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3F8E7F09-926C-491E-A20C-8170D08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9C4D18-444F-4F86-95CB-6211631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A33CE1BD-FDDF-4394-B584-278ED242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C69D954-C7C9-4265-B933-1176938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01D160F-BB8C-4120-99EE-5308C2A4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5C0556-9450-4183-A70F-BB23459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699D9FF-4CD4-4B20-9AF1-74CF80D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3"/>
                </a:lnTo>
                <a:lnTo>
                  <a:pt x="0" y="514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DD2DE10-3D86-489C-BE17-EE6AB81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EBDEB0-C238-487A-8BC5-675FBC81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1FA2A9ED-D814-4F81-BF6A-248A18C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0070"/>
              </a:lnSpc>
              <a:spcBef>
                <a:spcPct val="0"/>
              </a:spcBef>
              <a:buNone/>
              <a:def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5A9C250-80BF-4D30-90DF-77B6F38C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43"/>
              </a:lnSpc>
              <a:spcBef>
                <a:spcPct val="0"/>
              </a:spcBef>
              <a:buNone/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19F38F8-3E4E-4BAE-8A7D-E9C7182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75F18F-2D8F-4655-9D4E-587F651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DC5DB04-51FC-4DDD-90C7-BDC4A387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8831C357-2367-4D26-855D-C1356995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86253085-92BB-4B37-9E0B-BAF6795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38"/>
              </a:lnSpc>
              <a:spcBef>
                <a:spcPct val="0"/>
              </a:spcBef>
              <a:buNone/>
            </a:pPr>
            <a:r>
              <a:rPr sz="2313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AC78EF-548D-416F-9D3B-39A1C02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20"/>
              </a:lnSpc>
              <a:buNone/>
            </a:pPr>
            <a:r>
              <a:rPr sz="1982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50360BEB-2406-4484-B3B7-98EBD2B9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046766-6CDD-405B-9F7F-1FEE675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64F1534-F388-448D-89C2-C415FA3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696FB92-092A-4DA4-9485-F731CFC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97C44366-DEBC-4C93-B14C-8DC4DF9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21"/>
              </a:lnSpc>
              <a:spcBef>
                <a:spcPct val="0"/>
              </a:spcBef>
              <a:buNone/>
            </a:pPr>
            <a:r>
              <a:rPr sz="1943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E60621AD-D025-43C4-9806-5D6C20C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66"/>
              </a:lnSpc>
              <a:spcBef>
                <a:spcPct val="0"/>
              </a:spcBef>
              <a:buNone/>
            </a:pPr>
            <a:r>
              <a:rPr sz="2047" b="1">
                <a:solidFill>
                  <a:srgbClr val="FFFFFF"/>
                </a:solidFill>
                <a:latin typeface="Telegraf Heavy"/>
                <a:ea typeface="Telegraf Heavy"/>
                <a:cs typeface="Telegraf Heavy"/>
              </a:rPr>
              <a:t/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897EC55-B0A7-4D70-8CB3-ADCCF0F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6"/>
              </a:lnSpc>
              <a:spcBef>
                <a:spcPct val="0"/>
              </a:spcBef>
              <a:buNone/>
            </a:pPr>
            <a:r>
              <a:rPr sz="1754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B8DAA45-680E-46FB-A189-32B1EED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F1A7F8F-5A2F-4E51-B2F8-2DF05703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363A6644-FAF2-4972-A274-D482ECB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ce3fecd994e5c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DF28FB5-6010-4E95-974B-DB2944E4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E92F040-D9A5-4CF7-B4B4-B5E70793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6B9C949-97FE-4F61-993A-2F1D43FC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C69596C-D04F-493F-B91C-E9392F80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responsabilidad humana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delimita lo que puede sostener la evidencia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3D0FD0BB-CEA8-4932-9E71-2EB34E1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C5F91A5-E9C1-4530-A305-B2231DA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82F2D9D-6687-47AB-9F15-AEC20CC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2057960-3D30-4723-BCD4-173214F2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21504EA-EC16-4004-8CEF-4D2DC4B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40E746F-F749-4660-8E09-4A6ED569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5264334-D798-469F-BA45-919388B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CRITERIO PROFESIONAL · LÍMITES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5F3D11F-15B9-422C-A5D6-5EF63663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AA51C4EA-98D8-425A-AC9D-7A5AD0E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5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6656832"/>
                <a:gridCol w="5705856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Riesgo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 de 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Declaración esperada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Pregunta distinta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¿La fecha representa demanda o entrega?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qué fenómeno mide el cálculo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Asociación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explicaciones alternativas existen?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alcance causal de la lectura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Privacidad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¿La fuente puede enviarse a la herramienta?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autorización y datos excluidos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Error material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¿Quién aprueba y asume la consecuencia?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responsable y límite conocido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0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62481AFC-DACA-4A87-B2DE-F3763FE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9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eaf3ff4124055"/>
          <a:srcRect xmlns:a="http://schemas.openxmlformats.org/drawingml/2006/main" l="0" t="7737" r="0" b="7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4D9D1FA6-5FEF-429F-8410-B2E33E5F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1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9c7b60daf42c9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D831092D-3EA7-436F-8139-72CDA165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F57DD63-95B0-4954-8E04-73C6FF4D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1EE5D631-5926-45B7-81DF-62CDCC1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60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EA346109-3489-4A66-946C-601AD968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136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9aa562c56497e"/>
          <a:srcRect xmlns:a="http://schemas.openxmlformats.org/drawingml/2006/main" l="0" t="17622" r="0" b="17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f7d2e7aca4eee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3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5C17080-D96A-4185-B29B-4C9CBF6E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4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458E06E5-C414-4C6B-8506-F450CCFB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5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401E774-B408-4C09-B2F9-1F164E3D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EE99389-A11B-4485-8568-2444C9A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Faro Sur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concentra tres tensiones para investigar</a:t>
            </a:r>
          </a:p>
        </p:txBody>
      </p:sp>
      <p:sp>
        <p:nvSpPr>
          <p:cNvPr id="67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EB009A5-07F8-45B0-979E-FCD88AF9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5D57563-F48B-430A-8B06-C79210DD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9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36BCD59-3218-4108-89C9-84296BB6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70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A7CFD5C-E3C2-43D8-80FC-5C23D59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1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0FBFBC0-4ABB-4686-99D5-DAF2A312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2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BE6C81D-3C65-47CB-8726-468A297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3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638FF598-490F-4339-B70E-C863ADD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CASO TRANSVERSAL · FARO SUR</a:t>
            </a:r>
          </a:p>
        </p:txBody>
      </p:sp>
      <p:sp>
        <p:nvSpPr>
          <p:cNvPr id="74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768FF47-08B0-43A5-B300-F1A81079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5" name="case-box-0">
            <a:extLst xmlns:a="http://schemas.openxmlformats.org/drawingml/2006/main">
              <a:ext uri="{FF2B5EF4-FFF2-40B4-BE49-F238E27FC236}">
                <a16:creationId xmlns:a16="http://schemas.microsoft.com/office/drawing/2014/main" id="{5003885B-3F14-4AF1-A702-1C8D0C54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6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68DB70EE-F7AF-4943-814D-7AA473E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7" name="case-rule-0">
            <a:extLst xmlns:a="http://schemas.openxmlformats.org/drawingml/2006/main">
              <a:ext uri="{FF2B5EF4-FFF2-40B4-BE49-F238E27FC236}">
                <a16:creationId xmlns:a16="http://schemas.microsoft.com/office/drawing/2014/main" id="{53B3F6A7-B45B-4F63-95CA-8AF8329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78" name="case-head-0">
            <a:extLst xmlns:a="http://schemas.openxmlformats.org/drawingml/2006/main">
              <a:ext uri="{FF2B5EF4-FFF2-40B4-BE49-F238E27FC236}">
                <a16:creationId xmlns:a16="http://schemas.microsoft.com/office/drawing/2014/main" id="{EB1AE18F-AB05-442C-84AF-AAEC82B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Comercial</a:t>
            </a:r>
          </a:p>
        </p:txBody>
      </p:sp>
      <p:sp>
        <p:nvSpPr>
          <p:cNvPr id="79" name="case-body-0">
            <a:extLst xmlns:a="http://schemas.openxmlformats.org/drawingml/2006/main">
              <a:ext uri="{FF2B5EF4-FFF2-40B4-BE49-F238E27FC236}">
                <a16:creationId xmlns:a16="http://schemas.microsoft.com/office/drawing/2014/main" id="{87F8E1BF-40A6-4F12-9C19-470BB6B9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Ventas crecen; el margen avanza menos.</a:t>
            </a:r>
          </a:p>
        </p:txBody>
      </p:sp>
      <p:sp>
        <p:nvSpPr>
          <p:cNvPr id="80" name="case-box-1">
            <a:extLst xmlns:a="http://schemas.openxmlformats.org/drawingml/2006/main">
              <a:ext uri="{FF2B5EF4-FFF2-40B4-BE49-F238E27FC236}">
                <a16:creationId xmlns:a16="http://schemas.microsoft.com/office/drawing/2014/main" id="{C7423223-7EEB-45F7-ACAA-386E502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1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27D1A844-F12C-4087-BFB1-8711D17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2" name="case-rule-1">
            <a:extLst xmlns:a="http://schemas.openxmlformats.org/drawingml/2006/main">
              <a:ext uri="{FF2B5EF4-FFF2-40B4-BE49-F238E27FC236}">
                <a16:creationId xmlns:a16="http://schemas.microsoft.com/office/drawing/2014/main" id="{7F48027A-6796-4E11-8565-8B3CD7DA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99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83" name="case-head-1">
            <a:extLst xmlns:a="http://schemas.openxmlformats.org/drawingml/2006/main">
              <a:ext uri="{FF2B5EF4-FFF2-40B4-BE49-F238E27FC236}">
                <a16:creationId xmlns:a16="http://schemas.microsoft.com/office/drawing/2014/main" id="{ECF1E975-3567-419F-8065-44AEA0A9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Servicio</a:t>
            </a:r>
          </a:p>
        </p:txBody>
      </p:sp>
      <p:sp>
        <p:nvSpPr>
          <p:cNvPr id="84" name="case-body-1">
            <a:extLst xmlns:a="http://schemas.openxmlformats.org/drawingml/2006/main">
              <a:ext uri="{FF2B5EF4-FFF2-40B4-BE49-F238E27FC236}">
                <a16:creationId xmlns:a16="http://schemas.microsoft.com/office/drawing/2014/main" id="{B3F4F5BE-3794-4102-9092-2FACE762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Pedidos tardíos o incompletos.</a:t>
            </a:r>
          </a:p>
        </p:txBody>
      </p:sp>
      <p:sp>
        <p:nvSpPr>
          <p:cNvPr id="85" name="case-box-2">
            <a:extLst xmlns:a="http://schemas.openxmlformats.org/drawingml/2006/main">
              <a:ext uri="{FF2B5EF4-FFF2-40B4-BE49-F238E27FC236}">
                <a16:creationId xmlns:a16="http://schemas.microsoft.com/office/drawing/2014/main" id="{53E4211B-524C-4A38-B693-0655596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6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C0B64D48-EF0B-47D6-BF1E-7862441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7" name="case-rule-2">
            <a:extLst xmlns:a="http://schemas.openxmlformats.org/drawingml/2006/main">
              <a:ext uri="{FF2B5EF4-FFF2-40B4-BE49-F238E27FC236}">
                <a16:creationId xmlns:a16="http://schemas.microsoft.com/office/drawing/2014/main" id="{A1D48B62-418C-4176-B939-8E11A9C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8" name="case-head-2">
            <a:extLst xmlns:a="http://schemas.openxmlformats.org/drawingml/2006/main">
              <a:ext uri="{FF2B5EF4-FFF2-40B4-BE49-F238E27FC236}">
                <a16:creationId xmlns:a16="http://schemas.microsoft.com/office/drawing/2014/main" id="{16B338DB-E3B1-446D-B349-61682547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Inventario</a:t>
            </a:r>
          </a:p>
        </p:txBody>
      </p:sp>
      <p:sp>
        <p:nvSpPr>
          <p:cNvPr id="89" name="case-body-2">
            <a:extLst xmlns:a="http://schemas.openxmlformats.org/drawingml/2006/main">
              <a:ext uri="{FF2B5EF4-FFF2-40B4-BE49-F238E27FC236}">
                <a16:creationId xmlns:a16="http://schemas.microsoft.com/office/drawing/2014/main" id="{B1896693-8A4F-4570-B1C5-FAE44211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Faltantes junto con capital inmovilizado.</a:t>
            </a:r>
          </a:p>
        </p:txBody>
      </p:sp>
      <p:sp>
        <p:nvSpPr>
          <p:cNvPr id="90" name="case-footer">
            <a:extLst xmlns:a="http://schemas.openxmlformats.org/drawingml/2006/main">
              <a:ext uri="{FF2B5EF4-FFF2-40B4-BE49-F238E27FC236}">
                <a16:creationId xmlns:a16="http://schemas.microsoft.com/office/drawing/2014/main" id="{26462A68-7981-4E41-ABAD-D33FED1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investigación conecta pedidos, líneas, productos y clientes.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50F531B9-72B6-47B4-8ADF-781A3DD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5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7a18037de4ced"/>
          <a:srcRect xmlns:a="http://schemas.openxmlformats.org/drawingml/2006/main" l="0" t="7843" r="0" b="7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FEFDA86D-2932-4D5E-9705-8E4C8FF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7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c699d5c7e4d78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30F205-62EC-4A46-8870-9F2D5E65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32cc02f5148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2125F1-1016-4766-979F-5BCFFF7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a320f8ea845e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/>
          </a:prstGeom>
        </p:spPr>
      </p:pic>
      <p:sp>
        <p:nvSpPr>
          <p:cNvPr id="5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0F9F60D7-F3C9-4030-9F92-6136147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60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DC07E7B-5F50-481B-8813-9DEC20C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1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2334D7CA-B316-4BA4-AE00-EA1946C8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da566237f4cf8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3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B41B80C-75F3-4127-A594-B3E3BF2E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4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BBB5005-7499-4102-BA1B-6A21ECB7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5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54F794B-795A-4142-8861-65D07D9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4E91A61-EF19-43D7-8903-E572EC2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fila habilita algunas preguntas y deja otras pendientes</a:t>
            </a:r>
          </a:p>
        </p:txBody>
      </p:sp>
      <p:sp>
        <p:nvSpPr>
          <p:cNvPr id="67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0DC4D491-7377-4D4D-A354-C90A66E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8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6E871292-3329-407C-BCAE-3E173B59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9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6932224-0A5E-481A-A5F6-61DCE5BD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70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956C465-CE7C-4752-8F8E-B05DA087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1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4D053E0-D6C0-4F69-890D-8D4F62AB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2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07757BC-4BB7-46D7-84ED-4A60AA3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3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97A621D-7437-4C23-9414-76B8C6BB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DATOS · GRANO Y LÍMITES</a:t>
            </a:r>
          </a:p>
        </p:txBody>
      </p:sp>
      <p:sp>
        <p:nvSpPr>
          <p:cNvPr id="74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BBDA8CE-E6B8-4388-9F06-DAF9BCE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5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0FF4134F-BE84-44EE-B330-00B037CA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139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11424"/>
                <a:gridCol w="5071872"/>
                <a:gridCol w="4596384"/>
                <a:gridCol w="3169920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Fila observada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Campos disponibles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 válida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Fuente faltante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de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pedido, producto, cantidad, precio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 y margen por producto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Inventario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de pedido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fecha, cliente, región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Venta por período o región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Capacidad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de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 prometida y entrega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Cumplimiento por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Causa del atraso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D7EFC-4861-4208-9610-A0C3E8C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413468" h="406400">
                <a:moveTo>
                  <a:pt x="1210268" y="0"/>
                </a:moveTo>
                <a:cubicBezTo>
                  <a:pt x="1322492" y="0"/>
                  <a:pt x="1413468" y="90976"/>
                  <a:pt x="1413468" y="203200"/>
                </a:cubicBezTo>
                <a:cubicBezTo>
                  <a:pt x="1413468" y="315424"/>
                  <a:pt x="1322492" y="406400"/>
                  <a:pt x="1210268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FB571E-69A8-41C2-AFDB-FC8B05B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50F3D9-84BE-457E-91E6-89A9DFB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123479" h="406400">
                <a:moveTo>
                  <a:pt x="920279" y="0"/>
                </a:moveTo>
                <a:cubicBezTo>
                  <a:pt x="1032503" y="0"/>
                  <a:pt x="1123479" y="90976"/>
                  <a:pt x="1123479" y="203200"/>
                </a:cubicBezTo>
                <a:cubicBezTo>
                  <a:pt x="1123479" y="315424"/>
                  <a:pt x="1032503" y="406400"/>
                  <a:pt x="920279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2F26B7-ED2D-4C68-8052-238F9B0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F2C9F5E-34C6-43A4-A373-EE158F1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06400" h="406400">
                <a:moveTo>
                  <a:pt x="203200" y="0"/>
                </a:moveTo>
                <a:cubicBezTo>
                  <a:pt x="315424" y="0"/>
                  <a:pt x="406400" y="90976"/>
                  <a:pt x="406400" y="203200"/>
                </a:cubicBezTo>
                <a:cubicBezTo>
                  <a:pt x="406400" y="315424"/>
                  <a:pt x="315424" y="406400"/>
                  <a:pt x="203200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B13124-A058-41FB-A525-40B530B7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A941335-BFE7-42C2-B108-440C4D3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987114" h="812800">
                <a:moveTo>
                  <a:pt x="103302" y="0"/>
                </a:moveTo>
                <a:lnTo>
                  <a:pt x="883813" y="0"/>
                </a:lnTo>
                <a:cubicBezTo>
                  <a:pt x="940864" y="0"/>
                  <a:pt x="987114" y="46250"/>
                  <a:pt x="987114" y="103302"/>
                </a:cubicBezTo>
                <a:lnTo>
                  <a:pt x="987114" y="709499"/>
                </a:lnTo>
                <a:cubicBezTo>
                  <a:pt x="987114" y="736896"/>
                  <a:pt x="976231" y="763171"/>
                  <a:pt x="956858" y="782544"/>
                </a:cubicBezTo>
                <a:cubicBezTo>
                  <a:pt x="937485" y="801916"/>
                  <a:pt x="911210" y="812800"/>
                  <a:pt x="883813" y="812800"/>
                </a:cubicBezTo>
                <a:lnTo>
                  <a:pt x="103302" y="812800"/>
                </a:lnTo>
                <a:cubicBezTo>
                  <a:pt x="46250" y="812800"/>
                  <a:pt x="0" y="766550"/>
                  <a:pt x="0" y="709499"/>
                </a:cubicBezTo>
                <a:lnTo>
                  <a:pt x="0" y="103302"/>
                </a:lnTo>
                <a:cubicBezTo>
                  <a:pt x="0" y="46250"/>
                  <a:pt x="46250" y="0"/>
                  <a:pt x="1033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ECC3C49-31BF-42FB-AFCF-D52CD5D4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AA3A92D-827C-4E4D-B4A0-8A2AF86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592148" h="812800">
                <a:moveTo>
                  <a:pt x="64046" y="0"/>
                </a:moveTo>
                <a:lnTo>
                  <a:pt x="1528102" y="0"/>
                </a:lnTo>
                <a:cubicBezTo>
                  <a:pt x="1545088" y="0"/>
                  <a:pt x="1561379" y="6748"/>
                  <a:pt x="1573390" y="18759"/>
                </a:cubicBezTo>
                <a:cubicBezTo>
                  <a:pt x="1585400" y="30769"/>
                  <a:pt x="1592148" y="47060"/>
                  <a:pt x="1592148" y="64046"/>
                </a:cubicBezTo>
                <a:lnTo>
                  <a:pt x="1592148" y="748754"/>
                </a:lnTo>
                <a:cubicBezTo>
                  <a:pt x="1592148" y="765740"/>
                  <a:pt x="1585400" y="782031"/>
                  <a:pt x="1573390" y="794041"/>
                </a:cubicBezTo>
                <a:cubicBezTo>
                  <a:pt x="1561379" y="806052"/>
                  <a:pt x="1545088" y="812800"/>
                  <a:pt x="1528102" y="812800"/>
                </a:cubicBezTo>
                <a:lnTo>
                  <a:pt x="64046" y="812800"/>
                </a:lnTo>
                <a:cubicBezTo>
                  <a:pt x="47060" y="812800"/>
                  <a:pt x="30769" y="806052"/>
                  <a:pt x="18759" y="794041"/>
                </a:cubicBezTo>
                <a:cubicBezTo>
                  <a:pt x="6748" y="782031"/>
                  <a:pt x="0" y="765740"/>
                  <a:pt x="0" y="748754"/>
                </a:cubicBezTo>
                <a:lnTo>
                  <a:pt x="0" y="64046"/>
                </a:lnTo>
                <a:cubicBezTo>
                  <a:pt x="0" y="47060"/>
                  <a:pt x="6748" y="30769"/>
                  <a:pt x="18759" y="18759"/>
                </a:cubicBezTo>
                <a:cubicBezTo>
                  <a:pt x="30769" y="6748"/>
                  <a:pt x="47060" y="0"/>
                  <a:pt x="6404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45B264-AC7A-4B9B-A50F-1A7954B9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82805FC-500B-4AE7-9355-FAD8DA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6B4C127-2F54-4C58-8473-55F2C64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C957564-5745-4C9B-BD37-4635A6D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7860" h="514913">
                <a:moveTo>
                  <a:pt x="0" y="0"/>
                </a:moveTo>
                <a:lnTo>
                  <a:pt x="437860" y="0"/>
                </a:lnTo>
                <a:lnTo>
                  <a:pt x="43786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A52C16D-985B-42C6-9C6C-26B3CA7A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>
                <a:solidFill>
                  <a:srgbClr val="1F497D"/>
                </a:solidFill>
              </a:defRPr>
            </a:pPr>
            <a:r>
              <a:rPr sz="43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  <a:endParaRPr sz="4350" b="1">
              <a:solidFill>
                <a:srgbClr val="151616"/>
              </a:solidFill>
              <a:latin typeface="Telegraf Bold"/>
              <a:ea typeface="Telegraf Bold"/>
              <a:cs typeface="Telegraf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9B53DFE-452B-4328-8E96-5CD9480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6BB86E-6F37-4090-8F89-3D3AA6C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000000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A6D7007F-1CC8-46D3-8738-0469A45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A015317-4EFB-4E02-B478-32DDC83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CA9F9CC-3926-4654-A2C4-4D3901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4D4E16E-79C5-48B8-8542-996B572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FA94D0B-5613-4506-BC4D-41C0E0E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D33542-9DFB-40C0-ABC0-18BBBCC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35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35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70CCD69-B43E-41A2-AF3F-53491DF9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C7D868-A9F7-4449-80AB-5D71DED4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B054B12-9FFC-486F-ACE6-18FB3A7B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7473980A-D317-4106-92E9-6641660B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A73EE43-3E88-43A9-90CB-C5E6B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D4F2B56-32B6-461E-8B0D-251C4013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55E7FF0B-2E9E-4435-8417-2B76A01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5A12970-D703-44CE-8AA7-43700564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247FC02E-4717-4000-A7F2-CC5E5A7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65292C0-BAFC-4795-80A1-AAFEF98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B1ABCE18-AA0A-4E54-813E-85C645A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94A46560-49EF-418B-8E31-82CE5B38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B938355-2040-4A31-A71C-DD79087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24"/>
              </a:lnSpc>
              <a:buNone/>
              <a:def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CA77FA-F327-4318-BC2D-F1C6406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275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5934D129-60D4-41CF-ADD9-CAE6BA1E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239"/>
              </a:lnSpc>
              <a:spcBef>
                <a:spcPct val="0"/>
              </a:spcBef>
              <a:buNone/>
              <a:def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3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55" name="Imagen 95">
            <a:extLst xmlns:a="http://schemas.openxmlformats.org/drawingml/2006/main">
              <a:ext uri="{FF2B5EF4-FFF2-40B4-BE49-F238E27FC236}">
                <a16:creationId xmlns:a16="http://schemas.microsoft.com/office/drawing/2014/main" id="{8DFE1F4F-EA2D-4B21-BFE8-19B41001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7" name="Imagen 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cf80f83374b2a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476"/>
            </a:avLst>
          </a:prstGeom>
        </p:spPr>
      </p:pic>
      <p:sp>
        <p:nvSpPr>
          <p:cNvPr id="56" name="Imagen 96">
            <a:extLst xmlns:a="http://schemas.openxmlformats.org/drawingml/2006/main">
              <a:ext uri="{FF2B5EF4-FFF2-40B4-BE49-F238E27FC236}">
                <a16:creationId xmlns:a16="http://schemas.microsoft.com/office/drawing/2014/main" id="{61F77BB4-0657-4B86-BEA2-B4926E8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9" name="Imagen 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2d7923f84b53"/>
          <a:srcRect xmlns:a="http://schemas.openxmlformats.org/drawingml/2006/main" l="17728" t="0" r="17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8775"/>
            </a:avLst>
          </a:prstGeom>
        </p:spPr>
      </p:pic>
      <p:sp>
        <p:nvSpPr>
          <p:cNvPr id="57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72DEE2E-72AE-43BA-93F3-BFED94CF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58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478BD48A-5668-45FA-A156-85AAD3DD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9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E47E354-5824-41FF-98D5-73CC0A8B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c04c8f8e44a5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1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E839937-3F3D-4254-9AE1-14ACF964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2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8314A6E-F87F-44EA-A9B1-E52B3389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63" name="visual-year">
            <a:extLst xmlns:a="http://schemas.openxmlformats.org/drawingml/2006/main">
              <a:ext uri="{FF2B5EF4-FFF2-40B4-BE49-F238E27FC236}">
                <a16:creationId xmlns:a16="http://schemas.microsoft.com/office/drawing/2014/main" id="{6FEFD69B-6ABF-4D7F-AF42-E0B71D52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64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6864ABE9-D01C-4797-9DD8-6306FF3C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hipótesis prepara el laboratorio reproducible de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Faro Sur</a:t>
            </a:r>
          </a:p>
        </p:txBody>
      </p:sp>
      <p:sp>
        <p:nvSpPr>
          <p:cNvPr id="65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8DA5F4F-7E2B-418B-B74E-62A40F2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6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687D3AE-ECCB-4C08-8E82-832F466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67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3657FFB-4A3F-48C2-9639-86A8917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68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641989C-F70E-4958-9A7C-DC159ED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69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57E7A8C-AB4F-471E-A0EA-619C806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70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4DD67754-6A91-480F-AAE5-7BAB9E1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71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CED25E53-51E6-4CEA-B1A3-17B97C2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PUENTE · SIGUIENTE MÓDULO</a:t>
            </a:r>
          </a:p>
        </p:txBody>
      </p:sp>
      <p:sp>
        <p:nvSpPr>
          <p:cNvPr id="72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71D60E4-F7C2-4BCD-B8CE-07D3CF83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73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21B386E7-D7D5-4A57-9427-F21D35ED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4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5509D18A-6003-42FC-BA19-2F8441B7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75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4B2F602E-7295-443D-B2DB-0C644EB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76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DD419BC6-F71F-49F6-A8AB-EFA4DF29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Tensión</a:t>
            </a:r>
          </a:p>
        </p:txBody>
      </p:sp>
      <p:sp>
        <p:nvSpPr>
          <p:cNvPr id="77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F9945259-7A9C-441D-BD1E-19C6BEC7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elegir margen, servicio o inventario</a:t>
            </a:r>
          </a:p>
        </p:txBody>
      </p:sp>
      <p:sp>
        <p:nvSpPr>
          <p:cNvPr id="78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516A3E91-A859-4F83-B862-B9EF3125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79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BEBAF723-F9EC-4324-92C9-028DC060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80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55D46791-BEC5-4450-AAC7-7E00E54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1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09FE91F9-3E8E-487A-BCB6-7D22E40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Responsable</a:t>
            </a:r>
          </a:p>
        </p:txBody>
      </p:sp>
      <p:sp>
        <p:nvSpPr>
          <p:cNvPr id="82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CF09C6B9-E012-4886-A5D7-C95DDD7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nombrar quién puede actuar</a:t>
            </a:r>
          </a:p>
        </p:txBody>
      </p:sp>
      <p:sp>
        <p:nvSpPr>
          <p:cNvPr id="83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84A21024-8A27-4361-9FAB-776A89BF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4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AA07D9EA-9FD7-4A8F-B3FA-D7120D48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85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08433C29-DC58-40D4-830E-859257A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86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F9BD5A8C-4493-42D1-92BC-2DBB30E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Pregunta</a:t>
            </a:r>
          </a:p>
        </p:txBody>
      </p:sp>
      <p:sp>
        <p:nvSpPr>
          <p:cNvPr id="87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CBD69B3A-04FD-4912-8A28-3E22BD4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escribir qué necesitamos conocer</a:t>
            </a:r>
          </a:p>
        </p:txBody>
      </p:sp>
      <p:sp>
        <p:nvSpPr>
          <p:cNvPr id="88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982D1509-6DB6-4FA4-9694-E250BAC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89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401519EB-A87A-4D5E-A07E-5A79FB6C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90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17B362D3-5E7D-49BC-BD6C-8A91E58C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91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0B8DBEFE-8AFC-40C5-952C-C65F1897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92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F107E13F-3BBD-494B-BE97-9B603F4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anticipar qué representa una línea</a:t>
            </a:r>
          </a:p>
        </p:txBody>
      </p:sp>
      <p:sp>
        <p:nvSpPr>
          <p:cNvPr id="93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30B29E27-72A0-44A1-AA3D-9B562927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94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E4993E92-E8E2-47F3-86DA-E324F3F6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95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7CF156E9-F7FD-48D9-BC46-26A618D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96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2060E368-9521-436C-8C0F-8E1A654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Control</a:t>
            </a:r>
          </a:p>
        </p:txBody>
      </p:sp>
      <p:sp>
        <p:nvSpPr>
          <p:cNvPr id="97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F6C2F43C-87F1-4CFC-8F30-A9761A0E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definir qué resultado validará la carga</a:t>
            </a:r>
          </a:p>
        </p:txBody>
      </p:sp>
      <p:sp>
        <p:nvSpPr>
          <p:cNvPr id="98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346FD1FB-4C84-4D73-A5E8-9B018FA2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laboratorio siguiente ejecuta Paquete A y convierte la hipótesis en un canvas controlado.</a:t>
            </a:r>
          </a:p>
        </p:txBody>
      </p:sp>
    </p:spTree>
    <p:extLst>
      <p:ext uri="{BB962C8B-B14F-4D97-AF65-F5344CB8AC3E}">
        <p14:creationId xmlns:p14="http://schemas.microsoft.com/office/powerpoint/2010/main" val="762662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Imagen 73">
            <a:extLst xmlns:a="http://schemas.openxmlformats.org/drawingml/2006/main">
              <a:ext uri="{FF2B5EF4-FFF2-40B4-BE49-F238E27FC236}">
                <a16:creationId xmlns:a16="http://schemas.microsoft.com/office/drawing/2014/main" id="{68A9D933-8371-412E-B0E2-3A31F30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55" name="Imagen 7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a597f70d34318"/>
          <a:srcRect xmlns:a="http://schemas.openxmlformats.org/drawingml/2006/main" l="27764" t="0" r="277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oundRect">
            <a:avLst>
              <a:gd name="adj" fmla="val 5492"/>
            </a:avLst>
          </a:prstGeom>
        </p:spPr>
      </p:pic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5F62B3-F84F-4153-B279-04350AF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774006" h="182238">
                <a:moveTo>
                  <a:pt x="22567" y="0"/>
                </a:moveTo>
                <a:lnTo>
                  <a:pt x="751439" y="0"/>
                </a:lnTo>
                <a:cubicBezTo>
                  <a:pt x="763903" y="0"/>
                  <a:pt x="774006" y="10104"/>
                  <a:pt x="774006" y="22567"/>
                </a:cubicBezTo>
                <a:lnTo>
                  <a:pt x="774006" y="159671"/>
                </a:lnTo>
                <a:cubicBezTo>
                  <a:pt x="774006" y="165656"/>
                  <a:pt x="771629" y="171396"/>
                  <a:pt x="767396" y="175628"/>
                </a:cubicBezTo>
                <a:cubicBezTo>
                  <a:pt x="763164" y="179861"/>
                  <a:pt x="757424" y="182238"/>
                  <a:pt x="751439" y="182238"/>
                </a:cubicBezTo>
                <a:lnTo>
                  <a:pt x="22567" y="182238"/>
                </a:lnTo>
                <a:cubicBezTo>
                  <a:pt x="10104" y="182238"/>
                  <a:pt x="0" y="172135"/>
                  <a:pt x="0" y="159671"/>
                </a:cubicBezTo>
                <a:lnTo>
                  <a:pt x="0" y="22567"/>
                </a:lnTo>
                <a:cubicBezTo>
                  <a:pt x="0" y="10104"/>
                  <a:pt x="10104" y="0"/>
                  <a:pt x="2256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724D0-9C3B-4C22-A623-60FD93C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64678E5-48A3-472E-A813-58C2E82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66E8966-A412-411A-8729-3789C90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5146AB1-E671-4464-A213-49B0D9FA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7D4C51-A4E3-49A0-809C-9F63351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89F7E7A-69FF-43DB-8D39-AF070A5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A85F48-37A2-4038-A2F8-9E2BD8E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4C851B3-0647-4286-AA9F-B9BDE191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169501" y="0"/>
                </a:moveTo>
                <a:lnTo>
                  <a:pt x="198006" y="0"/>
                </a:lnTo>
                <a:cubicBezTo>
                  <a:pt x="242961" y="0"/>
                  <a:pt x="286074" y="17858"/>
                  <a:pt x="317862" y="49646"/>
                </a:cubicBezTo>
                <a:cubicBezTo>
                  <a:pt x="349649" y="81433"/>
                  <a:pt x="367507" y="124546"/>
                  <a:pt x="367507" y="169501"/>
                </a:cubicBezTo>
                <a:lnTo>
                  <a:pt x="367507" y="215271"/>
                </a:lnTo>
                <a:cubicBezTo>
                  <a:pt x="367507" y="260226"/>
                  <a:pt x="349649" y="303339"/>
                  <a:pt x="317862" y="335127"/>
                </a:cubicBezTo>
                <a:cubicBezTo>
                  <a:pt x="286074" y="366914"/>
                  <a:pt x="242961" y="384772"/>
                  <a:pt x="198006" y="384772"/>
                </a:cubicBezTo>
                <a:lnTo>
                  <a:pt x="169501" y="384772"/>
                </a:lnTo>
                <a:cubicBezTo>
                  <a:pt x="124546" y="384772"/>
                  <a:pt x="81433" y="366914"/>
                  <a:pt x="49646" y="335127"/>
                </a:cubicBezTo>
                <a:cubicBezTo>
                  <a:pt x="17858" y="303339"/>
                  <a:pt x="0" y="260226"/>
                  <a:pt x="0" y="215271"/>
                </a:cubicBezTo>
                <a:lnTo>
                  <a:pt x="0" y="169501"/>
                </a:lnTo>
                <a:cubicBezTo>
                  <a:pt x="0" y="124546"/>
                  <a:pt x="17858" y="81433"/>
                  <a:pt x="49646" y="49646"/>
                </a:cubicBezTo>
                <a:cubicBezTo>
                  <a:pt x="81433" y="17858"/>
                  <a:pt x="124546" y="0"/>
                  <a:pt x="16950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1B4A31-D8A2-4B0B-BA5B-3E1316C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1E1ADD0-8DD9-429F-9899-AA0B04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231195" h="406400">
                <a:moveTo>
                  <a:pt x="3027995" y="0"/>
                </a:moveTo>
                <a:cubicBezTo>
                  <a:pt x="3140220" y="0"/>
                  <a:pt x="3231195" y="90976"/>
                  <a:pt x="3231195" y="203200"/>
                </a:cubicBezTo>
                <a:cubicBezTo>
                  <a:pt x="3231195" y="315424"/>
                  <a:pt x="3140220" y="406400"/>
                  <a:pt x="302799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39B345-5C1E-4E7C-A987-87C57A3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D8CF195-CA26-4E09-AF27-4F05B793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761692" h="406400">
                <a:moveTo>
                  <a:pt x="1558492" y="0"/>
                </a:moveTo>
                <a:cubicBezTo>
                  <a:pt x="1670717" y="0"/>
                  <a:pt x="1761692" y="90976"/>
                  <a:pt x="1761692" y="203200"/>
                </a:cubicBezTo>
                <a:cubicBezTo>
                  <a:pt x="1761692" y="315424"/>
                  <a:pt x="1670717" y="406400"/>
                  <a:pt x="1558492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4B9D9E6-2B09-46E5-8753-D045605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FB87C0-9F1F-47DC-B660-6AA62A9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1806506" h="406400">
                <a:moveTo>
                  <a:pt x="1603306" y="0"/>
                </a:moveTo>
                <a:cubicBezTo>
                  <a:pt x="1715530" y="0"/>
                  <a:pt x="1806506" y="90976"/>
                  <a:pt x="1806506" y="203200"/>
                </a:cubicBezTo>
                <a:cubicBezTo>
                  <a:pt x="1806506" y="315424"/>
                  <a:pt x="1715530" y="406400"/>
                  <a:pt x="1603306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3D8D62-EF10-44EC-8A2B-004C808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D9710FB2-485C-43BD-9DC6-2F867D1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CD5A629-BE31-475C-9C5D-9EAD538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367507" h="384772">
                <a:moveTo>
                  <a:pt x="79984" y="0"/>
                </a:moveTo>
                <a:lnTo>
                  <a:pt x="287523" y="0"/>
                </a:lnTo>
                <a:cubicBezTo>
                  <a:pt x="308736" y="0"/>
                  <a:pt x="329081" y="8427"/>
                  <a:pt x="344081" y="23427"/>
                </a:cubicBezTo>
                <a:cubicBezTo>
                  <a:pt x="359080" y="38427"/>
                  <a:pt x="367507" y="58771"/>
                  <a:pt x="367507" y="79984"/>
                </a:cubicBezTo>
                <a:lnTo>
                  <a:pt x="367507" y="304788"/>
                </a:lnTo>
                <a:cubicBezTo>
                  <a:pt x="367507" y="348962"/>
                  <a:pt x="331697" y="384772"/>
                  <a:pt x="287523" y="384772"/>
                </a:cubicBezTo>
                <a:lnTo>
                  <a:pt x="79984" y="384772"/>
                </a:lnTo>
                <a:cubicBezTo>
                  <a:pt x="58771" y="384772"/>
                  <a:pt x="38427" y="376345"/>
                  <a:pt x="23427" y="361345"/>
                </a:cubicBezTo>
                <a:cubicBezTo>
                  <a:pt x="8427" y="346346"/>
                  <a:pt x="0" y="326001"/>
                  <a:pt x="0" y="304788"/>
                </a:cubicBezTo>
                <a:lnTo>
                  <a:pt x="0" y="79984"/>
                </a:lnTo>
                <a:cubicBezTo>
                  <a:pt x="0" y="58771"/>
                  <a:pt x="8427" y="38427"/>
                  <a:pt x="23427" y="23427"/>
                </a:cubicBezTo>
                <a:cubicBezTo>
                  <a:pt x="38427" y="8427"/>
                  <a:pt x="58771" y="0"/>
                  <a:pt x="7998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8AFBFA9-CBB9-40D9-80E1-AC36665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024"/>
              </a:lnSpc>
              <a:buNone/>
            </a:pPr>
            <a:r>
              <a:t/>
            </a:r>
            <a:endParaRPr/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DA6229D7-FCFF-42B6-BC2A-4D56D32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61495" h="512772">
                <a:moveTo>
                  <a:pt x="0" y="0"/>
                </a:moveTo>
                <a:lnTo>
                  <a:pt x="461494" y="0"/>
                </a:lnTo>
                <a:lnTo>
                  <a:pt x="461494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B6CB9091-D238-4ED8-9845-6168652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20283" h="461216">
                <a:moveTo>
                  <a:pt x="0" y="0"/>
                </a:moveTo>
                <a:lnTo>
                  <a:pt x="420283" y="0"/>
                </a:lnTo>
                <a:lnTo>
                  <a:pt x="420283" y="461216"/>
                </a:lnTo>
                <a:lnTo>
                  <a:pt x="0" y="461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5C72A90F-1114-4CC1-BD13-975BD39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custGeom xmlns:a="http://schemas.openxmlformats.org/drawingml/2006/main">
            <a:rect l="l" t="t" r="r" b="b"/>
            <a:pathLst>
              <a:path w="438320" h="514913">
                <a:moveTo>
                  <a:pt x="0" y="0"/>
                </a:moveTo>
                <a:lnTo>
                  <a:pt x="438320" y="0"/>
                </a:lnTo>
                <a:lnTo>
                  <a:pt x="438320" y="514914"/>
                </a:lnTo>
                <a:lnTo>
                  <a:pt x="0" y="514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5320EE5-2F71-4DAF-90A4-7248E2F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20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D9B7426-D179-4E47-A1B8-25B8529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494C4CD-EBFD-4C8D-8B7A-363B486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D419E547-CC87-443C-BFF6-5537F94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</a:pPr>
            <a:r>
              <a:rPr sz="1886" b="1">
                <a:solidFill>
                  <a:srgbClr val="151616"/>
                </a:solidFill>
                <a:latin typeface="Telegraf Bold"/>
                <a:ea typeface="Telegraf Bold"/>
                <a:cs typeface="Telegraf Bold"/>
              </a:rPr>
              <a:t/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E6DA3120-1590-4E4A-9703-2E188BF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41"/>
              </a:lnSpc>
              <a:buNone/>
              <a:defRPr sz="1500">
                <a:solidFill>
                  <a:srgbClr val="151616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151616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279A6B3-B644-4667-9C11-7BB7780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57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9BA3-AB64-47BA-A661-F2C330D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150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/>
            </a:r>
            <a:endParaRPr sz="1500">
              <a:solidFill>
                <a:srgbClr val="FFFFFF"/>
              </a:solidFill>
              <a:latin typeface="Telegraf"/>
              <a:ea typeface="Telegraf"/>
              <a:cs typeface="Telegraf"/>
            </a:endParaRP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61E909E-10CA-4FD8-800A-4AC532F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159"/>
              </a:lnSpc>
              <a:buNone/>
            </a:pPr>
            <a:r>
              <a:rPr sz="1599">
                <a:solidFill>
                  <a:srgbClr val="F6F9FF"/>
                </a:solidFill>
                <a:latin typeface="Telegraf"/>
                <a:ea typeface="Telegraf"/>
                <a:cs typeface="Telegraf"/>
              </a:rPr>
              <a:t/>
            </a:r>
          </a:p>
        </p:txBody>
      </p:sp>
      <p:pic>
        <p:nvPicPr>
          <p:cNvPr id="86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87b0465dc4cc1"/>
          <a:srcRect xmlns:a="http://schemas.openxmlformats.org/drawingml/2006/main" l="30064" t="0" r="300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45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A9A015C4-3C05-41DE-8BCF-DC8F5FFD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46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B9BC4F9C-4FBF-4B3E-B7A4-E9AB31A8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7" name="close-rail">
            <a:extLst xmlns:a="http://schemas.openxmlformats.org/drawingml/2006/main">
              <a:ext uri="{FF2B5EF4-FFF2-40B4-BE49-F238E27FC236}">
                <a16:creationId xmlns:a16="http://schemas.microsoft.com/office/drawing/2014/main" id="{C6813303-0E99-4F8E-BC90-55A7A722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ba56260c54c27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49" name="close-label">
            <a:extLst xmlns:a="http://schemas.openxmlformats.org/drawingml/2006/main">
              <a:ext uri="{FF2B5EF4-FFF2-40B4-BE49-F238E27FC236}">
                <a16:creationId xmlns:a16="http://schemas.microsoft.com/office/drawing/2014/main" id="{5F34AE64-BD31-48A8-BB00-E0F070C1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RESPONSABILIDAD</a:t>
            </a:r>
          </a:p>
        </p:txBody>
      </p:sp>
      <p:sp>
        <p:nvSpPr>
          <p:cNvPr id="50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184294F-3EB3-48A0-B377-B436192C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evidencia termina</a:t>
            </a:r>
          </a:p>
          <a:p xmlns:a="http://schemas.openxmlformats.org/drawingml/2006/main">
            <a:pPr algn="l"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en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responsabilidad humana</a:t>
            </a:r>
          </a:p>
        </p:txBody>
      </p:sp>
      <p:sp>
        <p:nvSpPr>
          <p:cNvPr id="51" name="close-rule">
            <a:extLst xmlns:a="http://schemas.openxmlformats.org/drawingml/2006/main">
              <a:ext uri="{FF2B5EF4-FFF2-40B4-BE49-F238E27FC236}">
                <a16:creationId xmlns:a16="http://schemas.microsoft.com/office/drawing/2014/main" id="{BA0484AB-53D9-4F3B-A7A9-4D26DED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52" name="close-body">
            <a:extLst xmlns:a="http://schemas.openxmlformats.org/drawingml/2006/main">
              <a:ext uri="{FF2B5EF4-FFF2-40B4-BE49-F238E27FC236}">
                <a16:creationId xmlns:a16="http://schemas.microsoft.com/office/drawing/2014/main" id="{F85D5557-755F-4780-8B19-A5514EE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Definir el significado. Ejecutar el cálculo. Declarar límites. Asumir la consecuencia de la recomendación.</a:t>
            </a:r>
          </a:p>
        </p:txBody>
      </p:sp>
      <p:sp>
        <p:nvSpPr>
          <p:cNvPr id="53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4DEA1DB0-464D-4FFF-B535-C1DF7F8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68849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2026-08-12T21:21:54.1770000Z</dcterms:created>
  <dcterms:modified xsi:type="dcterms:W3CDTF">2026-08-12T21:21:54.1770000Z</dcterms:modified>
</coreProperties>
</file>