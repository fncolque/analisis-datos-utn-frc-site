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14ed7d93a4d51" /><Relationship Type="http://schemas.openxmlformats.org/officeDocument/2006/relationships/extended-properties" Target="/docProps/app.xml" Id="R16200544a7e2473c" /><Relationship Type="http://schemas.openxmlformats.org/officeDocument/2006/relationships/officeDocument" Target="/ppt/presentation.xml" Id="R8d4dfdbabf094f9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23fa64d913541ea"/>
  </p:sldMasterIdLst>
  <p:sldIdLst>
    <p:sldId xmlns:r="http://schemas.openxmlformats.org/officeDocument/2006/relationships" id="256" r:id="R438d7ff088404ace"/>
    <p:sldId xmlns:r="http://schemas.openxmlformats.org/officeDocument/2006/relationships" id="257" r:id="R7e20251a91c44d92"/>
    <p:sldId xmlns:r="http://schemas.openxmlformats.org/officeDocument/2006/relationships" id="258" r:id="R4ff85a03f42d4e7a"/>
    <p:sldId xmlns:r="http://schemas.openxmlformats.org/officeDocument/2006/relationships" id="259" r:id="Ra432382d32694788"/>
    <p:sldId xmlns:r="http://schemas.openxmlformats.org/officeDocument/2006/relationships" id="260" r:id="Re2f271d7559b499e"/>
    <p:sldId xmlns:r="http://schemas.openxmlformats.org/officeDocument/2006/relationships" id="261" r:id="Rdb8aaf5f3a324538"/>
    <p:sldId xmlns:r="http://schemas.openxmlformats.org/officeDocument/2006/relationships" id="262" r:id="R797465433e4943ed"/>
    <p:sldId xmlns:r="http://schemas.openxmlformats.org/officeDocument/2006/relationships" id="263" r:id="R1e468d02ee1447cd"/>
    <p:sldId xmlns:r="http://schemas.openxmlformats.org/officeDocument/2006/relationships" id="264" r:id="R711dfea39cfd437c"/>
    <p:sldId xmlns:r="http://schemas.openxmlformats.org/officeDocument/2006/relationships" id="265" r:id="Ra454a3b524634056"/>
    <p:sldId xmlns:r="http://schemas.openxmlformats.org/officeDocument/2006/relationships" id="266" r:id="R0056c3710004449b"/>
    <p:sldId xmlns:r="http://schemas.openxmlformats.org/officeDocument/2006/relationships" id="267" r:id="Rd1a6bc31ebde41ca"/>
    <p:sldId xmlns:r="http://schemas.openxmlformats.org/officeDocument/2006/relationships" id="268" r:id="R6fcfedcd178a4a48"/>
    <p:sldId xmlns:r="http://schemas.openxmlformats.org/officeDocument/2006/relationships" id="269" r:id="Rb5a20aee2a724caf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96d83a5b9fdb44a1"/>
    </p:embeddedFont>
    <p:embeddedFont>
      <p:font typeface="Telegraf Bold"/>
      <p:regular xmlns:r="http://schemas.openxmlformats.org/officeDocument/2006/relationships" r:id="R15c98399182f44a1"/>
    </p:embeddedFont>
    <p:embeddedFont>
      <p:font typeface="Telegraf Heavy"/>
      <p:regular xmlns:r="http://schemas.openxmlformats.org/officeDocument/2006/relationships" r:id="Re9236b284fdc4c5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78337d518488c" /><Relationship Type="http://schemas.openxmlformats.org/officeDocument/2006/relationships/slideMaster" Target="/ppt/slideMasters/slideMaster1.xml" Id="R423fa64d913541ea" /><Relationship Type="http://schemas.openxmlformats.org/officeDocument/2006/relationships/presProps" Target="/ppt/presProps.xml" Id="R6fd9b24886fe465d" /><Relationship Type="http://schemas.openxmlformats.org/officeDocument/2006/relationships/viewProps" Target="/ppt/viewProps.xml" Id="R6434d4c3131941a3" /><Relationship Type="http://schemas.openxmlformats.org/officeDocument/2006/relationships/tableStyles" Target="/ppt/tableStyles.xml" Id="R79b87532d9e84c24" /><Relationship Type="http://schemas.openxmlformats.org/officeDocument/2006/relationships/font" Target="/ppt/fonts/font.dat" Id="R96d83a5b9fdb44a1" /><Relationship Type="http://schemas.openxmlformats.org/officeDocument/2006/relationships/font" Target="/ppt/fonts/font2.dat" Id="R15c98399182f44a1" /><Relationship Type="http://schemas.openxmlformats.org/officeDocument/2006/relationships/font" Target="/ppt/fonts/font3.dat" Id="Re9236b284fdc4c52" /><Relationship Type="http://schemas.openxmlformats.org/officeDocument/2006/relationships/slide" Target="/ppt/slides/slide1.xml" Id="R438d7ff088404ace" /><Relationship Type="http://schemas.openxmlformats.org/officeDocument/2006/relationships/slide" Target="/ppt/slides/slide2.xml" Id="R7e20251a91c44d92" /><Relationship Type="http://schemas.openxmlformats.org/officeDocument/2006/relationships/slide" Target="/ppt/slides/slide3.xml" Id="R4ff85a03f42d4e7a" /><Relationship Type="http://schemas.openxmlformats.org/officeDocument/2006/relationships/slide" Target="/ppt/slides/slide4.xml" Id="Ra432382d32694788" /><Relationship Type="http://schemas.openxmlformats.org/officeDocument/2006/relationships/slide" Target="/ppt/slides/slide5.xml" Id="Re2f271d7559b499e" /><Relationship Type="http://schemas.openxmlformats.org/officeDocument/2006/relationships/slide" Target="/ppt/slides/slide6.xml" Id="Rdb8aaf5f3a324538" /><Relationship Type="http://schemas.openxmlformats.org/officeDocument/2006/relationships/slide" Target="/ppt/slides/slide7.xml" Id="R797465433e4943ed" /><Relationship Type="http://schemas.openxmlformats.org/officeDocument/2006/relationships/slide" Target="/ppt/slides/slide8.xml" Id="R1e468d02ee1447cd" /><Relationship Type="http://schemas.openxmlformats.org/officeDocument/2006/relationships/slide" Target="/ppt/slides/slide9.xml" Id="R711dfea39cfd437c" /><Relationship Type="http://schemas.openxmlformats.org/officeDocument/2006/relationships/slide" Target="/ppt/slides/slide10.xml" Id="Ra454a3b524634056" /><Relationship Type="http://schemas.openxmlformats.org/officeDocument/2006/relationships/slide" Target="/ppt/slides/slide11.xml" Id="R0056c3710004449b" /><Relationship Type="http://schemas.openxmlformats.org/officeDocument/2006/relationships/slide" Target="/ppt/slides/slide12.xml" Id="Rd1a6bc31ebde41ca" /><Relationship Type="http://schemas.openxmlformats.org/officeDocument/2006/relationships/slide" Target="/ppt/slides/slide13.xml" Id="R6fcfedcd178a4a48" /><Relationship Type="http://schemas.openxmlformats.org/officeDocument/2006/relationships/slide" Target="/ppt/slides/slide14.xml" Id="Rb5a20aee2a724ca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7fae4d40e4d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d109d5ce643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178f0c69c4a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eb6bc145c4e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786e460c847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2a7b7930f46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5c9afd8a445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b6900efd8428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7722cd21541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67ee8eaa44a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534c4739a4dd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43a04c32849f4" /><Relationship Type="http://schemas.openxmlformats.org/officeDocument/2006/relationships/slideLayout" Target="/ppt/slideLayouts/slideLayout1.xml" Id="Ra4ee190b64384808" /><Relationship Type="http://schemas.openxmlformats.org/officeDocument/2006/relationships/slideLayout" Target="/ppt/slideLayouts/slideLayout2.xml" Id="Re1c4b4bfed174371" /><Relationship Type="http://schemas.openxmlformats.org/officeDocument/2006/relationships/slideLayout" Target="/ppt/slideLayouts/slideLayout3.xml" Id="R1f3356238bbd4911" /><Relationship Type="http://schemas.openxmlformats.org/officeDocument/2006/relationships/slideLayout" Target="/ppt/slideLayouts/slideLayout4.xml" Id="R2488fe556a5141e6" /><Relationship Type="http://schemas.openxmlformats.org/officeDocument/2006/relationships/slideLayout" Target="/ppt/slideLayouts/slideLayout5.xml" Id="R87951e973c80485b" /><Relationship Type="http://schemas.openxmlformats.org/officeDocument/2006/relationships/slideLayout" Target="/ppt/slideLayouts/slideLayout6.xml" Id="R576da75337cf4bb7" /><Relationship Type="http://schemas.openxmlformats.org/officeDocument/2006/relationships/slideLayout" Target="/ppt/slideLayouts/slideLayout7.xml" Id="R8c3bdc0f6c2042b7" /><Relationship Type="http://schemas.openxmlformats.org/officeDocument/2006/relationships/slideLayout" Target="/ppt/slideLayouts/slideLayout8.xml" Id="Rc5bb2b63cbfd4583" /><Relationship Type="http://schemas.openxmlformats.org/officeDocument/2006/relationships/slideLayout" Target="/ppt/slideLayouts/slideLayout9.xml" Id="R99417e6bb6e84088" /><Relationship Type="http://schemas.openxmlformats.org/officeDocument/2006/relationships/slideLayout" Target="/ppt/slideLayouts/slideLayout10.xml" Id="R54e3fc9d1af6471c" /><Relationship Type="http://schemas.openxmlformats.org/officeDocument/2006/relationships/slideLayout" Target="/ppt/slideLayouts/slideLayout11.xml" Id="Rde33b3ea3a6b415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e190b64384808"/>
    <p:sldLayoutId xmlns:r="http://schemas.openxmlformats.org/officeDocument/2006/relationships" id="2147483650" r:id="Re1c4b4bfed174371"/>
    <p:sldLayoutId xmlns:r="http://schemas.openxmlformats.org/officeDocument/2006/relationships" id="2147483651" r:id="R1f3356238bbd4911"/>
    <p:sldLayoutId xmlns:r="http://schemas.openxmlformats.org/officeDocument/2006/relationships" id="2147483652" r:id="R2488fe556a5141e6"/>
    <p:sldLayoutId xmlns:r="http://schemas.openxmlformats.org/officeDocument/2006/relationships" id="2147483653" r:id="R87951e973c80485b"/>
    <p:sldLayoutId xmlns:r="http://schemas.openxmlformats.org/officeDocument/2006/relationships" id="2147483654" r:id="R576da75337cf4bb7"/>
    <p:sldLayoutId xmlns:r="http://schemas.openxmlformats.org/officeDocument/2006/relationships" id="2147483655" r:id="R8c3bdc0f6c2042b7"/>
    <p:sldLayoutId xmlns:r="http://schemas.openxmlformats.org/officeDocument/2006/relationships" id="2147483656" r:id="Rc5bb2b63cbfd4583"/>
    <p:sldLayoutId xmlns:r="http://schemas.openxmlformats.org/officeDocument/2006/relationships" id="2147483657" r:id="R99417e6bb6e84088"/>
    <p:sldLayoutId xmlns:r="http://schemas.openxmlformats.org/officeDocument/2006/relationships" id="2147483658" r:id="R54e3fc9d1af6471c"/>
    <p:sldLayoutId xmlns:r="http://schemas.openxmlformats.org/officeDocument/2006/relationships" id="2147483659" r:id="Rde33b3ea3a6b4157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c4cfa9f4174c7c" /><Relationship Type="http://schemas.openxmlformats.org/officeDocument/2006/relationships/image" Target="/ppt/media/image.jpeg" Id="R055c3579bc4f4312" /><Relationship Type="http://schemas.openxmlformats.org/officeDocument/2006/relationships/image" Target="/ppt/media/image.png" Id="R9b6f84751ce24f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1f0dec40e440c8" /><Relationship Type="http://schemas.openxmlformats.org/officeDocument/2006/relationships/image" Target="/ppt/media/image2.jpeg" Id="R7b5d8f74504741a8" /><Relationship Type="http://schemas.openxmlformats.org/officeDocument/2006/relationships/image" Target="/ppt/media/image3.jpeg" Id="R713100d0828c49f0" /><Relationship Type="http://schemas.openxmlformats.org/officeDocument/2006/relationships/image" Target="/ppt/media/image2.png" Id="R755a4b3a693c4c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1c6fd66a744934" /><Relationship Type="http://schemas.openxmlformats.org/officeDocument/2006/relationships/image" Target="/ppt/media/image3.png" Id="Rfc01f72f1cbe49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df1d0fbe394b39" /><Relationship Type="http://schemas.openxmlformats.org/officeDocument/2006/relationships/image" Target="/ppt/media/image4.jpeg" Id="R79e85eb382364897" /><Relationship Type="http://schemas.openxmlformats.org/officeDocument/2006/relationships/image" Target="/ppt/media/image5.jpeg" Id="R644d93e8492f40ab" /><Relationship Type="http://schemas.openxmlformats.org/officeDocument/2006/relationships/image" Target="/ppt/media/image4.png" Id="R40e8122fe4f94e93" /><Relationship Type="http://schemas.openxmlformats.org/officeDocument/2006/relationships/image" Target="/ppt/media/image5.png" Id="R76879bd3bb7a4d75" /><Relationship Type="http://schemas.openxmlformats.org/officeDocument/2006/relationships/image" Target="/ppt/media/image6.png" Id="R57fd1a27c5654e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f62a9fbfc34223" /><Relationship Type="http://schemas.openxmlformats.org/officeDocument/2006/relationships/image" Target="/ppt/media/image6.jpeg" Id="R87d304b97b1341a2" /><Relationship Type="http://schemas.openxmlformats.org/officeDocument/2006/relationships/image" Target="/ppt/media/image7.jpeg" Id="R08b881c88da941d9" /><Relationship Type="http://schemas.openxmlformats.org/officeDocument/2006/relationships/image" Target="/ppt/media/image7.png" Id="R9c79eeafe636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b230f27090408e" /><Relationship Type="http://schemas.openxmlformats.org/officeDocument/2006/relationships/image" Target="/ppt/media/image2.jpeg" Id="R5a7d2f9b738948a9" /><Relationship Type="http://schemas.openxmlformats.org/officeDocument/2006/relationships/image" Target="/ppt/media/image8.jpeg" Id="R882da7890c574e1c" /><Relationship Type="http://schemas.openxmlformats.org/officeDocument/2006/relationships/image" Target="/ppt/media/image8.png" Id="Rd0033af984d647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ddbcf2dbad4dff" /><Relationship Type="http://schemas.openxmlformats.org/officeDocument/2006/relationships/image" Target="/ppt/media/image7.jpeg" Id="R19dbfd4201774027" /><Relationship Type="http://schemas.openxmlformats.org/officeDocument/2006/relationships/image" Target="/ppt/media/image9.jpeg" Id="Rb5871ffbf48e4a46" /><Relationship Type="http://schemas.openxmlformats.org/officeDocument/2006/relationships/image" Target="/ppt/media/image9.png" Id="Rdf0276b36d8242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44cda6bc92471e" /><Relationship Type="http://schemas.openxmlformats.org/officeDocument/2006/relationships/image" Target="/ppt/media/image10.png" Id="Reef2f73f1b55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de0c3aada1448f" /><Relationship Type="http://schemas.openxmlformats.org/officeDocument/2006/relationships/image" Target="/ppt/media/image4.jpeg" Id="Rdb7967e4094b43be" /><Relationship Type="http://schemas.openxmlformats.org/officeDocument/2006/relationships/image" Target="/ppt/media/image10.jpeg" Id="R8f9dd5716c394525" /><Relationship Type="http://schemas.openxmlformats.org/officeDocument/2006/relationships/image" Target="/ppt/media/image11.png" Id="Rb6fb63572f1946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f394255ff64843" /><Relationship Type="http://schemas.openxmlformats.org/officeDocument/2006/relationships/image" Target="/ppt/media/image12.png" Id="R9786bbb34b3f42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ea1a5a7779445f" /><Relationship Type="http://schemas.openxmlformats.org/officeDocument/2006/relationships/image" Target="/ppt/media/image11.jpeg" Id="R19a638a7607c4009" /><Relationship Type="http://schemas.openxmlformats.org/officeDocument/2006/relationships/image" Target="/ppt/media/image3.jpeg" Id="Rf2230bdff88b4ea1" /><Relationship Type="http://schemas.openxmlformats.org/officeDocument/2006/relationships/image" Target="/ppt/media/image13.png" Id="R4e97934aba9c46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6fa1a4a0594fea" /><Relationship Type="http://schemas.openxmlformats.org/officeDocument/2006/relationships/image" Target="/ppt/media/image7.jpeg" Id="R9e124869433c435c" /><Relationship Type="http://schemas.openxmlformats.org/officeDocument/2006/relationships/image" Target="/ppt/media/image9.jpeg" Id="R5024dc60abd045e8" /><Relationship Type="http://schemas.openxmlformats.org/officeDocument/2006/relationships/image" Target="/ppt/media/image14.png" Id="Reedf4440c27a43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38ba2962014005" /><Relationship Type="http://schemas.openxmlformats.org/officeDocument/2006/relationships/image" Target="/ppt/media/image12.jpeg" Id="R7fbddbf56456462e" /><Relationship Type="http://schemas.openxmlformats.org/officeDocument/2006/relationships/image" Target="/ppt/media/image15.png" Id="Ra82e6949278649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345c37ac2e47a2" /><Relationship Type="http://schemas.openxmlformats.org/officeDocument/2006/relationships/image" Target="/ppt/media/image2.jpeg" Id="Re8384681c3584177" /><Relationship Type="http://schemas.openxmlformats.org/officeDocument/2006/relationships/image" Target="/ppt/media/image16.png" Id="Re4c29081da1145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2E082235-AB98-4CF5-A292-B9FE5C7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1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c3579bc4f4312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900B54E5-1587-4129-AD63-3CD5266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F35"/>
          </a:solidFill>
          <a:ln xmlns:a="http://schemas.openxmlformats.org/drawingml/2006/main" w="11430">
            <a:solidFill>
              <a:srgbClr val="0B1F35"/>
            </a:solidFill>
            <a:prstDash val="solid"/>
          </a:ln>
        </p:spPr>
      </p:sp>
      <p:sp>
        <p:nvSpPr>
          <p:cNvPr id="45" name="cover-data-line-0">
            <a:extLst xmlns:a="http://schemas.openxmlformats.org/drawingml/2006/main">
              <a:ext uri="{FF2B5EF4-FFF2-40B4-BE49-F238E27FC236}">
                <a16:creationId xmlns:a16="http://schemas.microsoft.com/office/drawing/2014/main" id="{ECAA1F57-BA10-4BCC-974C-90A8C22C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1009650"/>
            <a:ext cx="26479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6" name="cover-data-line-1">
            <a:extLst xmlns:a="http://schemas.openxmlformats.org/drawingml/2006/main">
              <a:ext uri="{FF2B5EF4-FFF2-40B4-BE49-F238E27FC236}">
                <a16:creationId xmlns:a16="http://schemas.microsoft.com/office/drawing/2014/main" id="{B2BD239F-57B5-4BE1-9C11-996B46B7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1009650"/>
            <a:ext cx="22479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7" name="cover-data-line-2">
            <a:extLst xmlns:a="http://schemas.openxmlformats.org/drawingml/2006/main">
              <a:ext uri="{FF2B5EF4-FFF2-40B4-BE49-F238E27FC236}">
                <a16:creationId xmlns:a16="http://schemas.microsoft.com/office/drawing/2014/main" id="{EE2889E2-82C4-476F-8C7C-6D9874CA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76450" y="1009650"/>
            <a:ext cx="18478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8" name="cover-data-line-3">
            <a:extLst xmlns:a="http://schemas.openxmlformats.org/drawingml/2006/main">
              <a:ext uri="{FF2B5EF4-FFF2-40B4-BE49-F238E27FC236}">
                <a16:creationId xmlns:a16="http://schemas.microsoft.com/office/drawing/2014/main" id="{621A9690-5C0A-45F8-B9C9-0A606070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24150" y="1009650"/>
            <a:ext cx="14478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9" name="cover-data-line-4">
            <a:extLst xmlns:a="http://schemas.openxmlformats.org/drawingml/2006/main">
              <a:ext uri="{FF2B5EF4-FFF2-40B4-BE49-F238E27FC236}">
                <a16:creationId xmlns:a16="http://schemas.microsoft.com/office/drawing/2014/main" id="{096E9819-B5F6-40A4-8E20-20B67E6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1009650"/>
            <a:ext cx="10477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50" name="cover-data-line-5">
            <a:extLst xmlns:a="http://schemas.openxmlformats.org/drawingml/2006/main">
              <a:ext uri="{FF2B5EF4-FFF2-40B4-BE49-F238E27FC236}">
                <a16:creationId xmlns:a16="http://schemas.microsoft.com/office/drawing/2014/main" id="{7067B50E-18A7-47FD-A4EC-6A3F8EC3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1009650"/>
            <a:ext cx="6477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51" name="cover-data-line-6">
            <a:extLst xmlns:a="http://schemas.openxmlformats.org/drawingml/2006/main">
              <a:ext uri="{FF2B5EF4-FFF2-40B4-BE49-F238E27FC236}">
                <a16:creationId xmlns:a16="http://schemas.microsoft.com/office/drawing/2014/main" id="{1AB80E64-C172-4376-A6F4-E8BEF0F4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1009650"/>
            <a:ext cx="2476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f84751ce24f2c"/>
          <a:stretch xmlns:a="http://schemas.openxmlformats.org/drawingml/2006/main"/>
        </p:blipFill>
        <p:spPr>
          <a:xfrm xmlns:a="http://schemas.openxmlformats.org/drawingml/2006/main">
            <a:off x="6667500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8AD8C51F-0573-4B95-8B4B-4FC07C7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723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8A7296-8624-4723-9175-F491F9C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I</a:t>
            </a:r>
          </a:p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sobre una vista</a:t>
            </a:r>
          </a:p>
        </p:txBody>
      </p:sp>
      <p:sp>
        <p:nvSpPr>
          <p:cNvPr id="55" name="cover-rule">
            <a:extLst xmlns:a="http://schemas.openxmlformats.org/drawingml/2006/main">
              <a:ext uri="{FF2B5EF4-FFF2-40B4-BE49-F238E27FC236}">
                <a16:creationId xmlns:a16="http://schemas.microsoft.com/office/drawing/2014/main" id="{16387217-EDBF-412B-AD30-5D5AC215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5257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6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6890DFDE-F971-4D2A-834D-5358970F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5E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5E5E5"/>
                </a:solidFill>
                <a:latin typeface="Aptos"/>
                <a:ea typeface="Aptos"/>
                <a:cs typeface="Aptos"/>
              </a:rPr>
              <a:t>¿Cómo convertir una pregunta de negocio en una consulta ejecutable y verificable?</a:t>
            </a:r>
          </a:p>
        </p:txBody>
      </p:sp>
      <p:sp>
        <p:nvSpPr>
          <p:cNvPr id="57" name="cover-unit">
            <a:extLst xmlns:a="http://schemas.openxmlformats.org/drawingml/2006/main">
              <a:ext uri="{FF2B5EF4-FFF2-40B4-BE49-F238E27FC236}">
                <a16:creationId xmlns:a16="http://schemas.microsoft.com/office/drawing/2014/main" id="{446D8FF1-8583-4419-BA53-785562F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8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ABA23628-EB55-4952-A603-41E0D31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UNIDAD 3</a:t>
            </a:r>
          </a:p>
        </p:txBody>
      </p:sp>
      <p:sp>
        <p:nvSpPr>
          <p:cNvPr id="59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83700ABA-6BAE-4818-8260-2E2F4FF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096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0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0D0D0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4389F2B8-C173-4844-B019-FF1FC68E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8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d8f74504741a8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733CEE85-56D8-4F29-BCC4-018AD98E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0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100d0828c49f0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3367CDC0-F964-40AC-8ED8-9EFA9C1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a4b3a693c4ce1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C7C6A4E4-611C-4ECB-B67A-63AD142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91D28A2-D8B7-4475-90E8-89D000C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pregunta ejecutable declara su contrato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03A2358-CEAF-41A5-A625-10F7A802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4FF10353-500E-4E5C-861D-96EBBF38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SQL · ANTES DE ESCRIBIR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369677F-748E-4B14-9833-1437ACB6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D1BDA60D-5420-4807-B981-495BD246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67B3F6EF-CE01-45A8-BD1A-85E16580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Población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CF5427C1-297D-4414-BAA9-CF4DC9C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líneas vendidas en Patagonia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352D35D6-ED3F-456F-BBF5-75272E90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D1C6B0C3-F050-48AA-A6ED-D3F6B44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Métrica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CE007489-7D00-4880-B097-2D6C9EDC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venta neta y margen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A2C568C7-4ED8-4925-A99B-7FE9FE23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5BC931A0-6697-4FCD-A03D-691FAC15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Dimensión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F88B41C3-85AF-4734-A6D2-71838E6F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familia de producto</a:t>
            </a:r>
          </a:p>
        </p:txBody>
      </p:sp>
      <p:sp>
        <p:nvSpPr>
          <p:cNvPr id="73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CFFF6C81-525A-4953-96E6-CBBE83B7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F54ECB0A-4E00-4845-A7E3-020AD794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Período</a:t>
            </a:r>
          </a:p>
        </p:txBody>
      </p:sp>
      <p:sp>
        <p:nvSpPr>
          <p:cNvPr id="75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B145B24E-6FEC-4744-92CE-154EF232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76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7D79BB16-49F5-4526-9369-75F307D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7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C508369E-BA05-4E1B-9BDB-7F4ECBAB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78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E5F8410B-2F12-4B60-BC24-D461E4CA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regional</a:t>
            </a:r>
          </a:p>
        </p:txBody>
      </p:sp>
      <p:sp>
        <p:nvSpPr>
          <p:cNvPr id="79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5CAC5799-21F9-4AB9-8E8E-E9CFB067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715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La consulta implementa esta definición.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2A170611-5A2F-4C57-9411-CB22232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1f72f1cbe49d1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9E90151-4BBB-444A-B206-6AD5ED8C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A104745-4C4E-4571-AD93-A72459B0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 también define estructuras, cambios y permisos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6EFC5B5-6D7E-4266-8333-DE7EA26B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D64C757-E7E5-4AE1-A424-31CF4935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FAMILIAS DEL LENGUAJE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B5381B8-08D7-48D6-BA08-1FE7DA28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0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6022848"/>
                <a:gridCol w="6656832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</a:rPr>
                        <a:t>Propósito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</a:rPr>
                        <a:t>Ejemplos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DQL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Consultar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SELECT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DDL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Definir estructuras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CREATE · ALTER · DROP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DML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Modificar filas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INSERT · UPDATE · DELETE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DCL / TCL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Permisos y transacciones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FFFFFF"/>
                          </a:solidFill>
                        </a:rPr>
                        <a:t>GRANT · COMMIT · ROLLBACK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</a:tbl>
          </a:graphicData>
        </a:graphic>
      </p:graphicFrame>
      <p:sp>
        <p:nvSpPr>
          <p:cNvPr id="63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24F66C2F-D21D-4DB9-AAD9-2253F3B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La materia concentra la práctica en consultas y lectura de scripts.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DD49014D-8AA6-4DD4-B950-35A7AB32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6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85eb382364897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A2B68578-A2E8-409F-99FA-D542CE8D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8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d93e8492f40ab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D6B9D7-440F-44A8-8C75-316EF38D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8122fe4f94e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C79312-61EA-4C8F-8FBA-07002C1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79bd3bb7a4d7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9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778E3A26-1E7A-492F-92F0-9D0228B6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d1a27c5654ef0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35EA430-E7B7-4B45-8D4A-2630C707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509B546-46F3-4AD9-BDFD-A64C788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FROM fija el universo disponible</a:t>
            </a:r>
          </a:p>
        </p:txBody>
      </p:sp>
      <p:sp>
        <p:nvSpPr>
          <p:cNvPr id="63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5BFABDC-88E7-424F-87B8-523F8F01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4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ED05DBA-918B-4104-B645-BD36A3A6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SQL · FUENTE Y GRANO</a:t>
            </a:r>
          </a:p>
        </p:txBody>
      </p:sp>
      <p:sp>
        <p:nvSpPr>
          <p:cNvPr id="65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EC6DF60-9A4D-4704-859E-FA9E9D2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3169920"/>
                <a:gridCol w="3169920"/>
                <a:gridCol w="3169920"/>
                <a:gridCol w="3169920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fecha_pedido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venta_neta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2024-08-01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FSB-00001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Repuestos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3.744,00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2024-08-01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FSB-00235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Kits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659,60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2024-08-01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FSB-00235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Bombas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1.716,90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74FF325A-451D-44DB-B540-BE17D1C0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vw_ventas: una fila por línea de pedido.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70C0EC0-1A20-448C-91D7-66F75FD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304b97b1341a2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CC5A0164-B8AD-4357-90A2-7799D337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881c88da941d9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3C0FBF04-6E2A-40D2-A199-479ED779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9eeafe6364510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1EA7B7C-D1A0-4E9D-9085-8F0997D7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9F078D0-6964-45CC-8EB8-DF5BC7DD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 proyecta columnas; LIMIT acota la exploración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0D9777A-4505-41B2-A7F8-B37E090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5CA0B30-8B80-4610-BCDF-006CB79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PRIMERA CONSULTA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C7AC84F-4D70-4A6C-A280-E943055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77DFB884-37F9-44A3-9612-1C06CD7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68842417-402E-40FD-9132-CB36BD10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pedido,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producto,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cantidad,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venta_neta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vw_ventas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LIMIT 5;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952625"/>
                <a:gridCol w="1952625"/>
                <a:gridCol w="1952625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venta_neta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FSB-00001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Sello mecánico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3.744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FSB-00235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Kit preventivo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660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FSB-00235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Bomba 5 HP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1.717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CBC8ECB-18BE-4BD3-8C6D-DB9EA8A7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d2f9b738948a9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CF332B72-9EC1-48C5-A038-9A087623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da7890c574e1c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531D25F3-0B84-40BE-9327-AA5D028A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33af984d64707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A14FA97-9752-4866-9FB4-A224BAC4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7D0F14B-CFFB-4F99-8DBA-9E0B52CB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define la población analizada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59430E6-CD4F-4A01-8330-6246C7E3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87DA228-1DA9-43A8-8F9E-06103796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FILTRO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1111B19-24EB-4262-82AE-6BF3205B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07D28CBC-F314-4F38-8D0F-547DE01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9DCD7B67-B8E2-48A0-8F34-1FA0D7A3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pedido, familia, venta_neta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vw_ventas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WHERE region = 'Patagonia'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AND fecha_pedido &gt;= DATE '2026-01-01'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ORDER BY venta_neta DESC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LIMIT 3;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venta_neta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FSB-02541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Bombas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28.608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FSB-02498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Repuestos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27.940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FSB-02217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Bombas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26.350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15BF70B3-52C6-4EA0-99BC-5FF86074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bfd4201774027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37BDEE7-8C0F-481C-85B7-0ADD8B5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71ffbf48e4a46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A41140BF-8701-4BD4-9732-19886D3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276b36d82428e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48390FB-213B-49D5-A936-C176F7C8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7A269A2-636F-4E4E-8F34-0961335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 fecha seleccionada define el evento medido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9507B12-109C-4F2F-A855-EE6D08D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4C0A179D-001B-4F7B-AB1B-3DA7867F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SQL · TIEMPO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7176CDF-1243-4751-AFDD-549EF74F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82653579-1496-4EEA-897F-C19AE69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2D1B0A7B-9AD1-4CF5-B6AE-79D8A3B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fecha_pedido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041B3F28-A6E4-4331-BA20-B263A8B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Demanda comercial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D337A0C3-D4CD-4EF7-BFF0-F807FC9E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97B30614-CF5F-482B-854B-DBBBF1E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fecha_prometida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04DA93F3-EB16-4CD6-917E-6E507281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Compromiso de servicio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143D63D6-547B-47AC-9EB7-DAEF9CF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A870FB65-069D-4512-B00C-C4BDDEF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fecha_entrega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C2921976-892E-4421-8580-193BCAB9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Ejecución logística</a:t>
            </a:r>
          </a:p>
        </p:txBody>
      </p:sp>
      <p:sp>
        <p:nvSpPr>
          <p:cNvPr id="73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B803C4A2-4713-452A-BF0A-28597260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Un período idéntico puede contener poblaciones distintas según la fecha elegida.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79E34E92-8799-4B7A-87D6-91676EF6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2f73f1b554203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C5D1142-23BB-4684-BED4-FB77B48C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147667E-ED03-4923-A258-C1A94B5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 exige una regla visible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4BBFBFE-F763-45B7-95F0-7C8EBB45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7C4DB1B-C459-4D1A-B738-FF2852A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AUSENCIAS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AB506CA-4D13-4CF8-A450-C4F5E0D0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de-panel">
            <a:extLst xmlns:a="http://schemas.openxmlformats.org/drawingml/2006/main">
              <a:ext uri="{FF2B5EF4-FFF2-40B4-BE49-F238E27FC236}">
                <a16:creationId xmlns:a16="http://schemas.microsoft.com/office/drawing/2014/main" id="{EF8E69E7-CF64-42B1-8BDA-E028A8E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3" name="code-text">
            <a:extLst xmlns:a="http://schemas.openxmlformats.org/drawingml/2006/main">
              <a:ext uri="{FF2B5EF4-FFF2-40B4-BE49-F238E27FC236}">
                <a16:creationId xmlns:a16="http://schemas.microsoft.com/office/drawing/2014/main" id="{E0CFFF94-DA62-497F-95B1-903581CA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COUNT(*) AS filas_sin_region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vw_ventas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WHERE region IS NULL;</a:t>
            </a:r>
          </a:p>
        </p:txBody>
      </p:sp>
      <p:graphicFrame>
        <p:nvGraphicFramePr>
          <p:cNvPr id="114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filas_sin_region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65" name="code-note">
            <a:extLst xmlns:a="http://schemas.openxmlformats.org/drawingml/2006/main">
              <a:ext uri="{FF2B5EF4-FFF2-40B4-BE49-F238E27FC236}">
                <a16:creationId xmlns:a16="http://schemas.microsoft.com/office/drawing/2014/main" id="{9D0153E8-9665-425D-8AFC-9E9A6B0C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3342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IS NULL evalúa ausencia; = NULL nunca devuelve verdadero.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C1996F6E-5207-45A0-AC41-DFE4B7A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967e4094b43be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8D529725-F09B-4F78-923F-AEDB113D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dd5716c394525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7922D7C7-8656-4326-8B0D-7F6ED94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b63572f19462f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DC3F3EB-3A0A-48F6-A28B-336A90CA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4C68C69-0D7C-4C8E-A6D4-0111C15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COUNT responde según la unidad elegida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1A80A30-CA3D-4079-9D4B-78842F2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5150478-DAC7-4E0A-980E-E48E53E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CONTEOS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131E16B-B2A6-47C8-AF30-D009842F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AD35A564-435D-4DA1-B565-B66E26E0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14BFA0D0-95BF-42EA-B7C0-CCE053D7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COUNT(*) AS lineas,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COUNT(DISTINCT pedido) AS pedidos,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COUNT(DISTINCT cliente_id) AS clientes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vw_ventas;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líneas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pedidos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clientes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7.500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3.574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906DD788-048E-4512-B0B9-E13AF8EA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6bbb34b3f4283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B688585-B286-4068-B297-4625D5B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628920C-1C3F-4561-9E00-9AA6D77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BY cambia el grano del resultado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4F376FF-D5B9-4DDF-ACF5-DB9BAB3F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6C7E989-6109-4D66-94C1-16EA8A0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AGREGACIÓN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5D4B9C4-876A-4F4A-B2CD-5BC5DC2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3AD7ED6B-D1DD-4EAD-AFE3-BFC39BC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C9C18989-583C-40D9-8FE4-21A90799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familia,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SUM(venta_neta) AS ventas_usd,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SUM(margen_bruto) / SUM(venta_neta) AS margen_pct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vw_ventas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GROUP BY familia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ORDER BY ventas_usd DESC;</a:t>
            </a:r>
          </a:p>
        </p:txBody>
      </p:sp>
      <p:graphicFrame>
        <p:nvGraphicFramePr>
          <p:cNvPr id="119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ventas USD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margen %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Bombas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14.588.691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22,77 %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Repuestos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13.707.691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30,49 %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Kits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4.529.479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33,95 %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3C1D75DB-BA69-47D9-B28F-B41D9F8A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638a7607c4009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A3BC3262-8AEF-4113-B18A-F6960F8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30bdff88b4ea1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5EEC9AE6-F314-465A-86EB-3668EF0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7934aba9c464e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FDA2B1C-6895-4D9D-B595-94DC7B07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DD525FB-7EC1-439A-ACD6-BE00251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ratio agregado usa sumas compatibles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0476A1C-1BED-46AE-B04C-C03DCC6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2472B5B-4C53-46DA-88C5-490AAD76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RATIOS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99A2122-4576-4F39-BD85-1AF8640D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5FDC2310-69DB-46FD-806E-1F31674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5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96EE6A38-2979-4E06-B968-D30A9512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Promedio de porcentajes</a:t>
            </a:r>
          </a:p>
        </p:txBody>
      </p:sp>
      <p:sp>
        <p:nvSpPr>
          <p:cNvPr id="66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0A8832C2-6FB1-4C9C-B184-C95D0F82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27,1 %</a:t>
            </a:r>
          </a:p>
        </p:txBody>
      </p:sp>
      <p:sp>
        <p:nvSpPr>
          <p:cNvPr id="6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0C7CE7FF-B0E1-485E-8B5B-7B0C7146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Cada fila pesa lo mismo.</a:t>
            </a:r>
          </a:p>
        </p:txBody>
      </p:sp>
      <p:sp>
        <p:nvSpPr>
          <p:cNvPr id="68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70FC8692-2032-45A2-9FF6-30072719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F42437A2-6C03-45A2-9A3C-B4BA1983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Ratio ponderado</a:t>
            </a:r>
          </a:p>
        </p:txBody>
      </p:sp>
      <p:sp>
        <p:nvSpPr>
          <p:cNvPr id="70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535BC2A2-86BE-4990-A710-2B72FB8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27,53 %</a:t>
            </a:r>
          </a:p>
        </p:txBody>
      </p:sp>
      <p:sp>
        <p:nvSpPr>
          <p:cNvPr id="7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6AE2D464-0525-4FDB-B7A6-83E5DAC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Cada venta pesa por su denominador.</a:t>
            </a:r>
          </a:p>
        </p:txBody>
      </p:sp>
      <p:sp>
        <p:nvSpPr>
          <p:cNvPr id="72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8979B848-B7B4-4BD6-A475-7C19023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3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470A8296-0E1F-4658-82A3-60FF74F3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SUM(margen_bruto) / SUM(venta_neta) conserva el peso económico.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22C62BA8-B428-4D8A-9267-5266BEE2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24869433c435c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DA8B73CB-2C95-4304-809F-F7F44A1B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4dc60abd045e8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DF455657-5622-457A-92D2-8D5AD4E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f4440c27a4396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15DE177-3731-4FF7-AAF9-692D7ACE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D809F2E-4596-41D2-A4B7-0C8C414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convierte una regla de negocio en una categoría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3E7A63A-C97A-4097-B88A-F8BD875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0FA8DB7-FA66-4021-9E69-D0A569F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SQL · CLASIFICACIÓN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F5E1ACC-193C-4C5A-8007-BF92C4B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de-panel">
            <a:extLst xmlns:a="http://schemas.openxmlformats.org/drawingml/2006/main">
              <a:ext uri="{FF2B5EF4-FFF2-40B4-BE49-F238E27FC236}">
                <a16:creationId xmlns:a16="http://schemas.microsoft.com/office/drawing/2014/main" id="{69E32163-6A62-4F09-943D-F14EB2E1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7524750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0E2438"/>
          </a:solidFill>
          <a:ln xmlns:a="http://schemas.openxmlformats.org/drawingml/2006/main" w="11430">
            <a:solidFill>
              <a:srgbClr val="31546F"/>
            </a:solidFill>
            <a:prstDash val="solid"/>
          </a:ln>
        </p:spPr>
      </p:sp>
      <p:sp>
        <p:nvSpPr>
          <p:cNvPr id="65" name="code-text">
            <a:extLst xmlns:a="http://schemas.openxmlformats.org/drawingml/2006/main">
              <a:ext uri="{FF2B5EF4-FFF2-40B4-BE49-F238E27FC236}">
                <a16:creationId xmlns:a16="http://schemas.microsoft.com/office/drawing/2014/main" id="{E79514FC-A242-4B25-8C5E-9F9DB28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6953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SELECT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CASE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WHEN descuento_pct = 0 THEN 'Sin descuento'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WHEN descuento_pct &lt;= 0.05 THEN 'Hasta 5 %'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ELSE 'Más de 5 %'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END AS banda,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SUM(venta_neta) AS ventas_usd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FROM vw_ventas</a:t>
            </a:r>
          </a:p>
          <a:p xmlns:a="http://schemas.openxmlformats.org/drawingml/2006/main">
            <a:pPr algn="l">
              <a:defRPr sz="1725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GROUP BY banda;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9239250" y="3333750"/>
          <a:ext xmlns:a="http://schemas.openxmlformats.org/drawingml/2006/main" cx="7810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3500"/>
                <a:gridCol w="2603500"/>
                <a:gridCol w="2603500"/>
              </a:tblGrid>
              <a:tr h="7739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banda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ventas USD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</a:rPr>
                        <a:t>margen %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Más de 5 %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15.479.747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25,66 %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Hasta 5 %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14.795.164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28,93 %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Sin descuento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2.550.950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</a:rPr>
                        <a:t>30,81 %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5CA34F5-4DBC-4F95-82BA-CD36497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4AB0F1E-2565-420A-9D37-747BEC6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FD192D-FA6D-43E2-BE58-D783E9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422DC-EF62-410D-8B5D-B064BF3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F2F301-87AC-411C-8834-188D891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31BBC-5581-48F2-9421-BCEEE0C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FB136C3-F667-4D85-9BCE-E2A5946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E7AD1-74E9-4925-AE0A-E2F6D5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75F3A3-20E8-42E8-B898-B9A43C2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44596" h="795761">
                <a:moveTo>
                  <a:pt x="120733" y="0"/>
                </a:moveTo>
                <a:lnTo>
                  <a:pt x="723863" y="0"/>
                </a:lnTo>
                <a:cubicBezTo>
                  <a:pt x="790542" y="0"/>
                  <a:pt x="844596" y="54054"/>
                  <a:pt x="844596" y="120733"/>
                </a:cubicBezTo>
                <a:lnTo>
                  <a:pt x="844596" y="675028"/>
                </a:lnTo>
                <a:cubicBezTo>
                  <a:pt x="844596" y="707049"/>
                  <a:pt x="831876" y="737758"/>
                  <a:pt x="809234" y="760399"/>
                </a:cubicBezTo>
                <a:cubicBezTo>
                  <a:pt x="786592" y="783041"/>
                  <a:pt x="755884" y="795761"/>
                  <a:pt x="723863" y="795761"/>
                </a:cubicBezTo>
                <a:lnTo>
                  <a:pt x="120733" y="795761"/>
                </a:lnTo>
                <a:cubicBezTo>
                  <a:pt x="88712" y="795761"/>
                  <a:pt x="58004" y="783041"/>
                  <a:pt x="35362" y="760399"/>
                </a:cubicBezTo>
                <a:cubicBezTo>
                  <a:pt x="12720" y="737758"/>
                  <a:pt x="0" y="707049"/>
                  <a:pt x="0" y="675028"/>
                </a:cubicBezTo>
                <a:lnTo>
                  <a:pt x="0" y="120733"/>
                </a:lnTo>
                <a:cubicBezTo>
                  <a:pt x="0" y="88712"/>
                  <a:pt x="12720" y="58004"/>
                  <a:pt x="35362" y="35362"/>
                </a:cubicBezTo>
                <a:cubicBezTo>
                  <a:pt x="58004" y="12720"/>
                  <a:pt x="88712" y="0"/>
                  <a:pt x="12073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97B226-79C3-44C4-A621-B4A9D2F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55FE4C-4790-45BF-9D9F-40FA4F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41945" h="808283">
                <a:moveTo>
                  <a:pt x="158846" y="0"/>
                </a:moveTo>
                <a:lnTo>
                  <a:pt x="483098" y="0"/>
                </a:lnTo>
                <a:cubicBezTo>
                  <a:pt x="570827" y="0"/>
                  <a:pt x="641945" y="71118"/>
                  <a:pt x="641945" y="158846"/>
                </a:cubicBezTo>
                <a:lnTo>
                  <a:pt x="641945" y="649437"/>
                </a:lnTo>
                <a:cubicBezTo>
                  <a:pt x="641945" y="691565"/>
                  <a:pt x="625209" y="731968"/>
                  <a:pt x="595420" y="761758"/>
                </a:cubicBezTo>
                <a:cubicBezTo>
                  <a:pt x="565630" y="791547"/>
                  <a:pt x="525227" y="808283"/>
                  <a:pt x="483098" y="808283"/>
                </a:cubicBezTo>
                <a:lnTo>
                  <a:pt x="158846" y="808283"/>
                </a:lnTo>
                <a:cubicBezTo>
                  <a:pt x="71118" y="808283"/>
                  <a:pt x="0" y="737165"/>
                  <a:pt x="0" y="649437"/>
                </a:cubicBezTo>
                <a:lnTo>
                  <a:pt x="0" y="158846"/>
                </a:lnTo>
                <a:cubicBezTo>
                  <a:pt x="0" y="116717"/>
                  <a:pt x="16736" y="76314"/>
                  <a:pt x="46525" y="46525"/>
                </a:cubicBezTo>
                <a:cubicBezTo>
                  <a:pt x="76314" y="16736"/>
                  <a:pt x="116717" y="0"/>
                  <a:pt x="1588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36B6EB-24D9-4538-8DD1-BF086BB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87079-3B56-4EE5-B5E0-37FC9E8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1F065C-5747-499F-A9AE-D87EF1A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2BD61B6-36E2-4D26-9490-B2886A4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BACF5B-CE61-4E6E-9E12-B3DB68C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A89D72-A050-4FA1-B176-EB9B88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563615-4656-4A13-A7F8-7D6F974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2C19130-9608-43E0-8A2E-F4092E6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3C28233-1725-44E6-B5D7-329E69F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55428" h="714183">
                <a:moveTo>
                  <a:pt x="0" y="0"/>
                </a:moveTo>
                <a:lnTo>
                  <a:pt x="955428" y="0"/>
                </a:lnTo>
                <a:lnTo>
                  <a:pt x="955428" y="714183"/>
                </a:lnTo>
                <a:lnTo>
                  <a:pt x="0" y="7141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FF148B4-8F7B-4477-BACE-0EADA2C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85221" h="816616">
                <a:moveTo>
                  <a:pt x="0" y="0"/>
                </a:moveTo>
                <a:lnTo>
                  <a:pt x="885221" y="0"/>
                </a:lnTo>
                <a:lnTo>
                  <a:pt x="885221" y="816617"/>
                </a:lnTo>
                <a:lnTo>
                  <a:pt x="0" y="816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9EAB80-2129-4CA0-AF83-827CDFF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D4D8900-E18C-4ADE-A944-48B149A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AAECBF9-3013-4570-B093-A066D5F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3912" h="772604">
                <a:moveTo>
                  <a:pt x="0" y="0"/>
                </a:moveTo>
                <a:lnTo>
                  <a:pt x="763912" y="0"/>
                </a:lnTo>
                <a:lnTo>
                  <a:pt x="763912" y="772604"/>
                </a:lnTo>
                <a:lnTo>
                  <a:pt x="0" y="7726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A08805D-932F-4647-B6D8-09FFBA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8668" h="724470">
                <a:moveTo>
                  <a:pt x="0" y="0"/>
                </a:moveTo>
                <a:lnTo>
                  <a:pt x="768668" y="0"/>
                </a:lnTo>
                <a:lnTo>
                  <a:pt x="768668" y="724470"/>
                </a:lnTo>
                <a:lnTo>
                  <a:pt x="0" y="724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A81109E-2AFE-4860-827B-63CAE0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23802" h="823673">
                <a:moveTo>
                  <a:pt x="0" y="0"/>
                </a:moveTo>
                <a:lnTo>
                  <a:pt x="723802" y="0"/>
                </a:lnTo>
                <a:lnTo>
                  <a:pt x="723802" y="823673"/>
                </a:lnTo>
                <a:lnTo>
                  <a:pt x="0" y="8236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BE351C9-C9CC-4817-B011-17E4E3C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  <a:defRPr>
                <a:solidFill>
                  <a:srgbClr val="FFFF33"/>
                </a:solidFill>
              </a:defRPr>
            </a:pP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5F0A71-346D-42E8-BBA6-5936B4B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BA30B48-2377-412E-9BB6-C6E5479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5649AF-9B41-4038-8713-71A945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F62990D-6B5A-43AB-B034-5C40FD3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F80110-0A51-4AD7-A975-50AE7C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2B85D2-1392-4CE5-B88B-3DCF851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D7EDECD-8E58-4C11-8F9C-C78DD6B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F27DD5D-8663-4B48-A3CE-7DB580B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22412A-A7CA-4AE5-BCB2-383D3C2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65311EE-4C12-4337-B1D8-33699F7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744AD71-D274-46CC-968C-D88A235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359B128-FC21-45FE-8BBA-5362ABE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7995F44-8E0D-46EA-AD8B-B675712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17ABC8A-7ACE-41E4-9DD2-DF8E835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38733CB-BF01-489F-98D1-3187B3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5876EF-C5CF-42AF-8D75-1114D9D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DAE403-0B56-4549-A38F-19114A8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215BA60-70AB-41C5-970B-97A5BE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D65A21E-AAA6-43AB-B0EB-A5F764E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62" name="Imagen 108">
            <a:extLst xmlns:a="http://schemas.openxmlformats.org/drawingml/2006/main">
              <a:ext uri="{FF2B5EF4-FFF2-40B4-BE49-F238E27FC236}">
                <a16:creationId xmlns:a16="http://schemas.microsoft.com/office/drawing/2014/main" id="{A33626ED-9164-41B7-B57E-849A279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3" name="Imagen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ddbf56456462e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9455"/>
            </a:avLst>
          </a:prstGeom>
        </p:spPr>
      </p:pic>
      <p:sp>
        <p:nvSpPr>
          <p:cNvPr id="63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115F5977-1311-4450-8BA2-CB0EB2C0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e69492786492f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929FADAB-489C-4C68-B73D-E192A62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EE80D99-C657-45AB-B94C-984F9814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auditoría convierte SQL asistido por IA en evidencia</a:t>
            </a:r>
          </a:p>
        </p:txBody>
      </p:sp>
      <p:sp>
        <p:nvSpPr>
          <p:cNvPr id="67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8CD9AA6-D731-4BCD-9AC3-A0A7F94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8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DDDCD55-ED35-4DE2-BA1A-54E10BE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IA · CONTROL DE CONSULTAS</a:t>
            </a:r>
          </a:p>
        </p:txBody>
      </p:sp>
      <p:sp>
        <p:nvSpPr>
          <p:cNvPr id="69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27A2152-1D9F-4938-AE99-D31E6D6E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70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3EFB75CF-5C58-49D7-83CD-9A87C09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1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A68D7939-F5E7-4481-9358-B006A315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Fuente</a:t>
            </a:r>
          </a:p>
        </p:txBody>
      </p:sp>
      <p:sp>
        <p:nvSpPr>
          <p:cNvPr id="72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A7B1333D-0D77-43CD-AE98-5855B2A6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¿Existe la tabla?</a:t>
            </a:r>
          </a:p>
        </p:txBody>
      </p:sp>
      <p:sp>
        <p:nvSpPr>
          <p:cNvPr id="73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004C4E4D-8E24-42FA-8866-CCFF96D3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4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A0E40235-1EC3-47B5-8311-C1B1D230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Campos</a:t>
            </a:r>
          </a:p>
        </p:txBody>
      </p:sp>
      <p:sp>
        <p:nvSpPr>
          <p:cNvPr id="75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6F3EB7CC-A165-47BB-BAB3-69501BDB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¿Existen y significan lo esperado?</a:t>
            </a:r>
          </a:p>
        </p:txBody>
      </p:sp>
      <p:sp>
        <p:nvSpPr>
          <p:cNvPr id="76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3192B941-D998-49B4-B81C-9BF827A8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7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0253C8D8-6E88-4865-B89F-1299590F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Grano</a:t>
            </a:r>
          </a:p>
        </p:txBody>
      </p:sp>
      <p:sp>
        <p:nvSpPr>
          <p:cNvPr id="78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6F234E07-E18C-4841-A857-32EDEE3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¿Qué representa cada fila?</a:t>
            </a:r>
          </a:p>
        </p:txBody>
      </p:sp>
      <p:sp>
        <p:nvSpPr>
          <p:cNvPr id="79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7CB9FC64-C8CF-44BB-845F-D280129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0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653365AB-FC6E-4728-998C-F93C456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Ejecución</a:t>
            </a:r>
          </a:p>
        </p:txBody>
      </p:sp>
      <p:sp>
        <p:nvSpPr>
          <p:cNvPr id="81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E41907F2-18B7-4278-B942-31B0CDBB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¿La consulta corre?</a:t>
            </a:r>
          </a:p>
        </p:txBody>
      </p:sp>
      <p:sp>
        <p:nvSpPr>
          <p:cNvPr id="82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EBC4BDF6-F2BA-4088-82D1-6362F1B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3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36CCF89F-6155-4545-9A99-531C594F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Reconciliación</a:t>
            </a:r>
          </a:p>
        </p:txBody>
      </p:sp>
      <p:sp>
        <p:nvSpPr>
          <p:cNvPr id="84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467382A9-47BE-454D-83D0-EAE941F8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¿Coincide con un total seguro?</a:t>
            </a:r>
          </a:p>
        </p:txBody>
      </p:sp>
      <p:sp>
        <p:nvSpPr>
          <p:cNvPr id="85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CB49E25A-3582-4E65-A4E7-BEDB0AAE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715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Se conserva prompt, consulta, resultado y corrección.</a:t>
            </a:r>
          </a:p>
        </p:txBody>
      </p:sp>
    </p:spTree>
    <p:extLst>
      <p:ext uri="{BB962C8B-B14F-4D97-AF65-F5344CB8AC3E}">
        <p14:creationId xmlns:p14="http://schemas.microsoft.com/office/powerpoint/2010/main" val="9582169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90B0BDCB-3107-4FDD-8758-9514AF78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8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84681c3584177"/>
          <a:srcRect xmlns:a="http://schemas.openxmlformats.org/drawingml/2006/main" l="27764" t="0" r="27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close-band">
            <a:extLst xmlns:a="http://schemas.openxmlformats.org/drawingml/2006/main">
              <a:ext uri="{FF2B5EF4-FFF2-40B4-BE49-F238E27FC236}">
                <a16:creationId xmlns:a16="http://schemas.microsoft.com/office/drawing/2014/main" id="{94ABB649-B796-4F14-8913-970046E0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F35"/>
          </a:solidFill>
          <a:ln xmlns:a="http://schemas.openxmlformats.org/drawingml/2006/main" w="11430">
            <a:solidFill>
              <a:srgbClr val="0B1F35"/>
            </a:solidFill>
            <a:prstDash val="solid"/>
          </a:ln>
        </p:spPr>
      </p:sp>
      <p:sp>
        <p:nvSpPr>
          <p:cNvPr id="45" name="close-line-0">
            <a:extLst xmlns:a="http://schemas.openxmlformats.org/drawingml/2006/main">
              <a:ext uri="{FF2B5EF4-FFF2-40B4-BE49-F238E27FC236}">
                <a16:creationId xmlns:a16="http://schemas.microsoft.com/office/drawing/2014/main" id="{879109A9-5E90-4465-BA28-8111F63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1143000"/>
            <a:ext cx="38100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F497D"/>
            </a:solidFill>
            <a:prstDash val="solid"/>
          </a:ln>
        </p:spPr>
      </p:sp>
      <p:sp>
        <p:nvSpPr>
          <p:cNvPr id="46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2E6AB05B-830E-4584-8352-3B80B3AF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2333625"/>
            <a:ext cx="38100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4F81BD"/>
            </a:solidFill>
            <a:prstDash val="solid"/>
          </a:ln>
        </p:spPr>
      </p:sp>
      <p:sp>
        <p:nvSpPr>
          <p:cNvPr id="47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8655F088-042C-4C24-AC9C-E438E44C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3524250"/>
            <a:ext cx="38100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F497D"/>
            </a:solidFill>
            <a:prstDash val="solid"/>
          </a:ln>
        </p:spPr>
      </p:sp>
      <p:sp>
        <p:nvSpPr>
          <p:cNvPr id="48" name="close-line-3">
            <a:extLst xmlns:a="http://schemas.openxmlformats.org/drawingml/2006/main">
              <a:ext uri="{FF2B5EF4-FFF2-40B4-BE49-F238E27FC236}">
                <a16:creationId xmlns:a16="http://schemas.microsoft.com/office/drawing/2014/main" id="{AE89EDCF-965F-4C52-AE44-72E9A70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4714875"/>
            <a:ext cx="38100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4F81BD"/>
            </a:solidFill>
            <a:prstDash val="solid"/>
          </a:ln>
        </p:spPr>
      </p:sp>
      <p:sp>
        <p:nvSpPr>
          <p:cNvPr id="49" name="close-line-4">
            <a:extLst xmlns:a="http://schemas.openxmlformats.org/drawingml/2006/main">
              <a:ext uri="{FF2B5EF4-FFF2-40B4-BE49-F238E27FC236}">
                <a16:creationId xmlns:a16="http://schemas.microsoft.com/office/drawing/2014/main" id="{7651A5E6-5CC7-4893-AF0C-E0469B0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5905500"/>
            <a:ext cx="38100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F497D"/>
            </a:solidFill>
            <a:prstDash val="solid"/>
          </a:ln>
        </p:spPr>
      </p:sp>
      <p:sp>
        <p:nvSpPr>
          <p:cNvPr id="50" name="close-line-5">
            <a:extLst xmlns:a="http://schemas.openxmlformats.org/drawingml/2006/main">
              <a:ext uri="{FF2B5EF4-FFF2-40B4-BE49-F238E27FC236}">
                <a16:creationId xmlns:a16="http://schemas.microsoft.com/office/drawing/2014/main" id="{AB4DE21E-2C63-4474-898F-F5D5A5B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70961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4F81BD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29081da1145dd"/>
          <a:stretch xmlns:a="http://schemas.openxmlformats.org/drawingml/2006/main"/>
        </p:blipFill>
        <p:spPr>
          <a:xfrm xmlns:a="http://schemas.openxmlformats.org/drawingml/2006/main">
            <a:off x="6191250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9152BD14-9A91-4F30-BE5D-0A6D0AB2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239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CIERRE · EVIDENCIA</a:t>
            </a:r>
          </a:p>
        </p:txBody>
      </p:sp>
      <p:sp>
        <p:nvSpPr>
          <p:cNvPr id="5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64ED1A9-B6DA-4BA9-B220-4069B63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 consulta entrega</a:t>
            </a:r>
          </a:p>
          <a:p xmlns:a="http://schemas.openxmlformats.org/drawingml/2006/main">
            <a:pPr algn="l">
              <a:defRPr sz="4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4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resultado, límite y acción</a:t>
            </a:r>
          </a:p>
        </p:txBody>
      </p:sp>
      <p:sp>
        <p:nvSpPr>
          <p:cNvPr id="54" name="close-rule">
            <a:extLst xmlns:a="http://schemas.openxmlformats.org/drawingml/2006/main">
              <a:ext uri="{FF2B5EF4-FFF2-40B4-BE49-F238E27FC236}">
                <a16:creationId xmlns:a16="http://schemas.microsoft.com/office/drawing/2014/main" id="{490AACCF-CE18-46AF-8864-E2D881C2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52863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5" name="close-body">
            <a:extLst xmlns:a="http://schemas.openxmlformats.org/drawingml/2006/main">
              <a:ext uri="{FF2B5EF4-FFF2-40B4-BE49-F238E27FC236}">
                <a16:creationId xmlns:a16="http://schemas.microsoft.com/office/drawing/2014/main" id="{158B137C-19BC-46AB-8D1D-085C741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3E3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3E3E3"/>
                </a:solidFill>
                <a:latin typeface="Aptos"/>
                <a:ea typeface="Aptos"/>
                <a:cs typeface="Aptos"/>
              </a:rPr>
              <a:t>Registrar la pregunta, el SQL ejecutado y un valor observado. Declarar el dato faltante antes de recomendar.</a:t>
            </a:r>
          </a:p>
        </p:txBody>
      </p:sp>
      <p:sp>
        <p:nvSpPr>
          <p:cNvPr id="56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A978BEBB-7517-4A37-B2BA-0AF5FF05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477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8C8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2026-08-12T01:38:36.5600000Z</dcterms:created>
  <dcterms:modified xsi:type="dcterms:W3CDTF">2026-08-12T01:38:36.5600000Z</dcterms:modified>
</coreProperties>
</file>