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d755d572554fd1" /><Relationship Type="http://schemas.openxmlformats.org/officeDocument/2006/relationships/extended-properties" Target="/docProps/app.xml" Id="Rbb843991adb34624" /><Relationship Type="http://schemas.openxmlformats.org/officeDocument/2006/relationships/officeDocument" Target="/ppt/presentation.xml" Id="Rb750041f304a48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237e97967e4e80"/>
  </p:sldMasterIdLst>
  <p:sldIdLst>
    <p:sldId xmlns:r="http://schemas.openxmlformats.org/officeDocument/2006/relationships" id="256" r:id="R8e2f15e3123548c5"/>
    <p:sldId xmlns:r="http://schemas.openxmlformats.org/officeDocument/2006/relationships" id="257" r:id="Rab51b5e6cd5f440e"/>
    <p:sldId xmlns:r="http://schemas.openxmlformats.org/officeDocument/2006/relationships" id="258" r:id="R2b232cd849524502"/>
    <p:sldId xmlns:r="http://schemas.openxmlformats.org/officeDocument/2006/relationships" id="259" r:id="R07769aa956af4ea7"/>
    <p:sldId xmlns:r="http://schemas.openxmlformats.org/officeDocument/2006/relationships" id="260" r:id="Rc393f89f363c46fb"/>
    <p:sldId xmlns:r="http://schemas.openxmlformats.org/officeDocument/2006/relationships" id="261" r:id="R71a79d8bcca14444"/>
    <p:sldId xmlns:r="http://schemas.openxmlformats.org/officeDocument/2006/relationships" id="262" r:id="R338bda5f7a4e4f4e"/>
    <p:sldId xmlns:r="http://schemas.openxmlformats.org/officeDocument/2006/relationships" id="263" r:id="R90bd8d7dfe7a4437"/>
    <p:sldId xmlns:r="http://schemas.openxmlformats.org/officeDocument/2006/relationships" id="264" r:id="Rd1b612af0ed7435a"/>
    <p:sldId xmlns:r="http://schemas.openxmlformats.org/officeDocument/2006/relationships" id="265" r:id="R443da37550b342d9"/>
    <p:sldId xmlns:r="http://schemas.openxmlformats.org/officeDocument/2006/relationships" id="266" r:id="Rb82b0f7f6d514008"/>
    <p:sldId xmlns:r="http://schemas.openxmlformats.org/officeDocument/2006/relationships" id="267" r:id="R0069d459df704cc0"/>
    <p:sldId xmlns:r="http://schemas.openxmlformats.org/officeDocument/2006/relationships" id="268" r:id="R3074a5f7a7b147e9"/>
    <p:sldId xmlns:r="http://schemas.openxmlformats.org/officeDocument/2006/relationships" id="269" r:id="R3e7f2433da624fc4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c1d6b41ac749a4" /><Relationship Type="http://schemas.openxmlformats.org/officeDocument/2006/relationships/slideMaster" Target="/ppt/slideMasters/slideMaster1.xml" Id="Rde237e97967e4e80" /><Relationship Type="http://schemas.openxmlformats.org/officeDocument/2006/relationships/presProps" Target="/ppt/presProps.xml" Id="Rb1e0266feb614fd2" /><Relationship Type="http://schemas.openxmlformats.org/officeDocument/2006/relationships/tableStyles" Target="/ppt/tableStyles.xml" Id="R2468860b29894dfb" /><Relationship Type="http://schemas.openxmlformats.org/officeDocument/2006/relationships/slide" Target="/ppt/slides/slide1.xml" Id="R8e2f15e3123548c5" /><Relationship Type="http://schemas.openxmlformats.org/officeDocument/2006/relationships/slide" Target="/ppt/slides/slide2.xml" Id="Rab51b5e6cd5f440e" /><Relationship Type="http://schemas.openxmlformats.org/officeDocument/2006/relationships/slide" Target="/ppt/slides/slide3.xml" Id="R2b232cd849524502" /><Relationship Type="http://schemas.openxmlformats.org/officeDocument/2006/relationships/slide" Target="/ppt/slides/slide4.xml" Id="R07769aa956af4ea7" /><Relationship Type="http://schemas.openxmlformats.org/officeDocument/2006/relationships/slide" Target="/ppt/slides/slide5.xml" Id="Rc393f89f363c46fb" /><Relationship Type="http://schemas.openxmlformats.org/officeDocument/2006/relationships/slide" Target="/ppt/slides/slide6.xml" Id="R71a79d8bcca14444" /><Relationship Type="http://schemas.openxmlformats.org/officeDocument/2006/relationships/slide" Target="/ppt/slides/slide7.xml" Id="R338bda5f7a4e4f4e" /><Relationship Type="http://schemas.openxmlformats.org/officeDocument/2006/relationships/slide" Target="/ppt/slides/slide8.xml" Id="R90bd8d7dfe7a4437" /><Relationship Type="http://schemas.openxmlformats.org/officeDocument/2006/relationships/slide" Target="/ppt/slides/slide9.xml" Id="Rd1b612af0ed7435a" /><Relationship Type="http://schemas.openxmlformats.org/officeDocument/2006/relationships/slide" Target="/ppt/slides/slide10.xml" Id="R443da37550b342d9" /><Relationship Type="http://schemas.openxmlformats.org/officeDocument/2006/relationships/slide" Target="/ppt/slides/slide11.xml" Id="Rb82b0f7f6d514008" /><Relationship Type="http://schemas.openxmlformats.org/officeDocument/2006/relationships/slide" Target="/ppt/slides/slide12.xml" Id="R0069d459df704cc0" /><Relationship Type="http://schemas.openxmlformats.org/officeDocument/2006/relationships/slide" Target="/ppt/slides/slide13.xml" Id="R3074a5f7a7b147e9" /><Relationship Type="http://schemas.openxmlformats.org/officeDocument/2006/relationships/slide" Target="/ppt/slides/slide14.xml" Id="R3e7f2433da624fc4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9e41074a5b4f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2ff0b58700402a" /><Relationship Type="http://schemas.openxmlformats.org/officeDocument/2006/relationships/slideLayout" Target="/ppt/slideLayouts/slideLayout1.xml" Id="R8fa73e2f932344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a73e2f932344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6cb26e97f4af4" /><Relationship Type="http://schemas.openxmlformats.org/officeDocument/2006/relationships/image" Target="/ppt/media/image.jpeg" Id="R7cb16356d3d6475a" /><Relationship Type="http://schemas.openxmlformats.org/officeDocument/2006/relationships/image" Target="/ppt/media/image.png" Id="R73cdc8152f9745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3a012c018411d" /><Relationship Type="http://schemas.openxmlformats.org/officeDocument/2006/relationships/image" Target="/ppt/media/image2.png" Id="Ra883cb19969943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3dea68de743c5" /><Relationship Type="http://schemas.openxmlformats.org/officeDocument/2006/relationships/image" Target="/ppt/media/image3.png" Id="Rd828b6a1a8854a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d79e1fc074d00" /><Relationship Type="http://schemas.openxmlformats.org/officeDocument/2006/relationships/image" Target="/ppt/media/image4.png" Id="R3aa4a6dfeb044c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308450c094388" /><Relationship Type="http://schemas.openxmlformats.org/officeDocument/2006/relationships/image" Target="/ppt/media/image5.png" Id="R86b7db2026bf4e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89687437d4bd2" /><Relationship Type="http://schemas.openxmlformats.org/officeDocument/2006/relationships/image" Target="/ppt/media/image6.png" Id="R26d0f9a4da7649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84281dd0648db" /><Relationship Type="http://schemas.openxmlformats.org/officeDocument/2006/relationships/image" Target="/ppt/media/image2.jpeg" Id="Rf362be5a88f4432e" /><Relationship Type="http://schemas.openxmlformats.org/officeDocument/2006/relationships/image" Target="/ppt/media/image7.png" Id="R32dbc9532c6d40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a6f63709a4e80" /><Relationship Type="http://schemas.openxmlformats.org/officeDocument/2006/relationships/image" Target="/ppt/media/image8.png" Id="R6a7fb6d08c6f46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bf7de9972404f" /><Relationship Type="http://schemas.openxmlformats.org/officeDocument/2006/relationships/image" Target="/ppt/media/image9.png" Id="Rd5ffee5a909e4b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8e96cec32421e" /><Relationship Type="http://schemas.openxmlformats.org/officeDocument/2006/relationships/image" Target="/ppt/media/image10.png" Id="R1990a31a0273461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2d4e515284481" /><Relationship Type="http://schemas.openxmlformats.org/officeDocument/2006/relationships/image" Target="/ppt/media/image11.png" Id="R46e5935e87ff4a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db5df755f4bef" /><Relationship Type="http://schemas.openxmlformats.org/officeDocument/2006/relationships/image" Target="/ppt/media/image12.png" Id="Rae571618121b4e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c97c7db0f4402" /><Relationship Type="http://schemas.openxmlformats.org/officeDocument/2006/relationships/image" Target="/ppt/media/image13.png" Id="R8a47ea57b743430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7e4a24e78496f" /><Relationship Type="http://schemas.openxmlformats.org/officeDocument/2006/relationships/image" Target="/ppt/media/image3.jpeg" Id="Ra509b3c5a7054bfc" /><Relationship Type="http://schemas.openxmlformats.org/officeDocument/2006/relationships/image" Target="/ppt/media/image14.png" Id="R1a9f7a4c3e0b4a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cove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16356d3d6475a"/>
          <a:srcRect xmlns:a="http://schemas.openxmlformats.org/drawingml/2006/main" l="33073" t="0" r="330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9125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cover-photo-rule">
            <a:extLst xmlns:a="http://schemas.openxmlformats.org/drawingml/2006/main">
              <a:ext uri="{FF2B5EF4-FFF2-40B4-BE49-F238E27FC236}">
                <a16:creationId xmlns:a16="http://schemas.microsoft.com/office/drawing/2014/main" id="{6DB9EE05-58CF-4181-8B2C-15158D2D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0"/>
            <a:ext cx="171450" cy="1028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3" name="cover-photo-tab">
            <a:extLst xmlns:a="http://schemas.openxmlformats.org/drawingml/2006/main">
              <a:ext uri="{FF2B5EF4-FFF2-40B4-BE49-F238E27FC236}">
                <a16:creationId xmlns:a16="http://schemas.microsoft.com/office/drawing/2014/main" id="{2F68BAAD-A2A6-4DE7-B04D-DD637CA2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210550"/>
            <a:ext cx="1809750" cy="247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4" name="cover-rail">
            <a:extLst xmlns:a="http://schemas.openxmlformats.org/drawingml/2006/main">
              <a:ext uri="{FF2B5EF4-FFF2-40B4-BE49-F238E27FC236}">
                <a16:creationId xmlns:a16="http://schemas.microsoft.com/office/drawing/2014/main" id="{A17863FE-EC81-4840-9B4E-C2FEC692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0"/>
            <a:ext cx="333375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dc8152f974587"/>
          <a:stretch xmlns:a="http://schemas.openxmlformats.org/drawingml/2006/main"/>
        </p:blipFill>
        <p:spPr>
          <a:xfrm xmlns:a="http://schemas.openxmlformats.org/drawingml/2006/main">
            <a:off x="7000875" y="62648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" name="cover-brand">
            <a:extLst xmlns:a="http://schemas.openxmlformats.org/drawingml/2006/main">
              <a:ext uri="{FF2B5EF4-FFF2-40B4-BE49-F238E27FC236}">
                <a16:creationId xmlns:a16="http://schemas.microsoft.com/office/drawing/2014/main" id="{228AE44D-FCB7-4FC4-B7D3-643F7C9F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6667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7" name="cover-program">
            <a:extLst xmlns:a="http://schemas.openxmlformats.org/drawingml/2006/main">
              <a:ext uri="{FF2B5EF4-FFF2-40B4-BE49-F238E27FC236}">
                <a16:creationId xmlns:a16="http://schemas.microsoft.com/office/drawing/2014/main" id="{F84D1B23-5838-4CA9-8BA0-6BFFF83F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9715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 · 2026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4142AC3-BB52-4B7D-81CA-2119A045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57450"/>
            <a:ext cx="971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54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Hito 2</a:t>
            </a:r>
          </a:p>
          <a:p xmlns:a="http://schemas.openxmlformats.org/drawingml/2006/main">
            <a:pPr algn="l">
              <a:defRPr sz="54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54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y </a:t>
            </a:r>
            <a:r>
              <a:rPr sz="54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storytelling</a:t>
            </a:r>
          </a:p>
        </p:txBody>
      </p:sp>
      <p:sp>
        <p:nvSpPr>
          <p:cNvPr id="9" name="cover-rule">
            <a:extLst xmlns:a="http://schemas.openxmlformats.org/drawingml/2006/main">
              <a:ext uri="{FF2B5EF4-FFF2-40B4-BE49-F238E27FC236}">
                <a16:creationId xmlns:a16="http://schemas.microsoft.com/office/drawing/2014/main" id="{18C204C6-2CEE-4865-B62D-1FD34444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00875" y="5667375"/>
            <a:ext cx="881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33"/>
            </a:solidFill>
            <a:prstDash val="solid"/>
          </a:ln>
        </p:spPr>
      </p:sp>
      <p:sp>
        <p:nvSpPr>
          <p:cNvPr id="10" name="cover-question-label">
            <a:extLst xmlns:a="http://schemas.openxmlformats.org/drawingml/2006/main">
              <a:ext uri="{FF2B5EF4-FFF2-40B4-BE49-F238E27FC236}">
                <a16:creationId xmlns:a16="http://schemas.microsoft.com/office/drawing/2014/main" id="{4650A0CA-4ABC-419A-AFBA-8BCD74BA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04837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PREGUNTA DE APERTURA</a:t>
            </a:r>
          </a:p>
        </p:txBody>
      </p:sp>
      <p:sp>
        <p:nvSpPr>
          <p:cNvPr id="11" name="cover-question">
            <a:extLst xmlns:a="http://schemas.openxmlformats.org/drawingml/2006/main">
              <a:ext uri="{FF2B5EF4-FFF2-40B4-BE49-F238E27FC236}">
                <a16:creationId xmlns:a16="http://schemas.microsoft.com/office/drawing/2014/main" id="{3885B805-3F74-4BE6-BDF4-AF4DAE31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496050"/>
            <a:ext cx="885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5E5E5"/>
                </a:solidFill>
                <a:latin typeface="Telegraf"/>
                <a:ea typeface="Telegraf"/>
                <a:cs typeface="Telegraf"/>
              </a:defRPr>
            </a:pPr>
            <a:r>
              <a:rPr sz="2025" b="0">
                <a:solidFill>
                  <a:srgbClr val="E5E5E5"/>
                </a:solidFill>
                <a:latin typeface="Telegraf"/>
                <a:ea typeface="Telegraf"/>
                <a:cs typeface="Telegraf"/>
              </a:rPr>
              <a:t>¿Cómo convertir evidencia técnica en una historia revisable?</a:t>
            </a:r>
          </a:p>
        </p:txBody>
      </p:sp>
      <p:sp>
        <p:nvSpPr>
          <p:cNvPr id="12" name="cover-unit">
            <a:extLst xmlns:a="http://schemas.openxmlformats.org/drawingml/2006/main">
              <a:ext uri="{FF2B5EF4-FFF2-40B4-BE49-F238E27FC236}">
                <a16:creationId xmlns:a16="http://schemas.microsoft.com/office/drawing/2014/main" id="{F9D0A0EB-D87D-4C18-ACA9-1F76B342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324850"/>
            <a:ext cx="26670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3" name="cover-unit-text">
            <a:extLst xmlns:a="http://schemas.openxmlformats.org/drawingml/2006/main">
              <a:ext uri="{FF2B5EF4-FFF2-40B4-BE49-F238E27FC236}">
                <a16:creationId xmlns:a16="http://schemas.microsoft.com/office/drawing/2014/main" id="{F61EC784-A74D-4A3F-8295-9E204508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3248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3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PROYECTO</a:t>
            </a:r>
          </a:p>
        </p:txBody>
      </p:sp>
      <p:sp>
        <p:nvSpPr>
          <p:cNvPr id="14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291E8D25-168A-48C6-BAF8-027BE835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448675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0D0D0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D0D0D0"/>
                </a:solidFill>
                <a:latin typeface="Telegraf"/>
                <a:ea typeface="Telegraf"/>
                <a:cs typeface="Telegraf"/>
              </a:rPr>
              <a:t>Análisis de Datos</a:t>
            </a:r>
          </a:p>
        </p:txBody>
      </p:sp>
    </p:spTree>
    <p:extLst>
      <p:ext uri="{BB962C8B-B14F-4D97-AF65-F5344CB8AC3E}">
        <p14:creationId xmlns:p14="http://schemas.microsoft.com/office/powerpoint/2010/main" val="11131444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26D9A2E5-E0C9-4FB6-A69C-6D81D286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B05D1ABE-711E-400D-8937-90B9D33E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D7A36998-3609-4E1A-84AB-10EE05F2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3cb1996994379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7A1F66F3-13ED-46D7-B706-3E0CE779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3B7CD83C-C8FE-4050-A07C-7A4303BA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0BBE6675-1E67-45C8-BFF6-EB37EA14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5014B929-3573-415F-90A3-C898B386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El segundo hito recorre el 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pipeline</a:t>
            </a: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 hasta una conclusión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CF379161-9E02-48EE-9050-6FAC8044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188FF057-34A8-4E3D-89BC-A14D9B06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5E4B65A4-1256-4027-914D-B618FA34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F8DC27B8-3731-4785-BC2D-2858A4CC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CC67DCB2-2CFD-41B2-BD27-98862808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5A0950DE-A191-4638-AF08-51008341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8EE50DB9-2FF6-422F-A311-8AB06CE1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HITO 2 · EVIDENCIA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3EB90CCC-C06A-42A8-8AE4-BE795A27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2E42B862-5989-4F98-ACE7-18817C4C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2242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18" name="flow-step-0">
            <a:extLst xmlns:a="http://schemas.openxmlformats.org/drawingml/2006/main">
              <a:ext uri="{FF2B5EF4-FFF2-40B4-BE49-F238E27FC236}">
                <a16:creationId xmlns:a16="http://schemas.microsoft.com/office/drawing/2014/main" id="{4DAD1DE9-3F96-4FC0-A3AD-81EB0FF9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9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4310ED31-D08B-4BBA-BDD0-C368DD4D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20" name="flow-card-rule-0">
            <a:extLst xmlns:a="http://schemas.openxmlformats.org/drawingml/2006/main">
              <a:ext uri="{FF2B5EF4-FFF2-40B4-BE49-F238E27FC236}">
                <a16:creationId xmlns:a16="http://schemas.microsoft.com/office/drawing/2014/main" id="{F7645E0C-1931-4CB9-B975-DEEA6FAE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21" name="flow-head-0">
            <a:extLst xmlns:a="http://schemas.openxmlformats.org/drawingml/2006/main">
              <a:ext uri="{FF2B5EF4-FFF2-40B4-BE49-F238E27FC236}">
                <a16:creationId xmlns:a16="http://schemas.microsoft.com/office/drawing/2014/main" id="{9B5CC31B-1071-460F-9704-1F4B45FD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Decisión</a:t>
            </a:r>
          </a:p>
        </p:txBody>
      </p:sp>
      <p:sp>
        <p:nvSpPr>
          <p:cNvPr id="22" name="flow-body-0">
            <a:extLst xmlns:a="http://schemas.openxmlformats.org/drawingml/2006/main">
              <a:ext uri="{FF2B5EF4-FFF2-40B4-BE49-F238E27FC236}">
                <a16:creationId xmlns:a16="http://schemas.microsoft.com/office/drawing/2014/main" id="{AA283F41-EC8D-42D9-BCFE-AF530BF8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pregunta y audiencia</a:t>
            </a:r>
          </a:p>
        </p:txBody>
      </p:sp>
      <p:sp>
        <p:nvSpPr>
          <p:cNvPr id="23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DE44E035-865E-47C3-9116-4643233D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4949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24" name="flow-step-1">
            <a:extLst xmlns:a="http://schemas.openxmlformats.org/drawingml/2006/main">
              <a:ext uri="{FF2B5EF4-FFF2-40B4-BE49-F238E27FC236}">
                <a16:creationId xmlns:a16="http://schemas.microsoft.com/office/drawing/2014/main" id="{FFF976EF-2632-40FF-BFB4-7F2FCCE1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32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5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22E03C02-C90A-493C-8D40-2383FE0F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77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6" name="flow-card-rule-1">
            <a:extLst xmlns:a="http://schemas.openxmlformats.org/drawingml/2006/main">
              <a:ext uri="{FF2B5EF4-FFF2-40B4-BE49-F238E27FC236}">
                <a16:creationId xmlns:a16="http://schemas.microsoft.com/office/drawing/2014/main" id="{680869BD-D3C1-4ED5-8E3E-1255337A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5582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27" name="flow-head-1">
            <a:extLst xmlns:a="http://schemas.openxmlformats.org/drawingml/2006/main">
              <a:ext uri="{FF2B5EF4-FFF2-40B4-BE49-F238E27FC236}">
                <a16:creationId xmlns:a16="http://schemas.microsoft.com/office/drawing/2014/main" id="{8C4ACA47-DFA0-4D1A-95D1-80F1255C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Fuente</a:t>
            </a:r>
          </a:p>
        </p:txBody>
      </p:sp>
      <p:sp>
        <p:nvSpPr>
          <p:cNvPr id="28" name="flow-body-1">
            <a:extLst xmlns:a="http://schemas.openxmlformats.org/drawingml/2006/main">
              <a:ext uri="{FF2B5EF4-FFF2-40B4-BE49-F238E27FC236}">
                <a16:creationId xmlns:a16="http://schemas.microsoft.com/office/drawing/2014/main" id="{D3ED3031-343E-43DC-AD0B-BD22B8E8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contrato y acceso</a:t>
            </a:r>
          </a:p>
        </p:txBody>
      </p:sp>
      <p:sp>
        <p:nvSpPr>
          <p:cNvPr id="29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B69994F9-49C2-45E7-BAFA-B7E3C906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7656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30" name="flow-step-2">
            <a:extLst xmlns:a="http://schemas.openxmlformats.org/drawingml/2006/main">
              <a:ext uri="{FF2B5EF4-FFF2-40B4-BE49-F238E27FC236}">
                <a16:creationId xmlns:a16="http://schemas.microsoft.com/office/drawing/2014/main" id="{34FCBC21-2BD6-4E10-91BC-16562278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39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1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6C485AF4-6FAC-4F46-A1A2-69157710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32" name="flow-card-rule-2">
            <a:extLst xmlns:a="http://schemas.openxmlformats.org/drawingml/2006/main">
              <a:ext uri="{FF2B5EF4-FFF2-40B4-BE49-F238E27FC236}">
                <a16:creationId xmlns:a16="http://schemas.microsoft.com/office/drawing/2014/main" id="{8B8D013A-1CA5-4467-B69A-9C98691D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8289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33" name="flow-head-2">
            <a:extLst xmlns:a="http://schemas.openxmlformats.org/drawingml/2006/main">
              <a:ext uri="{FF2B5EF4-FFF2-40B4-BE49-F238E27FC236}">
                <a16:creationId xmlns:a16="http://schemas.microsoft.com/office/drawing/2014/main" id="{B6B78412-BA90-4FF5-A9B5-9B49EBEE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89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Transformación</a:t>
            </a:r>
          </a:p>
        </p:txBody>
      </p:sp>
      <p:sp>
        <p:nvSpPr>
          <p:cNvPr id="34" name="flow-body-2">
            <a:extLst xmlns:a="http://schemas.openxmlformats.org/drawingml/2006/main">
              <a:ext uri="{FF2B5EF4-FFF2-40B4-BE49-F238E27FC236}">
                <a16:creationId xmlns:a16="http://schemas.microsoft.com/office/drawing/2014/main" id="{E3F3EA52-5AEE-4E6E-A9EA-3C79DA02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89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código y controles</a:t>
            </a:r>
          </a:p>
        </p:txBody>
      </p:sp>
      <p:sp>
        <p:nvSpPr>
          <p:cNvPr id="35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4B2EF4A5-29CA-4869-96C1-D93474AD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0363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36" name="flow-step-3">
            <a:extLst xmlns:a="http://schemas.openxmlformats.org/drawingml/2006/main">
              <a:ext uri="{FF2B5EF4-FFF2-40B4-BE49-F238E27FC236}">
                <a16:creationId xmlns:a16="http://schemas.microsoft.com/office/drawing/2014/main" id="{9B0F5B74-808B-4323-8F62-9CD3DA38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46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7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F876BDB7-6498-4064-B133-0288E23A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91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8" name="flow-card-rule-3">
            <a:extLst xmlns:a="http://schemas.openxmlformats.org/drawingml/2006/main">
              <a:ext uri="{FF2B5EF4-FFF2-40B4-BE49-F238E27FC236}">
                <a16:creationId xmlns:a16="http://schemas.microsoft.com/office/drawing/2014/main" id="{293639D2-1737-489F-B5F4-5139C24C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0996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39" name="flow-head-3">
            <a:extLst xmlns:a="http://schemas.openxmlformats.org/drawingml/2006/main">
              <a:ext uri="{FF2B5EF4-FFF2-40B4-BE49-F238E27FC236}">
                <a16:creationId xmlns:a16="http://schemas.microsoft.com/office/drawing/2014/main" id="{E7AD4824-B530-49D0-94D8-C509820A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</a:t>
            </a:r>
          </a:p>
        </p:txBody>
      </p:sp>
      <p:sp>
        <p:nvSpPr>
          <p:cNvPr id="4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17CE5DF8-FC20-4C26-B99D-B16998F8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hallazgo ejecutado</a:t>
            </a:r>
          </a:p>
        </p:txBody>
      </p:sp>
      <p:sp>
        <p:nvSpPr>
          <p:cNvPr id="41" name="flow-step-4">
            <a:extLst xmlns:a="http://schemas.openxmlformats.org/drawingml/2006/main">
              <a:ext uri="{FF2B5EF4-FFF2-40B4-BE49-F238E27FC236}">
                <a16:creationId xmlns:a16="http://schemas.microsoft.com/office/drawing/2014/main" id="{80D8352B-79C6-4379-99A8-7602F3FA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653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42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A5F4D4D8-5A36-4781-BF21-5AF93EAA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98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43" name="flow-card-rule-4">
            <a:extLst xmlns:a="http://schemas.openxmlformats.org/drawingml/2006/main">
              <a:ext uri="{FF2B5EF4-FFF2-40B4-BE49-F238E27FC236}">
                <a16:creationId xmlns:a16="http://schemas.microsoft.com/office/drawing/2014/main" id="{98BEA866-464D-4C95-AA00-7BC0D2A3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3703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44" name="flow-head-4">
            <a:extLst xmlns:a="http://schemas.openxmlformats.org/drawingml/2006/main">
              <a:ext uri="{FF2B5EF4-FFF2-40B4-BE49-F238E27FC236}">
                <a16:creationId xmlns:a16="http://schemas.microsoft.com/office/drawing/2014/main" id="{3BD10746-7AFB-47FF-ACFB-AED588DA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03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Conclusión</a:t>
            </a:r>
          </a:p>
        </p:txBody>
      </p:sp>
      <p:sp>
        <p:nvSpPr>
          <p:cNvPr id="45" name="flow-body-4">
            <a:extLst xmlns:a="http://schemas.openxmlformats.org/drawingml/2006/main">
              <a:ext uri="{FF2B5EF4-FFF2-40B4-BE49-F238E27FC236}">
                <a16:creationId xmlns:a16="http://schemas.microsoft.com/office/drawing/2014/main" id="{53BDB94B-CE26-492C-8EE1-5DDC81C7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03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acción y límite</a:t>
            </a:r>
          </a:p>
        </p:txBody>
      </p:sp>
      <p:sp>
        <p:nvSpPr>
          <p:cNvPr id="46" name="flow-callout-panel">
            <a:extLst xmlns:a="http://schemas.openxmlformats.org/drawingml/2006/main">
              <a:ext uri="{FF2B5EF4-FFF2-40B4-BE49-F238E27FC236}">
                <a16:creationId xmlns:a16="http://schemas.microsoft.com/office/drawing/2014/main" id="{1EDF828C-6DC1-498B-B513-C5DFCD3E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124700"/>
            <a:ext cx="120015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47" name="flow-callout">
            <a:extLst xmlns:a="http://schemas.openxmlformats.org/drawingml/2006/main">
              <a:ext uri="{FF2B5EF4-FFF2-40B4-BE49-F238E27FC236}">
                <a16:creationId xmlns:a16="http://schemas.microsoft.com/office/drawing/2014/main" id="{F35EEC82-880B-45E2-B260-74C4DBBD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2390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72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Cada equipo muestra una evidencia observable por etapa.</a:t>
            </a:r>
          </a:p>
        </p:txBody>
      </p:sp>
    </p:spTree>
    <p:extLst>
      <p:ext uri="{BB962C8B-B14F-4D97-AF65-F5344CB8AC3E}">
        <p14:creationId xmlns:p14="http://schemas.microsoft.com/office/powerpoint/2010/main" val="4576740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23D74E97-8BD7-4E93-A5C0-816341E4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2AC7CD24-3E31-4899-B245-EA0D5F76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7F3D2872-80B5-404C-A2ED-42C7FCAE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8b6a1a8854ae2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5706823C-8FFF-470B-AFF8-56989CAE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B33DA748-A869-4EB4-AC7A-8348A6F4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EB7466C4-270C-4AEE-8D0E-FAB8F981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5319AA4E-16ED-4075-AD42-F0F05717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La evaluación observa coherencia, ejecución y criterio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51225A51-9870-4EDD-B2BB-1554DF81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92657E4E-2314-4E71-8C45-1D4053AA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3F37DA30-E28B-4172-9D7B-8CB43908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77A64B82-2DE9-4D9C-934E-7249B2A6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618BA676-ACAD-48DC-9035-0B4BC02C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E3971EAB-0EFC-433C-8329-5D46C417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59B16386-BDF7-4FFB-9209-B3200853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HITO 2 · CRITERIOS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701A92C5-AF25-4495-B314-A13F5707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matrix-surface">
            <a:extLst xmlns:a="http://schemas.openxmlformats.org/drawingml/2006/main">
              <a:ext uri="{FF2B5EF4-FFF2-40B4-BE49-F238E27FC236}">
                <a16:creationId xmlns:a16="http://schemas.microsoft.com/office/drawing/2014/main" id="{6EB246D5-C5C5-4493-B6DA-4D707870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69920"/>
                <a:gridCol w="5547360"/>
                <a:gridCol w="7132320"/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Criterio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Evidencia esperada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Pregunta de revisión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Coherencia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grano compartido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¿las piezas describen el mismo hecho?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Ejecución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código y salida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¿se puede reproducir?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conteo y reconciliación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¿qué valida el resultado?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Criterio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trade-off y límite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¿qué alternativa se descartó?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2444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visual-dark-rail">
            <a:extLst xmlns:a="http://schemas.openxmlformats.org/drawingml/2006/main">
              <a:ext uri="{FF2B5EF4-FFF2-40B4-BE49-F238E27FC236}">
                <a16:creationId xmlns:a16="http://schemas.microsoft.com/office/drawing/2014/main" id="{DBC4C818-4620-4A3F-A18B-3E769DD0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30480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sp>
        <p:nvSpPr>
          <p:cNvPr id="2" name="visual-dark-rail-2">
            <a:extLst xmlns:a="http://schemas.openxmlformats.org/drawingml/2006/main">
              <a:ext uri="{FF2B5EF4-FFF2-40B4-BE49-F238E27FC236}">
                <a16:creationId xmlns:a16="http://schemas.microsoft.com/office/drawing/2014/main" id="{D6B5F907-4639-4DC8-B5D0-BB100A8B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0"/>
            <a:ext cx="17145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A61"/>
          </a:solidFill>
          <a:ln xmlns:a="http://schemas.openxmlformats.org/drawingml/2006/main" w="0">
            <a:noFill/>
          </a:ln>
        </p:spPr>
      </p:sp>
      <p:sp>
        <p:nvSpPr>
          <p:cNvPr id="3" name="visual-dark-tab">
            <a:extLst xmlns:a="http://schemas.openxmlformats.org/drawingml/2006/main">
              <a:ext uri="{FF2B5EF4-FFF2-40B4-BE49-F238E27FC236}">
                <a16:creationId xmlns:a16="http://schemas.microsoft.com/office/drawing/2014/main" id="{D1B6F4ED-1AB0-43E6-856D-2A041B33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33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4a6dfeb044c9b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B749D3D1-134D-4240-A84C-9DADCD1A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271DE2B5-52C7-4FEB-AEF1-58E86C39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57BB4EA0-DE53-45A4-8812-68DF78EF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27DF9087-B441-43A6-90AD-5E747EA4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El segundo hito agrega </a:t>
            </a:r>
            <a:r>
              <a:rPr sz="36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evidencia</a:t>
            </a: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 analítica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4134C6A0-A090-4DB8-8096-55F7D3DB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8F7E8E0D-792F-4FE7-AB62-38FD2D91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A5A5A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49BF519D-B229-4D02-B777-099B2FE9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FED51AD6-0B1B-485F-907B-66C205E1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B444B87B-498B-45C5-B66A-13F79154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DCC2A98C-0115-4BBA-9382-64543E91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9AC4BC91-B726-488D-80E9-EAA9C003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PROYECTO · EVOLUCIÓN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777B421D-3739-4146-8721-2921A78F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1D1D1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D1D1D1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compare-stage">
            <a:extLst xmlns:a="http://schemas.openxmlformats.org/drawingml/2006/main">
              <a:ext uri="{FF2B5EF4-FFF2-40B4-BE49-F238E27FC236}">
                <a16:creationId xmlns:a16="http://schemas.microsoft.com/office/drawing/2014/main" id="{50809063-7143-4242-BC24-03153160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15849600" cy="352425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11430">
            <a:solidFill>
              <a:srgbClr val="4F4F4F"/>
            </a:solidFill>
            <a:prstDash val="solid"/>
          </a:ln>
        </p:spPr>
      </p:sp>
      <p:sp>
        <p:nvSpPr>
          <p:cNvPr id="18" name="compare-divider">
            <a:extLst xmlns:a="http://schemas.openxmlformats.org/drawingml/2006/main">
              <a:ext uri="{FF2B5EF4-FFF2-40B4-BE49-F238E27FC236}">
                <a16:creationId xmlns:a16="http://schemas.microsoft.com/office/drawing/2014/main" id="{7E8ECFB0-5D41-42F5-8165-8F1A20BC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0" y="369570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19" name="compare-metric-0">
            <a:extLst xmlns:a="http://schemas.openxmlformats.org/drawingml/2006/main">
              <a:ext uri="{FF2B5EF4-FFF2-40B4-BE49-F238E27FC236}">
                <a16:creationId xmlns:a16="http://schemas.microsoft.com/office/drawing/2014/main" id="{F671CE03-8062-4967-BB8D-25C9EC5E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695700"/>
            <a:ext cx="2333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diseño</a:t>
            </a:r>
          </a:p>
        </p:txBody>
      </p:sp>
      <p:sp>
        <p:nvSpPr>
          <p:cNvPr id="20" name="compare-head-0">
            <a:extLst xmlns:a="http://schemas.openxmlformats.org/drawingml/2006/main">
              <a:ext uri="{FF2B5EF4-FFF2-40B4-BE49-F238E27FC236}">
                <a16:creationId xmlns:a16="http://schemas.microsoft.com/office/drawing/2014/main" id="{5047D23E-A6D8-49B2-8753-D92BEE80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576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Hito 1</a:t>
            </a:r>
          </a:p>
        </p:txBody>
      </p:sp>
      <p:sp>
        <p:nvSpPr>
          <p:cNvPr id="21" name="compare-rule-0">
            <a:extLst xmlns:a="http://schemas.openxmlformats.org/drawingml/2006/main">
              <a:ext uri="{FF2B5EF4-FFF2-40B4-BE49-F238E27FC236}">
                <a16:creationId xmlns:a16="http://schemas.microsoft.com/office/drawing/2014/main" id="{33C3F303-7466-46B2-ACC7-1F4BCC5D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33550" y="4953000"/>
            <a:ext cx="6410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22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7AED57F6-C052-4A9D-B959-027497BB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91125"/>
            <a:ext cx="642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D8D8"/>
                </a:solidFill>
                <a:latin typeface="Telegraf"/>
                <a:ea typeface="Telegraf"/>
                <a:cs typeface="Telegraf"/>
              </a:defRPr>
            </a:pPr>
            <a:r>
              <a:rPr sz="1800" b="0">
                <a:solidFill>
                  <a:srgbClr val="D8D8D8"/>
                </a:solidFill>
                <a:latin typeface="Telegraf"/>
                <a:ea typeface="Telegraf"/>
                <a:cs typeface="Telegraf"/>
              </a:rPr>
              <a:t>Decisión, fuentes, arquitectura y contratos propuestos.</a:t>
            </a:r>
          </a:p>
        </p:txBody>
      </p:sp>
      <p:sp>
        <p:nvSpPr>
          <p:cNvPr id="23" name="compare-metric-1">
            <a:extLst xmlns:a="http://schemas.openxmlformats.org/drawingml/2006/main">
              <a:ext uri="{FF2B5EF4-FFF2-40B4-BE49-F238E27FC236}">
                <a16:creationId xmlns:a16="http://schemas.microsoft.com/office/drawing/2014/main" id="{569F5739-066B-4CCB-B542-E03A987A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695700"/>
            <a:ext cx="2333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prueba</a:t>
            </a:r>
          </a:p>
        </p:txBody>
      </p:sp>
      <p:sp>
        <p:nvSpPr>
          <p:cNvPr id="24" name="compare-head-1">
            <a:extLst xmlns:a="http://schemas.openxmlformats.org/drawingml/2006/main">
              <a:ext uri="{FF2B5EF4-FFF2-40B4-BE49-F238E27FC236}">
                <a16:creationId xmlns:a16="http://schemas.microsoft.com/office/drawing/2014/main" id="{EEFFC6F3-2F6A-4739-89B4-A8030E81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8576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Hito 2</a:t>
            </a:r>
          </a:p>
        </p:txBody>
      </p:sp>
      <p:sp>
        <p:nvSpPr>
          <p:cNvPr id="25" name="compare-rule-1">
            <a:extLst xmlns:a="http://schemas.openxmlformats.org/drawingml/2006/main">
              <a:ext uri="{FF2B5EF4-FFF2-40B4-BE49-F238E27FC236}">
                <a16:creationId xmlns:a16="http://schemas.microsoft.com/office/drawing/2014/main" id="{FE50E3E6-2B26-4FC4-800B-22DC4B26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82175" y="4953000"/>
            <a:ext cx="6410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26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00F4608B-41CD-42FC-B8D1-6AE80D55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191125"/>
            <a:ext cx="642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D8D8"/>
                </a:solidFill>
                <a:latin typeface="Telegraf"/>
                <a:ea typeface="Telegraf"/>
                <a:cs typeface="Telegraf"/>
              </a:defRPr>
            </a:pPr>
            <a:r>
              <a:rPr sz="1800" b="0">
                <a:solidFill>
                  <a:srgbClr val="D8D8D8"/>
                </a:solidFill>
                <a:latin typeface="Telegraf"/>
                <a:ea typeface="Telegraf"/>
                <a:cs typeface="Telegraf"/>
              </a:rPr>
              <a:t>Transformación, controles, análisis y conclusión provisional.</a:t>
            </a:r>
          </a:p>
        </p:txBody>
      </p:sp>
      <p:sp>
        <p:nvSpPr>
          <p:cNvPr id="27" name="compare-bridge">
            <a:extLst xmlns:a="http://schemas.openxmlformats.org/drawingml/2006/main">
              <a:ext uri="{FF2B5EF4-FFF2-40B4-BE49-F238E27FC236}">
                <a16:creationId xmlns:a16="http://schemas.microsoft.com/office/drawing/2014/main" id="{34EE4E68-F319-45E6-8EDA-9D012651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7353300"/>
            <a:ext cx="12287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28" name="compare-bridge-text">
            <a:extLst xmlns:a="http://schemas.openxmlformats.org/drawingml/2006/main">
              <a:ext uri="{FF2B5EF4-FFF2-40B4-BE49-F238E27FC236}">
                <a16:creationId xmlns:a16="http://schemas.microsoft.com/office/drawing/2014/main" id="{775B5070-E33B-43CE-AE81-5C9CD882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505700"/>
            <a:ext cx="1133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El registro de cambios explica qué decisión del diseño se ajustó y por qué.</a:t>
            </a:r>
          </a:p>
        </p:txBody>
      </p:sp>
    </p:spTree>
    <p:extLst>
      <p:ext uri="{BB962C8B-B14F-4D97-AF65-F5344CB8AC3E}">
        <p14:creationId xmlns:p14="http://schemas.microsoft.com/office/powerpoint/2010/main" val="14115326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4E2A61D7-C576-4326-8C0C-76B12F16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7BBE5A6C-51AC-4B0D-972A-92A9BB37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7C816AA8-66C1-4FB4-A8D6-4F055BE1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b7db2026bf4e37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302F76BB-7B52-4748-8B0E-C83F2340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286AC171-E7E9-4415-9934-DD388AED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EFC9AE08-5631-48CB-9468-C77DD47D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8FB00BFF-BFB9-4C8F-905A-A0ABF588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Una conclusión conserva resultado, control y límite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C725FD01-32F8-4F38-9EF3-0425AC8C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75F1676C-F75A-4E4A-B882-4014C579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B8240DB3-2F6E-41AF-9DAA-EBBDE399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5909F520-489D-49C9-A56D-CA9FFE9F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67591861-5162-4E53-BEF6-200F28A0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A5DB1A8D-C64E-4CAE-87FA-FC8ECFA9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B3AD6CBA-7FDA-4B10-B468-A2FDC755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EVIDENCIA · ESTRUCTURA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9EDC3F3E-093F-41F9-9677-3A1167F6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4A1DDE42-66D0-4E65-A192-22ADB74F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8" name="worked-number-0">
            <a:extLst xmlns:a="http://schemas.openxmlformats.org/drawingml/2006/main">
              <a:ext uri="{FF2B5EF4-FFF2-40B4-BE49-F238E27FC236}">
                <a16:creationId xmlns:a16="http://schemas.microsoft.com/office/drawing/2014/main" id="{35862386-14D6-4235-8E3E-68C31DCA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19" name="worked-rule-0">
            <a:extLst xmlns:a="http://schemas.openxmlformats.org/drawingml/2006/main">
              <a:ext uri="{FF2B5EF4-FFF2-40B4-BE49-F238E27FC236}">
                <a16:creationId xmlns:a16="http://schemas.microsoft.com/office/drawing/2014/main" id="{87D0D4DA-67BC-486D-9887-D8E97075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20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C11D495A-D60D-47F0-B5BF-15C771C8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Resultado</a:t>
            </a:r>
          </a:p>
        </p:txBody>
      </p:sp>
      <p:sp>
        <p:nvSpPr>
          <p:cNvPr id="21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654BB511-A8C6-4989-A7FB-48D55DF8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P90 sube 4,3 días</a:t>
            </a:r>
          </a:p>
        </p:txBody>
      </p:sp>
      <p:sp>
        <p:nvSpPr>
          <p:cNvPr id="22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DA4B2266-A60B-405E-A2CC-3852B83D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3" name="worked-number-1">
            <a:extLst xmlns:a="http://schemas.openxmlformats.org/drawingml/2006/main">
              <a:ext uri="{FF2B5EF4-FFF2-40B4-BE49-F238E27FC236}">
                <a16:creationId xmlns:a16="http://schemas.microsoft.com/office/drawing/2014/main" id="{99F5BF53-FFE8-402A-81C1-BEBE11A6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4" name="worked-rule-1">
            <a:extLst xmlns:a="http://schemas.openxmlformats.org/drawingml/2006/main">
              <a:ext uri="{FF2B5EF4-FFF2-40B4-BE49-F238E27FC236}">
                <a16:creationId xmlns:a16="http://schemas.microsoft.com/office/drawing/2014/main" id="{33A39A83-599E-4993-9071-B136F093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545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25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4558AB3A-313E-40DC-8D80-B5BD1078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Segmento</a:t>
            </a:r>
          </a:p>
        </p:txBody>
      </p:sp>
      <p:sp>
        <p:nvSpPr>
          <p:cNvPr id="26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4883EF8A-B315-4834-8D0C-79E95D9E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Patagonia</a:t>
            </a:r>
          </a:p>
        </p:txBody>
      </p:sp>
      <p:sp>
        <p:nvSpPr>
          <p:cNvPr id="27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45A08753-8C88-4801-9AF1-52FB8D8B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70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8" name="worked-number-2">
            <a:extLst xmlns:a="http://schemas.openxmlformats.org/drawingml/2006/main">
              <a:ext uri="{FF2B5EF4-FFF2-40B4-BE49-F238E27FC236}">
                <a16:creationId xmlns:a16="http://schemas.microsoft.com/office/drawing/2014/main" id="{C0CB7062-2C0B-4917-84B9-04D6868A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29" name="worked-rule-2">
            <a:extLst xmlns:a="http://schemas.openxmlformats.org/drawingml/2006/main">
              <a:ext uri="{FF2B5EF4-FFF2-40B4-BE49-F238E27FC236}">
                <a16:creationId xmlns:a16="http://schemas.microsoft.com/office/drawing/2014/main" id="{84A99C1D-A7C2-4F64-AF61-CDBAAD1C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4120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30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3B552C15-DD2D-4E1D-87D1-850B4CF1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Control</a:t>
            </a:r>
          </a:p>
        </p:txBody>
      </p:sp>
      <p:sp>
        <p:nvSpPr>
          <p:cNvPr id="31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E315ACDD-E07A-451C-ACD2-42CC0345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SQL = Pandas</a:t>
            </a:r>
          </a:p>
        </p:txBody>
      </p:sp>
      <p:sp>
        <p:nvSpPr>
          <p:cNvPr id="32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931B6BA9-4563-4DA1-BBBA-6B37223D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3" name="worked-number-3">
            <a:extLst xmlns:a="http://schemas.openxmlformats.org/drawingml/2006/main">
              <a:ext uri="{FF2B5EF4-FFF2-40B4-BE49-F238E27FC236}">
                <a16:creationId xmlns:a16="http://schemas.microsoft.com/office/drawing/2014/main" id="{29D1ABC8-7ACC-4375-93E9-D0F521DE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05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4" name="worked-rule-3">
            <a:extLst xmlns:a="http://schemas.openxmlformats.org/drawingml/2006/main">
              <a:ext uri="{FF2B5EF4-FFF2-40B4-BE49-F238E27FC236}">
                <a16:creationId xmlns:a16="http://schemas.microsoft.com/office/drawing/2014/main" id="{B5EAC693-739C-40C7-8380-5F3C962D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6534150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35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C0928C86-6258-4D3C-A7FC-275795D5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648450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Límite</a:t>
            </a:r>
          </a:p>
        </p:txBody>
      </p:sp>
      <p:sp>
        <p:nvSpPr>
          <p:cNvPr id="36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7D301B01-F711-4BDC-B733-5D292DA5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296150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faltan causas de transporte</a:t>
            </a:r>
          </a:p>
        </p:txBody>
      </p:sp>
      <p:sp>
        <p:nvSpPr>
          <p:cNvPr id="37" name="worked-box-4">
            <a:extLst xmlns:a="http://schemas.openxmlformats.org/drawingml/2006/main">
              <a:ext uri="{FF2B5EF4-FFF2-40B4-BE49-F238E27FC236}">
                <a16:creationId xmlns:a16="http://schemas.microsoft.com/office/drawing/2014/main" id="{26C610BD-49EF-41FE-8F20-5A4188E2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5772150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8" name="worked-number-4">
            <a:extLst xmlns:a="http://schemas.openxmlformats.org/drawingml/2006/main">
              <a:ext uri="{FF2B5EF4-FFF2-40B4-BE49-F238E27FC236}">
                <a16:creationId xmlns:a16="http://schemas.microsoft.com/office/drawing/2014/main" id="{525F6078-20F9-447E-8EED-5EA4544C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905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39" name="worked-rule-4">
            <a:extLst xmlns:a="http://schemas.openxmlformats.org/drawingml/2006/main">
              <a:ext uri="{FF2B5EF4-FFF2-40B4-BE49-F238E27FC236}">
                <a16:creationId xmlns:a16="http://schemas.microsoft.com/office/drawing/2014/main" id="{28102A5A-7A96-4562-9707-CC7990CC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5450" y="6534150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40" name="worked-head-4">
            <a:extLst xmlns:a="http://schemas.openxmlformats.org/drawingml/2006/main">
              <a:ext uri="{FF2B5EF4-FFF2-40B4-BE49-F238E27FC236}">
                <a16:creationId xmlns:a16="http://schemas.microsoft.com/office/drawing/2014/main" id="{B3C0648A-0391-4A8B-84F9-D8BF5A45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6648450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Acción</a:t>
            </a:r>
          </a:p>
        </p:txBody>
      </p:sp>
      <p:sp>
        <p:nvSpPr>
          <p:cNvPr id="41" name="worked-body-4">
            <a:extLst xmlns:a="http://schemas.openxmlformats.org/drawingml/2006/main">
              <a:ext uri="{FF2B5EF4-FFF2-40B4-BE49-F238E27FC236}">
                <a16:creationId xmlns:a16="http://schemas.microsoft.com/office/drawing/2014/main" id="{B89799E8-344E-409B-978A-97071A30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7296150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revisar promesa y capacidad</a:t>
            </a:r>
          </a:p>
        </p:txBody>
      </p:sp>
      <p:sp>
        <p:nvSpPr>
          <p:cNvPr id="42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9C3D3DB0-8962-423E-9EEB-A8D1D9C4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09625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650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La frase permite revisar el cálculo y cuestionar su alcance.</a:t>
            </a:r>
          </a:p>
        </p:txBody>
      </p:sp>
    </p:spTree>
    <p:extLst>
      <p:ext uri="{BB962C8B-B14F-4D97-AF65-F5344CB8AC3E}">
        <p14:creationId xmlns:p14="http://schemas.microsoft.com/office/powerpoint/2010/main" val="3408523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visual-dark-rail">
            <a:extLst xmlns:a="http://schemas.openxmlformats.org/drawingml/2006/main">
              <a:ext uri="{FF2B5EF4-FFF2-40B4-BE49-F238E27FC236}">
                <a16:creationId xmlns:a16="http://schemas.microsoft.com/office/drawing/2014/main" id="{9396E9AE-C994-4E1E-9709-306C3613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30480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sp>
        <p:nvSpPr>
          <p:cNvPr id="2" name="visual-dark-rail-2">
            <a:extLst xmlns:a="http://schemas.openxmlformats.org/drawingml/2006/main">
              <a:ext uri="{FF2B5EF4-FFF2-40B4-BE49-F238E27FC236}">
                <a16:creationId xmlns:a16="http://schemas.microsoft.com/office/drawing/2014/main" id="{0FD250F7-0007-43A4-8866-C6F4ECDC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0"/>
            <a:ext cx="17145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A61"/>
          </a:solidFill>
          <a:ln xmlns:a="http://schemas.openxmlformats.org/drawingml/2006/main" w="0">
            <a:noFill/>
          </a:ln>
        </p:spPr>
      </p:sp>
      <p:sp>
        <p:nvSpPr>
          <p:cNvPr id="3" name="visual-dark-tab">
            <a:extLst xmlns:a="http://schemas.openxmlformats.org/drawingml/2006/main">
              <a:ext uri="{FF2B5EF4-FFF2-40B4-BE49-F238E27FC236}">
                <a16:creationId xmlns:a16="http://schemas.microsoft.com/office/drawing/2014/main" id="{EEBAD587-7405-46CD-9E59-060C3D2F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33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0f9a4da7649cf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63C236D0-4EF3-4F17-94D9-C40D916F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F0270D56-ED53-4E88-AB6D-066EC873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3004D576-938C-4215-AE6B-A80DDB8F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CD9C2B5B-8EB3-4E5A-BCBA-02770C88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La trazabilidad permite recorrer el </a:t>
            </a:r>
            <a:r>
              <a:rPr sz="36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pipeline</a:t>
            </a: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 hacia atrás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11E16F2B-5B7E-4AE2-B6AB-F0F74779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559E8A1E-C160-4AE1-8697-AB5A50F3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A5A5A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FC78F79D-4B48-45E3-8551-7ED50399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44C9694F-5E24-4CF3-9AA6-518C45C2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1F0F6D94-81A3-4D4B-80BC-B8E1A81D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1B8EEB71-AD88-436A-8A62-C92C69F5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2CD2F6CD-FE96-4777-92A0-423D7268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HITO 2 · DEFENSA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3767302F-FA59-4CE1-BC54-5F93791C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1D1D1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D1D1D1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F44A0509-3800-4B2A-9CA8-1CF9FF5A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2242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18" name="flow-step-0">
            <a:extLst xmlns:a="http://schemas.openxmlformats.org/drawingml/2006/main">
              <a:ext uri="{FF2B5EF4-FFF2-40B4-BE49-F238E27FC236}">
                <a16:creationId xmlns:a16="http://schemas.microsoft.com/office/drawing/2014/main" id="{DBDB21B2-908D-4EAE-B74F-FFF881F8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19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656AFE23-56AA-4821-8FD9-A5E80F3B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20" name="flow-card-rule-0">
            <a:extLst xmlns:a="http://schemas.openxmlformats.org/drawingml/2006/main">
              <a:ext uri="{FF2B5EF4-FFF2-40B4-BE49-F238E27FC236}">
                <a16:creationId xmlns:a16="http://schemas.microsoft.com/office/drawing/2014/main" id="{6E19EF01-E995-4A74-9C27-D1C7D4C3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6666"/>
            </a:solidFill>
            <a:prstDash val="solid"/>
          </a:ln>
        </p:spPr>
      </p:sp>
      <p:sp>
        <p:nvSpPr>
          <p:cNvPr id="21" name="flow-head-0">
            <a:extLst xmlns:a="http://schemas.openxmlformats.org/drawingml/2006/main">
              <a:ext uri="{FF2B5EF4-FFF2-40B4-BE49-F238E27FC236}">
                <a16:creationId xmlns:a16="http://schemas.microsoft.com/office/drawing/2014/main" id="{3C1781D9-6F72-4D2C-B7A5-80F4DA29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Conclusión</a:t>
            </a:r>
          </a:p>
        </p:txBody>
      </p:sp>
      <p:sp>
        <p:nvSpPr>
          <p:cNvPr id="22" name="flow-body-0">
            <a:extLst xmlns:a="http://schemas.openxmlformats.org/drawingml/2006/main">
              <a:ext uri="{FF2B5EF4-FFF2-40B4-BE49-F238E27FC236}">
                <a16:creationId xmlns:a16="http://schemas.microsoft.com/office/drawing/2014/main" id="{1F78299E-2B4B-463A-82FA-EFEA334B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qué afirma</a:t>
            </a:r>
          </a:p>
        </p:txBody>
      </p:sp>
      <p:sp>
        <p:nvSpPr>
          <p:cNvPr id="23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42964886-0499-4FEA-8845-3AFFD006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4949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24" name="flow-step-1">
            <a:extLst xmlns:a="http://schemas.openxmlformats.org/drawingml/2006/main">
              <a:ext uri="{FF2B5EF4-FFF2-40B4-BE49-F238E27FC236}">
                <a16:creationId xmlns:a16="http://schemas.microsoft.com/office/drawing/2014/main" id="{C9E31251-0D9D-456B-A557-D18FA2E5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32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25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D04D0F3C-7799-4042-93F9-B305A16D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77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6" name="flow-card-rule-1">
            <a:extLst xmlns:a="http://schemas.openxmlformats.org/drawingml/2006/main">
              <a:ext uri="{FF2B5EF4-FFF2-40B4-BE49-F238E27FC236}">
                <a16:creationId xmlns:a16="http://schemas.microsoft.com/office/drawing/2014/main" id="{26FF356B-C795-44C6-A0F6-12248D86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5582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6666"/>
            </a:solidFill>
            <a:prstDash val="solid"/>
          </a:ln>
        </p:spPr>
      </p:sp>
      <p:sp>
        <p:nvSpPr>
          <p:cNvPr id="27" name="flow-head-1">
            <a:extLst xmlns:a="http://schemas.openxmlformats.org/drawingml/2006/main">
              <a:ext uri="{FF2B5EF4-FFF2-40B4-BE49-F238E27FC236}">
                <a16:creationId xmlns:a16="http://schemas.microsoft.com/office/drawing/2014/main" id="{0ED82AC3-1B9D-4EC4-B707-13E9CCB4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Visual</a:t>
            </a:r>
          </a:p>
        </p:txBody>
      </p:sp>
      <p:sp>
        <p:nvSpPr>
          <p:cNvPr id="28" name="flow-body-1">
            <a:extLst xmlns:a="http://schemas.openxmlformats.org/drawingml/2006/main">
              <a:ext uri="{FF2B5EF4-FFF2-40B4-BE49-F238E27FC236}">
                <a16:creationId xmlns:a16="http://schemas.microsoft.com/office/drawing/2014/main" id="{0A7FF0A2-5186-4220-9136-EA54F312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qué muestra</a:t>
            </a:r>
          </a:p>
        </p:txBody>
      </p:sp>
      <p:sp>
        <p:nvSpPr>
          <p:cNvPr id="29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5DAED251-8D47-4692-9B13-5A5CE43F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7656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30" name="flow-step-2">
            <a:extLst xmlns:a="http://schemas.openxmlformats.org/drawingml/2006/main">
              <a:ext uri="{FF2B5EF4-FFF2-40B4-BE49-F238E27FC236}">
                <a16:creationId xmlns:a16="http://schemas.microsoft.com/office/drawing/2014/main" id="{3A1F5B85-826B-4C83-9B0B-292C8736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39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31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F8B5D55E-A220-4976-B55D-655EA394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32" name="flow-card-rule-2">
            <a:extLst xmlns:a="http://schemas.openxmlformats.org/drawingml/2006/main">
              <a:ext uri="{FF2B5EF4-FFF2-40B4-BE49-F238E27FC236}">
                <a16:creationId xmlns:a16="http://schemas.microsoft.com/office/drawing/2014/main" id="{D2507999-EAFB-47AC-BEB7-F522D779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8289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6666"/>
            </a:solidFill>
            <a:prstDash val="solid"/>
          </a:ln>
        </p:spPr>
      </p:sp>
      <p:sp>
        <p:nvSpPr>
          <p:cNvPr id="33" name="flow-head-2">
            <a:extLst xmlns:a="http://schemas.openxmlformats.org/drawingml/2006/main">
              <a:ext uri="{FF2B5EF4-FFF2-40B4-BE49-F238E27FC236}">
                <a16:creationId xmlns:a16="http://schemas.microsoft.com/office/drawing/2014/main" id="{F9C08D5C-98D9-4E35-BE67-BAA41644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89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Métrica</a:t>
            </a:r>
          </a:p>
        </p:txBody>
      </p:sp>
      <p:sp>
        <p:nvSpPr>
          <p:cNvPr id="34" name="flow-body-2">
            <a:extLst xmlns:a="http://schemas.openxmlformats.org/drawingml/2006/main">
              <a:ext uri="{FF2B5EF4-FFF2-40B4-BE49-F238E27FC236}">
                <a16:creationId xmlns:a16="http://schemas.microsoft.com/office/drawing/2014/main" id="{81C2EBFD-0A76-4963-8223-2EC60D56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89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cómo calcula</a:t>
            </a:r>
          </a:p>
        </p:txBody>
      </p:sp>
      <p:sp>
        <p:nvSpPr>
          <p:cNvPr id="35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29C18792-5D0B-493A-91DF-255D0695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0363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36" name="flow-step-3">
            <a:extLst xmlns:a="http://schemas.openxmlformats.org/drawingml/2006/main">
              <a:ext uri="{FF2B5EF4-FFF2-40B4-BE49-F238E27FC236}">
                <a16:creationId xmlns:a16="http://schemas.microsoft.com/office/drawing/2014/main" id="{C646267F-4ECD-4C2C-A0DD-FD227CF1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46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37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800B569F-5E15-4434-AA8D-F25E1265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91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8" name="flow-card-rule-3">
            <a:extLst xmlns:a="http://schemas.openxmlformats.org/drawingml/2006/main">
              <a:ext uri="{FF2B5EF4-FFF2-40B4-BE49-F238E27FC236}">
                <a16:creationId xmlns:a16="http://schemas.microsoft.com/office/drawing/2014/main" id="{915E8D97-20D1-4E48-8572-902C4499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0996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6666"/>
            </a:solidFill>
            <a:prstDash val="solid"/>
          </a:ln>
        </p:spPr>
      </p:sp>
      <p:sp>
        <p:nvSpPr>
          <p:cNvPr id="39" name="flow-head-3">
            <a:extLst xmlns:a="http://schemas.openxmlformats.org/drawingml/2006/main">
              <a:ext uri="{FF2B5EF4-FFF2-40B4-BE49-F238E27FC236}">
                <a16:creationId xmlns:a16="http://schemas.microsoft.com/office/drawing/2014/main" id="{7CD31CF7-D30F-4D0F-ABFA-760B6D8E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Modelo</a:t>
            </a:r>
          </a:p>
        </p:txBody>
      </p:sp>
      <p:sp>
        <p:nvSpPr>
          <p:cNvPr id="4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C4E3A3F0-65A6-4E6D-B04F-BBB75B6D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qué grano usa</a:t>
            </a:r>
          </a:p>
        </p:txBody>
      </p:sp>
      <p:sp>
        <p:nvSpPr>
          <p:cNvPr id="41" name="flow-step-4">
            <a:extLst xmlns:a="http://schemas.openxmlformats.org/drawingml/2006/main">
              <a:ext uri="{FF2B5EF4-FFF2-40B4-BE49-F238E27FC236}">
                <a16:creationId xmlns:a16="http://schemas.microsoft.com/office/drawing/2014/main" id="{C47B8634-0A47-4A2E-AD73-69EEDBCE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653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42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382D900D-4B80-4C61-AFFF-41344A76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98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43" name="flow-card-rule-4">
            <a:extLst xmlns:a="http://schemas.openxmlformats.org/drawingml/2006/main">
              <a:ext uri="{FF2B5EF4-FFF2-40B4-BE49-F238E27FC236}">
                <a16:creationId xmlns:a16="http://schemas.microsoft.com/office/drawing/2014/main" id="{442D7235-FFE6-4220-8B08-61C439EA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3703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44" name="flow-head-4">
            <a:extLst xmlns:a="http://schemas.openxmlformats.org/drawingml/2006/main">
              <a:ext uri="{FF2B5EF4-FFF2-40B4-BE49-F238E27FC236}">
                <a16:creationId xmlns:a16="http://schemas.microsoft.com/office/drawing/2014/main" id="{B130B4BD-A1D9-4A83-80F1-CFD84FC1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03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Fuente</a:t>
            </a:r>
          </a:p>
        </p:txBody>
      </p:sp>
      <p:sp>
        <p:nvSpPr>
          <p:cNvPr id="45" name="flow-body-4">
            <a:extLst xmlns:a="http://schemas.openxmlformats.org/drawingml/2006/main">
              <a:ext uri="{FF2B5EF4-FFF2-40B4-BE49-F238E27FC236}">
                <a16:creationId xmlns:a16="http://schemas.microsoft.com/office/drawing/2014/main" id="{ACEC15F4-CA7A-4739-AC85-3E5DB833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03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qué registro conserva</a:t>
            </a:r>
          </a:p>
        </p:txBody>
      </p:sp>
      <p:sp>
        <p:nvSpPr>
          <p:cNvPr id="46" name="flow-callout-panel">
            <a:extLst xmlns:a="http://schemas.openxmlformats.org/drawingml/2006/main">
              <a:ext uri="{FF2B5EF4-FFF2-40B4-BE49-F238E27FC236}">
                <a16:creationId xmlns:a16="http://schemas.microsoft.com/office/drawing/2014/main" id="{F481E386-0309-4FA6-ABD6-484793B6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124700"/>
            <a:ext cx="120015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47" name="flow-callout">
            <a:extLst xmlns:a="http://schemas.openxmlformats.org/drawingml/2006/main">
              <a:ext uri="{FF2B5EF4-FFF2-40B4-BE49-F238E27FC236}">
                <a16:creationId xmlns:a16="http://schemas.microsoft.com/office/drawing/2014/main" id="{50D4599B-4CE7-438B-8948-8B5F6A0A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2390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33"/>
                </a:solidFill>
                <a:latin typeface="Telegraf"/>
                <a:ea typeface="Telegraf"/>
                <a:cs typeface="Telegraf"/>
              </a:defRPr>
            </a:pPr>
            <a:r>
              <a:rPr sz="1725" b="0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>La defensa puede comenzar en cualquier punto y reconstruir los demás.</a:t>
            </a:r>
          </a:p>
        </p:txBody>
      </p:sp>
    </p:spTree>
    <p:extLst>
      <p:ext uri="{BB962C8B-B14F-4D97-AF65-F5344CB8AC3E}">
        <p14:creationId xmlns:p14="http://schemas.microsoft.com/office/powerpoint/2010/main" val="21426571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9036802A-422A-4828-A638-7FBA1623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37B5DFD9-0524-40D8-97C2-3E0C9E31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318208E4-59CF-4194-A974-CA7AE5D5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4" name="visual-feature-frame">
            <a:extLst xmlns:a="http://schemas.openxmlformats.org/drawingml/2006/main">
              <a:ext uri="{FF2B5EF4-FFF2-40B4-BE49-F238E27FC236}">
                <a16:creationId xmlns:a16="http://schemas.microsoft.com/office/drawing/2014/main" id="{27F6E076-1534-4FC3-9A2C-374B639E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428625"/>
            <a:ext cx="25336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pic>
        <p:nvPicPr>
          <p:cNvPr id="39" name="visual-featur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2be5a88f4432e"/>
          <a:srcRect xmlns:a="http://schemas.openxmlformats.org/drawingml/2006/main" l="0" t="11698" r="0" b="116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06700" y="523875"/>
            <a:ext cx="2343150" cy="1009650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dbc9532c6d4089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7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AB45AE6E-DC4F-4B1E-9995-10C6F7E4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8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5568230D-986F-423E-8B34-8DD0063B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9" name="visual-year">
            <a:extLst xmlns:a="http://schemas.openxmlformats.org/drawingml/2006/main">
              <a:ext uri="{FF2B5EF4-FFF2-40B4-BE49-F238E27FC236}">
                <a16:creationId xmlns:a16="http://schemas.microsoft.com/office/drawing/2014/main" id="{5EB0B82B-F788-4B8F-901D-FD059357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1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1F50ADCB-B1C2-4FAC-A233-9BE1C327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Una conclusión provisional conserva una condición de revisión</a:t>
            </a:r>
          </a:p>
        </p:txBody>
      </p:sp>
      <p:sp>
        <p:nvSpPr>
          <p:cNvPr id="11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CD5969D6-E93E-4248-8EEC-31DBCB52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2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7141A997-B857-43BD-90D8-4CA412A6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3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242CFF3E-D2A9-40AC-8548-4CE80DE4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4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BF86C769-BE4B-4ECE-9AA8-B7A43E1A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5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EB0ED79B-41CC-45DC-B373-68A2B71B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6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55BF7C47-B0E0-4037-9DEB-6423AD5F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7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BA90237B-8476-47F3-B8C3-0A1DDF32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INCERTIDUMBRE · DECISIÓN</a:t>
            </a:r>
          </a:p>
        </p:txBody>
      </p:sp>
      <p:sp>
        <p:nvSpPr>
          <p:cNvPr id="18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CDD8F006-33DF-4577-A8B0-AAA75C35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9" name="case-box-0">
            <a:extLst xmlns:a="http://schemas.openxmlformats.org/drawingml/2006/main">
              <a:ext uri="{FF2B5EF4-FFF2-40B4-BE49-F238E27FC236}">
                <a16:creationId xmlns:a16="http://schemas.microsoft.com/office/drawing/2014/main" id="{46CA20C6-F2C6-446A-A630-422DAD7A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19500"/>
            <a:ext cx="510540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0" name="case-index-0">
            <a:extLst xmlns:a="http://schemas.openxmlformats.org/drawingml/2006/main">
              <a:ext uri="{FF2B5EF4-FFF2-40B4-BE49-F238E27FC236}">
                <a16:creationId xmlns:a16="http://schemas.microsoft.com/office/drawing/2014/main" id="{75D3FC3D-AEDB-4E6E-A45C-8AC23E5C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9095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21" name="case-rule-0">
            <a:extLst xmlns:a="http://schemas.openxmlformats.org/drawingml/2006/main">
              <a:ext uri="{FF2B5EF4-FFF2-40B4-BE49-F238E27FC236}">
                <a16:creationId xmlns:a16="http://schemas.microsoft.com/office/drawing/2014/main" id="{30CBA041-FBBE-4082-B36A-3C352E26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47800" y="4524375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22" name="case-head-0">
            <a:extLst xmlns:a="http://schemas.openxmlformats.org/drawingml/2006/main">
              <a:ext uri="{FF2B5EF4-FFF2-40B4-BE49-F238E27FC236}">
                <a16:creationId xmlns:a16="http://schemas.microsoft.com/office/drawing/2014/main" id="{D679BCAF-2A65-425F-94CF-263BFEB6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05350"/>
            <a:ext cx="464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Evidencia</a:t>
            </a:r>
          </a:p>
        </p:txBody>
      </p:sp>
      <p:sp>
        <p:nvSpPr>
          <p:cNvPr id="23" name="case-body-0">
            <a:extLst xmlns:a="http://schemas.openxmlformats.org/drawingml/2006/main">
              <a:ext uri="{FF2B5EF4-FFF2-40B4-BE49-F238E27FC236}">
                <a16:creationId xmlns:a16="http://schemas.microsoft.com/office/drawing/2014/main" id="{11A95FEE-4C89-43B5-A0EE-8C8394F9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24500"/>
            <a:ext cx="4648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aumenta la cola</a:t>
            </a:r>
          </a:p>
        </p:txBody>
      </p:sp>
      <p:sp>
        <p:nvSpPr>
          <p:cNvPr id="24" name="case-box-1">
            <a:extLst xmlns:a="http://schemas.openxmlformats.org/drawingml/2006/main">
              <a:ext uri="{FF2B5EF4-FFF2-40B4-BE49-F238E27FC236}">
                <a16:creationId xmlns:a16="http://schemas.microsoft.com/office/drawing/2014/main" id="{9E291215-EB66-4259-BF4D-2BBF7E58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19500"/>
            <a:ext cx="510540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5" name="case-index-1">
            <a:extLst xmlns:a="http://schemas.openxmlformats.org/drawingml/2006/main">
              <a:ext uri="{FF2B5EF4-FFF2-40B4-BE49-F238E27FC236}">
                <a16:creationId xmlns:a16="http://schemas.microsoft.com/office/drawing/2014/main" id="{EBEF39EE-E81E-40D0-BC0D-7D03A8E1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9095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0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6" name="case-rule-1">
            <a:extLst xmlns:a="http://schemas.openxmlformats.org/drawingml/2006/main">
              <a:ext uri="{FF2B5EF4-FFF2-40B4-BE49-F238E27FC236}">
                <a16:creationId xmlns:a16="http://schemas.microsoft.com/office/drawing/2014/main" id="{E1CD2C24-7E4A-4652-B143-F1CBFA1A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19900" y="4524375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27" name="case-head-1">
            <a:extLst xmlns:a="http://schemas.openxmlformats.org/drawingml/2006/main">
              <a:ext uri="{FF2B5EF4-FFF2-40B4-BE49-F238E27FC236}">
                <a16:creationId xmlns:a16="http://schemas.microsoft.com/office/drawing/2014/main" id="{1A1D215A-673F-46D9-987C-8CF227CB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05350"/>
            <a:ext cx="464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0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Hipótesis</a:t>
            </a:r>
          </a:p>
        </p:txBody>
      </p:sp>
      <p:sp>
        <p:nvSpPr>
          <p:cNvPr id="28" name="case-body-1">
            <a:extLst xmlns:a="http://schemas.openxmlformats.org/drawingml/2006/main">
              <a:ext uri="{FF2B5EF4-FFF2-40B4-BE49-F238E27FC236}">
                <a16:creationId xmlns:a16="http://schemas.microsoft.com/office/drawing/2014/main" id="{D9E9CFF3-8FAA-4758-8DDB-1C0558C1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524500"/>
            <a:ext cx="4648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capacidad insuficiente</a:t>
            </a:r>
          </a:p>
        </p:txBody>
      </p:sp>
      <p:sp>
        <p:nvSpPr>
          <p:cNvPr id="29" name="case-box-2">
            <a:extLst xmlns:a="http://schemas.openxmlformats.org/drawingml/2006/main">
              <a:ext uri="{FF2B5EF4-FFF2-40B4-BE49-F238E27FC236}">
                <a16:creationId xmlns:a16="http://schemas.microsoft.com/office/drawing/2014/main" id="{F4783E6B-319B-498E-937C-ABD1331B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3619500"/>
            <a:ext cx="510540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0" name="case-index-2">
            <a:extLst xmlns:a="http://schemas.openxmlformats.org/drawingml/2006/main">
              <a:ext uri="{FF2B5EF4-FFF2-40B4-BE49-F238E27FC236}">
                <a16:creationId xmlns:a16="http://schemas.microsoft.com/office/drawing/2014/main" id="{304A579F-E127-424A-B68A-14FCCA1C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79095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0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31" name="case-rule-2">
            <a:extLst xmlns:a="http://schemas.openxmlformats.org/drawingml/2006/main">
              <a:ext uri="{FF2B5EF4-FFF2-40B4-BE49-F238E27FC236}">
                <a16:creationId xmlns:a16="http://schemas.microsoft.com/office/drawing/2014/main" id="{D41E480D-D652-43BA-A036-9819BABC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0" y="4524375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2" name="case-head-2">
            <a:extLst xmlns:a="http://schemas.openxmlformats.org/drawingml/2006/main">
              <a:ext uri="{FF2B5EF4-FFF2-40B4-BE49-F238E27FC236}">
                <a16:creationId xmlns:a16="http://schemas.microsoft.com/office/drawing/2014/main" id="{7923BED6-6B27-4857-B0E2-749658B0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705350"/>
            <a:ext cx="4648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0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Próximo dato</a:t>
            </a:r>
          </a:p>
        </p:txBody>
      </p:sp>
      <p:sp>
        <p:nvSpPr>
          <p:cNvPr id="33" name="case-body-2">
            <a:extLst xmlns:a="http://schemas.openxmlformats.org/drawingml/2006/main">
              <a:ext uri="{FF2B5EF4-FFF2-40B4-BE49-F238E27FC236}">
                <a16:creationId xmlns:a16="http://schemas.microsoft.com/office/drawing/2014/main" id="{E48B990B-EEEE-4690-8699-5C24A3E3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524500"/>
            <a:ext cx="4648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ocupación por ruta</a:t>
            </a:r>
          </a:p>
        </p:txBody>
      </p:sp>
      <p:sp>
        <p:nvSpPr>
          <p:cNvPr id="34" name="case-footer">
            <a:extLst xmlns:a="http://schemas.openxmlformats.org/drawingml/2006/main">
              <a:ext uri="{FF2B5EF4-FFF2-40B4-BE49-F238E27FC236}">
                <a16:creationId xmlns:a16="http://schemas.microsoft.com/office/drawing/2014/main" id="{9AC601D5-70A5-4229-992D-D2CBFDA6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239000"/>
            <a:ext cx="1352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87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La recomendación se mantiene mientras la próxima observación respete la condición declarada.</a:t>
            </a:r>
          </a:p>
        </p:txBody>
      </p:sp>
    </p:spTree>
    <p:extLst>
      <p:ext uri="{BB962C8B-B14F-4D97-AF65-F5344CB8AC3E}">
        <p14:creationId xmlns:p14="http://schemas.microsoft.com/office/powerpoint/2010/main" val="11768804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D58C0DE2-89B7-4EE6-A10F-4E2F8777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C9F8151B-6F71-4AE2-A7C7-BF6CBF14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57A1FE07-7F2A-4892-8C5F-650448A9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fb6d08c6f4695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A5204A68-832F-4C0F-BD22-23EB1BF7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A3544229-9EEC-44B2-9CB1-63907D1C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EED0F18C-8158-495F-BBFA-BE8BD444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4F2247BE-4987-4713-AB89-A6E0C37B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La audiencia define el nivel de detalle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75574E96-1952-4845-B013-AEFCC305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F7CC139D-FAD9-4167-AEF8-EAF52113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930128B0-4A23-43AF-A8CF-FC6C1C14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BFFE5317-12B2-498E-B02E-2D4730F3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66E8AACC-1834-4D3E-BCAC-6E0EF3A6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983F80D2-8A5C-4FCD-A689-78D60510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2A568565-FF72-4ACD-AD86-CE9EDAB6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STORYTELLING · AUDIENCIA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14FB09B1-68FE-4EDF-A4BE-2B0E6198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matrix-surface">
            <a:extLst xmlns:a="http://schemas.openxmlformats.org/drawingml/2006/main">
              <a:ext uri="{FF2B5EF4-FFF2-40B4-BE49-F238E27FC236}">
                <a16:creationId xmlns:a16="http://schemas.microsoft.com/office/drawing/2014/main" id="{24150CEE-C9AB-44DC-83E5-E042D803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0" cy="3352800"/>
          </a:xfrm>
          <a:prstGeom xmlns:a="http://schemas.openxmlformats.org/drawingml/2006/main" prst="roundRect">
            <a:avLst>
              <a:gd name="adj" fmla="val 51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30670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803904"/>
                <a:gridCol w="5547360"/>
                <a:gridCol w="6498336"/>
              </a:tblGrid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Audiencia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Decisión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Detalle prioritario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Operaciones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reasignar capacidad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ruta, demora y volumen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Finanzas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aprobar costo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impacto y escenario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operar pipeline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contratos y controles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55332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CDBB2894-5409-448D-8903-8D4FD452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0DD54196-A773-454A-8AAC-0B8C0EAD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E4EF2AFC-3E75-47E2-94FF-21130B10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fee5a909e4b4a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D2249472-1EFD-402F-B76D-A7975020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68B6F666-3848-4205-BBF6-EA96C4A3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66D039E3-95E9-4BCC-B179-055B02C2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4E56A9C6-B9C3-4FEA-884A-461121B9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La tensión vuelve visible la necesidad de actuar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E9B88A6B-2FB6-4CDD-843E-44D107BA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05AED6EE-1B11-46C9-8B94-1C061514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65F2E210-887B-42DF-B986-8DEFE5F3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1B5E8B8C-BCB5-4ED7-A40D-4BD869A8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B5AFEA0E-AFF8-415D-8C7D-B0BC270A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78ADF947-2092-471B-9EF6-1F6FB0B2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B429E217-7C9E-42AF-BDDF-2F1F2090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NARRATIVA · TENSIÓN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22069366-A578-474C-8DD0-C00073DF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11016364-0A3E-4D65-8ED5-CEAFF9D0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8" name="worked-number-0">
            <a:extLst xmlns:a="http://schemas.openxmlformats.org/drawingml/2006/main">
              <a:ext uri="{FF2B5EF4-FFF2-40B4-BE49-F238E27FC236}">
                <a16:creationId xmlns:a16="http://schemas.microsoft.com/office/drawing/2014/main" id="{B2060E23-982A-4887-AD60-F13C4EF7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19" name="worked-rule-0">
            <a:extLst xmlns:a="http://schemas.openxmlformats.org/drawingml/2006/main">
              <a:ext uri="{FF2B5EF4-FFF2-40B4-BE49-F238E27FC236}">
                <a16:creationId xmlns:a16="http://schemas.microsoft.com/office/drawing/2014/main" id="{72FE91AE-73F7-440B-A76C-3A852776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20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0A2E1981-78A5-4F0E-A200-D795A4AE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Estado esperado</a:t>
            </a:r>
          </a:p>
        </p:txBody>
      </p:sp>
      <p:sp>
        <p:nvSpPr>
          <p:cNvPr id="21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8092150C-0564-4B60-AF62-B32D8512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P90 ≤ 8 días</a:t>
            </a:r>
          </a:p>
        </p:txBody>
      </p:sp>
      <p:sp>
        <p:nvSpPr>
          <p:cNvPr id="22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4DA0B829-8975-4B4F-BE08-FAC826B4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3513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3" name="worked-number-1">
            <a:extLst xmlns:a="http://schemas.openxmlformats.org/drawingml/2006/main">
              <a:ext uri="{FF2B5EF4-FFF2-40B4-BE49-F238E27FC236}">
                <a16:creationId xmlns:a16="http://schemas.microsoft.com/office/drawing/2014/main" id="{7896FD6F-01E7-4D85-A9B6-B3688132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4" name="worked-rule-1">
            <a:extLst xmlns:a="http://schemas.openxmlformats.org/drawingml/2006/main">
              <a:ext uri="{FF2B5EF4-FFF2-40B4-BE49-F238E27FC236}">
                <a16:creationId xmlns:a16="http://schemas.microsoft.com/office/drawing/2014/main" id="{40B82E25-383B-42C5-BF27-45A297E1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34013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25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C8B63F82-8A78-41EF-B4E8-A21C650B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Estado observado</a:t>
            </a:r>
          </a:p>
        </p:txBody>
      </p:sp>
      <p:sp>
        <p:nvSpPr>
          <p:cNvPr id="26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E94A38A2-A34C-4662-9396-6A33F0D3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P90 = 12,4 días</a:t>
            </a:r>
          </a:p>
        </p:txBody>
      </p:sp>
      <p:sp>
        <p:nvSpPr>
          <p:cNvPr id="27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F475996A-534B-466B-966A-31505AB8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8" name="worked-number-2">
            <a:extLst xmlns:a="http://schemas.openxmlformats.org/drawingml/2006/main">
              <a:ext uri="{FF2B5EF4-FFF2-40B4-BE49-F238E27FC236}">
                <a16:creationId xmlns:a16="http://schemas.microsoft.com/office/drawing/2014/main" id="{98D81139-B8C6-42D1-997C-24A39ABA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29" name="worked-rule-2">
            <a:extLst xmlns:a="http://schemas.openxmlformats.org/drawingml/2006/main">
              <a:ext uri="{FF2B5EF4-FFF2-40B4-BE49-F238E27FC236}">
                <a16:creationId xmlns:a16="http://schemas.microsoft.com/office/drawing/2014/main" id="{B4CB5F61-AE65-4F22-B7B0-D27AAF32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58325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30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62308EE0-13C5-42B7-B97B-4417ABF5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Consecuencia</a:t>
            </a:r>
          </a:p>
        </p:txBody>
      </p:sp>
      <p:sp>
        <p:nvSpPr>
          <p:cNvPr id="31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EB688242-2E8A-427B-8DC6-C12FAA4A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promesa comercial expuesta</a:t>
            </a:r>
          </a:p>
        </p:txBody>
      </p:sp>
      <p:sp>
        <p:nvSpPr>
          <p:cNvPr id="32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1FC54207-B8F7-4488-B775-C8F6D0F9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2138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3" name="worked-number-3">
            <a:extLst xmlns:a="http://schemas.openxmlformats.org/drawingml/2006/main">
              <a:ext uri="{FF2B5EF4-FFF2-40B4-BE49-F238E27FC236}">
                <a16:creationId xmlns:a16="http://schemas.microsoft.com/office/drawing/2014/main" id="{4E2E6159-A8CD-4743-A27D-18F5DE25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4" name="worked-rule-3">
            <a:extLst xmlns:a="http://schemas.openxmlformats.org/drawingml/2006/main">
              <a:ext uri="{FF2B5EF4-FFF2-40B4-BE49-F238E27FC236}">
                <a16:creationId xmlns:a16="http://schemas.microsoft.com/office/drawing/2014/main" id="{F3797E5E-CD07-428F-84F3-002DD5BF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482638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35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BE5F1FA4-705D-48C7-BDF4-CF5E1F57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Pregunta</a:t>
            </a:r>
          </a:p>
        </p:txBody>
      </p:sp>
      <p:sp>
        <p:nvSpPr>
          <p:cNvPr id="36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78399AF4-FF94-4E10-B80B-03B4C04B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¿qué región y causa explican el desvío?</a:t>
            </a:r>
          </a:p>
        </p:txBody>
      </p:sp>
      <p:sp>
        <p:nvSpPr>
          <p:cNvPr id="37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B557C1F9-79D9-4F9D-B617-CBB9F42B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66750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650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La tensión se expresa con una brecha observable.</a:t>
            </a:r>
          </a:p>
        </p:txBody>
      </p:sp>
    </p:spTree>
    <p:extLst>
      <p:ext uri="{BB962C8B-B14F-4D97-AF65-F5344CB8AC3E}">
        <p14:creationId xmlns:p14="http://schemas.microsoft.com/office/powerpoint/2010/main" val="9576695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visual-dark-rail">
            <a:extLst xmlns:a="http://schemas.openxmlformats.org/drawingml/2006/main">
              <a:ext uri="{FF2B5EF4-FFF2-40B4-BE49-F238E27FC236}">
                <a16:creationId xmlns:a16="http://schemas.microsoft.com/office/drawing/2014/main" id="{0CC5796B-6FA8-48D9-ADAD-7EFF3844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30480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sp>
        <p:nvSpPr>
          <p:cNvPr id="2" name="visual-dark-rail-2">
            <a:extLst xmlns:a="http://schemas.openxmlformats.org/drawingml/2006/main">
              <a:ext uri="{FF2B5EF4-FFF2-40B4-BE49-F238E27FC236}">
                <a16:creationId xmlns:a16="http://schemas.microsoft.com/office/drawing/2014/main" id="{37645671-EBBB-4736-80D3-E73B04AF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0"/>
            <a:ext cx="17145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A61"/>
          </a:solidFill>
          <a:ln xmlns:a="http://schemas.openxmlformats.org/drawingml/2006/main" w="0">
            <a:noFill/>
          </a:ln>
        </p:spPr>
      </p:sp>
      <p:sp>
        <p:nvSpPr>
          <p:cNvPr id="3" name="visual-dark-tab">
            <a:extLst xmlns:a="http://schemas.openxmlformats.org/drawingml/2006/main">
              <a:ext uri="{FF2B5EF4-FFF2-40B4-BE49-F238E27FC236}">
                <a16:creationId xmlns:a16="http://schemas.microsoft.com/office/drawing/2014/main" id="{D9FF5C5A-08F1-462F-80BF-5A6939B4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33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0a31a02734614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C6DBEE07-684F-4346-B423-EBA8B5CB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0DB7BA38-9DAC-45D5-B134-9A753F41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87181B6B-A09F-4545-9CE3-86A3D718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256BE7FD-0864-4188-972D-BFB31307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La </a:t>
            </a:r>
            <a:r>
              <a:rPr sz="36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evidencia</a:t>
            </a: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 ocupa el centro de la historia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D85991EB-9DDC-44CB-8CEF-BF7112F0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D8217D89-0CA1-42ED-8549-640C8B94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A5A5A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92A4E529-DB18-415B-86DF-9338A8CF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BC086165-7B8A-4372-A5FA-28AFAF0D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1EB7BE87-D28E-44D9-9DFB-EC88886A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C3583BAC-3BAF-43C0-82EA-E3444582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9963C56E-4061-4BEC-8E8B-52D9D76F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NARRATIVA · FOCO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E82D9063-3358-4B39-9C55-3E9045D1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1D1D1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D1D1D1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statement-body">
            <a:extLst xmlns:a="http://schemas.openxmlformats.org/drawingml/2006/main">
              <a:ext uri="{FF2B5EF4-FFF2-40B4-BE49-F238E27FC236}">
                <a16:creationId xmlns:a16="http://schemas.microsoft.com/office/drawing/2014/main" id="{92646188-EE53-4389-9118-9216D9C5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38550"/>
            <a:ext cx="1447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75" b="0">
                <a:solidFill>
                  <a:srgbClr val="FFFFFF"/>
                </a:solidFill>
                <a:latin typeface="Telegraf"/>
                <a:ea typeface="Telegraf"/>
                <a:cs typeface="Telegraf"/>
              </a:defRPr>
            </a:pPr>
            <a:r>
              <a:rPr sz="3075" b="0">
                <a:solidFill>
                  <a:srgbClr val="FFFFFF"/>
                </a:solidFill>
                <a:latin typeface="Telegraf"/>
                <a:ea typeface="Telegraf"/>
                <a:cs typeface="Telegraf"/>
              </a:rPr>
              <a:t>Un visual principal muestra el patrón. Una anotación orienta la lectura. La fuente, el período y la definición permiten verificarlo.</a:t>
            </a:r>
          </a:p>
        </p:txBody>
      </p:sp>
      <p:sp>
        <p:nvSpPr>
          <p:cNvPr id="18" name="statement-callout">
            <a:extLst xmlns:a="http://schemas.openxmlformats.org/drawingml/2006/main">
              <a:ext uri="{FF2B5EF4-FFF2-40B4-BE49-F238E27FC236}">
                <a16:creationId xmlns:a16="http://schemas.microsoft.com/office/drawing/2014/main" id="{8AFD0EF5-2B9D-43FB-B31B-08BCA93A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191250"/>
            <a:ext cx="104775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19" name="statement-callout-text">
            <a:extLst xmlns:a="http://schemas.openxmlformats.org/drawingml/2006/main">
              <a:ext uri="{FF2B5EF4-FFF2-40B4-BE49-F238E27FC236}">
                <a16:creationId xmlns:a16="http://schemas.microsoft.com/office/drawing/2014/main" id="{0AAA818B-5442-4492-ADFF-5D3BCE85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34125"/>
            <a:ext cx="971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FFFF33"/>
                </a:solidFill>
                <a:latin typeface="Telegraf"/>
                <a:ea typeface="Telegraf"/>
                <a:cs typeface="Telegraf"/>
              </a:defRPr>
            </a:pPr>
            <a:r>
              <a:rPr sz="2025" b="0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>Cada elemento visual responde una pregunta de la audiencia.</a:t>
            </a:r>
          </a:p>
        </p:txBody>
      </p:sp>
    </p:spTree>
    <p:extLst>
      <p:ext uri="{BB962C8B-B14F-4D97-AF65-F5344CB8AC3E}">
        <p14:creationId xmlns:p14="http://schemas.microsoft.com/office/powerpoint/2010/main" val="6355558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3A6D490C-5E5C-48A5-8842-5BA78D64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C4E75894-6D67-419F-B6D1-F9BC6137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9117E5F0-8CB5-448C-B406-DFBF9E01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e5935e87ff4a03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A1A874F6-F40A-4E66-AE7C-746C3099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E62FB0FF-9275-4984-A3DA-B621797E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CA3A4C88-06E4-4D25-B3EF-CB00927E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C503294A-A096-4F99-BE3A-94934B6E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La recomendación nombra acción, responsable y condición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87E3FB06-3259-40C4-AD7C-239D4FA3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806CE435-2965-4F67-BEFC-B4FE70EB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E769D605-B4AE-4780-9B12-4BA966F4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AAB767AF-1737-4E30-94FA-BF8C956C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B2FEC1BF-B84F-4190-A47D-0F9498F1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A1B111F2-134A-4754-AD6C-B4BF11FA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4A418989-F37E-4CAC-8249-5A8EF318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NARRATIVA · DECISIÓN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E829BD7B-3114-4A2D-9349-7C44FBD8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DF1275F0-5C56-4C2E-A4A6-A3CB91DB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8" name="worked-number-0">
            <a:extLst xmlns:a="http://schemas.openxmlformats.org/drawingml/2006/main">
              <a:ext uri="{FF2B5EF4-FFF2-40B4-BE49-F238E27FC236}">
                <a16:creationId xmlns:a16="http://schemas.microsoft.com/office/drawing/2014/main" id="{E0BC6BF4-EDD2-4E71-A355-F9BC571D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19" name="worked-rule-0">
            <a:extLst xmlns:a="http://schemas.openxmlformats.org/drawingml/2006/main">
              <a:ext uri="{FF2B5EF4-FFF2-40B4-BE49-F238E27FC236}">
                <a16:creationId xmlns:a16="http://schemas.microsoft.com/office/drawing/2014/main" id="{4E58FCA7-AAA4-4C9A-9756-1A4E9FBF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20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ECED9875-16CD-4947-B343-1CAB0A92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Acción</a:t>
            </a:r>
          </a:p>
        </p:txBody>
      </p:sp>
      <p:sp>
        <p:nvSpPr>
          <p:cNvPr id="21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7711405A-8E9B-4A2D-A302-4D660070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ajustar promesa Patagonia</a:t>
            </a:r>
          </a:p>
        </p:txBody>
      </p:sp>
      <p:sp>
        <p:nvSpPr>
          <p:cNvPr id="22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92497C81-D206-4884-A1E2-BE2CACAD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3" name="worked-number-1">
            <a:extLst xmlns:a="http://schemas.openxmlformats.org/drawingml/2006/main">
              <a:ext uri="{FF2B5EF4-FFF2-40B4-BE49-F238E27FC236}">
                <a16:creationId xmlns:a16="http://schemas.microsoft.com/office/drawing/2014/main" id="{9CD40278-CADE-4FDD-AA62-B69099D6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4" name="worked-rule-1">
            <a:extLst xmlns:a="http://schemas.openxmlformats.org/drawingml/2006/main">
              <a:ext uri="{FF2B5EF4-FFF2-40B4-BE49-F238E27FC236}">
                <a16:creationId xmlns:a16="http://schemas.microsoft.com/office/drawing/2014/main" id="{4C2B4BCB-175B-49C9-9F38-EF7D9D5D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545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25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9CB4DD51-C66B-4A18-A1FD-216A56E7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Responsable</a:t>
            </a:r>
          </a:p>
        </p:txBody>
      </p:sp>
      <p:sp>
        <p:nvSpPr>
          <p:cNvPr id="26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A2764DEC-B63D-43D8-B6E5-5A19E503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Gerencia de Operaciones</a:t>
            </a:r>
          </a:p>
        </p:txBody>
      </p:sp>
      <p:sp>
        <p:nvSpPr>
          <p:cNvPr id="27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3E9A9FB4-3BBC-4B4C-92CE-44BC798B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70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8" name="worked-number-2">
            <a:extLst xmlns:a="http://schemas.openxmlformats.org/drawingml/2006/main">
              <a:ext uri="{FF2B5EF4-FFF2-40B4-BE49-F238E27FC236}">
                <a16:creationId xmlns:a16="http://schemas.microsoft.com/office/drawing/2014/main" id="{E368C404-F469-4468-8BE7-0C625D28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29" name="worked-rule-2">
            <a:extLst xmlns:a="http://schemas.openxmlformats.org/drawingml/2006/main">
              <a:ext uri="{FF2B5EF4-FFF2-40B4-BE49-F238E27FC236}">
                <a16:creationId xmlns:a16="http://schemas.microsoft.com/office/drawing/2014/main" id="{E9EF6EEE-12CB-4353-9F71-42FAEC02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4120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30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5B787093-B8E6-496F-B3A9-93FA5433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Ventana</a:t>
            </a:r>
          </a:p>
        </p:txBody>
      </p:sp>
      <p:sp>
        <p:nvSpPr>
          <p:cNvPr id="31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4F1CD1F5-0FD1-463A-8317-4C0BE149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próximo ciclo semanal</a:t>
            </a:r>
          </a:p>
        </p:txBody>
      </p:sp>
      <p:sp>
        <p:nvSpPr>
          <p:cNvPr id="32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9E156132-1F8D-48C0-8C82-4A7EEF86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3" name="worked-number-3">
            <a:extLst xmlns:a="http://schemas.openxmlformats.org/drawingml/2006/main">
              <a:ext uri="{FF2B5EF4-FFF2-40B4-BE49-F238E27FC236}">
                <a16:creationId xmlns:a16="http://schemas.microsoft.com/office/drawing/2014/main" id="{38A26117-5461-4311-B2D2-AD0D6857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05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4" name="worked-rule-3">
            <a:extLst xmlns:a="http://schemas.openxmlformats.org/drawingml/2006/main">
              <a:ext uri="{FF2B5EF4-FFF2-40B4-BE49-F238E27FC236}">
                <a16:creationId xmlns:a16="http://schemas.microsoft.com/office/drawing/2014/main" id="{566E3CCC-1C93-4667-91F8-C8C649ED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6534150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35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C769DD23-B19C-4D89-A14F-793C6F44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648450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Condición</a:t>
            </a:r>
          </a:p>
        </p:txBody>
      </p:sp>
      <p:sp>
        <p:nvSpPr>
          <p:cNvPr id="36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3965761C-52A2-4A91-909F-2619C82C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296150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revisar al incorporar capacidad</a:t>
            </a:r>
          </a:p>
        </p:txBody>
      </p:sp>
      <p:sp>
        <p:nvSpPr>
          <p:cNvPr id="37" name="worked-box-4">
            <a:extLst xmlns:a="http://schemas.openxmlformats.org/drawingml/2006/main">
              <a:ext uri="{FF2B5EF4-FFF2-40B4-BE49-F238E27FC236}">
                <a16:creationId xmlns:a16="http://schemas.microsoft.com/office/drawing/2014/main" id="{EEB8FE6B-9CE5-47E9-8EE0-367AB16C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5772150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8" name="worked-number-4">
            <a:extLst xmlns:a="http://schemas.openxmlformats.org/drawingml/2006/main">
              <a:ext uri="{FF2B5EF4-FFF2-40B4-BE49-F238E27FC236}">
                <a16:creationId xmlns:a16="http://schemas.microsoft.com/office/drawing/2014/main" id="{E290AE12-67C5-49BD-9D7B-7F724D36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905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39" name="worked-rule-4">
            <a:extLst xmlns:a="http://schemas.openxmlformats.org/drawingml/2006/main">
              <a:ext uri="{FF2B5EF4-FFF2-40B4-BE49-F238E27FC236}">
                <a16:creationId xmlns:a16="http://schemas.microsoft.com/office/drawing/2014/main" id="{77F78453-6AD0-408B-8D51-370AC0B5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5450" y="6534150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40" name="worked-head-4">
            <a:extLst xmlns:a="http://schemas.openxmlformats.org/drawingml/2006/main">
              <a:ext uri="{FF2B5EF4-FFF2-40B4-BE49-F238E27FC236}">
                <a16:creationId xmlns:a16="http://schemas.microsoft.com/office/drawing/2014/main" id="{8CEBAD85-35A2-4F9E-B489-78329383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6648450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Riesgo</a:t>
            </a:r>
          </a:p>
        </p:txBody>
      </p:sp>
      <p:sp>
        <p:nvSpPr>
          <p:cNvPr id="41" name="worked-body-4">
            <a:extLst xmlns:a="http://schemas.openxmlformats.org/drawingml/2006/main">
              <a:ext uri="{FF2B5EF4-FFF2-40B4-BE49-F238E27FC236}">
                <a16:creationId xmlns:a16="http://schemas.microsoft.com/office/drawing/2014/main" id="{19890293-13A7-4286-84A3-9EE5A394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7296150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trasladar demanda</a:t>
            </a:r>
          </a:p>
        </p:txBody>
      </p:sp>
      <p:sp>
        <p:nvSpPr>
          <p:cNvPr id="42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1BB95BA8-31CC-440C-AB2B-261F576A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09625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650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La recomendación puede ejecutarse y evaluarse.</a:t>
            </a:r>
          </a:p>
        </p:txBody>
      </p:sp>
    </p:spTree>
    <p:extLst>
      <p:ext uri="{BB962C8B-B14F-4D97-AF65-F5344CB8AC3E}">
        <p14:creationId xmlns:p14="http://schemas.microsoft.com/office/powerpoint/2010/main" val="7508386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7C4B222D-531E-4E5F-B186-F008B9AD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8A602115-D0BB-4257-A63D-B60486E3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81607D0D-F55C-46C8-A0B3-E5596614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71618121b4e79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64420C55-E4B5-42BD-9E43-5F77FBEE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3981DFE3-96F3-4E87-A19F-EA6C1FA1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F2DF3B42-446D-4E65-B3BE-9C4F3708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0402BD5C-8118-482E-88AD-98BB12DA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Cinco títulos cuentan la historia antes de diseñar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E33D0A63-7BCE-4912-93AE-E5A6D757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A66E7B4A-F69A-4DDF-854E-1A45FF9E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E523C961-3942-4EAD-9D6B-7F26185D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9D77615F-F6E7-4006-959C-43EECAE1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A51FE82B-6390-4C71-8C9B-D6C51365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5CE8A001-6ED7-43C2-9B4E-3E493F64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2A92A88F-8E49-4177-964D-5EE74EBE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STORYBOARD · PROTOTIPO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FA8123DC-428A-4165-8F62-6D82E335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49052080-3FF5-4ED7-9970-7AC63786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2242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18" name="flow-step-0">
            <a:extLst xmlns:a="http://schemas.openxmlformats.org/drawingml/2006/main">
              <a:ext uri="{FF2B5EF4-FFF2-40B4-BE49-F238E27FC236}">
                <a16:creationId xmlns:a16="http://schemas.microsoft.com/office/drawing/2014/main" id="{953E68BE-8270-42FD-8667-82E8F5BB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9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9F2DCB73-0574-4159-8AE1-D3C2FD01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20" name="flow-card-rule-0">
            <a:extLst xmlns:a="http://schemas.openxmlformats.org/drawingml/2006/main">
              <a:ext uri="{FF2B5EF4-FFF2-40B4-BE49-F238E27FC236}">
                <a16:creationId xmlns:a16="http://schemas.microsoft.com/office/drawing/2014/main" id="{8681E973-AB3D-42DF-9129-A8385994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21" name="flow-head-0">
            <a:extLst xmlns:a="http://schemas.openxmlformats.org/drawingml/2006/main">
              <a:ext uri="{FF2B5EF4-FFF2-40B4-BE49-F238E27FC236}">
                <a16:creationId xmlns:a16="http://schemas.microsoft.com/office/drawing/2014/main" id="{4D4AFB5A-E550-47A1-820D-D614AB2A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1</a:t>
            </a:r>
          </a:p>
        </p:txBody>
      </p:sp>
      <p:sp>
        <p:nvSpPr>
          <p:cNvPr id="22" name="flow-body-0">
            <a:extLst xmlns:a="http://schemas.openxmlformats.org/drawingml/2006/main">
              <a:ext uri="{FF2B5EF4-FFF2-40B4-BE49-F238E27FC236}">
                <a16:creationId xmlns:a16="http://schemas.microsoft.com/office/drawing/2014/main" id="{A037235E-5B30-41F6-A855-F0960CF9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La promesa se deteriora</a:t>
            </a:r>
          </a:p>
        </p:txBody>
      </p:sp>
      <p:sp>
        <p:nvSpPr>
          <p:cNvPr id="23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A4E46A92-E190-4C97-A10D-AA86FE26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4949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24" name="flow-step-1">
            <a:extLst xmlns:a="http://schemas.openxmlformats.org/drawingml/2006/main">
              <a:ext uri="{FF2B5EF4-FFF2-40B4-BE49-F238E27FC236}">
                <a16:creationId xmlns:a16="http://schemas.microsoft.com/office/drawing/2014/main" id="{4C74765B-7EE1-4099-9342-FD42072A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532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5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22F477C8-4092-4CAE-AB79-54FE6DC5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77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6" name="flow-card-rule-1">
            <a:extLst xmlns:a="http://schemas.openxmlformats.org/drawingml/2006/main">
              <a:ext uri="{FF2B5EF4-FFF2-40B4-BE49-F238E27FC236}">
                <a16:creationId xmlns:a16="http://schemas.microsoft.com/office/drawing/2014/main" id="{6CE211FA-C412-4028-AFDC-1E32C407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5582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27" name="flow-head-1">
            <a:extLst xmlns:a="http://schemas.openxmlformats.org/drawingml/2006/main">
              <a:ext uri="{FF2B5EF4-FFF2-40B4-BE49-F238E27FC236}">
                <a16:creationId xmlns:a16="http://schemas.microsoft.com/office/drawing/2014/main" id="{38039437-1423-4099-A515-74406710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2</a:t>
            </a:r>
          </a:p>
        </p:txBody>
      </p:sp>
      <p:sp>
        <p:nvSpPr>
          <p:cNvPr id="28" name="flow-body-1">
            <a:extLst xmlns:a="http://schemas.openxmlformats.org/drawingml/2006/main">
              <a:ext uri="{FF2B5EF4-FFF2-40B4-BE49-F238E27FC236}">
                <a16:creationId xmlns:a16="http://schemas.microsoft.com/office/drawing/2014/main" id="{C0C74626-FFA9-4CA7-B8A4-787CCD6C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82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Patagonia concentra la cola</a:t>
            </a:r>
          </a:p>
        </p:txBody>
      </p:sp>
      <p:sp>
        <p:nvSpPr>
          <p:cNvPr id="29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443BE4C3-1809-47FE-9E74-F3F82882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7656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30" name="flow-step-2">
            <a:extLst xmlns:a="http://schemas.openxmlformats.org/drawingml/2006/main">
              <a:ext uri="{FF2B5EF4-FFF2-40B4-BE49-F238E27FC236}">
                <a16:creationId xmlns:a16="http://schemas.microsoft.com/office/drawing/2014/main" id="{6DB70BAF-D388-404F-9FEB-04549945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39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1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653E624C-B8D4-461F-A517-A316F8D9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32" name="flow-card-rule-2">
            <a:extLst xmlns:a="http://schemas.openxmlformats.org/drawingml/2006/main">
              <a:ext uri="{FF2B5EF4-FFF2-40B4-BE49-F238E27FC236}">
                <a16:creationId xmlns:a16="http://schemas.microsoft.com/office/drawing/2014/main" id="{3AE7A98C-244C-45C3-894B-A297F87F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8289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33" name="flow-head-2">
            <a:extLst xmlns:a="http://schemas.openxmlformats.org/drawingml/2006/main">
              <a:ext uri="{FF2B5EF4-FFF2-40B4-BE49-F238E27FC236}">
                <a16:creationId xmlns:a16="http://schemas.microsoft.com/office/drawing/2014/main" id="{6D5EEE1B-A610-4B65-B797-CF69A3BF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89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3</a:t>
            </a:r>
          </a:p>
        </p:txBody>
      </p:sp>
      <p:sp>
        <p:nvSpPr>
          <p:cNvPr id="34" name="flow-body-2">
            <a:extLst xmlns:a="http://schemas.openxmlformats.org/drawingml/2006/main">
              <a:ext uri="{FF2B5EF4-FFF2-40B4-BE49-F238E27FC236}">
                <a16:creationId xmlns:a16="http://schemas.microsoft.com/office/drawing/2014/main" id="{E8275E09-B586-4BB3-B5F2-701673A1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89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Dos rutas explican el cambio</a:t>
            </a:r>
          </a:p>
        </p:txBody>
      </p:sp>
      <p:sp>
        <p:nvSpPr>
          <p:cNvPr id="35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3E18A5F1-2E5F-4A38-9191-8B8FC515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03630" y="49339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36" name="flow-step-3">
            <a:extLst xmlns:a="http://schemas.openxmlformats.org/drawingml/2006/main">
              <a:ext uri="{FF2B5EF4-FFF2-40B4-BE49-F238E27FC236}">
                <a16:creationId xmlns:a16="http://schemas.microsoft.com/office/drawing/2014/main" id="{0472F694-FF57-4289-B5F2-D00C8F29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46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7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A8C2226C-7AC3-4A84-AAC1-E875C62D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91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8" name="flow-card-rule-3">
            <a:extLst xmlns:a="http://schemas.openxmlformats.org/drawingml/2006/main">
              <a:ext uri="{FF2B5EF4-FFF2-40B4-BE49-F238E27FC236}">
                <a16:creationId xmlns:a16="http://schemas.microsoft.com/office/drawing/2014/main" id="{34AE6640-044D-4564-88D7-44FFCACD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0996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39" name="flow-head-3">
            <a:extLst xmlns:a="http://schemas.openxmlformats.org/drawingml/2006/main">
              <a:ext uri="{FF2B5EF4-FFF2-40B4-BE49-F238E27FC236}">
                <a16:creationId xmlns:a16="http://schemas.microsoft.com/office/drawing/2014/main" id="{F5F2FEE2-EAAF-45F9-A2DC-56754DBD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4</a:t>
            </a:r>
          </a:p>
        </p:txBody>
      </p:sp>
      <p:sp>
        <p:nvSpPr>
          <p:cNvPr id="4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0E3CA6DD-B2F1-4F50-A9A2-01BEC43F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Capacidad y promesa deben ajustarse</a:t>
            </a:r>
          </a:p>
        </p:txBody>
      </p:sp>
      <p:sp>
        <p:nvSpPr>
          <p:cNvPr id="41" name="flow-step-4">
            <a:extLst xmlns:a="http://schemas.openxmlformats.org/drawingml/2006/main">
              <a:ext uri="{FF2B5EF4-FFF2-40B4-BE49-F238E27FC236}">
                <a16:creationId xmlns:a16="http://schemas.microsoft.com/office/drawing/2014/main" id="{FD59B63C-5F7E-4F03-99CA-6549E8C0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6530" y="3714750"/>
            <a:ext cx="290322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42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9D7783FB-909D-4768-B7FA-38F8778E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980" y="3810000"/>
            <a:ext cx="25603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43" name="flow-card-rule-4">
            <a:extLst xmlns:a="http://schemas.openxmlformats.org/drawingml/2006/main">
              <a:ext uri="{FF2B5EF4-FFF2-40B4-BE49-F238E27FC236}">
                <a16:creationId xmlns:a16="http://schemas.microsoft.com/office/drawing/2014/main" id="{769646CE-E397-447A-B7A1-A35E0953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37030" y="4495800"/>
            <a:ext cx="2522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44" name="flow-head-4">
            <a:extLst xmlns:a="http://schemas.openxmlformats.org/drawingml/2006/main">
              <a:ext uri="{FF2B5EF4-FFF2-40B4-BE49-F238E27FC236}">
                <a16:creationId xmlns:a16="http://schemas.microsoft.com/office/drawing/2014/main" id="{138CC672-BDF5-4220-8B2C-8B1B47BF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030" y="4610100"/>
            <a:ext cx="252222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9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5</a:t>
            </a:r>
          </a:p>
        </p:txBody>
      </p:sp>
      <p:sp>
        <p:nvSpPr>
          <p:cNvPr id="45" name="flow-body-4">
            <a:extLst xmlns:a="http://schemas.openxmlformats.org/drawingml/2006/main">
              <a:ext uri="{FF2B5EF4-FFF2-40B4-BE49-F238E27FC236}">
                <a16:creationId xmlns:a16="http://schemas.microsoft.com/office/drawing/2014/main" id="{89D8427A-523E-4B4B-AD2A-05CB6878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7030" y="5267325"/>
            <a:ext cx="252222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42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El próximo dato validará la causa</a:t>
            </a:r>
          </a:p>
        </p:txBody>
      </p:sp>
      <p:sp>
        <p:nvSpPr>
          <p:cNvPr id="46" name="flow-callout-panel">
            <a:extLst xmlns:a="http://schemas.openxmlformats.org/drawingml/2006/main">
              <a:ext uri="{FF2B5EF4-FFF2-40B4-BE49-F238E27FC236}">
                <a16:creationId xmlns:a16="http://schemas.microsoft.com/office/drawing/2014/main" id="{1C5DD014-B58C-4035-8182-C23B9752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124700"/>
            <a:ext cx="120015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47" name="flow-callout">
            <a:extLst xmlns:a="http://schemas.openxmlformats.org/drawingml/2006/main">
              <a:ext uri="{FF2B5EF4-FFF2-40B4-BE49-F238E27FC236}">
                <a16:creationId xmlns:a16="http://schemas.microsoft.com/office/drawing/2014/main" id="{30637465-FEFD-4E13-9AAF-97EF130B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2390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72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Si los títulos sostienen el recorrido, cada visual recibe un trabajo claro.</a:t>
            </a:r>
          </a:p>
        </p:txBody>
      </p:sp>
    </p:spTree>
    <p:extLst>
      <p:ext uri="{BB962C8B-B14F-4D97-AF65-F5344CB8AC3E}">
        <p14:creationId xmlns:p14="http://schemas.microsoft.com/office/powerpoint/2010/main" val="17656938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5CB1D4B4-A114-4F4D-9C95-07E0056A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A671EAC5-571C-453A-8943-778502A4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F26F25DE-28DC-4FB5-B851-6C504ACC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7ea57b7434301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A54ED3E8-EF2E-48EA-ABE3-E261195D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13EF552B-1486-4D9A-8B93-2BD8CE91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09B60A75-738D-40BF-A64A-58D24586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15FA17D5-5BEC-414E-8298-DD59C044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La entrega del hito conserva una ruta de revisión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9B73E90F-6BEB-46EC-976F-29FD8355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D5AB9AF9-57D8-4792-B8F7-C734F40C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423F3BC1-61F6-4484-8041-1B4F373C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F44896B9-3669-49B2-AF2F-889DF699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D51C9FC0-0E63-4F94-A18E-AAF9DA72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EFB7FA5D-32CB-41F4-9F66-DDAAF7E1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E823CA44-7160-4B82-A7CC-5435C032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HITO 2 · CHECKLIST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A6BF1C2B-BB34-4371-AF11-E250AF45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matrix-surface">
            <a:extLst xmlns:a="http://schemas.openxmlformats.org/drawingml/2006/main">
              <a:ext uri="{FF2B5EF4-FFF2-40B4-BE49-F238E27FC236}">
                <a16:creationId xmlns:a16="http://schemas.microsoft.com/office/drawing/2014/main" id="{423DF97A-5763-4BFA-9917-DB116E93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0" cy="409575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328416"/>
                <a:gridCol w="6022848"/>
                <a:gridCol w="6498336"/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Pieza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Debe permitir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Notebook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reproducir el hallazgo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ejecutar desde cero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Datos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identificar versión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hash o fecha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Storyboard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seguir el argumento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un mensaje por tarjeta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Registro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ver cambios y participación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autor y fecha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48387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clos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9b3c5a7054bfc"/>
          <a:srcRect xmlns:a="http://schemas.openxmlformats.org/drawingml/2006/main" l="33073" t="0" r="3307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9125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close-photo-rule">
            <a:extLst xmlns:a="http://schemas.openxmlformats.org/drawingml/2006/main">
              <a:ext uri="{FF2B5EF4-FFF2-40B4-BE49-F238E27FC236}">
                <a16:creationId xmlns:a16="http://schemas.microsoft.com/office/drawing/2014/main" id="{AA6C8A68-5538-4259-8034-AEEF6A9B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0"/>
            <a:ext cx="171450" cy="1028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3" name="close-photo-tab">
            <a:extLst xmlns:a="http://schemas.openxmlformats.org/drawingml/2006/main">
              <a:ext uri="{FF2B5EF4-FFF2-40B4-BE49-F238E27FC236}">
                <a16:creationId xmlns:a16="http://schemas.microsoft.com/office/drawing/2014/main" id="{F00DB162-1B7D-4DE8-B93B-54801DE9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952625" cy="228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4" name="close-rail">
            <a:extLst xmlns:a="http://schemas.openxmlformats.org/drawingml/2006/main">
              <a:ext uri="{FF2B5EF4-FFF2-40B4-BE49-F238E27FC236}">
                <a16:creationId xmlns:a16="http://schemas.microsoft.com/office/drawing/2014/main" id="{29639B8A-545F-461F-BD83-6899B232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0"/>
            <a:ext cx="295275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9f7a4c3e0b4a1d"/>
          <a:stretch xmlns:a="http://schemas.openxmlformats.org/drawingml/2006/main"/>
        </p:blipFill>
        <p:spPr>
          <a:xfrm xmlns:a="http://schemas.openxmlformats.org/drawingml/2006/main">
            <a:off x="7000875" y="6074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" name="close-label">
            <a:extLst xmlns:a="http://schemas.openxmlformats.org/drawingml/2006/main">
              <a:ext uri="{FF2B5EF4-FFF2-40B4-BE49-F238E27FC236}">
                <a16:creationId xmlns:a16="http://schemas.microsoft.com/office/drawing/2014/main" id="{C48D64F7-CC3F-4389-BA31-B1FC5354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85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CIERRE · HITO 2</a:t>
            </a:r>
          </a:p>
        </p:txBody>
      </p:sp>
      <p:sp>
        <p:nvSpPr>
          <p:cNvPr id="7" name="close-title">
            <a:extLst xmlns:a="http://schemas.openxmlformats.org/drawingml/2006/main">
              <a:ext uri="{FF2B5EF4-FFF2-40B4-BE49-F238E27FC236}">
                <a16:creationId xmlns:a16="http://schemas.microsoft.com/office/drawing/2014/main" id="{A9C92A82-0747-4EAA-B155-85420BFA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81250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Una historia analítica</a:t>
            </a:r>
          </a:p>
          <a:p xmlns:a="http://schemas.openxmlformats.org/drawingml/2006/main">
            <a:pPr algn="l">
              <a:defRPr sz="48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permite volver a la </a:t>
            </a:r>
            <a:r>
              <a:rPr sz="48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evidencia</a:t>
            </a:r>
          </a:p>
        </p:txBody>
      </p:sp>
      <p:sp>
        <p:nvSpPr>
          <p:cNvPr id="8" name="close-rule">
            <a:extLst xmlns:a="http://schemas.openxmlformats.org/drawingml/2006/main">
              <a:ext uri="{FF2B5EF4-FFF2-40B4-BE49-F238E27FC236}">
                <a16:creationId xmlns:a16="http://schemas.microsoft.com/office/drawing/2014/main" id="{7CD36A9A-62E6-4171-947A-C38CAA41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00875" y="560070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33"/>
            </a:solidFill>
            <a:prstDash val="solid"/>
          </a:ln>
        </p:spPr>
      </p:sp>
      <p:sp>
        <p:nvSpPr>
          <p:cNvPr id="9" name="close-body">
            <a:extLst xmlns:a="http://schemas.openxmlformats.org/drawingml/2006/main">
              <a:ext uri="{FF2B5EF4-FFF2-40B4-BE49-F238E27FC236}">
                <a16:creationId xmlns:a16="http://schemas.microsoft.com/office/drawing/2014/main" id="{B3017532-6183-4CDC-875E-E5C0904D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048375"/>
            <a:ext cx="8572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3E3E3"/>
                </a:solidFill>
                <a:latin typeface="Telegraf"/>
                <a:ea typeface="Telegraf"/>
                <a:cs typeface="Telegraf"/>
              </a:defRPr>
            </a:pPr>
            <a:r>
              <a:rPr sz="2025" b="0">
                <a:solidFill>
                  <a:srgbClr val="E3E3E3"/>
                </a:solidFill>
                <a:latin typeface="Telegraf"/>
                <a:ea typeface="Telegraf"/>
                <a:cs typeface="Telegraf"/>
              </a:rPr>
              <a:t>Conectar audiencia, tensión, cálculo, recomendación y límite dentro de una ruta verificable.</a:t>
            </a:r>
          </a:p>
        </p:txBody>
      </p:sp>
      <p:sp>
        <p:nvSpPr>
          <p:cNvPr id="10" name="close-course">
            <a:extLst xmlns:a="http://schemas.openxmlformats.org/drawingml/2006/main">
              <a:ext uri="{FF2B5EF4-FFF2-40B4-BE49-F238E27FC236}">
                <a16:creationId xmlns:a16="http://schemas.microsoft.com/office/drawing/2014/main" id="{028ABAA0-4EF8-4EA4-8FF2-52A4A40D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572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C8C8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C8C8C8"/>
                </a:solidFill>
                <a:latin typeface="Telegraf"/>
                <a:ea typeface="Telegraf"/>
                <a:cs typeface="Telegraf"/>
              </a:rPr>
              <a:t>Análisis de Datos · Ingeniería Industrial</a:t>
            </a:r>
          </a:p>
        </p:txBody>
      </p:sp>
    </p:spTree>
    <p:extLst>
      <p:ext uri="{BB962C8B-B14F-4D97-AF65-F5344CB8AC3E}">
        <p14:creationId xmlns:p14="http://schemas.microsoft.com/office/powerpoint/2010/main" val="6474994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2026-08-12T16:55:10.6390000Z</dcterms:created>
  <dcterms:modified xsi:type="dcterms:W3CDTF">2026-08-12T16:55:10.6390000Z</dcterms:modified>
</coreProperties>
</file>