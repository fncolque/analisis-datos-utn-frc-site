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27d752d5f4d4d" /><Relationship Type="http://schemas.openxmlformats.org/officeDocument/2006/relationships/extended-properties" Target="/docProps/app.xml" Id="Rd6ce6449c4a64af4" /><Relationship Type="http://schemas.openxmlformats.org/officeDocument/2006/relationships/officeDocument" Target="/ppt/presentation.xml" Id="Rb2870653ffc8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1597e932c4a50"/>
  </p:sldMasterIdLst>
  <p:notesMasterIdLst>
    <p:notesMasterId xmlns:r="http://schemas.openxmlformats.org/officeDocument/2006/relationships" r:id="R17f21eaa38154e38"/>
  </p:notesMasterIdLst>
  <p:sldIdLst>
    <p:sldId xmlns:r="http://schemas.openxmlformats.org/officeDocument/2006/relationships" id="256" r:id="R67481cc9ac42412e"/>
    <p:sldId xmlns:r="http://schemas.openxmlformats.org/officeDocument/2006/relationships" id="257" r:id="R5ad265b139b641f3"/>
    <p:sldId xmlns:r="http://schemas.openxmlformats.org/officeDocument/2006/relationships" id="258" r:id="Rca65807cdd7744d0"/>
    <p:sldId xmlns:r="http://schemas.openxmlformats.org/officeDocument/2006/relationships" id="259" r:id="R4b8dee882f8b452b"/>
    <p:sldId xmlns:r="http://schemas.openxmlformats.org/officeDocument/2006/relationships" id="260" r:id="Rbb3876cf986749a0"/>
    <p:sldId xmlns:r="http://schemas.openxmlformats.org/officeDocument/2006/relationships" id="261" r:id="R0433f970acc44546"/>
    <p:sldId xmlns:r="http://schemas.openxmlformats.org/officeDocument/2006/relationships" id="262" r:id="R4dca9130a18849a8"/>
    <p:sldId xmlns:r="http://schemas.openxmlformats.org/officeDocument/2006/relationships" id="263" r:id="Rb4bfc01a89c64cb0"/>
    <p:sldId xmlns:r="http://schemas.openxmlformats.org/officeDocument/2006/relationships" id="264" r:id="R4210b142050a44e0"/>
    <p:sldId xmlns:r="http://schemas.openxmlformats.org/officeDocument/2006/relationships" id="265" r:id="R522c41ffd0f04e1a"/>
    <p:sldId xmlns:r="http://schemas.openxmlformats.org/officeDocument/2006/relationships" id="266" r:id="Rdfbfc100c7654253"/>
    <p:sldId xmlns:r="http://schemas.openxmlformats.org/officeDocument/2006/relationships" id="267" r:id="R64298981e04343a4"/>
    <p:sldId xmlns:r="http://schemas.openxmlformats.org/officeDocument/2006/relationships" id="268" r:id="R6287358b13534ac0"/>
    <p:sldId xmlns:r="http://schemas.openxmlformats.org/officeDocument/2006/relationships" id="269" r:id="Rd36e7508c55f453d"/>
    <p:sldId xmlns:r="http://schemas.openxmlformats.org/officeDocument/2006/relationships" id="270" r:id="Red5d232632814fdc"/>
    <p:sldId xmlns:r="http://schemas.openxmlformats.org/officeDocument/2006/relationships" id="271" r:id="R2158e13afb5241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87b01b81714b14" /><Relationship Type="http://schemas.openxmlformats.org/officeDocument/2006/relationships/slideMaster" Target="/ppt/slideMasters/slideMaster1.xml" Id="Ra241597e932c4a50" /><Relationship Type="http://schemas.openxmlformats.org/officeDocument/2006/relationships/notesMaster" Target="/ppt/notesMasters/notesMaster1.xml" Id="R17f21eaa38154e38" /><Relationship Type="http://schemas.openxmlformats.org/officeDocument/2006/relationships/presProps" Target="/ppt/presProps.xml" Id="R94504ec020014b5e" /><Relationship Type="http://schemas.openxmlformats.org/officeDocument/2006/relationships/tableStyles" Target="/ppt/tableStyles.xml" Id="R437e3399faa74152" /><Relationship Type="http://schemas.openxmlformats.org/officeDocument/2006/relationships/slide" Target="/ppt/slides/slide1.xml" Id="R67481cc9ac42412e" /><Relationship Type="http://schemas.openxmlformats.org/officeDocument/2006/relationships/slide" Target="/ppt/slides/slide2.xml" Id="R5ad265b139b641f3" /><Relationship Type="http://schemas.openxmlformats.org/officeDocument/2006/relationships/slide" Target="/ppt/slides/slide3.xml" Id="Rca65807cdd7744d0" /><Relationship Type="http://schemas.openxmlformats.org/officeDocument/2006/relationships/slide" Target="/ppt/slides/slide4.xml" Id="R4b8dee882f8b452b" /><Relationship Type="http://schemas.openxmlformats.org/officeDocument/2006/relationships/slide" Target="/ppt/slides/slide5.xml" Id="Rbb3876cf986749a0" /><Relationship Type="http://schemas.openxmlformats.org/officeDocument/2006/relationships/slide" Target="/ppt/slides/slide6.xml" Id="R0433f970acc44546" /><Relationship Type="http://schemas.openxmlformats.org/officeDocument/2006/relationships/slide" Target="/ppt/slides/slide7.xml" Id="R4dca9130a18849a8" /><Relationship Type="http://schemas.openxmlformats.org/officeDocument/2006/relationships/slide" Target="/ppt/slides/slide8.xml" Id="Rb4bfc01a89c64cb0" /><Relationship Type="http://schemas.openxmlformats.org/officeDocument/2006/relationships/slide" Target="/ppt/slides/slide9.xml" Id="R4210b142050a44e0" /><Relationship Type="http://schemas.openxmlformats.org/officeDocument/2006/relationships/slide" Target="/ppt/slides/slide10.xml" Id="R522c41ffd0f04e1a" /><Relationship Type="http://schemas.openxmlformats.org/officeDocument/2006/relationships/slide" Target="/ppt/slides/slide11.xml" Id="Rdfbfc100c7654253" /><Relationship Type="http://schemas.openxmlformats.org/officeDocument/2006/relationships/slide" Target="/ppt/slides/slide12.xml" Id="R64298981e04343a4" /><Relationship Type="http://schemas.openxmlformats.org/officeDocument/2006/relationships/slide" Target="/ppt/slides/slide13.xml" Id="R6287358b13534ac0" /><Relationship Type="http://schemas.openxmlformats.org/officeDocument/2006/relationships/slide" Target="/ppt/slides/slide14.xml" Id="Rd36e7508c55f453d" /><Relationship Type="http://schemas.openxmlformats.org/officeDocument/2006/relationships/slide" Target="/ppt/slides/slide15.xml" Id="Red5d232632814fdc" /><Relationship Type="http://schemas.openxmlformats.org/officeDocument/2006/relationships/slide" Target="/ppt/slides/slide16.xml" Id="R2158e13afb52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1cb989121448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5f1f7d0bd4044" /><Relationship Type="http://schemas.openxmlformats.org/officeDocument/2006/relationships/notesMaster" Target="/ppt/notesMasters/notesMaster1.xml" Id="Ra49cce4ffc68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be5dc92faf418e" /><Relationship Type="http://schemas.openxmlformats.org/officeDocument/2006/relationships/notesMaster" Target="/ppt/notesMasters/notesMaster1.xml" Id="R8af5e224bcd244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926688c8eb43a5" /><Relationship Type="http://schemas.openxmlformats.org/officeDocument/2006/relationships/notesMaster" Target="/ppt/notesMasters/notesMaster1.xml" Id="R253b3077268448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f86fe69e224871" /><Relationship Type="http://schemas.openxmlformats.org/officeDocument/2006/relationships/notesMaster" Target="/ppt/notesMasters/notesMaster1.xml" Id="R927487cc6d0f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cc3e2d527b470f" /><Relationship Type="http://schemas.openxmlformats.org/officeDocument/2006/relationships/notesMaster" Target="/ppt/notesMasters/notesMaster1.xml" Id="Re821329b741748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dcef99eef487e" /><Relationship Type="http://schemas.openxmlformats.org/officeDocument/2006/relationships/notesMaster" Target="/ppt/notesMasters/notesMaster1.xml" Id="R298f32747b3648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24957368584b7c" /><Relationship Type="http://schemas.openxmlformats.org/officeDocument/2006/relationships/notesMaster" Target="/ppt/notesMasters/notesMaster1.xml" Id="Rdfc11fe1a7ea4d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d368e36f924a28" /><Relationship Type="http://schemas.openxmlformats.org/officeDocument/2006/relationships/notesMaster" Target="/ppt/notesMasters/notesMaster1.xml" Id="R9ce0d04b640a45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9a5358271f4f3b" /><Relationship Type="http://schemas.openxmlformats.org/officeDocument/2006/relationships/notesMaster" Target="/ppt/notesMasters/notesMaster1.xml" Id="R66f3f50abb3643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64823b33a9409c" /><Relationship Type="http://schemas.openxmlformats.org/officeDocument/2006/relationships/notesMaster" Target="/ppt/notesMasters/notesMaster1.xml" Id="R4aabaa40a7cc42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114ad0279047f1" /><Relationship Type="http://schemas.openxmlformats.org/officeDocument/2006/relationships/notesMaster" Target="/ppt/notesMasters/notesMaster1.xml" Id="R7205720c62044f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cd5aa5c5474fe9" /><Relationship Type="http://schemas.openxmlformats.org/officeDocument/2006/relationships/notesMaster" Target="/ppt/notesMasters/notesMaster1.xml" Id="R51042abb034e48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5863e90fef4425" /><Relationship Type="http://schemas.openxmlformats.org/officeDocument/2006/relationships/notesMaster" Target="/ppt/notesMasters/notesMaster1.xml" Id="R4e7c2fd2742a45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3a75b0beed48d1" /><Relationship Type="http://schemas.openxmlformats.org/officeDocument/2006/relationships/notesMaster" Target="/ppt/notesMasters/notesMaster1.xml" Id="Rc5618818fe354a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fbf1c60836484e" /><Relationship Type="http://schemas.openxmlformats.org/officeDocument/2006/relationships/notesMaster" Target="/ppt/notesMasters/notesMaster1.xml" Id="Rbef3ac5f518442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1037351a5b4456" /><Relationship Type="http://schemas.openxmlformats.org/officeDocument/2006/relationships/notesMaster" Target="/ppt/notesMasters/notesMaster1.xml" Id="R337771599412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11aa8249c41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84cf4ba7dc4131" /><Relationship Type="http://schemas.openxmlformats.org/officeDocument/2006/relationships/slideLayout" Target="/ppt/slideLayouts/slideLayout1.xml" Id="Rf45010aadc5f40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010aadc5f40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f7979bcf846a5" /><Relationship Type="http://schemas.openxmlformats.org/officeDocument/2006/relationships/image" Target="/ppt/media/image.jpeg" Id="Ra1e49407da484eaf" /><Relationship Type="http://schemas.openxmlformats.org/officeDocument/2006/relationships/image" Target="/ppt/media/image.png" Id="R866e18f020364b9d" /><Relationship Type="http://schemas.openxmlformats.org/officeDocument/2006/relationships/notesSlide" Target="/ppt/notesSlides/notesSlide1.xml" Id="Rdf278d823f83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9b191b0ba488e" /><Relationship Type="http://schemas.openxmlformats.org/officeDocument/2006/relationships/image" Target="/ppt/media/image2.png" Id="Rdfea651eb91348bd" /><Relationship Type="http://schemas.openxmlformats.org/officeDocument/2006/relationships/notesSlide" Target="/ppt/notesSlides/notesSlide2.xml" Id="Rd78314b9741246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7968c5270448e" /><Relationship Type="http://schemas.openxmlformats.org/officeDocument/2006/relationships/image" Target="/ppt/media/image3.png" Id="R47689c58b613497d" /><Relationship Type="http://schemas.openxmlformats.org/officeDocument/2006/relationships/notesSlide" Target="/ppt/notesSlides/notesSlide3.xml" Id="R4303a7508e614f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0f8c97eba45d7" /><Relationship Type="http://schemas.openxmlformats.org/officeDocument/2006/relationships/image" Target="/ppt/media/image4.png" Id="Ra0a468903a7f4a2c" /><Relationship Type="http://schemas.openxmlformats.org/officeDocument/2006/relationships/notesSlide" Target="/ppt/notesSlides/notesSlide4.xml" Id="Rbe614558684842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92a445e3c46b4" /><Relationship Type="http://schemas.openxmlformats.org/officeDocument/2006/relationships/image" Target="/ppt/media/image5.png" Id="Rd8d734d9f2f749dd" /><Relationship Type="http://schemas.openxmlformats.org/officeDocument/2006/relationships/notesSlide" Target="/ppt/notesSlides/notesSlide5.xml" Id="Red8718f31f0944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592f1e77541de" /><Relationship Type="http://schemas.openxmlformats.org/officeDocument/2006/relationships/image" Target="/ppt/media/image6.png" Id="R0527d7d7a1fb4671" /><Relationship Type="http://schemas.openxmlformats.org/officeDocument/2006/relationships/notesSlide" Target="/ppt/notesSlides/notesSlide6.xml" Id="R89d1c835517343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8ea5570ab4e80" /><Relationship Type="http://schemas.openxmlformats.org/officeDocument/2006/relationships/image" Target="/ppt/media/image7.png" Id="R9e890fbe72004d07" /><Relationship Type="http://schemas.openxmlformats.org/officeDocument/2006/relationships/notesSlide" Target="/ppt/notesSlides/notesSlide7.xml" Id="R4f2753723c44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4418e313147eb" /><Relationship Type="http://schemas.openxmlformats.org/officeDocument/2006/relationships/image" Target="/ppt/media/image8.png" Id="R114d3eb73d3f4de2" /><Relationship Type="http://schemas.openxmlformats.org/officeDocument/2006/relationships/notesSlide" Target="/ppt/notesSlides/notesSlide8.xml" Id="Ra4d4ea3347f74c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746644a674f70" /><Relationship Type="http://schemas.openxmlformats.org/officeDocument/2006/relationships/image" Target="/ppt/media/image9.png" Id="Rcee6c1ab00734491" /><Relationship Type="http://schemas.openxmlformats.org/officeDocument/2006/relationships/notesSlide" Target="/ppt/notesSlides/notesSlide9.xml" Id="R28679bbded244e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ff54f6dbb4b4e" /><Relationship Type="http://schemas.openxmlformats.org/officeDocument/2006/relationships/image" Target="/ppt/media/image10.png" Id="Rc03ba7b3278946b4" /><Relationship Type="http://schemas.openxmlformats.org/officeDocument/2006/relationships/notesSlide" Target="/ppt/notesSlides/notesSlide10.xml" Id="Rce0d38fe5d9e47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1df9ff02745a3" /><Relationship Type="http://schemas.openxmlformats.org/officeDocument/2006/relationships/image" Target="/ppt/media/image11.png" Id="R91ed3a2455c04b15" /><Relationship Type="http://schemas.openxmlformats.org/officeDocument/2006/relationships/notesSlide" Target="/ppt/notesSlides/notesSlide11.xml" Id="R8b26f5ff66a148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a181aaf54d98" /><Relationship Type="http://schemas.openxmlformats.org/officeDocument/2006/relationships/image" Target="/ppt/media/image12.png" Id="R733c2efe4b194ddd" /><Relationship Type="http://schemas.openxmlformats.org/officeDocument/2006/relationships/notesSlide" Target="/ppt/notesSlides/notesSlide12.xml" Id="Rc0cc24cb20734b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59b8eb7bf4ac3" /><Relationship Type="http://schemas.openxmlformats.org/officeDocument/2006/relationships/image" Target="/ppt/media/image13.png" Id="R94db913e44694795" /><Relationship Type="http://schemas.openxmlformats.org/officeDocument/2006/relationships/notesSlide" Target="/ppt/notesSlides/notesSlide13.xml" Id="R986d8f228b484e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e89e2101e4019" /><Relationship Type="http://schemas.openxmlformats.org/officeDocument/2006/relationships/image" Target="/ppt/media/image2.jpeg" Id="Rc135ffa5258e4d66" /><Relationship Type="http://schemas.openxmlformats.org/officeDocument/2006/relationships/image" Target="/ppt/media/image14.png" Id="Rc02e0eeee9574cc2" /><Relationship Type="http://schemas.openxmlformats.org/officeDocument/2006/relationships/notesSlide" Target="/ppt/notesSlides/notesSlide14.xml" Id="R62c4df73e4ba4d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763db9bbe4dbf" /><Relationship Type="http://schemas.openxmlformats.org/officeDocument/2006/relationships/image" Target="/ppt/media/image2.jpeg" Id="Re328e089296a4653" /><Relationship Type="http://schemas.openxmlformats.org/officeDocument/2006/relationships/image" Target="/ppt/media/image14.png" Id="R947e46db764e4b75" /><Relationship Type="http://schemas.openxmlformats.org/officeDocument/2006/relationships/notesSlide" Target="/ppt/notesSlides/notesSlide15.xml" Id="R197ce58139c549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1306d5e914aa0" /><Relationship Type="http://schemas.openxmlformats.org/officeDocument/2006/relationships/image" Target="/ppt/media/image3.jpeg" Id="R713abff7a6ad4b67" /><Relationship Type="http://schemas.openxmlformats.org/officeDocument/2006/relationships/image" Target="/ppt/media/image15.png" Id="R2436e5741e884bbb" /><Relationship Type="http://schemas.openxmlformats.org/officeDocument/2006/relationships/notesSlide" Target="/ppt/notesSlides/notesSlide16.xml" Id="Rd019d1026a7845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49407da484eaf"/>
          <a:srcRect xmlns:a="http://schemas.openxmlformats.org/drawingml/2006/main" l="29926" t="0" r="29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7DE8D535-E983-4C93-A492-8978B5F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35754511-325E-44A5-BF6D-14B788D9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over-rail">
            <a:extLst xmlns:a="http://schemas.openxmlformats.org/drawingml/2006/main">
              <a:ext uri="{FF2B5EF4-FFF2-40B4-BE49-F238E27FC236}">
                <a16:creationId xmlns:a16="http://schemas.microsoft.com/office/drawing/2014/main" id="{78E593DE-AE5D-427E-9C08-5260C6EB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e18f020364b9d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1B30F212-9564-4C97-BB89-87E31DBD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7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E4DD72CF-6151-4D5C-9C6B-06A18707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F99F01C-D591-410A-94AC-C1DF825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Calidad, trazabilidad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y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privacidad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52B9056B-74EA-4D77-AA12-15F650D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10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91C6306E-B766-4D2B-BE92-A624A288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11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68C8F1B0-D111-466A-82C6-204E2FCB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¿Qué controles hacen confiable un resultado y responsable su uso?</a:t>
            </a:r>
          </a:p>
        </p:txBody>
      </p:sp>
      <p:sp>
        <p:nvSpPr>
          <p:cNvPr id="12" name="cover-unit">
            <a:extLst xmlns:a="http://schemas.openxmlformats.org/drawingml/2006/main">
              <a:ext uri="{FF2B5EF4-FFF2-40B4-BE49-F238E27FC236}">
                <a16:creationId xmlns:a16="http://schemas.microsoft.com/office/drawing/2014/main" id="{7A72C075-E10A-4C69-AA19-3B34D17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3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FA669D31-3278-49CB-9529-5BAA705F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4</a:t>
            </a:r>
          </a:p>
        </p:txBody>
      </p:sp>
      <p:sp>
        <p:nvSpPr>
          <p:cNvPr id="1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4D056B20-52AA-4D3A-937B-BAF7B1A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252949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64740A5-68B3-4CDD-98A6-7311FA8B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89573993-EAF4-4A50-8F73-E8316BC6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CB3D1DD6-CF45-445C-B8C1-E61A62C2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a651eb91348bd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CD166BB0-761B-4ED7-93A2-0D12FB0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7E136E3-95C8-4527-B9E2-E9F02D5E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05D2C287-D9A0-4E98-AEAE-EED45C53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D9A7651-AE12-48AC-B721-17E30FBD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calidad se evalúa contra una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decisión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concreta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8211C0B6-5856-4FFB-A78B-AFF6C852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4F22F794-821B-43DB-8053-10E9108E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D5A5ACF-F914-4463-AFCB-5C298B27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FAD8FAA-A403-41E3-8C97-D18AAA6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CAD40A7-901D-4B26-9734-8B1632F8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EBAC2D9-FC28-4653-89FF-365A67B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FE2CD53-3F45-41A6-A3E6-CA310D52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CALIDAD · PROPÓSITO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B550EE8-87FE-4D23-B076-C86EBB6F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B93E7CE5-6FED-4739-8979-2084200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38550"/>
            <a:ext cx="1447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30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Un campo puede servir para estimar demanda mensual y fallar para prometer una entrega diaria. El uso define la tolerancia, la prioridad y la respuesta.</a:t>
            </a:r>
          </a:p>
        </p:txBody>
      </p:sp>
      <p:sp>
        <p:nvSpPr>
          <p:cNvPr id="18" name="statement-callout">
            <a:extLst xmlns:a="http://schemas.openxmlformats.org/drawingml/2006/main">
              <a:ext uri="{FF2B5EF4-FFF2-40B4-BE49-F238E27FC236}">
                <a16:creationId xmlns:a16="http://schemas.microsoft.com/office/drawing/2014/main" id="{FE4B5694-D118-4997-BEB8-D6A3ED6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0477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19" name="statement-callout-text">
            <a:extLst xmlns:a="http://schemas.openxmlformats.org/drawingml/2006/main">
              <a:ext uri="{FF2B5EF4-FFF2-40B4-BE49-F238E27FC236}">
                <a16:creationId xmlns:a16="http://schemas.microsoft.com/office/drawing/2014/main" id="{F96947A8-8C8D-40EC-A05B-CB6C113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Primero se declara la consecuencia del error.</a:t>
            </a:r>
          </a:p>
        </p:txBody>
      </p:sp>
    </p:spTree>
    <p:extLst>
      <p:ext uri="{BB962C8B-B14F-4D97-AF65-F5344CB8AC3E}">
        <p14:creationId xmlns:p14="http://schemas.microsoft.com/office/powerpoint/2010/main" val="686923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FA27053-947D-4D05-B16C-A0CB42C9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615220B5-2A22-4ED4-AB58-C62A5C4C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AA15145E-E698-430A-8A65-C759405F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89c58b613497d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C3B8891-9064-4477-B1EF-B0CFFA5B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17301083-56E5-4DA1-B9D3-4201642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0BF4C5ED-CD77-4996-89AB-1ABE06BA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79EA931-7636-496E-8B80-3FC1D1F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Seis dimensiones describen defectos diferentes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4B0BE70-4CEB-425A-ABE3-43346A38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D10FFAE-5E8F-4063-AF5F-17873B0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A861EFE9-1F3D-4BCB-9A54-D38035CD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8B77FD16-76C2-48D9-87C0-18D1B245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7B9746BD-8F0B-4CAE-B4F2-13457BD2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24B65265-E37D-4F09-971A-503643BC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6E3A77FA-9370-48ED-A917-FE047C30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CALIDAD · DIMENSIONES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B82F240-0844-4BC7-AF1B-0177731E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D6834D37-4A30-493F-AF15-1EDAF99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5048250"/>
          </a:xfrm>
          <a:prstGeom xmlns:a="http://schemas.openxmlformats.org/drawingml/2006/main" prst="roundRect">
            <a:avLst>
              <a:gd name="adj" fmla="val 3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762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5388864"/>
                <a:gridCol w="6973824"/>
              </a:tblGrid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Dimensión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Completitud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falta?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fecha_entrega nula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Unicidad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se repite?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event_id duplicado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Validez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¿cumple el dominio?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cantidad = −4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Consistencia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¿coinciden reglas?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entrega &lt; despacho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Integridad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¿existe la referencia?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 desconocido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Oportunidad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¿llega a tiempo?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snapshot con 36 h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112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C1C310E1-6067-4C1A-BD2C-5A36831E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98D23A78-B219-4951-A8DF-BC328E13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2724DE34-E95D-4A8B-822D-350CE9E9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468903a7f4a2c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28E0340-BCAD-466B-96EC-7059125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CD09441-4651-41F8-9B0F-9494869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B1646E3-D98F-4254-8D31-0CA2868D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4043463-3072-44F9-9AAD-AFCFFE06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completitud necesita denominador y campo crítico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15DAA32-580C-4EF0-B17F-01C59FC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E37F3093-AA58-4DCA-A540-6290689F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6A4EF4F-78DF-415F-9268-6DA593E8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5DD7E5C5-C891-43D5-AC18-1CDFD00C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AEFD3D6-D968-4206-84CD-D8D9FB9E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F839F5E-EAB6-4822-B18B-BE852F5C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CBDBF9C-ADA5-45FA-A519-E5FEAA9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CONTROL · COMPLETITUD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2EF27DB-AFB4-4BBC-A194-48A07D61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6204D877-C32D-4801-91A9-0C8429CA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9FE91F65-7AEE-4041-8480-11CF5742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451D46DC-2E3E-4C10-88B5-77621AA5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526CF47E-F3C4-49A3-A90B-CFA3983B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Población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53E48A99-A14C-4B7A-87D7-B522A32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1.241 eventos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D1CC5BD1-EF41-400E-BEA1-6F03C03B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BD1C481E-1F77-45A1-8E7F-BE926F8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CB63F865-9647-4DB6-B71F-8A335580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B89ADDB0-4167-44D0-9D69-EF28923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Campo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5701FF6E-199A-4FA5-A159-7407B08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order_id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B0C3A37F-EA54-48E1-BCB2-486C7E8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08A7FB95-E61F-40F8-AC8E-EC853FE1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426B4D28-A2A9-460D-9464-B9538ACB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ED0CCB4E-9E52-41BC-BF51-9671CA56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Faltantes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4D039660-D501-4551-8AE1-C182BBB8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3 registros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10883727-1F5B-4703-8561-679CDB1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3723C2C5-9DCA-4F8D-9C83-72423560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87545335-E8FE-4B0A-8B82-0E27405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C56C75BA-939C-46BF-AAD7-B462946E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Tasa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6F2E7DDC-0150-4516-B890-6CA42927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99,76 %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37C1009A-B425-4ECE-BC3C-1D67C9EC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7A9D5A38-7077-419A-BB64-BCB64166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81BEF491-1E16-472C-A09F-5FE536B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87454549-59FE-496B-971C-55861E6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Acción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A25176CD-B26E-4898-8520-0BE440FF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cuarentena y alerta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396A56D4-8A92-41D4-92ED-D3738B6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misma tasa puede ser aceptable para exploración y riesgosa para facturación.</a:t>
            </a:r>
          </a:p>
        </p:txBody>
      </p:sp>
    </p:spTree>
    <p:extLst>
      <p:ext uri="{BB962C8B-B14F-4D97-AF65-F5344CB8AC3E}">
        <p14:creationId xmlns:p14="http://schemas.microsoft.com/office/powerpoint/2010/main" val="1516808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F559879D-7FFC-46D2-9F04-40A123CA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12A9188C-1A94-4F3C-ABB7-B2D0A425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DECE688F-2F26-4D38-A48B-67EFE48A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734d9f2f749dd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01A59B1-A37D-4B46-B804-CFCB158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B51EAD14-2603-4AA9-9D73-DD781671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F55CD06-E0B7-43AC-B228-AB749B4B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D074551-E587-426B-AB75-AA8E62C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unicidad se prueba con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claves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, conteos y ejemplos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8E11B0D-C056-4205-A832-D4FF1304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55E0B60A-3790-47D2-9AB1-911FA8C4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57FDF117-98CB-4F9E-8D52-8A3D8EE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9E5D21A-D45B-4519-B826-28ADCEE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5538C494-A998-48EC-B39F-780799E8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65C127FC-19D4-40E0-91A5-7B64E9BE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C1196F65-0875-4254-B6D5-0773072A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SQL · DUPLICADOS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73839E0-4360-417E-AA9D-13794493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EC094087-296A-4D30-82B6-8AA1E05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A3267062-B9A3-43EF-892B-39319375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 event_id, COUNT(*) AS repeticiones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stg_tracking_events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GROUP BY event_id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HAVING COUNT(*) &gt; 1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ORDER BY repeticiones DESC;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7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event_id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repeticiones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EV-771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EV-118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2EF1B9B4-A542-40B2-9611-9355DF40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2676525"/>
          </a:xfrm>
          <a:prstGeom xmlns:a="http://schemas.openxmlformats.org/drawingml/2006/main" prst="roundRect">
            <a:avLst>
              <a:gd name="adj" fmla="val 64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1DD4EA15-89A4-464F-BF67-7DF624B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resultado conserva los identificadores necesarios para investigar el origen.</a:t>
            </a:r>
          </a:p>
        </p:txBody>
      </p:sp>
    </p:spTree>
    <p:extLst>
      <p:ext uri="{BB962C8B-B14F-4D97-AF65-F5344CB8AC3E}">
        <p14:creationId xmlns:p14="http://schemas.microsoft.com/office/powerpoint/2010/main" val="1674125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F207EE84-5DE4-49AB-9749-A4B53B27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914AF1F7-8451-4F3C-9B0F-B9EA475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1F999E62-5CA2-4EE4-B47B-2D2185CA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7d7d7a1fb4671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8775CD1-A2CC-43FE-AEC4-912B2140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14D85661-29C1-483A-A3BC-43E4F2FB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5FCDB9C-ACD0-4674-A50D-370E5CA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C13DAB83-1D72-4ED9-A423-E56EB4E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Validez, consistencia e integridad prueban reglas distintas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2EAA6CE-BE4F-40F7-B333-1576C34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28D41DD-C030-4D9C-B417-CD22DBE1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0ED3F31-0E13-47E8-BD8A-9262A211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3A8A0A9-7FE3-4F6F-A387-0CA4ABA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8F7218B-E617-4751-BB54-A9F157D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995B69AA-1078-479E-B9DF-6F384197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D3E97FC-C565-4D3A-9B06-CACF92A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CONTROL · REGLAS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F75992D-22E0-4096-8179-EF99D30A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06E51C9A-F2B3-4CAB-B4CD-3B872252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596384"/>
                <a:gridCol w="5230368"/>
                <a:gridCol w="6022848"/>
              </a:tblGrid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Regla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Falla observada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cantidad ≥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−4 unidades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rechazar o corregir origen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despacho ≤ entrega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secuencia invertida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investigar timestamps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order_id existe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3 huérfanos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cuarentena y conciliación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557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E9D1E516-4E1C-4F03-8E94-35567DF1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9BCAA56D-1144-489D-987F-6DB38B3E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1DE66837-27D3-4F57-9B23-2D384FD5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90fbe72004d0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2E5AB78-627D-4AA5-899A-4BCE49B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60F1305-2F91-430C-A5F3-A8EEAADE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FFEE0F4-CC0E-49F8-9A51-4A90EB26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3D36149-9311-4A56-A96F-146070D4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Oportunidad y exactitud protegen riesgos distintos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DA989F8-F4E4-49AD-81B4-67B0E1A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EE4DC794-D706-47FD-8393-901C996C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7EAD8E03-E51B-484B-A038-F5804F6B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3282F1C-C6EF-4832-8918-A9D6C1AB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B378C86E-16F2-48DB-BCF3-C6CD4F45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4422181-4580-4031-939D-CB2BB73E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1B71012-49DE-4D65-865F-0972E8A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CALIDAD · TRADE-OFF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CFBD827-C5B2-4D01-8BBB-7CBAAEE9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14405C13-0CB1-4F01-A100-05CDC4C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F6544D36-E008-4082-A68E-DA6AEA1D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A1904726-5463-433B-A36A-CB35C43A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 h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9AC7E527-CE48-45F8-B612-24B82411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Oportunidad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5897763E-C040-4635-82D5-E08207A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56E288C5-75E0-48ED-BB26-10F8078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El dato llega dentro de la ventana de decisión.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C093FBB7-6C73-4659-9A7C-882F9B9D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99,8 %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C31F5EA2-7DEA-4502-9820-CF0DBAB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Exactitud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080480DC-960C-4C65-A2D3-2C244140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1FBC1B44-FCD7-470D-9964-6F17A8DB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El valor representa el hecho con el error tolerado.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B44A6E46-5715-4742-9E09-3A4D485D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2C1B4344-5926-4FA5-BB7B-26FEDC9C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decisión urgente puede usar una estimación marcada y reemplazarla al cerrar el período.</a:t>
            </a:r>
          </a:p>
        </p:txBody>
      </p:sp>
    </p:spTree>
    <p:extLst>
      <p:ext uri="{BB962C8B-B14F-4D97-AF65-F5344CB8AC3E}">
        <p14:creationId xmlns:p14="http://schemas.microsoft.com/office/powerpoint/2010/main" val="240606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B859445B-35D5-4732-B8F0-013DF844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8DA8C8AA-836D-4197-9E04-8D0F8112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22F4A7AF-5DF1-49F8-AD68-ADBD4692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d3eb73d3f4de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CDF0C08-F76C-4642-B537-F4310136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C9347B09-AF71-4AD8-8B89-E19FADEC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8002DBF-182C-4B52-BF48-0976F269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A061B14-BBEF-4C8A-9561-CB685BD9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severidad combina impacto y extensión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60C092E-33FF-441D-B29B-1DBF1AA3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43A5C3F-22DB-449A-8512-F54269D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D920AB5-1A8B-4363-BCC6-BBEF973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0DE5E899-41E7-4C34-945C-FE3E55C6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B7AC0B63-F800-41C9-A594-3D94E695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69A067D-2FDF-49A2-82D7-C0E7F635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7112822-09F3-4EAD-BA5D-AC301272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PRIORIZACIÓN · MATRIZ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146A870-0664-4AC3-AB59-2071E762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F763ED7A-6BC8-465C-BFF9-DAEF7920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13376"/>
                <a:gridCol w="3011424"/>
                <a:gridCol w="3486912"/>
                <a:gridCol w="4437888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Defecto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Impacto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Extensión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Prioridad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 huérfano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alto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3 filas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ciudad vacía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medio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18 %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media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descripción larga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bajo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41 %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baja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costo nulo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alto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2,7 %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01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91300C8E-DF9E-42F5-9AA3-FB52684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BDF4CCA-95FD-4471-AC1D-09A519C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CCC6588E-D421-48CB-94B4-4F27260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6c1ab00734491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42AED8D-1041-4369-89F7-A45EE973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EDEF1438-0EF8-4DC6-9698-AEFFBC32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35CD3C4-AAC7-4F40-A6C8-6841BCE7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87A2763-54EE-4975-9B06-3B3825FF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Cada defecto activa una respuesta explícita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49E964A-EA20-40A0-A7B4-FA250E47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67B7EE0-9110-4FDC-91DB-9212C380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4098B2F1-E3A8-494F-A603-8151118F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2FEBAE5-2F68-4914-B12A-5AE4D68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A0F7543-0F49-425A-AD55-81C80116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94DD7D1F-78DE-446E-8BC0-9F01064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925356E-61A1-47C2-96A1-9A0C8C4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CALIDAD · TRATAMIENTO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68601DD-EC77-43C1-944F-F3418B2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E8D3F84-718C-45FC-A51A-2D41366B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56B9BADC-FD2F-4FF5-A334-93A87ED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F89273B8-EF28-4C57-8FBA-FC9A4D53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29FC1DB9-EF89-4857-A053-1AABAA35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4EFEE6C2-DC84-4F6F-8F08-470E3970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Detectar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45FCA9B5-24D9-46AD-9AE4-0452AD8B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regla y evidencia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79C5BFA6-88E5-41E3-A85A-0B7FD7E1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F38D87BC-8581-4366-A7C7-8E6EE19F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7A8223D1-0DD3-4AC2-B944-E535EF7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EED34638-6E1C-407C-AD67-A899EA9B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B48ECD08-0414-4A7C-9817-A140D53D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Clasificar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96E13CA5-EED4-4682-8626-D185CC2B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impacto y alcance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E5DA1A6-BDDE-4D60-9C20-D5F6F9B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6EAEC36F-1A7A-48D4-89FB-6DBDDFAE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266CB4F6-9CDB-483F-9E6C-3F97AE14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369606BB-178B-4451-8EED-79A6AEC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51547A24-1796-43D0-A730-923C6F1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Decidir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05955FB-94B0-4F1C-A583-16C14A9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aceptar, corregir o aislar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59DD88EC-577D-46AA-A4D3-2F04E17D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78671E5F-B10D-4688-809C-D134AE90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3F25D06F-4528-492A-AB1F-2664F46A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FF130D05-EB0D-4843-8C60-47C6BE2A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C05EFC6E-84A8-43AD-9932-24E4C2A4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Asignar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B60CF329-C03C-4B29-AC24-83BE0B13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responsable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5F3B9A29-83BD-4A74-AD68-8AEFEAE0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955BDD70-ABBF-441C-BFB1-41DB906F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23156024-58AE-4B2B-8D9C-867DB980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D7E1A0AD-260E-4B3D-8899-BF7519B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Verificar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59091783-6F46-4A01-8D96-81A4CB76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control posterior</a:t>
            </a:r>
          </a:p>
        </p:txBody>
      </p:sp>
      <p:sp>
        <p:nvSpPr>
          <p:cNvPr id="46" name="flow-cycle">
            <a:extLst xmlns:a="http://schemas.openxmlformats.org/drawingml/2006/main">
              <a:ext uri="{FF2B5EF4-FFF2-40B4-BE49-F238E27FC236}">
                <a16:creationId xmlns:a16="http://schemas.microsoft.com/office/drawing/2014/main" id="{01B78033-C4ED-4E3B-B715-EF333BB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89860" y="6572250"/>
            <a:ext cx="12908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47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EF444E37-A18B-4410-A495-1FE1C7B4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8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2D7C3D55-A007-4C26-8806-D8A2FBBC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registro del incidente conserva causa, decisión y cierre.</a:t>
            </a:r>
          </a:p>
        </p:txBody>
      </p:sp>
    </p:spTree>
    <p:extLst>
      <p:ext uri="{BB962C8B-B14F-4D97-AF65-F5344CB8AC3E}">
        <p14:creationId xmlns:p14="http://schemas.microsoft.com/office/powerpoint/2010/main" val="10402097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5C340750-571D-4510-8D51-7BB0ADF2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25732A4F-0D7D-49A2-9042-C0E8E1A0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3D797378-2350-4380-85EE-A9463198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ba7b3278946b4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F80EB23-EA23-46D4-A753-5DE7B794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4D02C5A3-0793-4E46-8372-781E8B6F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1285E156-8846-4495-B841-A1195FF6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C4752C2B-A718-4DE6-B211-EB4571B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Las capas permiten conservar el problema y su tratamiento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597283E-EF8E-4F2D-B2E8-8337FFF7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88E486B-B0AB-49E9-BAAD-3E3803F4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39127B5-F233-4068-85FA-539691F5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D4D95EC3-019E-4EBB-A8BB-F730D67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D025A69A-35DC-4496-8074-ECF97BF2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3871E97B-3C41-4639-A8C8-4856598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88369D9-0663-4655-B6CD-B5A8A43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CAPAS · EVIDENCIA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A37EBDA-A327-492C-9FEE-A2B6683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3D9F5E2-D0C5-41C4-8B76-36CD4029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9188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A0FDF5D8-93CA-4093-B10B-F15A8C83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706F09B1-0C85-4D8B-BE46-421B349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4EF50C0D-558C-4BF9-86DE-3A7A7918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0872883F-689A-4C31-B21E-3E9CF73B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Raw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B84FA932-B8EB-4783-BB75-71E3B44B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fila recibida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5C6946B-24AC-435E-930E-20754B9D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63025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CE88BFB2-9E78-4418-8BCF-65367DD1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2E372199-FE61-4882-9A1E-50E52504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EA0DDE13-6132-42F0-863C-5D46154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62588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21D7132F-87E6-4B57-86EC-7D7D455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Cuarentena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1482330-99BE-42F6-A2A7-C0FFA15D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fila + motivo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EBC2641-F4D8-4C10-BBC8-D7AA6502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96863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A5FFEC1E-5B52-4114-B242-A31C3A78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8D3B9779-D10C-41F4-A075-8F7A6564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A3EB968E-DA5A-4E2B-B4DD-ED81DBD1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96425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FCC6088D-047D-4C85-8BBF-919F90CB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Staging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6A1F41AC-05BD-4315-AA84-33651BF9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fila válida</a:t>
            </a:r>
          </a:p>
        </p:txBody>
      </p:sp>
      <p:sp>
        <p:nvSpPr>
          <p:cNvPr id="35" name="flow-step-3">
            <a:extLst xmlns:a="http://schemas.openxmlformats.org/drawingml/2006/main">
              <a:ext uri="{FF2B5EF4-FFF2-40B4-BE49-F238E27FC236}">
                <a16:creationId xmlns:a16="http://schemas.microsoft.com/office/drawing/2014/main" id="{092A1C1A-692B-4469-83F9-63171D4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6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F499871C-8241-4C5C-964B-3DAB429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213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7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3D943B9C-FCB6-4DDD-B283-965F13E6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30263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8" name="flow-head-3">
            <a:extLst xmlns:a="http://schemas.openxmlformats.org/drawingml/2006/main">
              <a:ext uri="{FF2B5EF4-FFF2-40B4-BE49-F238E27FC236}">
                <a16:creationId xmlns:a16="http://schemas.microsoft.com/office/drawing/2014/main" id="{3166914B-21F7-4C00-9DBE-92DD043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263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Mart</a:t>
            </a:r>
          </a:p>
        </p:txBody>
      </p:sp>
      <p:sp>
        <p:nvSpPr>
          <p:cNvPr id="39" name="flow-body-3">
            <a:extLst xmlns:a="http://schemas.openxmlformats.org/drawingml/2006/main">
              <a:ext uri="{FF2B5EF4-FFF2-40B4-BE49-F238E27FC236}">
                <a16:creationId xmlns:a16="http://schemas.microsoft.com/office/drawing/2014/main" id="{28C84B58-FF46-4D69-8E0F-C88C11C1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263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uso autorizado</a:t>
            </a:r>
          </a:p>
        </p:txBody>
      </p:sp>
      <p:sp>
        <p:nvSpPr>
          <p:cNvPr id="40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93B2F5B0-25B9-4281-BA30-CB344BD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1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D5258ED4-3E01-452D-AB2C-49FA5001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El conteo de rechazados forma parte de la salida del proceso.</a:t>
            </a:r>
          </a:p>
        </p:txBody>
      </p:sp>
    </p:spTree>
    <p:extLst>
      <p:ext uri="{BB962C8B-B14F-4D97-AF65-F5344CB8AC3E}">
        <p14:creationId xmlns:p14="http://schemas.microsoft.com/office/powerpoint/2010/main" val="6133678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E4F7FFC8-74E9-459B-8249-1E27C4F4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8292B4E1-D5FA-4D8F-B2FE-09FF3B7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C3FE7AE4-3B3C-40F4-AF6F-C8A7BA03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d3a2455c04b15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D07F3D0-208E-4002-97F6-084D24FD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71492CBD-45D8-4F11-93DB-78E0882A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C1631ED-5EF3-4153-BB88-5C43B533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CD5667D-3888-4F4F-812C-E75F10DC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linaje reconstruye una cifra en ambos sentidos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AA2916D-84DE-4FC4-8282-3B28064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1787904-9EFB-48A9-8263-BCDD9781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C6C0ABD9-4122-417F-98AF-17EB5639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72495C6-B786-4D16-9631-F8AB971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3B702AEF-197F-4457-98FA-83B09847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AF7C3DA-FCDE-41DB-8998-91469DA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3F64461-5383-4B9A-9638-E0CD566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LINAJE · TRAZABILIDAD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61BA9AB-622D-4CC8-A17D-9765C007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63F794C-724D-4922-B5D6-EF552C0E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B3307D1C-5834-48E7-B718-6DD101A8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999121D3-FF71-430D-AE82-6B6249A9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63E3DEC2-47BA-458A-91EF-E226D0FB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63224718-1D12-44B3-BB6F-D965E22D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Visual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0886E9BE-FE07-4EB1-BA3B-3488F0A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margen Patagonia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794DFAB-7590-4B54-94A2-1DE1AB6E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20287BB7-C900-4F30-8709-493EF19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6A53E116-CD94-4A16-8941-7B94C6A9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11ED346D-960E-49C7-BF3B-FAED7708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7B5FBFA7-E186-4A8A-BBFA-A000CDD2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Medida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B3DC667-4F39-43C8-897D-EF54B04A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margen / venta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751D1DF-4A8B-4C8E-B15A-3F11639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F48F93E2-07C2-4361-8D43-9D070251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0202C5D9-2E6C-454A-B19E-0ACBE028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E0404527-B127-45A0-876C-60091C7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E6387553-3AE8-434E-82F9-6275233F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Mart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7CAE4CE-6921-48CF-882D-34BBC014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fact_ventas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48A2A80-25A1-4C6C-8BA4-27453613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A60ADE45-3872-4C43-9E12-710ED7AF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73A24DE7-0B5B-4A18-9A2D-4FB2E9AA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4F3111CE-6568-4CC7-BDC2-AB8312DD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CA29694D-EE49-452B-886A-3E1D6E6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Staging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B639204A-D0DF-4A38-97A8-9636ABB1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líneas tipadas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29CCDA11-B297-42E5-B4B9-4FD0DD69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16B84045-F099-47E3-9C86-72CB8FDC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22C9DA56-FFA8-4774-A12E-FF9827F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18B825B9-521D-4500-AD83-74F4DE0E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Raw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34EC9908-EE28-4F2D-94E8-5E558ED8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snapshot y versión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BD192F99-438C-4AFD-93DC-F55F8809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6E6C5145-D51B-46E9-ACEA-43654D6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Cada salto conserva código, fecha de ejecución y propietario.</a:t>
            </a:r>
          </a:p>
        </p:txBody>
      </p:sp>
    </p:spTree>
    <p:extLst>
      <p:ext uri="{BB962C8B-B14F-4D97-AF65-F5344CB8AC3E}">
        <p14:creationId xmlns:p14="http://schemas.microsoft.com/office/powerpoint/2010/main" val="18380029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1A72DB8D-FD30-4D79-B256-202FAF86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85374ABC-030E-41C9-94FE-B9E1880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80749068-5957-48BC-9093-B397D1AF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c2efe4b194ddd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085E921-E861-4889-9979-F4709C4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0CC5370-EA0C-4154-A847-37D2550B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78E8412-787E-4E58-8185-507970FA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EE41FF8-97CD-411B-9C06-CDD67D2F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Seguridad y privacidad gobiernan preguntas complementarias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23A48349-5111-4779-BEA4-43F06A3B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AC79778-CDE6-484A-A08E-7A7B6FD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A3E5191B-3DB1-4D3C-95C4-6494F645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A8E9EB4-71CD-4535-BA0C-3C59FA50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C53DA6A-DDCB-479F-9CF3-F7564B14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9B278CA-8A7F-4535-B5FB-1BF75C69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1EC8D6D-4DFC-4A2F-A4F1-A733874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GOBIERNO · ALCANCE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0BB3249-2A2D-41EE-8007-D993D991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27EC8A74-6946-46E2-B8A6-DF18ED3C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AD8C628A-2B1D-46A2-8E7B-10507B9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A6B0E07E-B090-41B9-82D4-CA4ABD0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acceso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FDF49EC3-00D7-43F6-869A-D756FB17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Seguridad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FD18541B-F76B-4C82-9EEE-E7B6EA8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2EBC8DC8-4889-49A9-B11D-ECFF393E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Quién puede leer, modificar o ejecutar cada recurso.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F4BA2FFA-D772-469F-9126-BD7D393B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79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finalidad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A312A0EA-0EF8-4FCE-A269-3B354378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Privacidad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1C2F3940-D0E2-4D70-9FC9-208EFC86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656B7A13-1AAD-49A2-ABA6-CC73D4C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Qué datos personales se usan, durante cuánto tiempo y con qué base.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154344A7-EB6E-4FB9-BE3C-2B52AE4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E35E3735-CC05-4DE3-B9AB-52EF8E3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Permisos mínimos, retención definida y registros de acceso sostienen ambos controles.</a:t>
            </a:r>
          </a:p>
        </p:txBody>
      </p:sp>
    </p:spTree>
    <p:extLst>
      <p:ext uri="{BB962C8B-B14F-4D97-AF65-F5344CB8AC3E}">
        <p14:creationId xmlns:p14="http://schemas.microsoft.com/office/powerpoint/2010/main" val="1262660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9F8C52C3-BB98-4289-BA4E-CB569469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F9FCEF76-027A-4037-BD8E-6E20B78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62121E7B-2ADA-4AF8-8CC6-276BE6D8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b913e44694795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CF0FD86-EB78-45BD-96DD-19437969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6C4E8CE-CA58-4E1F-A1A5-535E6CFE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C25A770-F54D-4BB5-B567-899DF16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267499A-0751-401E-B404-E1CF287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anonimización se evalúa junto con el riesgo de reidentificación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5B9DC340-69D8-4028-ABC3-20E2A8CF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03D8E3B-4081-4D1B-B7DA-18F8E157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EBDE01CC-FC36-4BC3-B02A-03E0316D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01300FA-3164-49B5-8ABC-4ABCA31B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D6A69A7-5393-42F2-A858-966AF57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A4D4953-6A55-42A9-9C3D-3D922BE1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8BDCFF4-F7CF-4605-B9FA-D1FF5531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PRIVACIDAD · EJEMPLO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73996E7-E82C-494B-B330-313134D3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442920D9-4590-4D24-B5A3-1E52DF55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03904"/>
                <a:gridCol w="5547360"/>
                <a:gridCol w="6498336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Dato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Tratamiento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Riesgo residual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CUIT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eliminar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bajo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cliente_id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seudonimizar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vinculable con tabla externa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localidad pequeña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agrupar por región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segmentos escasos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 exacta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agrupar por semana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eventos singulares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4097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B4D0D049-2139-4D88-BFF0-5AEEA93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7B8E8AA-F572-47F8-82E8-96EF873D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C30D1270-9241-42B1-9079-3B60F6DB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51667B36-BE0B-4215-84DF-3607DDCE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47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5ffa5258e4d66"/>
          <a:srcRect xmlns:a="http://schemas.openxmlformats.org/drawingml/2006/main" l="0" t="17622" r="0" b="17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e0eeee9574cc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29E0B35-2651-4038-9DB1-5934403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CB733A7-D219-46E4-B63C-E302B232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25908DD-C666-4F08-AE51-C26BEC2A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73E2F6C-97BB-45AE-A82F-B19DA175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Faro Sur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contiene defectos con impactos diferentes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6807A7A-1831-4EAD-9FF8-73324CF2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CF9ECAD-9C1B-40CF-8235-07206BB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DA6ADB8-F9AE-4516-81F5-38A8148B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C9C278AA-17C6-43B2-A5CA-DC5FBC1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D72C8969-B80C-4A44-BF78-39F4A118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2C840015-F463-47E2-BCCD-D6B712EA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76121E2-6F03-4E1A-B1BF-34FAED5C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PRÁCTICA · PAQUETE D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BFB99C0-7F1E-4E8F-A877-B1188532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case-box-0">
            <a:extLst xmlns:a="http://schemas.openxmlformats.org/drawingml/2006/main">
              <a:ext uri="{FF2B5EF4-FFF2-40B4-BE49-F238E27FC236}">
                <a16:creationId xmlns:a16="http://schemas.microsoft.com/office/drawing/2014/main" id="{C1756B6B-D357-49A2-A918-AA0ED11B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0" name="case-index-0">
            <a:extLst xmlns:a="http://schemas.openxmlformats.org/drawingml/2006/main">
              <a:ext uri="{FF2B5EF4-FFF2-40B4-BE49-F238E27FC236}">
                <a16:creationId xmlns:a16="http://schemas.microsoft.com/office/drawing/2014/main" id="{65189B1E-EF2D-43EA-87B6-9A70ED37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1" name="case-rule-0">
            <a:extLst xmlns:a="http://schemas.openxmlformats.org/drawingml/2006/main">
              <a:ext uri="{FF2B5EF4-FFF2-40B4-BE49-F238E27FC236}">
                <a16:creationId xmlns:a16="http://schemas.microsoft.com/office/drawing/2014/main" id="{550970C4-3D40-4511-B9EB-B508972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2" name="case-head-0">
            <a:extLst xmlns:a="http://schemas.openxmlformats.org/drawingml/2006/main">
              <a:ext uri="{FF2B5EF4-FFF2-40B4-BE49-F238E27FC236}">
                <a16:creationId xmlns:a16="http://schemas.microsoft.com/office/drawing/2014/main" id="{69983B40-7F96-4E09-AEBC-645AF7CF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Duplicado</a:t>
            </a:r>
          </a:p>
        </p:txBody>
      </p:sp>
      <p:sp>
        <p:nvSpPr>
          <p:cNvPr id="23" name="case-body-0">
            <a:extLst xmlns:a="http://schemas.openxmlformats.org/drawingml/2006/main">
              <a:ext uri="{FF2B5EF4-FFF2-40B4-BE49-F238E27FC236}">
                <a16:creationId xmlns:a16="http://schemas.microsoft.com/office/drawing/2014/main" id="{81A4F9BF-5620-496E-9AE5-CC6A9FA6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eleva conteos</a:t>
            </a:r>
          </a:p>
        </p:txBody>
      </p:sp>
      <p:sp>
        <p:nvSpPr>
          <p:cNvPr id="24" name="case-box-1">
            <a:extLst xmlns:a="http://schemas.openxmlformats.org/drawingml/2006/main">
              <a:ext uri="{FF2B5EF4-FFF2-40B4-BE49-F238E27FC236}">
                <a16:creationId xmlns:a16="http://schemas.microsoft.com/office/drawing/2014/main" id="{26276520-0F76-4798-97DC-50FA6FA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case-index-1">
            <a:extLst xmlns:a="http://schemas.openxmlformats.org/drawingml/2006/main">
              <a:ext uri="{FF2B5EF4-FFF2-40B4-BE49-F238E27FC236}">
                <a16:creationId xmlns:a16="http://schemas.microsoft.com/office/drawing/2014/main" id="{98930ED1-B708-4E9B-8577-9BBA3743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case-rule-1">
            <a:extLst xmlns:a="http://schemas.openxmlformats.org/drawingml/2006/main">
              <a:ext uri="{FF2B5EF4-FFF2-40B4-BE49-F238E27FC236}">
                <a16:creationId xmlns:a16="http://schemas.microsoft.com/office/drawing/2014/main" id="{5777C7B5-BAE4-40B9-83E1-4888EE2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case-head-1">
            <a:extLst xmlns:a="http://schemas.openxmlformats.org/drawingml/2006/main">
              <a:ext uri="{FF2B5EF4-FFF2-40B4-BE49-F238E27FC236}">
                <a16:creationId xmlns:a16="http://schemas.microsoft.com/office/drawing/2014/main" id="{33436D37-DD8B-4586-8A1B-DCA13EE9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Huérfano</a:t>
            </a:r>
          </a:p>
        </p:txBody>
      </p:sp>
      <p:sp>
        <p:nvSpPr>
          <p:cNvPr id="2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A95E59D4-1905-4B24-98CC-394F579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rompe relaciones</a:t>
            </a:r>
          </a:p>
        </p:txBody>
      </p:sp>
      <p:sp>
        <p:nvSpPr>
          <p:cNvPr id="29" name="case-box-2">
            <a:extLst xmlns:a="http://schemas.openxmlformats.org/drawingml/2006/main">
              <a:ext uri="{FF2B5EF4-FFF2-40B4-BE49-F238E27FC236}">
                <a16:creationId xmlns:a16="http://schemas.microsoft.com/office/drawing/2014/main" id="{4114EDA1-4B3E-4565-A135-252F51F5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0" name="case-index-2">
            <a:extLst xmlns:a="http://schemas.openxmlformats.org/drawingml/2006/main">
              <a:ext uri="{FF2B5EF4-FFF2-40B4-BE49-F238E27FC236}">
                <a16:creationId xmlns:a16="http://schemas.microsoft.com/office/drawing/2014/main" id="{BD2FFC9E-8A39-4152-98FC-04FE76BF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case-rule-2">
            <a:extLst xmlns:a="http://schemas.openxmlformats.org/drawingml/2006/main">
              <a:ext uri="{FF2B5EF4-FFF2-40B4-BE49-F238E27FC236}">
                <a16:creationId xmlns:a16="http://schemas.microsoft.com/office/drawing/2014/main" id="{7D92931B-7134-435F-B9DA-D578ABD3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2" name="case-head-2">
            <a:extLst xmlns:a="http://schemas.openxmlformats.org/drawingml/2006/main">
              <a:ext uri="{FF2B5EF4-FFF2-40B4-BE49-F238E27FC236}">
                <a16:creationId xmlns:a16="http://schemas.microsoft.com/office/drawing/2014/main" id="{1292D51F-9E4D-48AC-85B1-6126E64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Costo nulo</a:t>
            </a:r>
          </a:p>
        </p:txBody>
      </p:sp>
      <p:sp>
        <p:nvSpPr>
          <p:cNvPr id="3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A1E31CCF-FA6E-4FCC-898B-E901CDDF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distorsiona margen</a:t>
            </a:r>
          </a:p>
        </p:txBody>
      </p:sp>
      <p:sp>
        <p:nvSpPr>
          <p:cNvPr id="34" name="case-box-3">
            <a:extLst xmlns:a="http://schemas.openxmlformats.org/drawingml/2006/main">
              <a:ext uri="{FF2B5EF4-FFF2-40B4-BE49-F238E27FC236}">
                <a16:creationId xmlns:a16="http://schemas.microsoft.com/office/drawing/2014/main" id="{C48243FB-21A8-4158-9B77-8C4B587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5" name="case-index-3">
            <a:extLst xmlns:a="http://schemas.openxmlformats.org/drawingml/2006/main">
              <a:ext uri="{FF2B5EF4-FFF2-40B4-BE49-F238E27FC236}">
                <a16:creationId xmlns:a16="http://schemas.microsoft.com/office/drawing/2014/main" id="{8E43CD36-7A29-4FD6-939E-72668D5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6" name="case-rule-3">
            <a:extLst xmlns:a="http://schemas.openxmlformats.org/drawingml/2006/main">
              <a:ext uri="{FF2B5EF4-FFF2-40B4-BE49-F238E27FC236}">
                <a16:creationId xmlns:a16="http://schemas.microsoft.com/office/drawing/2014/main" id="{BEC81784-515D-4FA4-95AF-3BDBD6AC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35025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7" name="case-head-3">
            <a:extLst xmlns:a="http://schemas.openxmlformats.org/drawingml/2006/main">
              <a:ext uri="{FF2B5EF4-FFF2-40B4-BE49-F238E27FC236}">
                <a16:creationId xmlns:a16="http://schemas.microsoft.com/office/drawing/2014/main" id="{E1A50CDD-E4F9-4C3F-96E6-7E768C3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Timestamp futuro</a:t>
            </a:r>
          </a:p>
        </p:txBody>
      </p:sp>
      <p:sp>
        <p:nvSpPr>
          <p:cNvPr id="38" name="case-body-3">
            <a:extLst xmlns:a="http://schemas.openxmlformats.org/drawingml/2006/main">
              <a:ext uri="{FF2B5EF4-FFF2-40B4-BE49-F238E27FC236}">
                <a16:creationId xmlns:a16="http://schemas.microsoft.com/office/drawing/2014/main" id="{2DDC8FC7-EF91-4A5A-BBB6-1C72602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altera oportunidad</a:t>
            </a:r>
          </a:p>
        </p:txBody>
      </p:sp>
      <p:sp>
        <p:nvSpPr>
          <p:cNvPr id="39" name="case-footer">
            <a:extLst xmlns:a="http://schemas.openxmlformats.org/drawingml/2006/main">
              <a:ext uri="{FF2B5EF4-FFF2-40B4-BE49-F238E27FC236}">
                <a16:creationId xmlns:a16="http://schemas.microsoft.com/office/drawing/2014/main" id="{6E608480-3513-412E-BDC6-75091FED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8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Cada equipo entrega perfil, reglas, severidad y tratamiento propuesto.</a:t>
            </a:r>
          </a:p>
        </p:txBody>
      </p:sp>
    </p:spTree>
    <p:extLst>
      <p:ext uri="{BB962C8B-B14F-4D97-AF65-F5344CB8AC3E}">
        <p14:creationId xmlns:p14="http://schemas.microsoft.com/office/powerpoint/2010/main" val="12461078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B4D0D049-2139-4D88-BFF0-5AEEA93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7B8E8AA-F572-47F8-82E8-96EF873D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C30D1270-9241-42B1-9079-3B60F6DB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51667B36-BE0B-4215-84DF-3607DDCE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47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8e089296a4653"/>
          <a:srcRect xmlns:a="http://schemas.openxmlformats.org/drawingml/2006/main" l="0" t="17622" r="0" b="17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e46db764e4b75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29E0B35-2651-4038-9DB1-5934403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CB733A7-D219-46E4-B63C-E302B232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25908DD-C666-4F08-AE51-C26BEC2A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73E2F6C-97BB-45AE-A82F-B19DA175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El caso recurrente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hace visibles cuatro fallas controlables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6807A7A-1831-4EAD-9FF8-73324CF2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CF9ECAD-9C1B-40CF-8235-07206BB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DA6ADB8-F9AE-4516-81F5-38A8148B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C9C278AA-17C6-43B2-A5CA-DC5FBC1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D72C8969-B80C-4A44-BF78-39F4A118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2C840015-F463-47E2-BCCD-D6B712EA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76121E2-6F03-4E1A-B1BF-34FAED5C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CASO LABORAL · CALIDAD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BFB99C0-7F1E-4E8F-A877-B1188532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case-box-0">
            <a:extLst xmlns:a="http://schemas.openxmlformats.org/drawingml/2006/main">
              <a:ext uri="{FF2B5EF4-FFF2-40B4-BE49-F238E27FC236}">
                <a16:creationId xmlns:a16="http://schemas.microsoft.com/office/drawing/2014/main" id="{C1756B6B-D357-49A2-A918-AA0ED11B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0" name="case-index-0">
            <a:extLst xmlns:a="http://schemas.openxmlformats.org/drawingml/2006/main">
              <a:ext uri="{FF2B5EF4-FFF2-40B4-BE49-F238E27FC236}">
                <a16:creationId xmlns:a16="http://schemas.microsoft.com/office/drawing/2014/main" id="{65189B1E-EF2D-43EA-87B6-9A70ED37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1" name="case-rule-0">
            <a:extLst xmlns:a="http://schemas.openxmlformats.org/drawingml/2006/main">
              <a:ext uri="{FF2B5EF4-FFF2-40B4-BE49-F238E27FC236}">
                <a16:creationId xmlns:a16="http://schemas.microsoft.com/office/drawing/2014/main" id="{550970C4-3D40-4511-B9EB-B508972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2" name="case-head-0">
            <a:extLst xmlns:a="http://schemas.openxmlformats.org/drawingml/2006/main">
              <a:ext uri="{FF2B5EF4-FFF2-40B4-BE49-F238E27FC236}">
                <a16:creationId xmlns:a16="http://schemas.microsoft.com/office/drawing/2014/main" id="{69983B40-7F96-4E09-AEBC-645AF7CF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Archivo inválido</a:t>
            </a:r>
          </a:p>
        </p:txBody>
      </p:sp>
      <p:sp>
        <p:nvSpPr>
          <p:cNvPr id="23" name="case-body-0">
            <a:extLst xmlns:a="http://schemas.openxmlformats.org/drawingml/2006/main">
              <a:ext uri="{FF2B5EF4-FFF2-40B4-BE49-F238E27FC236}">
                <a16:creationId xmlns:a16="http://schemas.microsoft.com/office/drawing/2014/main" id="{81A4F9BF-5620-496E-9AE5-CC6A9FA6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falta movimiento_id</a:t>
            </a:r>
          </a:p>
        </p:txBody>
      </p:sp>
      <p:sp>
        <p:nvSpPr>
          <p:cNvPr id="24" name="case-box-1">
            <a:extLst xmlns:a="http://schemas.openxmlformats.org/drawingml/2006/main">
              <a:ext uri="{FF2B5EF4-FFF2-40B4-BE49-F238E27FC236}">
                <a16:creationId xmlns:a16="http://schemas.microsoft.com/office/drawing/2014/main" id="{26276520-0F76-4798-97DC-50FA6FA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case-index-1">
            <a:extLst xmlns:a="http://schemas.openxmlformats.org/drawingml/2006/main">
              <a:ext uri="{FF2B5EF4-FFF2-40B4-BE49-F238E27FC236}">
                <a16:creationId xmlns:a16="http://schemas.microsoft.com/office/drawing/2014/main" id="{98930ED1-B708-4E9B-8577-9BBA3743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case-rule-1">
            <a:extLst xmlns:a="http://schemas.openxmlformats.org/drawingml/2006/main">
              <a:ext uri="{FF2B5EF4-FFF2-40B4-BE49-F238E27FC236}">
                <a16:creationId xmlns:a16="http://schemas.microsoft.com/office/drawing/2014/main" id="{5777C7B5-BAE4-40B9-83E1-4888EE2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case-head-1">
            <a:extLst xmlns:a="http://schemas.openxmlformats.org/drawingml/2006/main">
              <a:ext uri="{FF2B5EF4-FFF2-40B4-BE49-F238E27FC236}">
                <a16:creationId xmlns:a16="http://schemas.microsoft.com/office/drawing/2014/main" id="{33436D37-DD8B-4586-8A1B-DCA13EE9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Duplicado</a:t>
            </a:r>
          </a:p>
        </p:txBody>
      </p:sp>
      <p:sp>
        <p:nvSpPr>
          <p:cNvPr id="2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A95E59D4-1905-4B24-98CC-394F579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versión previa de MOV-0012</a:t>
            </a:r>
          </a:p>
        </p:txBody>
      </p:sp>
      <p:sp>
        <p:nvSpPr>
          <p:cNvPr id="29" name="case-box-2">
            <a:extLst xmlns:a="http://schemas.openxmlformats.org/drawingml/2006/main">
              <a:ext uri="{FF2B5EF4-FFF2-40B4-BE49-F238E27FC236}">
                <a16:creationId xmlns:a16="http://schemas.microsoft.com/office/drawing/2014/main" id="{4114EDA1-4B3E-4565-A135-252F51F5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0" name="case-index-2">
            <a:extLst xmlns:a="http://schemas.openxmlformats.org/drawingml/2006/main">
              <a:ext uri="{FF2B5EF4-FFF2-40B4-BE49-F238E27FC236}">
                <a16:creationId xmlns:a16="http://schemas.microsoft.com/office/drawing/2014/main" id="{BD2FFC9E-8A39-4152-98FC-04FE76BF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case-rule-2">
            <a:extLst xmlns:a="http://schemas.openxmlformats.org/drawingml/2006/main">
              <a:ext uri="{FF2B5EF4-FFF2-40B4-BE49-F238E27FC236}">
                <a16:creationId xmlns:a16="http://schemas.microsoft.com/office/drawing/2014/main" id="{7D92931B-7134-435F-B9DA-D578ABD3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2" name="case-head-2">
            <a:extLst xmlns:a="http://schemas.openxmlformats.org/drawingml/2006/main">
              <a:ext uri="{FF2B5EF4-FFF2-40B4-BE49-F238E27FC236}">
                <a16:creationId xmlns:a16="http://schemas.microsoft.com/office/drawing/2014/main" id="{1292D51F-9E4D-48AC-85B1-6126E64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Cantidad negativa</a:t>
            </a:r>
          </a:p>
        </p:txBody>
      </p:sp>
      <p:sp>
        <p:nvSpPr>
          <p:cNvPr id="3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A1E31CCF-FA6E-4FCC-898B-E901CDDF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MOV-0025</a:t>
            </a:r>
          </a:p>
        </p:txBody>
      </p:sp>
      <p:sp>
        <p:nvSpPr>
          <p:cNvPr id="34" name="case-box-3">
            <a:extLst xmlns:a="http://schemas.openxmlformats.org/drawingml/2006/main">
              <a:ext uri="{FF2B5EF4-FFF2-40B4-BE49-F238E27FC236}">
                <a16:creationId xmlns:a16="http://schemas.microsoft.com/office/drawing/2014/main" id="{C48243FB-21A8-4158-9B77-8C4B587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5" name="case-index-3">
            <a:extLst xmlns:a="http://schemas.openxmlformats.org/drawingml/2006/main">
              <a:ext uri="{FF2B5EF4-FFF2-40B4-BE49-F238E27FC236}">
                <a16:creationId xmlns:a16="http://schemas.microsoft.com/office/drawing/2014/main" id="{8E43CD36-7A29-4FD6-939E-72668D5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6" name="case-rule-3">
            <a:extLst xmlns:a="http://schemas.openxmlformats.org/drawingml/2006/main">
              <a:ext uri="{FF2B5EF4-FFF2-40B4-BE49-F238E27FC236}">
                <a16:creationId xmlns:a16="http://schemas.microsoft.com/office/drawing/2014/main" id="{BEC81784-515D-4FA4-95AF-3BDBD6AC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35025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7" name="case-head-3">
            <a:extLst xmlns:a="http://schemas.openxmlformats.org/drawingml/2006/main">
              <a:ext uri="{FF2B5EF4-FFF2-40B4-BE49-F238E27FC236}">
                <a16:creationId xmlns:a16="http://schemas.microsoft.com/office/drawing/2014/main" id="{E1A50CDD-E4F9-4C3F-96E6-7E768C3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Fecha inválida</a:t>
            </a:r>
          </a:p>
        </p:txBody>
      </p:sp>
      <p:sp>
        <p:nvSpPr>
          <p:cNvPr id="38" name="case-body-3">
            <a:extLst xmlns:a="http://schemas.openxmlformats.org/drawingml/2006/main">
              <a:ext uri="{FF2B5EF4-FFF2-40B4-BE49-F238E27FC236}">
                <a16:creationId xmlns:a16="http://schemas.microsoft.com/office/drawing/2014/main" id="{2DDC8FC7-EF91-4A5A-BBB6-1C72602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MOV-0027</a:t>
            </a:r>
          </a:p>
        </p:txBody>
      </p:sp>
      <p:sp>
        <p:nvSpPr>
          <p:cNvPr id="39" name="case-footer">
            <a:extLst xmlns:a="http://schemas.openxmlformats.org/drawingml/2006/main">
              <a:ext uri="{FF2B5EF4-FFF2-40B4-BE49-F238E27FC236}">
                <a16:creationId xmlns:a16="http://schemas.microsoft.com/office/drawing/2014/main" id="{6E608480-3513-412E-BDC6-75091FED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8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control conserva 4 registros rechazados y 28 movimientos curados.</a:t>
            </a:r>
          </a:p>
        </p:txBody>
      </p:sp>
    </p:spTree>
    <p:extLst>
      <p:ext uri="{BB962C8B-B14F-4D97-AF65-F5344CB8AC3E}">
        <p14:creationId xmlns:p14="http://schemas.microsoft.com/office/powerpoint/2010/main" val="1246107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bff7a6ad4b67"/>
          <a:srcRect xmlns:a="http://schemas.openxmlformats.org/drawingml/2006/main" l="29976" t="0" r="29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F5065B77-DBD7-49E6-9C9B-D8F8A305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EF59DD42-312E-4CDB-BED3-9CCCC10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lose-rail">
            <a:extLst xmlns:a="http://schemas.openxmlformats.org/drawingml/2006/main">
              <a:ext uri="{FF2B5EF4-FFF2-40B4-BE49-F238E27FC236}">
                <a16:creationId xmlns:a16="http://schemas.microsoft.com/office/drawing/2014/main" id="{C7CBA76B-B70D-499E-A55C-532D21D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6e5741e884bbb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lose-label">
            <a:extLst xmlns:a="http://schemas.openxmlformats.org/drawingml/2006/main">
              <a:ext uri="{FF2B5EF4-FFF2-40B4-BE49-F238E27FC236}">
                <a16:creationId xmlns:a16="http://schemas.microsoft.com/office/drawing/2014/main" id="{4E15BB2A-5E5A-4FF8-ACF5-58905FC2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CALIDAD OPERABLE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2D5BDCA-0F30-48DB-BEF5-3C72B34D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 control termina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con una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acción asignada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2DD94C56-3C66-4800-AA54-675ACD7F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5655E726-8D8B-4CE9-BCFE-32B28300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Definir la regla, medir el defecto, conservar el linaje y nombrar quién responde.</a:t>
            </a:r>
          </a:p>
        </p:txBody>
      </p:sp>
      <p:sp>
        <p:nvSpPr>
          <p:cNvPr id="10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5D9EF21A-BDD0-4797-99C8-03227B43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757523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2026-08-23T22:33:06.9530000Z</dcterms:created>
  <dcterms:modified xsi:type="dcterms:W3CDTF">2026-08-23T22:33:06.9530000Z</dcterms:modified>
</coreProperties>
</file>